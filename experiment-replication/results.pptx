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6" r:id="rId21"/>
    <p:sldId id="277" r:id="rId22"/>
    <p:sldId id="278" r:id="rId23"/>
    <p:sldId id="279" r:id="rId24"/>
    <p:sldId id="280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0" d="100"/>
          <a:sy n="60" d="100"/>
        </p:scale>
        <p:origin x="78" y="15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682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188720"/>
            <a:ext cx="10515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Dictionary Graph Topology</a:t>
            </a:r>
            <a:endParaRPr lang="en-US" sz="42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Across Model Families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822960" y="27889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i="1" dirty="0">
                <a:solidFill>
                  <a:srgbClr val="C9D6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Facts about LLMs, or artifacts of two families?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41248" y="3474720"/>
            <a:ext cx="1371600" cy="4572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822960" y="36576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DCE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cross-family replication of kernel contraction, cycle irreducibility,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DCE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instruction-following regime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475488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情報経営システム工学　4年</a:t>
            </a:r>
            <a:endParaRPr lang="en-US" sz="1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ロペスチャパホセ</a:t>
            </a:r>
            <a:endParaRPr lang="en-US" sz="1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２０２６年７月</a:t>
            </a:r>
            <a:r>
              <a:rPr lang="es-MX" altLang="ja-JP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r>
              <a:rPr lang="ja-JP" altLang="es-MX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63093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8F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on: Kumoi (2026), Dictionary Graph Topology as a Probe of LLM Conceptual Structure · Vincent-Lamarre et al. (2016)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30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Central Question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2E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prior study found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</a:t>
            </a:r>
            <a:r>
              <a:rPr lang="en-US" sz="1600" b="1" dirty="0">
                <a:solidFill>
                  <a:srgbClr val="1A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Qwen3.5</a:t>
            </a: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(0.8B–27B) and </a:t>
            </a:r>
            <a:r>
              <a:rPr lang="en-US" sz="1600" b="1" dirty="0">
                <a:solidFill>
                  <a:srgbClr val="1A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Gemma-4</a:t>
            </a: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definitional-graph metrics moved cleanly with scale — kernel ratio down, cycle irreducibility up — and a 92-word “universal kernel” appeared.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2E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needs testing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sizes of one architecture cannot tell us whether these are: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291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7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Laws</a:t>
            </a: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properties of LLMs in general, or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20" y="3749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7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traits</a:t>
            </a: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quirks of the Qwen / Gemma training recipes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57200" y="4754880"/>
            <a:ext cx="11247120" cy="822960"/>
          </a:xfrm>
          <a:prstGeom prst="rect">
            <a:avLst/>
          </a:prstGeom>
          <a:solidFill>
            <a:srgbClr val="EAF0E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Shape 9"/>
          <p:cNvSpPr/>
          <p:nvPr/>
        </p:nvSpPr>
        <p:spPr>
          <a:xfrm>
            <a:off x="457200" y="4754880"/>
            <a:ext cx="82296" cy="822960"/>
          </a:xfrm>
          <a:prstGeom prst="rect">
            <a:avLst/>
          </a:prstGeom>
          <a:solidFill>
            <a:srgbClr val="1A2E2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658368" y="47548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rerun the exact pipeline on </a:t>
            </a:r>
            <a:r>
              <a:rPr lang="en-US" sz="1500" b="1" dirty="0">
                <a:solidFill>
                  <a:srgbClr val="1A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families</a:t>
            </a: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see which findings survive.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30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 — the Dictionary Graph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2E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definitions to a directed graph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word → one LLM-generated definition. Edge </a:t>
            </a:r>
            <a:r>
              <a:rPr lang="en-US" sz="1600" b="1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 → v</a:t>
            </a: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means “word u is used to define word v.”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2E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metrics  (Vincent-Lamarre 2016)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2468880"/>
            <a:ext cx="54864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</a:t>
            </a: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minimal self-sufficient vocabulary</a:t>
            </a:r>
            <a:endParaRPr lang="en-US" sz="1600" dirty="0"/>
          </a:p>
          <a:p>
            <a:pPr marL="0" indent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mutually-defining center (source SCCs)</a:t>
            </a:r>
            <a:endParaRPr lang="en-US" sz="1600" dirty="0"/>
          </a:p>
          <a:p>
            <a:pPr marL="0" indent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MinSet / Kernel</a:t>
            </a: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fraction of the kernel that is irreducibly cyclic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309360" y="20116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2E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Behavioral covariate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0" y="2468880"/>
            <a:ext cx="5303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sr_rate</a:t>
            </a: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how often a model uses the word in its own definition, disobeying “do not use the word itself”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5029200"/>
            <a:ext cx="11247120" cy="731520"/>
          </a:xfrm>
          <a:prstGeom prst="rect">
            <a:avLst/>
          </a:prstGeom>
          <a:solidFill>
            <a:srgbClr val="EAF0E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Shape 9"/>
          <p:cNvSpPr/>
          <p:nvPr/>
        </p:nvSpPr>
        <p:spPr>
          <a:xfrm>
            <a:off x="457200" y="5029200"/>
            <a:ext cx="82296" cy="731520"/>
          </a:xfrm>
          <a:prstGeom prst="rect">
            <a:avLst/>
          </a:prstGeom>
          <a:solidFill>
            <a:srgbClr val="1A2E2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658368" y="5029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computed exactly — MFVS via ILP with a verified-acyclic convergence guarantee.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A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Vincent-Lamarre, Blondin Massé, Lord, Marcotte, Harnad (2016) — The latent structure of dictionaries. Topics in Cognitive Science.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E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46888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1 — Prior Findings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841248" y="3611880"/>
            <a:ext cx="1371600" cy="4572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822960" y="37490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D5E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claims we set out to replicate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30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 Findings — the Four Claims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2E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Kumoi (2026), </a:t>
            </a:r>
            <a:endParaRPr lang="en-US" sz="2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47120" cy="2514600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6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Claim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statistic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Kernel ratio decreases with model size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= −0.862  (within Qwen3.5)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MinSet/Kernel increases with model size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= +0.982  (within Qwen3.5)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universal kernel of anchor words exists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 words, 15.4% NSM overlap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sr_rate is a family-level trait, not scale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 76–92% vs Gemma &lt;0.1%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3"/>
          <p:cNvSpPr/>
          <p:nvPr/>
        </p:nvSpPr>
        <p:spPr>
          <a:xfrm>
            <a:off x="457200" y="5212080"/>
            <a:ext cx="11247120" cy="822960"/>
          </a:xfrm>
          <a:prstGeom prst="rect">
            <a:avLst/>
          </a:prstGeom>
          <a:solidFill>
            <a:srgbClr val="EAF0E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Shape 4"/>
          <p:cNvSpPr/>
          <p:nvPr/>
        </p:nvSpPr>
        <p:spPr>
          <a:xfrm>
            <a:off x="457200" y="5212080"/>
            <a:ext cx="82296" cy="822960"/>
          </a:xfrm>
          <a:prstGeom prst="rect">
            <a:avLst/>
          </a:prstGeom>
          <a:solidFill>
            <a:srgbClr val="1A2E2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Text 5"/>
          <p:cNvSpPr/>
          <p:nvPr/>
        </p:nvSpPr>
        <p:spPr>
          <a:xfrm>
            <a:off x="658368" y="52120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1–2 were the headline “scaling-law” result. Claims 3–4 concern structure and behavior.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30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 Findings — the Scaling Result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2E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strong within-Qwen3.5 trends</a:t>
            </a:r>
            <a:endParaRPr lang="en-US" sz="2000" dirty="0"/>
          </a:p>
        </p:txBody>
      </p:sp>
      <p:pic>
        <p:nvPicPr>
          <p:cNvPr id="5" name="Image 0" descr="img/01_prior_qwen_scal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360" y="1417320"/>
            <a:ext cx="8686800" cy="3429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50292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sizes, near-perfect monotonicity — the evidence that motivated a “graph topology tracks scale” reading.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A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values: kernel 17.9→8.6 %, mset/k 14.4→20.3 % across 0.8B→27B (single MLX stack, seed 42).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E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46888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2 — Replication Method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841248" y="3611880"/>
            <a:ext cx="1371600" cy="4572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822960" y="37490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D5E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pipeline, many families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30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 — the Pipeline (held constant)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2E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Identical to the prior study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11556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3,000 words</a:t>
            </a: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(1,500 n / 900 v / 600 adj), WordNet + Brown ≥5, seed 42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Same prompt · </a:t>
            </a: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T=0.7, top_p=0.8, top_k=20</a:t>
            </a: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max_tokens 80, thinking disabled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Same graph construction, same metric definitions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WordNet baseline through the identical pipeline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2E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Served via Together AI (serverless), 11 models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347472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model was verified live before running (Phase 0 probe): catalog listings were partly wrong — several “serverless” models were dedicated-only or nonexistent.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5120640"/>
            <a:ext cx="11247120" cy="777240"/>
          </a:xfrm>
          <a:prstGeom prst="rect">
            <a:avLst/>
          </a:prstGeom>
          <a:solidFill>
            <a:srgbClr val="EAF0E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" name="Shape 7"/>
          <p:cNvSpPr/>
          <p:nvPr/>
        </p:nvSpPr>
        <p:spPr>
          <a:xfrm>
            <a:off x="457200" y="5120640"/>
            <a:ext cx="82296" cy="777240"/>
          </a:xfrm>
          <a:prstGeom prst="rect">
            <a:avLst/>
          </a:prstGeom>
          <a:solidFill>
            <a:srgbClr val="1A2E2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658368" y="512064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cost of the full run ≈ </a:t>
            </a:r>
            <a:r>
              <a:rPr lang="en-US" sz="1500" b="1" dirty="0">
                <a:solidFill>
                  <a:srgbClr val="1A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$1.80</a:t>
            </a: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10/11 models completed 3,000/3,000; gpt-oss-120b 2,999/3,000.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30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 — Honest Deviations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2E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not identical (kept in view throughout)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11556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list</a:t>
            </a: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regenerated deterministically, but not byte-identical to the original </a:t>
            </a:r>
          </a:p>
          <a:p>
            <a:pPr marL="0" indent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stack</a:t>
            </a: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Together FP8/FP4 serving vs local MLX bf16</a:t>
            </a:r>
            <a:endParaRPr lang="en-US" sz="1600" dirty="0"/>
          </a:p>
          <a:p>
            <a:pPr marL="0" indent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 models</a:t>
            </a: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gpt-oss, cogito: scaling axis uses total params (active-param spans are narrower)</a:t>
            </a:r>
            <a:endParaRPr lang="en-US" sz="1600" dirty="0"/>
          </a:p>
          <a:p>
            <a:pPr marL="0" indent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gpt-oss thinking</a:t>
            </a: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reduced, not fully off (short reasoning trace remains)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4754880"/>
            <a:ext cx="11247120" cy="914400"/>
          </a:xfrm>
          <a:prstGeom prst="rect">
            <a:avLst/>
          </a:prstGeom>
          <a:solidFill>
            <a:srgbClr val="FBECE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457200" y="4754880"/>
            <a:ext cx="82296" cy="91440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658368" y="475488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</a:t>
            </a:r>
            <a:r>
              <a:rPr lang="en-US" sz="1500" b="1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within-run</a:t>
            </a: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comparison is clean (shared word list). Every </a:t>
            </a:r>
            <a:r>
              <a:rPr lang="en-US" sz="1500" b="1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cross-run</a:t>
            </a: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comparison (new vs prior tables) is ordinal at best.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30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11-Model Roster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2E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Seven new families + two re-runs of prior models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2E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 families (the actual test)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53949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OpenAI </a:t>
            </a: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gpt-oss</a:t>
            </a: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20B + 120B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Meta </a:t>
            </a: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Llama-3.3</a:t>
            </a: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70B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</a:t>
            </a: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7B · </a:t>
            </a: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Qwen3.6</a:t>
            </a: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-Plus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DeepSeek-V4 · Kimi-K2.6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cogito</a:t>
            </a: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671B · </a:t>
            </a: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gemma-3n</a:t>
            </a: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4B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309360" y="14630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2E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Cross-stack validation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0" y="1965960"/>
            <a:ext cx="53035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Qwen3.5-9B</a:t>
            </a: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(vs local MLX)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gemma-4-31B</a:t>
            </a: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(vs local MLX)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5029200"/>
            <a:ext cx="11247120" cy="777240"/>
          </a:xfrm>
          <a:prstGeom prst="rect">
            <a:avLst/>
          </a:prstGeom>
          <a:solidFill>
            <a:srgbClr val="EAF0E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0" name="Shape 8"/>
          <p:cNvSpPr/>
          <p:nvPr/>
        </p:nvSpPr>
        <p:spPr>
          <a:xfrm>
            <a:off x="457200" y="5029200"/>
            <a:ext cx="82296" cy="777240"/>
          </a:xfrm>
          <a:prstGeom prst="rect">
            <a:avLst/>
          </a:prstGeom>
          <a:solidFill>
            <a:srgbClr val="1A2E2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658368" y="502920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gpt-oss 20B→120B is the only </a:t>
            </a:r>
            <a:r>
              <a:rPr lang="en-US" sz="1500" b="1" dirty="0">
                <a:solidFill>
                  <a:srgbClr val="1A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within-family size pair</a:t>
            </a: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available on the catalog.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E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46888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3 — Results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841248" y="3611880"/>
            <a:ext cx="1371600" cy="4572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822960" y="37490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D5E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replicated, what didn't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30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1 — No Cross-Family Scaling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2E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Kernel ratio vs parameter count, 7 families</a:t>
            </a:r>
            <a:endParaRPr lang="en-US" sz="2000" dirty="0"/>
          </a:p>
        </p:txBody>
      </p:sp>
      <p:pic>
        <p:nvPicPr>
          <p:cNvPr id="5" name="Image 0" descr="img/02_new_kern_vs_sca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0" y="1371600"/>
            <a:ext cx="7772400" cy="4251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57607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prior r = −0.862 (within Qwen3.5) becomes </a:t>
            </a:r>
            <a:r>
              <a:rPr lang="en-US" sz="15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−0.16, p = 0.67</a:t>
            </a: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across families. 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30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1 — the Cleanest Refutation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2E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gpt-oss 20B → 120B: the only new within-family pair</a:t>
            </a:r>
            <a:endParaRPr lang="en-US" sz="2000" dirty="0"/>
          </a:p>
        </p:txBody>
      </p:sp>
      <p:pic>
        <p:nvPicPr>
          <p:cNvPr id="5" name="Image 0" descr="img/03_gptoss_revers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1760" y="1371600"/>
            <a:ext cx="6858000" cy="3017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44805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headline metrics move </a:t>
            </a:r>
            <a:r>
              <a:rPr lang="en-US" sz="16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opposite</a:t>
            </a: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the prior Qwen3.5 direction. Prior Gemma-4 (4B→31B) had already contradicted it too.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7200" y="5212080"/>
            <a:ext cx="11247120" cy="777240"/>
          </a:xfrm>
          <a:prstGeom prst="rect">
            <a:avLst/>
          </a:prstGeom>
          <a:solidFill>
            <a:srgbClr val="FBECE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Shape 5"/>
          <p:cNvSpPr/>
          <p:nvPr/>
        </p:nvSpPr>
        <p:spPr>
          <a:xfrm>
            <a:off x="457200" y="5212080"/>
            <a:ext cx="82296" cy="77724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" name="Text 6"/>
          <p:cNvSpPr/>
          <p:nvPr/>
        </p:nvSpPr>
        <p:spPr>
          <a:xfrm>
            <a:off x="658368" y="52120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1 &amp; 2 do </a:t>
            </a:r>
            <a:r>
              <a:rPr lang="en-US" sz="15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generalize. They are real within Qwen3.5, not laws of scale.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30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Models, Two Stacks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2E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Qwen3.5-9B and gemma-4-31B: MLX vs API</a:t>
            </a:r>
            <a:endParaRPr lang="en-US" sz="2000" dirty="0"/>
          </a:p>
        </p:txBody>
      </p:sp>
      <p:pic>
        <p:nvPicPr>
          <p:cNvPr id="5" name="Image 0" descr="img/04_old_vs_new_mode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0" y="1371600"/>
            <a:ext cx="7315200" cy="31546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46634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shift noticeably — but stack effect and word-list effect </a:t>
            </a:r>
            <a:r>
              <a:rPr lang="en-US" sz="16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be separated</a:t>
            </a: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here (both changed). 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A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word-list confound is quantified two slides on.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30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2 — sr_rate Replicates Emphatically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2E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Instruction regime is a family / recipe trait</a:t>
            </a:r>
            <a:endParaRPr lang="en-US" sz="2000" dirty="0"/>
          </a:p>
        </p:txBody>
      </p:sp>
      <p:pic>
        <p:nvPicPr>
          <p:cNvPr id="5" name="Image 0" descr="img/05_srrate_fam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1760" y="1371600"/>
            <a:ext cx="6858000" cy="3429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4937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Qwen3.5 ignores “don’t use the word itself” </a:t>
            </a:r>
            <a:r>
              <a:rPr lang="en-US" sz="16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the time; every non-Qwen family ≤ 8%. Replicated across a different stack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30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2 — a New, Sharper Finding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2E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trait is generation-level, not lineage-level</a:t>
            </a:r>
            <a:endParaRPr lang="en-US" sz="2000" dirty="0"/>
          </a:p>
        </p:txBody>
      </p:sp>
      <p:pic>
        <p:nvPicPr>
          <p:cNvPr id="5" name="Image 0" descr="img/05b_qwen_genera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63040"/>
            <a:ext cx="5486400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0" y="155448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the Qwen line the failure appears, peaks, then is partly corrected: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583680" y="2468880"/>
            <a:ext cx="5120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35000"/>
              </a:lnSpc>
              <a:buSzPct val="100000"/>
              <a:buChar char="•"/>
            </a:pPr>
            <a:r>
              <a:rPr lang="en-US" sz="18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</a:t>
            </a: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19.7%</a:t>
            </a:r>
            <a:endParaRPr lang="en-US" sz="18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Qwen3.5</a:t>
            </a: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</a:t>
            </a:r>
            <a:r>
              <a:rPr lang="en-US" sz="18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80.4%</a:t>
            </a:r>
            <a:endParaRPr lang="en-US" sz="18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Qwen3.6</a:t>
            </a: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35.0%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400800" y="402336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was introduced by the 3.5 post-training recipe.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57200" y="5212080"/>
            <a:ext cx="11247120" cy="777240"/>
          </a:xfrm>
          <a:prstGeom prst="rect">
            <a:avLst/>
          </a:prstGeom>
          <a:solidFill>
            <a:srgbClr val="EAF0E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0" name="Shape 7"/>
          <p:cNvSpPr/>
          <p:nvPr/>
        </p:nvSpPr>
        <p:spPr>
          <a:xfrm>
            <a:off x="457200" y="5212080"/>
            <a:ext cx="82296" cy="777240"/>
          </a:xfrm>
          <a:prstGeom prst="rect">
            <a:avLst/>
          </a:prstGeom>
          <a:solidFill>
            <a:srgbClr val="1A2E2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Text 8"/>
          <p:cNvSpPr/>
          <p:nvPr/>
        </p:nvSpPr>
        <p:spPr>
          <a:xfrm>
            <a:off x="658368" y="52120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sr_rate is a </a:t>
            </a:r>
            <a:r>
              <a:rPr lang="en-US" sz="1500" b="1" dirty="0">
                <a:solidFill>
                  <a:srgbClr val="1A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fingerprint of a training recipe</a:t>
            </a: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trackable across a vendor's releases.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30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3 — Universal Kernel Weakened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2E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92 words within one family → 38 across many</a:t>
            </a:r>
            <a:endParaRPr lang="en-US" sz="2000" dirty="0"/>
          </a:p>
        </p:txBody>
      </p:sp>
      <p:pic>
        <p:nvPicPr>
          <p:cNvPr id="5" name="Image 0" descr="img/06_universal_kern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63040"/>
            <a:ext cx="5669280" cy="3383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92240" y="1600200"/>
            <a:ext cx="52120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Within Qwen3.5 (5 sizes): </a:t>
            </a: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</a:t>
            </a: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shared words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Across all 11 families: </a:t>
            </a: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(union 672)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NSM overlap </a:t>
            </a:r>
            <a:r>
              <a:rPr lang="en-US" sz="16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15.4% → ~8%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Leave-one-out: not an outlier effect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Survivors skew concrete (hand, eye, object, hold), not cognitive primitives.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7200" y="5120640"/>
            <a:ext cx="11247120" cy="777240"/>
          </a:xfrm>
          <a:prstGeom prst="rect">
            <a:avLst/>
          </a:prstGeom>
          <a:solidFill>
            <a:srgbClr val="EAF0E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Shape 5"/>
          <p:cNvSpPr/>
          <p:nvPr/>
        </p:nvSpPr>
        <p:spPr>
          <a:xfrm>
            <a:off x="457200" y="5120640"/>
            <a:ext cx="82296" cy="777240"/>
          </a:xfrm>
          <a:prstGeom prst="rect">
            <a:avLst/>
          </a:prstGeom>
          <a:solidFill>
            <a:srgbClr val="1A2E2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" name="Text 6"/>
          <p:cNvSpPr/>
          <p:nvPr/>
        </p:nvSpPr>
        <p:spPr>
          <a:xfrm>
            <a:off x="658368" y="512064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“universal” kernel was largely a </a:t>
            </a:r>
            <a:r>
              <a:rPr lang="en-US" sz="1500" b="1" dirty="0">
                <a:solidFill>
                  <a:srgbClr val="1A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</a:t>
            </a: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kernel on a smaller genuine cross-family core.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30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Finding — Density Drives Topology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2E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Out-degree, not scale, is the proximate cause</a:t>
            </a:r>
            <a:endParaRPr lang="en-US" sz="2000" dirty="0"/>
          </a:p>
        </p:txBody>
      </p:sp>
      <p:pic>
        <p:nvPicPr>
          <p:cNvPr id="5" name="Image 0" descr="img/07_outdegree_dri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0" y="1371600"/>
            <a:ext cx="7772400" cy="4251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57607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out-degree predicts kernel ratio at </a:t>
            </a:r>
            <a:r>
              <a:rPr lang="en-US" sz="15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+0.75 (p = 0.001)</a:t>
            </a: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circulation at r = +0.83 — far stronger than parameter count (r ≈ −0.16).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30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Finding — a Mechanism to Test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2E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Recipe → style → density → topology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Definitional </a:t>
            </a:r>
            <a:r>
              <a:rPr lang="en-US" sz="1600" b="1" dirty="0">
                <a:solidFill>
                  <a:srgbClr val="1A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</a:t>
            </a: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family trait: Llama writes verbose, common-word definitions (out-deg 2.45); Qwen3.6 is terse (1.32). Verbose definitions build denser graphs → larger, more cyclic kernels.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14600"/>
            <a:ext cx="10881360" cy="13716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914400" y="265176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training recipe  →  definition style  →  graph density  →  topology metrics</a:t>
            </a:r>
            <a:endParaRPr lang="en-US" sz="14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9FB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(verbosity, word reuse,    (out-degree)      (kernel, mset/k, circ)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4206240"/>
            <a:ext cx="11247120" cy="1188720"/>
          </a:xfrm>
          <a:prstGeom prst="rect">
            <a:avLst/>
          </a:prstGeom>
          <a:solidFill>
            <a:srgbClr val="EAF0E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" name="Shape 7"/>
          <p:cNvSpPr/>
          <p:nvPr/>
        </p:nvSpPr>
        <p:spPr>
          <a:xfrm>
            <a:off x="457200" y="4206240"/>
            <a:ext cx="82296" cy="1188720"/>
          </a:xfrm>
          <a:prstGeom prst="rect">
            <a:avLst/>
          </a:prstGeom>
          <a:solidFill>
            <a:srgbClr val="1A2E2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658368" y="420624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Prediction: a few-shot / length-controlled prompt should move kernel metrics </a:t>
            </a:r>
            <a:r>
              <a:rPr lang="en-US" sz="1500" b="1" dirty="0">
                <a:solidFill>
                  <a:srgbClr val="1A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changing weights</a:t>
            </a: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The prior Qwen3.5 trend fits — out-deg fell 3.73→2.52 across its ladder, so scale was a proxy for style.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2E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46888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4 — Conclusions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841248" y="3611880"/>
            <a:ext cx="1371600" cy="4572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822960" y="37490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30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Holds, What Was a Family Trait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2E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Verdict on each prior claim</a:t>
            </a:r>
            <a:endParaRPr lang="en-US" sz="20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47120" cy="2286000"/>
        </p:xfrm>
        <a:graphic>
          <a:graphicData uri="http://schemas.openxmlformats.org/drawingml/2006/table">
            <a:tbl>
              <a:tblPr/>
              <a:tblGrid>
                <a:gridCol w="5120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26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 claim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Kernel ratio ↓ with scale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Family trait — Qwen3.5 only, no cross-family effect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MinSet/Kernel ↑ with scale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Family trait — inverts in gpt-oss &amp; prior Gemma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Universal kernel (92 words)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Weakened — 38 across families, less NSM-like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sr_rate = family regime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Confirmed &amp; upgraded — generation-level, stack-robust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16052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2E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Still standing as cross-family facts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40080" y="4617720"/>
            <a:ext cx="11064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Smaller kernels are denser</a:t>
            </a: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(mset/k anti-correlates with kernel size)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All LLMs are more cyclically irreducible than WordNet</a:t>
            </a: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(mset/k 15–23% vs 10%)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30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Investigation Adds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2E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 contributions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1556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600" b="1" dirty="0">
                <a:solidFill>
                  <a:srgbClr val="1A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 mediation</a:t>
            </a: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out-degree (definitional style) is the proximate driver of every topology metric (r ≈ +0.75), reframing scale as a proxy</a:t>
            </a:r>
            <a:endParaRPr lang="en-US" sz="1600" dirty="0"/>
          </a:p>
          <a:p>
            <a:pPr marL="0" indent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600" b="1" dirty="0">
                <a:solidFill>
                  <a:srgbClr val="1A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Generation-level sr_rate</a:t>
            </a: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Qwen 2.5→3.5→3.6 shows the instruction regime is a trackable recipe fingerprint</a:t>
            </a:r>
            <a:endParaRPr lang="en-US" sz="1600" dirty="0"/>
          </a:p>
          <a:p>
            <a:pPr marL="0" indent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600" b="1" dirty="0">
                <a:solidFill>
                  <a:srgbClr val="1A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Word-list sensitivity</a:t>
            </a: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absolute metrics swing ~8 pp with the sample; the single-list design cannot detect this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4297680"/>
            <a:ext cx="11247120" cy="1188720"/>
          </a:xfrm>
          <a:prstGeom prst="rect">
            <a:avLst/>
          </a:prstGeom>
          <a:solidFill>
            <a:srgbClr val="EAF0E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457200" y="4297680"/>
            <a:ext cx="82296" cy="1188720"/>
          </a:xfrm>
          <a:prstGeom prst="rect">
            <a:avLst/>
          </a:prstGeom>
          <a:solidFill>
            <a:srgbClr val="1A2E2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658368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reframing: from </a:t>
            </a:r>
            <a:r>
              <a:rPr lang="en-US" sz="15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“graph topology tracks scale”</a:t>
            </a: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</a:t>
            </a:r>
            <a:r>
              <a:rPr lang="en-US" sz="1500" b="1" dirty="0">
                <a:solidFill>
                  <a:srgbClr val="1A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“graph topology is a family fingerprint; within Qwen3.5 it also tracks scale, via definitional style.”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30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18160" y="123444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2E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09600" y="1691640"/>
            <a:ext cx="54864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Single seed, single generation/word</a:t>
            </a:r>
            <a:endParaRPr lang="en-US" sz="1500" dirty="0"/>
          </a:p>
          <a:p>
            <a:pPr marL="0" indent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Word list differs from prior → contaminates cross-run &amp; cross-stack comparisons</a:t>
            </a:r>
            <a:endParaRPr lang="en-US" sz="1500" dirty="0"/>
          </a:p>
          <a:p>
            <a:pPr marL="0" indent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Only one new family had two sizes</a:t>
            </a:r>
            <a:endParaRPr lang="en-US" sz="1500" dirty="0"/>
          </a:p>
          <a:p>
            <a:pPr marL="0" indent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MoE param ambiguity; per-model quantization; gpt-oss residual reasoning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2801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9F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822960" y="1920240"/>
            <a:ext cx="10515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Dictionary-graph topology is a</a:t>
            </a:r>
            <a:endParaRPr lang="en-US" sz="34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training-recipe fingerprint — not a scaling law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41248" y="3611880"/>
            <a:ext cx="1371600" cy="4572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700" dirty="0">
                <a:solidFill>
                  <a:srgbClr val="DCE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scaling claims are real within Qwen3.5 but do not generalize.</a:t>
            </a:r>
            <a:endParaRPr lang="en-US" sz="17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700" dirty="0">
                <a:solidFill>
                  <a:srgbClr val="DCE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instruction-regime finding is confirmed, stack-robust, and now generation-level.</a:t>
            </a:r>
            <a:endParaRPr lang="en-US" sz="17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700" dirty="0">
                <a:solidFill>
                  <a:srgbClr val="DCE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Definitional style / density — not parameter count — drives the metrics.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情報経営システム工学　4年 ・ ロペスチャパホセ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8F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code: Investigation/replication/ · Full analysis: cross_family_replication_report.md · Cost ≈ $1.80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1644</Words>
  <Application>Microsoft Office PowerPoint</Application>
  <PresentationFormat>Widescreen</PresentationFormat>
  <Paragraphs>185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Courier New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Jose Lopez Chapa</cp:lastModifiedBy>
  <cp:revision>2</cp:revision>
  <dcterms:created xsi:type="dcterms:W3CDTF">2026-07-20T06:57:44Z</dcterms:created>
  <dcterms:modified xsi:type="dcterms:W3CDTF">2026-07-21T04:28:16Z</dcterms:modified>
</cp:coreProperties>
</file>