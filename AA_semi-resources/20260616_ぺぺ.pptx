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56" r:id="rId5"/>
    <p:sldId id="260" r:id="rId6"/>
    <p:sldId id="261" r:id="rId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78436" autoAdjust="0"/>
  </p:normalViewPr>
  <p:slideViewPr>
    <p:cSldViewPr snapToGrid="0">
      <p:cViewPr varScale="1">
        <p:scale>
          <a:sx n="99" d="100"/>
          <a:sy n="99"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1FA754-05F9-4E88-A7A1-189B14BE4214}" type="datetimeFigureOut">
              <a:rPr lang="es-MX" smtClean="0"/>
              <a:t>16/06/2026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BE6E-E146-4E31-902B-2AC17EBC23F1}" type="slidenum">
              <a:rPr lang="es-MX" smtClean="0"/>
              <a:t>‹#›</a:t>
            </a:fld>
            <a:endParaRPr lang="es-MX"/>
          </a:p>
        </p:txBody>
      </p:sp>
    </p:spTree>
    <p:extLst>
      <p:ext uri="{BB962C8B-B14F-4D97-AF65-F5344CB8AC3E}">
        <p14:creationId xmlns:p14="http://schemas.microsoft.com/office/powerpoint/2010/main" val="1437229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err="1">
                <a:solidFill>
                  <a:schemeClr val="tx1"/>
                </a:solidFill>
                <a:effectLst/>
                <a:latin typeface="+mn-lt"/>
                <a:ea typeface="+mn-ea"/>
                <a:cs typeface="+mn-cs"/>
              </a:rPr>
              <a:t>mset</a:t>
            </a:r>
            <a:r>
              <a:rPr lang="es-MX" sz="1200" kern="1200" dirty="0">
                <a:solidFill>
                  <a:schemeClr val="tx1"/>
                </a:solidFill>
                <a:effectLst/>
                <a:latin typeface="+mn-lt"/>
                <a:ea typeface="+mn-ea"/>
                <a:cs typeface="+mn-cs"/>
              </a:rPr>
              <a:t>/k</a:t>
            </a:r>
            <a:r>
              <a:rPr lang="ja-JP" altLang="es-MX" sz="1200" kern="1200" dirty="0">
                <a:solidFill>
                  <a:schemeClr val="tx1"/>
                </a:solidFill>
                <a:effectLst/>
                <a:latin typeface="+mn-lt"/>
                <a:ea typeface="+mn-ea"/>
                <a:cs typeface="+mn-cs"/>
              </a:rPr>
              <a:t>が低い場合、少数のピボットワードがすべての循環的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じゅんかんてき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な重みを担っている。それらを除去</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じょきょ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するだけですべてが解きほぐされる。カーネルは構造的に脆弱</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ぜいじゃく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で、少数の重要な単語に依存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いぞん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している</a:t>
            </a:r>
            <a:endParaRPr lang="es-MX" sz="1200" kern="1200" dirty="0">
              <a:solidFill>
                <a:schemeClr val="tx1"/>
              </a:solidFill>
              <a:effectLst/>
              <a:latin typeface="+mn-lt"/>
              <a:ea typeface="+mn-ea"/>
              <a:cs typeface="+mn-cs"/>
            </a:endParaRPr>
          </a:p>
          <a:p>
            <a:endParaRPr lang="es-MX" dirty="0"/>
          </a:p>
          <a:p>
            <a:r>
              <a:rPr lang="es-MX" sz="1200" kern="1200" dirty="0" err="1">
                <a:solidFill>
                  <a:schemeClr val="tx1"/>
                </a:solidFill>
                <a:effectLst/>
                <a:latin typeface="+mn-lt"/>
                <a:ea typeface="+mn-ea"/>
                <a:cs typeface="+mn-cs"/>
              </a:rPr>
              <a:t>mset</a:t>
            </a:r>
            <a:r>
              <a:rPr lang="es-MX" sz="1200" kern="1200" dirty="0">
                <a:solidFill>
                  <a:schemeClr val="tx1"/>
                </a:solidFill>
                <a:effectLst/>
                <a:latin typeface="+mn-lt"/>
                <a:ea typeface="+mn-ea"/>
                <a:cs typeface="+mn-cs"/>
              </a:rPr>
              <a:t>/k</a:t>
            </a:r>
            <a:r>
              <a:rPr lang="ja-JP" altLang="es-MX" sz="1200" kern="1200" dirty="0">
                <a:solidFill>
                  <a:schemeClr val="tx1"/>
                </a:solidFill>
                <a:effectLst/>
                <a:latin typeface="+mn-lt"/>
                <a:ea typeface="+mn-ea"/>
                <a:cs typeface="+mn-cs"/>
              </a:rPr>
              <a:t>が高い場合、サイクルが多くの単語に分散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ぶんさん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している単一のボトルネックも、単一の障害点</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しょうがいてん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も存在しない。少数のピボットに集中するのではなく、相互</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接続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せつぞく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がカーネル全体に広がっているからこそ、より多くの単語を除去する必要がある。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a:p>
            <a:r>
              <a:rPr lang="es-MX" dirty="0" err="1">
                <a:solidFill>
                  <a:srgbClr val="FF0000"/>
                </a:solidFill>
              </a:rPr>
              <a:t>汎用的</a:t>
            </a:r>
            <a:r>
              <a:rPr lang="ja-JP" altLang="es-MX" dirty="0">
                <a:solidFill>
                  <a:srgbClr val="FF0000"/>
                </a:solidFill>
              </a:rPr>
              <a:t>（はにょうてき）</a:t>
            </a:r>
            <a:endParaRPr lang="es-MX" dirty="0"/>
          </a:p>
        </p:txBody>
      </p:sp>
      <p:sp>
        <p:nvSpPr>
          <p:cNvPr id="4" name="Slide Number Placeholder 3"/>
          <p:cNvSpPr>
            <a:spLocks noGrp="1"/>
          </p:cNvSpPr>
          <p:nvPr>
            <p:ph type="sldNum" sz="quarter" idx="5"/>
          </p:nvPr>
        </p:nvSpPr>
        <p:spPr/>
        <p:txBody>
          <a:bodyPr/>
          <a:lstStyle/>
          <a:p>
            <a:fld id="{90A7BE6E-E146-4E31-902B-2AC17EBC23F1}" type="slidenum">
              <a:rPr lang="es-MX" smtClean="0"/>
              <a:t>2</a:t>
            </a:fld>
            <a:endParaRPr lang="es-MX"/>
          </a:p>
        </p:txBody>
      </p:sp>
    </p:spTree>
    <p:extLst>
      <p:ext uri="{BB962C8B-B14F-4D97-AF65-F5344CB8AC3E}">
        <p14:creationId xmlns:p14="http://schemas.microsoft.com/office/powerpoint/2010/main" val="3743244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循環率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じゅんかんりつ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が低いということは、定義に使われる語彙の多くがカーネルから遠い単語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次数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じすう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がゼロでサイクルの形成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に寄与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できない単語で構成されていることを意味する。これらは衛星語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えいせいご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と呼ばれる、周辺的で専門的な単語だ。大きなモデルはこの種</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の語彙を優先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ゆうせん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的に使用し、不必要にコアに戻るループを作らず、より精密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せいみつ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で方向性のある定義を生成する。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循環率が高い場合はその逆だ定義に使われる単語の多くがカーネルに近い、あるいはカーネル内部にある単語であり、すでに高度に接続されていて多くの定義に登場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とうじょう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する傾向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けいこう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がある。これはモデルがより洗練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せんれん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されているからではなく、出次数の高い汎用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はんよう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的な単語の小さなセットにデフォルトしており、それらが定義を通じて繰り返し循環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じゅんかん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し続けるからだ。</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すべてのモデルは同じ英語の語彙にアクセスできる違いは何を知っているかではなく、何を使うかだ。小さなモデルは汎用的で過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負荷</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な単語にデフォルトし、グラフ全体に意図</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せずより多くのループを生み出す。大きなモデルはより精密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せいみつ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で専門的な単語</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衛星語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えいせいご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を選択し、より多くの語彙を循環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じゅんかん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的な依存関係に引き込むことなく、クリーンに定義する。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90A7BE6E-E146-4E31-902B-2AC17EBC23F1}" type="slidenum">
              <a:rPr lang="es-MX" smtClean="0"/>
              <a:t>3</a:t>
            </a:fld>
            <a:endParaRPr lang="es-MX"/>
          </a:p>
        </p:txBody>
      </p:sp>
    </p:spTree>
    <p:extLst>
      <p:ext uri="{BB962C8B-B14F-4D97-AF65-F5344CB8AC3E}">
        <p14:creationId xmlns:p14="http://schemas.microsoft.com/office/powerpoint/2010/main" val="1847179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b="1" kern="1200" dirty="0">
                <a:solidFill>
                  <a:schemeClr val="tx1"/>
                </a:solidFill>
                <a:effectLst/>
                <a:latin typeface="+mn-lt"/>
                <a:ea typeface="+mn-ea"/>
                <a:cs typeface="+mn-cs"/>
              </a:rPr>
              <a:t>なぜこの手法が重要なのか？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従来のベンチマークは、モデルが正しい答えを出せるかどうかを測定する。しかしスコアは、実際の知識とは無関係な要因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よういん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によって歪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められる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トークナイゼーションの違い、アテンションパターン、学習目標などがすべてスコアに影響する。モデルは、評価者が期待する形式で答えを出すように訓練されているだけで高スコアを獲得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かくとく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できるため、</a:t>
            </a:r>
            <a:r>
              <a:rPr lang="es-MX" sz="1200" kern="1200" dirty="0">
                <a:solidFill>
                  <a:schemeClr val="tx1"/>
                </a:solidFill>
                <a:effectLst/>
                <a:latin typeface="+mn-lt"/>
                <a:ea typeface="+mn-ea"/>
                <a:cs typeface="+mn-cs"/>
              </a:rPr>
              <a:t>genuine </a:t>
            </a:r>
            <a:r>
              <a:rPr lang="ja-JP" altLang="es-MX" sz="1200" kern="1200" dirty="0">
                <a:solidFill>
                  <a:schemeClr val="tx1"/>
                </a:solidFill>
                <a:effectLst/>
                <a:latin typeface="+mn-lt"/>
                <a:ea typeface="+mn-ea"/>
                <a:cs typeface="+mn-cs"/>
              </a:rPr>
              <a:t>な知識と表面的なパフォーマンスを切り離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すことが難しい。さらに、異なるモデルが似たようなベンチマーク結果を達成した場合、ベンチマークだけではそれらを区別する方法も、その類似性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るいじせい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の背後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はいご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にあるものを理解する方法もない。</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グラフ指標は、モデルが概念同士を関連付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かんれんづ</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けるために言語をどのように使うかを測定する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語彙の関係的な構造を探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るものだ。具体的には、どの単語が基盤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きばん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となっているか、概念同士がどれほど密接に依存し合っているか、そしてコア語彙から意味がどれだけ効率的に導き出されるかを明らかにする。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ベンチマークはモデルが何を</a:t>
            </a:r>
            <a:r>
              <a:rPr lang="ja-JP" altLang="es-MX" sz="1200" b="1" kern="1200" dirty="0">
                <a:solidFill>
                  <a:schemeClr val="tx1"/>
                </a:solidFill>
                <a:effectLst/>
                <a:latin typeface="+mn-lt"/>
                <a:ea typeface="+mn-ea"/>
                <a:cs typeface="+mn-cs"/>
              </a:rPr>
              <a:t>できるか</a:t>
            </a:r>
            <a:r>
              <a:rPr lang="ja-JP" altLang="es-MX" sz="1200" kern="1200" dirty="0">
                <a:solidFill>
                  <a:schemeClr val="tx1"/>
                </a:solidFill>
                <a:effectLst/>
                <a:latin typeface="+mn-lt"/>
                <a:ea typeface="+mn-ea"/>
                <a:cs typeface="+mn-cs"/>
              </a:rPr>
              <a:t>を教えてくれる。グラフ指標はモデルの知識が</a:t>
            </a:r>
            <a:r>
              <a:rPr lang="ja-JP" altLang="es-MX" sz="1200" b="1" kern="1200" dirty="0">
                <a:solidFill>
                  <a:schemeClr val="tx1"/>
                </a:solidFill>
                <a:effectLst/>
                <a:latin typeface="+mn-lt"/>
                <a:ea typeface="+mn-ea"/>
                <a:cs typeface="+mn-cs"/>
              </a:rPr>
              <a:t>どのように構造化されているか</a:t>
            </a:r>
            <a:r>
              <a:rPr lang="ja-JP" altLang="es-MX" sz="1200" kern="1200" dirty="0">
                <a:solidFill>
                  <a:schemeClr val="tx1"/>
                </a:solidFill>
                <a:effectLst/>
                <a:latin typeface="+mn-lt"/>
                <a:ea typeface="+mn-ea"/>
                <a:cs typeface="+mn-cs"/>
              </a:rPr>
              <a:t>を教えてくれる。構造を知ることが重要なのは、モデルがなぜ異なる振る舞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ふるま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いをするのかを説明できるからだ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単にそうであるという事実だけでなく。またそれは、スケーリングが内部的に何を構築しているかへの窓口を提供する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単に「大きいモデルほど優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れている」という観察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かんさつ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を超えて。</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Graph </a:t>
            </a:r>
            <a:r>
              <a:rPr lang="es-MX" sz="1200" kern="1200" dirty="0" err="1">
                <a:solidFill>
                  <a:schemeClr val="tx1"/>
                </a:solidFill>
                <a:effectLst/>
                <a:latin typeface="+mn-lt"/>
                <a:ea typeface="+mn-ea"/>
                <a:cs typeface="+mn-cs"/>
              </a:rPr>
              <a:t>topology</a:t>
            </a:r>
            <a:r>
              <a:rPr lang="ja-JP" altLang="es-MX" sz="1200" kern="1200" dirty="0">
                <a:solidFill>
                  <a:schemeClr val="tx1"/>
                </a:solidFill>
                <a:effectLst/>
                <a:latin typeface="+mn-lt"/>
                <a:ea typeface="+mn-ea"/>
                <a:cs typeface="+mn-cs"/>
              </a:rPr>
              <a:t>スケールに対して予測可能な変化を示す場合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カーネルが縮小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しゅくしょう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し、循環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じゅんかん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コアが密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になる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それはスケーリングが構造的に一貫</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いっかん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した何かをしているという証拠となる。具体的には以下のことが示唆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される：</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大きなモデルは単により多くの事実を記憶</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きおく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しているだけではない</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概念同士の関係を実際に再編成している可能性がある</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意味が、より小さくより緊密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きんみつ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み合ったコアの周りに、より効率的に集約されていく</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グラフトポロジーはこうしてブラックボックスの内部を覗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く窓を提供する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重み自体ではなく、それらの重みが生み出す概念的アーキテクチャを「大きいほど良い」という経験的観察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かんさつ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を、構造的に記述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きじゅつ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し始めることができるものへと変える。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90A7BE6E-E146-4E31-902B-2AC17EBC23F1}" type="slidenum">
              <a:rPr lang="es-MX" smtClean="0"/>
              <a:t>4</a:t>
            </a:fld>
            <a:endParaRPr lang="es-MX"/>
          </a:p>
        </p:txBody>
      </p:sp>
    </p:spTree>
    <p:extLst>
      <p:ext uri="{BB962C8B-B14F-4D97-AF65-F5344CB8AC3E}">
        <p14:creationId xmlns:p14="http://schemas.microsoft.com/office/powerpoint/2010/main" val="3896709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14F24-3ABE-FFCC-4B88-83B8F19A2B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B4B9595F-3BDB-9FC7-5544-330EAE41AD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F95EFF9A-6C1E-3C95-69F0-E7DBE2785EA7}"/>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E62D0E78-A505-84A0-BC82-4CE2BBE5996E}"/>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32118171-2EBA-DBE5-A1D9-7CB4E73357FE}"/>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33276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239AD-AD85-5AE7-AB4B-E57C69F2D251}"/>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E2492D83-CE87-F908-F5FD-8920D26B59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00B8849-6E44-E788-DC95-D5CD00C869DB}"/>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6F01D803-AE7F-1786-8AAB-91AC57F863A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7D95C14-8619-55C1-ED73-E9C7C515ED9D}"/>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414727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4EB02-5535-D2B7-0255-D41D52D7F6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A53F01C2-FD8E-7919-8BA6-D09C622F06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234874-0B6C-4CB3-47DC-B53CC428BA37}"/>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999AC135-7C4F-B119-5C9E-54FB4CE2243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61DCF78E-3012-9CB2-531E-AD43D8A2AD46}"/>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483840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74BC-1F40-92A6-61B7-6729F961D4AC}"/>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59F87B18-F92C-778D-FD96-A71BF1637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0869E33C-33F2-53C0-00E4-FDA94786EE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B9A00793-B7D4-CB6A-6D57-9C1D6E6E84FF}"/>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6" name="Footer Placeholder 5">
            <a:extLst>
              <a:ext uri="{FF2B5EF4-FFF2-40B4-BE49-F238E27FC236}">
                <a16:creationId xmlns:a16="http://schemas.microsoft.com/office/drawing/2014/main" id="{D27F1460-0C5B-383B-6871-9F93CCF7D2AB}"/>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948BE4C3-F0FC-E35E-80FE-8B71B94F3D99}"/>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1922091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EE02-4C49-CB71-0261-D879A08E0CB5}"/>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434C3B71-0D6B-B8B5-2DC6-B15A40F23F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680A21-0B23-07F5-6A79-C913CE6C10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C7A2F60B-0F67-2C24-CB36-A511D4F16D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467B51-C3F6-072B-7D7E-11BFFCDD40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4FF801B2-CB66-F962-A152-483C8B401794}"/>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8" name="Footer Placeholder 7">
            <a:extLst>
              <a:ext uri="{FF2B5EF4-FFF2-40B4-BE49-F238E27FC236}">
                <a16:creationId xmlns:a16="http://schemas.microsoft.com/office/drawing/2014/main" id="{E4E14B9C-9DF1-A3FF-BF97-4E473A4BA94F}"/>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9E359B00-EB97-6BCC-644A-7A8FE3CC2FB7}"/>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3776550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772D1-A789-026A-B330-38F78E7AC481}"/>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29BB2502-A469-D2DA-F225-99806272527B}"/>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4" name="Footer Placeholder 3">
            <a:extLst>
              <a:ext uri="{FF2B5EF4-FFF2-40B4-BE49-F238E27FC236}">
                <a16:creationId xmlns:a16="http://schemas.microsoft.com/office/drawing/2014/main" id="{0D7E8D3C-7619-B579-D963-C6BA136027E6}"/>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848C4CB4-76C0-B388-9DFF-B3FCD5B1D810}"/>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413504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776C21-D736-2906-9A22-17E2552FCBE0}"/>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3" name="Footer Placeholder 2">
            <a:extLst>
              <a:ext uri="{FF2B5EF4-FFF2-40B4-BE49-F238E27FC236}">
                <a16:creationId xmlns:a16="http://schemas.microsoft.com/office/drawing/2014/main" id="{4191F2A2-3455-750A-79CC-D7BDB6536849}"/>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E82000DE-DDC9-595F-0A55-A2E6A9F45C48}"/>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2319691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4D65-E7D3-C04C-F109-E2EF71A0D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DC12B7E1-3CA6-7493-B85E-8FBC4A47CB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5BBE0094-B330-4925-967C-41DFDC9A5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E5F37-2377-48F6-6065-06762736EFCE}"/>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6" name="Footer Placeholder 5">
            <a:extLst>
              <a:ext uri="{FF2B5EF4-FFF2-40B4-BE49-F238E27FC236}">
                <a16:creationId xmlns:a16="http://schemas.microsoft.com/office/drawing/2014/main" id="{7050D0CD-F89A-75A1-F44F-07A0092C7A94}"/>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332D29E1-2281-B11C-4FC8-7D71F6C07FF0}"/>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2224360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7A89F-83BF-5F2D-6077-11AA842D5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443703D8-B451-9D79-6083-F025BB2CCB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C5AAF91A-DB80-54F0-5D29-2BF614F41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7E680D-AAE5-DF1E-3748-FE73A82515E9}"/>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6" name="Footer Placeholder 5">
            <a:extLst>
              <a:ext uri="{FF2B5EF4-FFF2-40B4-BE49-F238E27FC236}">
                <a16:creationId xmlns:a16="http://schemas.microsoft.com/office/drawing/2014/main" id="{58E40362-4EE4-99FE-CD24-5EFBA635E9BC}"/>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DDB6A0C-84E5-E4C8-15BF-1C4D5B8E1670}"/>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3280183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38CF-9617-8200-AB49-62E56EC0C009}"/>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3B951199-23AB-AF6E-4ACF-2369FC2EDD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1D18EC55-E120-59DA-2287-E4891EDD6F0D}"/>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B91ED01F-CCB6-5A60-EE92-DC59C4E4E94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71D9AD7-3A89-30AC-153F-32DD31E590D2}"/>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73278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C813E-1936-B6A2-C680-152DF60BD8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A135A635-23D4-0213-FFFD-194BE0956B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7E08B840-529D-156F-CCA1-B550D2A97DFB}"/>
              </a:ext>
            </a:extLst>
          </p:cNvPr>
          <p:cNvSpPr>
            <a:spLocks noGrp="1"/>
          </p:cNvSpPr>
          <p:nvPr>
            <p:ph type="dt" sz="half" idx="10"/>
          </p:nvPr>
        </p:nvSpPr>
        <p:spPr/>
        <p:txBody>
          <a:body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7D326532-F34E-083F-B061-63F8AD45977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E1312EA4-63A2-BDE8-1B2A-9D0E4987C803}"/>
              </a:ext>
            </a:extLst>
          </p:cNvPr>
          <p:cNvSpPr>
            <a:spLocks noGrp="1"/>
          </p:cNvSpPr>
          <p:nvPr>
            <p:ph type="sldNum" sz="quarter" idx="12"/>
          </p:nvPr>
        </p:nvSpPr>
        <p:spPr/>
        <p:txBody>
          <a:bodyPr/>
          <a:lstStyle/>
          <a:p>
            <a:fld id="{3CA1C1FF-10CC-43A3-99C9-4D1ABBF13C9F}" type="slidenum">
              <a:rPr lang="es-MX" smtClean="0"/>
              <a:t>‹#›</a:t>
            </a:fld>
            <a:endParaRPr lang="es-MX"/>
          </a:p>
        </p:txBody>
      </p:sp>
    </p:spTree>
    <p:extLst>
      <p:ext uri="{BB962C8B-B14F-4D97-AF65-F5344CB8AC3E}">
        <p14:creationId xmlns:p14="http://schemas.microsoft.com/office/powerpoint/2010/main" val="461927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390100-B5EE-1E25-3C95-632D225F06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BA23870D-0447-7839-DCE2-4569B8658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0C733B77-D70C-FAC2-CB3B-65CB0E8981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E15820-019A-4C2D-B7BE-C637215F290E}" type="datetimeFigureOut">
              <a:rPr lang="es-MX" smtClean="0"/>
              <a:t>16/06/2026</a:t>
            </a:fld>
            <a:endParaRPr lang="es-MX"/>
          </a:p>
        </p:txBody>
      </p:sp>
      <p:sp>
        <p:nvSpPr>
          <p:cNvPr id="5" name="Footer Placeholder 4">
            <a:extLst>
              <a:ext uri="{FF2B5EF4-FFF2-40B4-BE49-F238E27FC236}">
                <a16:creationId xmlns:a16="http://schemas.microsoft.com/office/drawing/2014/main" id="{0B01AF97-7535-2855-70D9-FDB4CA73D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9FB96916-C131-629B-E9D0-4C0A0BAD1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A1C1FF-10CC-43A3-99C9-4D1ABBF13C9F}" type="slidenum">
              <a:rPr lang="es-MX" smtClean="0"/>
              <a:t>‹#›</a:t>
            </a:fld>
            <a:endParaRPr lang="es-MX"/>
          </a:p>
        </p:txBody>
      </p:sp>
    </p:spTree>
    <p:extLst>
      <p:ext uri="{BB962C8B-B14F-4D97-AF65-F5344CB8AC3E}">
        <p14:creationId xmlns:p14="http://schemas.microsoft.com/office/powerpoint/2010/main" val="1785124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DA0D-79D6-CCE3-220A-A79EC8760727}"/>
              </a:ext>
            </a:extLst>
          </p:cNvPr>
          <p:cNvSpPr>
            <a:spLocks noGrp="1"/>
          </p:cNvSpPr>
          <p:nvPr>
            <p:ph type="title"/>
          </p:nvPr>
        </p:nvSpPr>
        <p:spPr/>
        <p:txBody>
          <a:bodyPr>
            <a:normAutofit/>
          </a:bodyPr>
          <a:lstStyle/>
          <a:p>
            <a:r>
              <a:rPr lang="es-MX" b="1" i="1" dirty="0" err="1"/>
              <a:t>kernel_rate</a:t>
            </a:r>
            <a:endParaRPr lang="es-MX" b="1" i="1" dirty="0"/>
          </a:p>
        </p:txBody>
      </p:sp>
      <p:sp>
        <p:nvSpPr>
          <p:cNvPr id="3" name="Content Placeholder 2">
            <a:extLst>
              <a:ext uri="{FF2B5EF4-FFF2-40B4-BE49-F238E27FC236}">
                <a16:creationId xmlns:a16="http://schemas.microsoft.com/office/drawing/2014/main" id="{31B2AEC4-5E77-57E7-D85E-B060048F28BD}"/>
              </a:ext>
            </a:extLst>
          </p:cNvPr>
          <p:cNvSpPr>
            <a:spLocks noGrp="1"/>
          </p:cNvSpPr>
          <p:nvPr>
            <p:ph sz="half" idx="1"/>
          </p:nvPr>
        </p:nvSpPr>
        <p:spPr/>
        <p:txBody>
          <a:bodyPr>
            <a:normAutofit/>
          </a:bodyPr>
          <a:lstStyle/>
          <a:p>
            <a:pPr marL="0" indent="0">
              <a:buNone/>
            </a:pPr>
            <a:r>
              <a:rPr lang="en-US" sz="1600" dirty="0"/>
              <a:t>Smaller kernel doesn't mean better definitions it means more economical definitional structure. It achieves the same coverage with less words. </a:t>
            </a:r>
            <a:r>
              <a:rPr lang="en-US" sz="1600" dirty="0">
                <a:solidFill>
                  <a:srgbClr val="FF0000"/>
                </a:solidFill>
              </a:rPr>
              <a:t>So larger models don't need as many anchor words because each anchor word is more precisely and richly connected to the rest of the vocabulary. </a:t>
            </a:r>
            <a:r>
              <a:rPr lang="es-MX" sz="1600" dirty="0" err="1">
                <a:solidFill>
                  <a:srgbClr val="FF0000"/>
                </a:solidFill>
              </a:rPr>
              <a:t>They've</a:t>
            </a:r>
            <a:r>
              <a:rPr lang="es-MX" sz="1600" dirty="0">
                <a:solidFill>
                  <a:srgbClr val="FF0000"/>
                </a:solidFill>
              </a:rPr>
              <a:t> </a:t>
            </a:r>
            <a:r>
              <a:rPr lang="es-MX" sz="1600" dirty="0" err="1">
                <a:solidFill>
                  <a:srgbClr val="FF0000"/>
                </a:solidFill>
              </a:rPr>
              <a:t>essentially</a:t>
            </a:r>
            <a:r>
              <a:rPr lang="es-MX" sz="1600" dirty="0">
                <a:solidFill>
                  <a:srgbClr val="FF0000"/>
                </a:solidFill>
              </a:rPr>
              <a:t> </a:t>
            </a:r>
            <a:r>
              <a:rPr lang="es-MX" sz="1600" dirty="0" err="1">
                <a:solidFill>
                  <a:srgbClr val="FF0000"/>
                </a:solidFill>
              </a:rPr>
              <a:t>compressed</a:t>
            </a:r>
            <a:r>
              <a:rPr lang="es-MX" sz="1600" dirty="0">
                <a:solidFill>
                  <a:srgbClr val="FF0000"/>
                </a:solidFill>
              </a:rPr>
              <a:t> </a:t>
            </a:r>
            <a:r>
              <a:rPr lang="es-MX" sz="1600" dirty="0" err="1">
                <a:solidFill>
                  <a:srgbClr val="FF0000"/>
                </a:solidFill>
              </a:rPr>
              <a:t>the</a:t>
            </a:r>
            <a:r>
              <a:rPr lang="es-MX" sz="1600" dirty="0">
                <a:solidFill>
                  <a:srgbClr val="FF0000"/>
                </a:solidFill>
              </a:rPr>
              <a:t> </a:t>
            </a:r>
            <a:r>
              <a:rPr lang="es-MX" sz="1600" dirty="0" err="1">
                <a:solidFill>
                  <a:srgbClr val="FF0000"/>
                </a:solidFill>
              </a:rPr>
              <a:t>foundation</a:t>
            </a:r>
            <a:r>
              <a:rPr lang="es-MX" sz="1600" dirty="0">
                <a:solidFill>
                  <a:srgbClr val="FF0000"/>
                </a:solidFill>
              </a:rPr>
              <a:t> </a:t>
            </a:r>
            <a:r>
              <a:rPr lang="es-MX" sz="1600" dirty="0" err="1">
                <a:solidFill>
                  <a:srgbClr val="FF0000"/>
                </a:solidFill>
              </a:rPr>
              <a:t>without</a:t>
            </a:r>
            <a:r>
              <a:rPr lang="es-MX" sz="1600" dirty="0">
                <a:solidFill>
                  <a:srgbClr val="FF0000"/>
                </a:solidFill>
              </a:rPr>
              <a:t> </a:t>
            </a:r>
            <a:r>
              <a:rPr lang="es-MX" sz="1600" dirty="0" err="1">
                <a:solidFill>
                  <a:srgbClr val="FF0000"/>
                </a:solidFill>
              </a:rPr>
              <a:t>losing</a:t>
            </a:r>
            <a:r>
              <a:rPr lang="es-MX" sz="1600" dirty="0">
                <a:solidFill>
                  <a:srgbClr val="FF0000"/>
                </a:solidFill>
              </a:rPr>
              <a:t> </a:t>
            </a:r>
            <a:r>
              <a:rPr lang="es-MX" sz="1600" dirty="0" err="1">
                <a:solidFill>
                  <a:srgbClr val="FF0000"/>
                </a:solidFill>
              </a:rPr>
              <a:t>coverage</a:t>
            </a:r>
            <a:r>
              <a:rPr lang="es-MX" sz="1600" dirty="0">
                <a:solidFill>
                  <a:srgbClr val="FF0000"/>
                </a:solidFill>
              </a:rPr>
              <a:t>.</a:t>
            </a:r>
          </a:p>
          <a:p>
            <a:pPr marL="0" indent="0">
              <a:buNone/>
            </a:pPr>
            <a:endParaRPr lang="es-MX" sz="1600" dirty="0"/>
          </a:p>
        </p:txBody>
      </p:sp>
      <p:sp>
        <p:nvSpPr>
          <p:cNvPr id="4" name="Content Placeholder 3">
            <a:extLst>
              <a:ext uri="{FF2B5EF4-FFF2-40B4-BE49-F238E27FC236}">
                <a16:creationId xmlns:a16="http://schemas.microsoft.com/office/drawing/2014/main" id="{32039F37-ADCA-B382-745F-B96D1AFAC370}"/>
              </a:ext>
            </a:extLst>
          </p:cNvPr>
          <p:cNvSpPr>
            <a:spLocks noGrp="1"/>
          </p:cNvSpPr>
          <p:nvPr>
            <p:ph sz="half" idx="2"/>
          </p:nvPr>
        </p:nvSpPr>
        <p:spPr/>
        <p:txBody>
          <a:bodyPr>
            <a:normAutofit/>
          </a:bodyPr>
          <a:lstStyle/>
          <a:p>
            <a:pPr marL="0" indent="0">
              <a:buNone/>
            </a:pPr>
            <a:r>
              <a:rPr lang="es-MX" sz="1600" dirty="0"/>
              <a:t>カーネルが小さいということは、定義の質が高いということではなく、定義の構造がより経済的であることを意味する。より少ない単語で同じカバレッジを達成しているということだ。</a:t>
            </a:r>
            <a:r>
              <a:rPr lang="es-MX" sz="1600" dirty="0">
                <a:solidFill>
                  <a:srgbClr val="FF0000"/>
                </a:solidFill>
              </a:rPr>
              <a:t>つまり大きなモデルほどアンカーワードを多く必要としない</a:t>
            </a:r>
            <a:r>
              <a:rPr lang="ja-JP" altLang="es-MX" sz="1600" dirty="0">
                <a:solidFill>
                  <a:srgbClr val="FF0000"/>
                </a:solidFill>
              </a:rPr>
              <a:t>。</a:t>
            </a:r>
            <a:r>
              <a:rPr lang="es-MX" sz="1600" dirty="0">
                <a:solidFill>
                  <a:srgbClr val="FF0000"/>
                </a:solidFill>
              </a:rPr>
              <a:t>なぜなら各アンカーワードが、語彙の残りの部分とより精密かつ豊かに結びついているからだ。本質的に、カバレッジを失うことなく基盤を圧縮しているといえる</a:t>
            </a:r>
            <a:r>
              <a:rPr lang="es-MX" sz="1600" dirty="0"/>
              <a:t>。</a:t>
            </a:r>
          </a:p>
          <a:p>
            <a:endParaRPr lang="es-MX" dirty="0"/>
          </a:p>
        </p:txBody>
      </p:sp>
    </p:spTree>
    <p:extLst>
      <p:ext uri="{BB962C8B-B14F-4D97-AF65-F5344CB8AC3E}">
        <p14:creationId xmlns:p14="http://schemas.microsoft.com/office/powerpoint/2010/main" val="879476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A493-2256-A305-0315-4A98C80E13FD}"/>
              </a:ext>
            </a:extLst>
          </p:cNvPr>
          <p:cNvSpPr>
            <a:spLocks noGrp="1"/>
          </p:cNvSpPr>
          <p:nvPr>
            <p:ph type="title"/>
          </p:nvPr>
        </p:nvSpPr>
        <p:spPr/>
        <p:txBody>
          <a:bodyPr/>
          <a:lstStyle/>
          <a:p>
            <a:r>
              <a:rPr lang="es-MX" b="1" i="1" dirty="0" err="1"/>
              <a:t>mset</a:t>
            </a:r>
            <a:r>
              <a:rPr lang="es-MX" b="1" i="1" dirty="0"/>
              <a:t>/k</a:t>
            </a:r>
          </a:p>
        </p:txBody>
      </p:sp>
      <p:sp>
        <p:nvSpPr>
          <p:cNvPr id="3" name="Content Placeholder 2">
            <a:extLst>
              <a:ext uri="{FF2B5EF4-FFF2-40B4-BE49-F238E27FC236}">
                <a16:creationId xmlns:a16="http://schemas.microsoft.com/office/drawing/2014/main" id="{8F21C77E-74C3-8D01-4AF2-1AE6E44AC8CF}"/>
              </a:ext>
            </a:extLst>
          </p:cNvPr>
          <p:cNvSpPr>
            <a:spLocks noGrp="1"/>
          </p:cNvSpPr>
          <p:nvPr>
            <p:ph sz="half" idx="1"/>
          </p:nvPr>
        </p:nvSpPr>
        <p:spPr/>
        <p:txBody>
          <a:bodyPr>
            <a:normAutofit fontScale="47500" lnSpcReduction="20000"/>
          </a:bodyPr>
          <a:lstStyle/>
          <a:p>
            <a:pPr marL="0" indent="0" algn="just">
              <a:buNone/>
            </a:pPr>
            <a:r>
              <a:rPr lang="en-US" dirty="0"/>
              <a:t>Within the kernel there are cycles (words mutually defining each other in loops). The </a:t>
            </a:r>
            <a:r>
              <a:rPr lang="en-US" dirty="0" err="1"/>
              <a:t>MinSet</a:t>
            </a:r>
            <a:r>
              <a:rPr lang="en-US" dirty="0"/>
              <a:t> is the smallest set of words you need to remove to break every cycle. </a:t>
            </a:r>
            <a:r>
              <a:rPr lang="en-US" dirty="0" err="1"/>
              <a:t>mset</a:t>
            </a:r>
            <a:r>
              <a:rPr lang="en-US" dirty="0"/>
              <a:t>/k is what fraction of the kernel that represents.</a:t>
            </a:r>
            <a:endParaRPr lang="es-MX" dirty="0"/>
          </a:p>
          <a:p>
            <a:pPr marL="0" indent="0" algn="just">
              <a:buNone/>
            </a:pPr>
            <a:r>
              <a:rPr lang="en-US" dirty="0"/>
              <a:t>A low </a:t>
            </a:r>
            <a:r>
              <a:rPr lang="en-US" dirty="0" err="1"/>
              <a:t>mset</a:t>
            </a:r>
            <a:r>
              <a:rPr lang="en-US" dirty="0"/>
              <a:t>/k means a few pivot words are carrying all the cyclic weight — remove just those and everything untangles. The kernel is structurally fragile, dependent on a small number of critical words.</a:t>
            </a:r>
            <a:endParaRPr lang="es-MX" dirty="0"/>
          </a:p>
          <a:p>
            <a:pPr marL="0" indent="0" algn="just">
              <a:buNone/>
            </a:pPr>
            <a:r>
              <a:rPr lang="en-US" dirty="0"/>
              <a:t>A high </a:t>
            </a:r>
            <a:r>
              <a:rPr lang="en-US" dirty="0" err="1"/>
              <a:t>mset</a:t>
            </a:r>
            <a:r>
              <a:rPr lang="en-US" dirty="0"/>
              <a:t>/k means cycles are distributed across many words — no single word is a bottleneck, no single point of failure. You need to remove more words precisely because the interconnection is spread throughout the kernel rather than concentrated in a few pivots.</a:t>
            </a:r>
            <a:endParaRPr lang="es-MX" dirty="0"/>
          </a:p>
          <a:p>
            <a:pPr marL="0" indent="0" algn="just">
              <a:buNone/>
            </a:pPr>
            <a:r>
              <a:rPr lang="en-US" dirty="0">
                <a:solidFill>
                  <a:srgbClr val="FF0000"/>
                </a:solidFill>
              </a:rPr>
              <a:t>Which means that the models use a bigger variety of words for its definitions, these words are better interconnected to one another implying that they carry more meaning, and isn’t as reliant in generic words like "thing", "make", "give"? </a:t>
            </a:r>
            <a:endParaRPr lang="es-MX" dirty="0"/>
          </a:p>
        </p:txBody>
      </p:sp>
      <p:sp>
        <p:nvSpPr>
          <p:cNvPr id="4" name="Content Placeholder 3">
            <a:extLst>
              <a:ext uri="{FF2B5EF4-FFF2-40B4-BE49-F238E27FC236}">
                <a16:creationId xmlns:a16="http://schemas.microsoft.com/office/drawing/2014/main" id="{4DDBE3BF-541E-1318-1768-8BAFB9C69D51}"/>
              </a:ext>
            </a:extLst>
          </p:cNvPr>
          <p:cNvSpPr>
            <a:spLocks noGrp="1"/>
          </p:cNvSpPr>
          <p:nvPr>
            <p:ph sz="half" idx="2"/>
          </p:nvPr>
        </p:nvSpPr>
        <p:spPr/>
        <p:txBody>
          <a:bodyPr>
            <a:normAutofit fontScale="47500" lnSpcReduction="20000"/>
          </a:bodyPr>
          <a:lstStyle/>
          <a:p>
            <a:pPr marL="0" indent="0">
              <a:lnSpc>
                <a:spcPct val="120000"/>
              </a:lnSpc>
              <a:buNone/>
            </a:pPr>
            <a:r>
              <a:rPr lang="es-MX" dirty="0"/>
              <a:t>カーネルの中にはサイクルが存在する単語同士がループ状に互いを定義し合っている。MinSetとは、すべてのサイクルを断ち切るために除去する必要がある最小の単語集合だ。mset/</a:t>
            </a:r>
            <a:r>
              <a:rPr lang="es-MX" dirty="0" err="1"/>
              <a:t>kはそれがカーネル全体に占める割合を表す</a:t>
            </a:r>
            <a:r>
              <a:rPr lang="es-MX" dirty="0"/>
              <a:t>。</a:t>
            </a:r>
          </a:p>
          <a:p>
            <a:pPr marL="0" indent="0">
              <a:lnSpc>
                <a:spcPct val="120000"/>
              </a:lnSpc>
              <a:buNone/>
            </a:pPr>
            <a:r>
              <a:rPr lang="es-MX" dirty="0" err="1"/>
              <a:t>mset</a:t>
            </a:r>
            <a:r>
              <a:rPr lang="es-MX" dirty="0"/>
              <a:t>/</a:t>
            </a:r>
            <a:r>
              <a:rPr lang="es-MX" dirty="0" err="1"/>
              <a:t>kが低い場合、少数のピボットワードがすべての循環的な重みを担っている</a:t>
            </a:r>
            <a:r>
              <a:rPr lang="ja-JP" altLang="es-MX" dirty="0"/>
              <a:t>。</a:t>
            </a:r>
            <a:r>
              <a:rPr lang="es-MX" dirty="0" err="1"/>
              <a:t>それらを除去するだけですべてが解きほぐされる。カーネルは構造的に脆弱で、少数の重要な単語に依存している</a:t>
            </a:r>
            <a:r>
              <a:rPr lang="es-MX" dirty="0"/>
              <a:t>。</a:t>
            </a:r>
          </a:p>
          <a:p>
            <a:pPr marL="0" indent="0">
              <a:lnSpc>
                <a:spcPct val="120000"/>
              </a:lnSpc>
              <a:buNone/>
            </a:pPr>
            <a:r>
              <a:rPr lang="es-MX" dirty="0" err="1"/>
              <a:t>mset</a:t>
            </a:r>
            <a:r>
              <a:rPr lang="es-MX" dirty="0"/>
              <a:t>/kが高い場合、サイクルが多くの単語に分散している単一のボトルネックも、単一の障害点も存在しない。少数のピボットに集中するのではなく、相互接続がカーネル全体に広がっているからこそ、より多くの単語を除去する必要がある。</a:t>
            </a:r>
          </a:p>
          <a:p>
            <a:pPr marL="0" indent="0">
              <a:lnSpc>
                <a:spcPct val="120000"/>
              </a:lnSpc>
              <a:buNone/>
            </a:pPr>
            <a:r>
              <a:rPr lang="es-MX" dirty="0">
                <a:solidFill>
                  <a:srgbClr val="FF0000"/>
                </a:solidFill>
              </a:rPr>
              <a:t>これはつまり、大きなモデルほど定義においてより多様な単語を使用しており、それらの単語がより密接に相互接続されていることを意味する</a:t>
            </a:r>
            <a:r>
              <a:rPr lang="ja-JP" altLang="es-MX" dirty="0">
                <a:solidFill>
                  <a:srgbClr val="FF0000"/>
                </a:solidFill>
              </a:rPr>
              <a:t>。</a:t>
            </a:r>
            <a:r>
              <a:rPr lang="es-MX" dirty="0" err="1">
                <a:solidFill>
                  <a:srgbClr val="FF0000"/>
                </a:solidFill>
              </a:rPr>
              <a:t>より多くの意味を担い</a:t>
            </a:r>
            <a:r>
              <a:rPr lang="es-MX" dirty="0">
                <a:solidFill>
                  <a:srgbClr val="FF0000"/>
                </a:solidFill>
              </a:rPr>
              <a:t>、「</a:t>
            </a:r>
            <a:r>
              <a:rPr lang="es-MX" dirty="0" err="1">
                <a:solidFill>
                  <a:srgbClr val="FF0000"/>
                </a:solidFill>
              </a:rPr>
              <a:t>thing</a:t>
            </a:r>
            <a:r>
              <a:rPr lang="es-MX" dirty="0">
                <a:solidFill>
                  <a:srgbClr val="FF0000"/>
                </a:solidFill>
              </a:rPr>
              <a:t>」「</a:t>
            </a:r>
            <a:r>
              <a:rPr lang="es-MX" dirty="0" err="1">
                <a:solidFill>
                  <a:srgbClr val="FF0000"/>
                </a:solidFill>
              </a:rPr>
              <a:t>make</a:t>
            </a:r>
            <a:r>
              <a:rPr lang="es-MX" dirty="0">
                <a:solidFill>
                  <a:srgbClr val="FF0000"/>
                </a:solidFill>
              </a:rPr>
              <a:t>」「</a:t>
            </a:r>
            <a:r>
              <a:rPr lang="es-MX" dirty="0" err="1">
                <a:solidFill>
                  <a:srgbClr val="FF0000"/>
                </a:solidFill>
              </a:rPr>
              <a:t>give」のような汎用的な単語への依存度が低いといえる</a:t>
            </a:r>
            <a:r>
              <a:rPr lang="es-MX" dirty="0">
                <a:solidFill>
                  <a:srgbClr val="FF0000"/>
                </a:solidFill>
              </a:rPr>
              <a:t>。</a:t>
            </a:r>
            <a:endParaRPr lang="es-MX" dirty="0"/>
          </a:p>
        </p:txBody>
      </p:sp>
    </p:spTree>
    <p:extLst>
      <p:ext uri="{BB962C8B-B14F-4D97-AF65-F5344CB8AC3E}">
        <p14:creationId xmlns:p14="http://schemas.microsoft.com/office/powerpoint/2010/main" val="1314364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2CB4-F7C9-6470-DDBF-8C27D14F7D2A}"/>
              </a:ext>
            </a:extLst>
          </p:cNvPr>
          <p:cNvSpPr>
            <a:spLocks noGrp="1"/>
          </p:cNvSpPr>
          <p:nvPr>
            <p:ph type="title"/>
          </p:nvPr>
        </p:nvSpPr>
        <p:spPr/>
        <p:txBody>
          <a:bodyPr/>
          <a:lstStyle/>
          <a:p>
            <a:r>
              <a:rPr lang="es-MX" b="1" i="1" dirty="0" err="1"/>
              <a:t>circulation_rate</a:t>
            </a:r>
            <a:endParaRPr lang="es-MX" b="1" i="1" dirty="0"/>
          </a:p>
        </p:txBody>
      </p:sp>
      <p:sp>
        <p:nvSpPr>
          <p:cNvPr id="3" name="Content Placeholder 2">
            <a:extLst>
              <a:ext uri="{FF2B5EF4-FFF2-40B4-BE49-F238E27FC236}">
                <a16:creationId xmlns:a16="http://schemas.microsoft.com/office/drawing/2014/main" id="{DE3ECAC9-F4DD-14E2-5E7B-58BA659708C4}"/>
              </a:ext>
            </a:extLst>
          </p:cNvPr>
          <p:cNvSpPr>
            <a:spLocks noGrp="1"/>
          </p:cNvSpPr>
          <p:nvPr>
            <p:ph sz="half" idx="1"/>
          </p:nvPr>
        </p:nvSpPr>
        <p:spPr/>
        <p:txBody>
          <a:bodyPr>
            <a:normAutofit fontScale="47500" lnSpcReduction="20000"/>
          </a:bodyPr>
          <a:lstStyle/>
          <a:p>
            <a:pPr marL="0" indent="0" algn="just">
              <a:buNone/>
            </a:pPr>
            <a:r>
              <a:rPr lang="en-US" b="1" dirty="0"/>
              <a:t>Lower circulation </a:t>
            </a:r>
            <a:r>
              <a:rPr lang="en-US" dirty="0"/>
              <a:t>rate means more of the vocabulary being used in definitions consists of words far from the kernel — words with out-degree zero that cannot contribute to forming cycles. These are satellite words, peripheral and specialized. </a:t>
            </a:r>
            <a:r>
              <a:rPr lang="en-US" dirty="0">
                <a:solidFill>
                  <a:srgbClr val="FF0000"/>
                </a:solidFill>
              </a:rPr>
              <a:t>Larger models preferentially draw on this kind of vocabulary, producing definitions that are more precise and directional without looping back into the core unnecessarily.</a:t>
            </a:r>
            <a:endParaRPr lang="es-MX" dirty="0">
              <a:solidFill>
                <a:srgbClr val="FF0000"/>
              </a:solidFill>
            </a:endParaRPr>
          </a:p>
          <a:p>
            <a:pPr marL="0" indent="0" algn="just">
              <a:buNone/>
            </a:pPr>
            <a:r>
              <a:rPr lang="en-US" dirty="0"/>
              <a:t>Higher circulation rate means the opposite — more words being used in definitions are close to or inside the kernel, words that are already highly connected and tend to appear in many other definitions. </a:t>
            </a:r>
            <a:r>
              <a:rPr lang="en-US" dirty="0">
                <a:solidFill>
                  <a:srgbClr val="FF0000"/>
                </a:solidFill>
              </a:rPr>
              <a:t>This creates more loops across the whole graph, not because the model is more sophisticated, but because it is defaulting to a smaller, more generic set of high out-degree words that keep recycling through definitions.</a:t>
            </a:r>
            <a:endParaRPr lang="es-MX" dirty="0">
              <a:solidFill>
                <a:srgbClr val="FF0000"/>
              </a:solidFill>
            </a:endParaRPr>
          </a:p>
          <a:p>
            <a:pPr marL="0" indent="0" algn="just">
              <a:buNone/>
            </a:pPr>
            <a:r>
              <a:rPr lang="en-US" dirty="0"/>
              <a:t>All models have access to the same English vocabulary — the difference is not what words they know but what words they choose to use. </a:t>
            </a:r>
            <a:r>
              <a:rPr lang="en-US" dirty="0">
                <a:solidFill>
                  <a:srgbClr val="FF0000"/>
                </a:solidFill>
              </a:rPr>
              <a:t>Smaller models default to generic, overloaded words that accidentally create more loops across the graph. Larger models select more precise, specialized words — satellites — that define cleanly without pulling more of the vocabulary into circular dependencies.</a:t>
            </a:r>
            <a:endParaRPr lang="es-MX" dirty="0">
              <a:solidFill>
                <a:srgbClr val="FF0000"/>
              </a:solidFill>
            </a:endParaRPr>
          </a:p>
          <a:p>
            <a:pPr marL="0" indent="0" algn="just">
              <a:buNone/>
            </a:pPr>
            <a:endParaRPr lang="es-MX" dirty="0"/>
          </a:p>
        </p:txBody>
      </p:sp>
      <p:sp>
        <p:nvSpPr>
          <p:cNvPr id="4" name="Content Placeholder 3">
            <a:extLst>
              <a:ext uri="{FF2B5EF4-FFF2-40B4-BE49-F238E27FC236}">
                <a16:creationId xmlns:a16="http://schemas.microsoft.com/office/drawing/2014/main" id="{FBF58AEE-8740-D7D3-95C3-51AE65FD73CE}"/>
              </a:ext>
            </a:extLst>
          </p:cNvPr>
          <p:cNvSpPr>
            <a:spLocks noGrp="1"/>
          </p:cNvSpPr>
          <p:nvPr>
            <p:ph sz="half" idx="2"/>
          </p:nvPr>
        </p:nvSpPr>
        <p:spPr/>
        <p:txBody>
          <a:bodyPr>
            <a:normAutofit fontScale="47500" lnSpcReduction="20000"/>
          </a:bodyPr>
          <a:lstStyle/>
          <a:p>
            <a:pPr marL="0" indent="0">
              <a:lnSpc>
                <a:spcPct val="120000"/>
              </a:lnSpc>
              <a:buNone/>
            </a:pPr>
            <a:r>
              <a:rPr lang="es-MX" dirty="0"/>
              <a:t>循環率が低いということは、定義に使われる語彙の多くがカーネルから遠い単語出次数がゼロでサイクルの形成に寄与できない単語で構成されていることを意味する。これらは衛星語と呼ばれる、周辺的で専門的な単語だ。</a:t>
            </a:r>
            <a:r>
              <a:rPr lang="es-MX" dirty="0">
                <a:solidFill>
                  <a:srgbClr val="FF0000"/>
                </a:solidFill>
              </a:rPr>
              <a:t>大きなモデルはこの種の語彙を優先的に使用し、不必要にコアに戻るループを作らず、より精密で方向性のある定義を生成する。</a:t>
            </a:r>
          </a:p>
          <a:p>
            <a:pPr marL="0" indent="0">
              <a:lnSpc>
                <a:spcPct val="120000"/>
              </a:lnSpc>
              <a:buNone/>
            </a:pPr>
            <a:r>
              <a:rPr lang="es-MX" dirty="0"/>
              <a:t>循環率が高い場合はその逆だ定義に使われる単語の多くがカーネルに近い、あるいはカーネル内部にある単語であり、すでに高度に接続されていて多くの定義に登場する傾向がある。</a:t>
            </a:r>
            <a:r>
              <a:rPr lang="es-MX" dirty="0">
                <a:solidFill>
                  <a:srgbClr val="FF0000"/>
                </a:solidFill>
              </a:rPr>
              <a:t>これはモデルがより洗練されているからではなく、出次数の高い汎用的な単語の小さなセットにデフォルトしており、それらが定義を通じて繰り返し循環し続けるからだ。</a:t>
            </a:r>
          </a:p>
          <a:p>
            <a:pPr marL="0" indent="0">
              <a:lnSpc>
                <a:spcPct val="120000"/>
              </a:lnSpc>
              <a:buNone/>
            </a:pPr>
            <a:r>
              <a:rPr lang="es-MX" dirty="0"/>
              <a:t>すべてのモデルは同じ英語の語彙にアクセスできる違いは何を知っているかではなく、何を使うかだ。</a:t>
            </a:r>
            <a:r>
              <a:rPr lang="es-MX" dirty="0">
                <a:solidFill>
                  <a:srgbClr val="FF0000"/>
                </a:solidFill>
              </a:rPr>
              <a:t>小さなモデルは汎用的で過負荷な単語にデフォルトし、グラフ全体に意図せずより多くのループを生み出す。大きなモデルはより精密で専門的な単語——</a:t>
            </a:r>
            <a:r>
              <a:rPr lang="es-MX" dirty="0" err="1">
                <a:solidFill>
                  <a:srgbClr val="FF0000"/>
                </a:solidFill>
              </a:rPr>
              <a:t>衛星語</a:t>
            </a:r>
            <a:r>
              <a:rPr lang="es-MX" dirty="0">
                <a:solidFill>
                  <a:srgbClr val="FF0000"/>
                </a:solidFill>
              </a:rPr>
              <a:t>——</a:t>
            </a:r>
            <a:r>
              <a:rPr lang="es-MX" dirty="0" err="1">
                <a:solidFill>
                  <a:srgbClr val="FF0000"/>
                </a:solidFill>
              </a:rPr>
              <a:t>を選択し、より多くの語彙を循環的な依存関係に引き込むことなく、クリーンに定義する</a:t>
            </a:r>
            <a:r>
              <a:rPr lang="es-MX" dirty="0">
                <a:solidFill>
                  <a:srgbClr val="FF0000"/>
                </a:solidFill>
              </a:rPr>
              <a:t>。</a:t>
            </a:r>
          </a:p>
        </p:txBody>
      </p:sp>
    </p:spTree>
    <p:extLst>
      <p:ext uri="{BB962C8B-B14F-4D97-AF65-F5344CB8AC3E}">
        <p14:creationId xmlns:p14="http://schemas.microsoft.com/office/powerpoint/2010/main" val="169291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7A59AC5-E998-2DB0-A4A5-6B5E2FAD0C61}"/>
              </a:ext>
            </a:extLst>
          </p:cNvPr>
          <p:cNvSpPr>
            <a:spLocks noGrp="1"/>
          </p:cNvSpPr>
          <p:nvPr>
            <p:ph sz="half" idx="1"/>
          </p:nvPr>
        </p:nvSpPr>
        <p:spPr>
          <a:xfrm>
            <a:off x="327454" y="338667"/>
            <a:ext cx="5181600" cy="6292792"/>
          </a:xfrm>
        </p:spPr>
        <p:txBody>
          <a:bodyPr>
            <a:normAutofit fontScale="25000" lnSpcReduction="20000"/>
          </a:bodyPr>
          <a:lstStyle/>
          <a:p>
            <a:pPr marL="0" indent="0" algn="just">
              <a:buNone/>
            </a:pPr>
            <a:r>
              <a:rPr lang="en-US" sz="5600" b="1" dirty="0"/>
              <a:t>Why is this methodology important?</a:t>
            </a:r>
            <a:endParaRPr lang="es-MX" sz="5600" dirty="0"/>
          </a:p>
          <a:p>
            <a:pPr marL="0" indent="0" algn="just">
              <a:buNone/>
            </a:pPr>
            <a:r>
              <a:rPr lang="en-US" sz="5600" dirty="0"/>
              <a:t>Traditional benchmarks measure whether a model gets the right answer. Scores are distorted by factors independent of actual knowledge  (tokenization differences, attention patterns, and training objectives all influence scores). A model can score highly simply by being well-trained to format answers the way evaluators expect, making it hard to isolate genuine knowledge from surface-level performance. Furthermore, when different models achieve similar benchmark results, benchmarks alone offer no way to discriminate between them or understand what underlies the similarity.</a:t>
            </a:r>
            <a:endParaRPr lang="es-MX" sz="5600" dirty="0"/>
          </a:p>
          <a:p>
            <a:pPr marL="0" indent="0" algn="just">
              <a:buNone/>
            </a:pPr>
            <a:r>
              <a:rPr lang="en-US" sz="5600" dirty="0"/>
              <a:t>Graph metrics actually test how a model uses language to relate concepts to each other — the relational fabric of its vocabulary. Specifically: which words are foundational, how tightly concepts mutually depend on each other, and how efficiently meaning is bootstrapped from a core vocabulary.</a:t>
            </a:r>
            <a:endParaRPr lang="es-MX" sz="5600" dirty="0"/>
          </a:p>
          <a:p>
            <a:pPr marL="0" indent="0" algn="just">
              <a:buNone/>
            </a:pPr>
            <a:r>
              <a:rPr lang="en-US" sz="5600" dirty="0"/>
              <a:t>Benchmarks tell you </a:t>
            </a:r>
            <a:r>
              <a:rPr lang="en-US" sz="5600" i="1" dirty="0"/>
              <a:t>what</a:t>
            </a:r>
            <a:r>
              <a:rPr lang="en-US" sz="5600" dirty="0"/>
              <a:t> a model can do. Graph metrics tell you </a:t>
            </a:r>
            <a:r>
              <a:rPr lang="en-US" sz="5600" i="1" dirty="0"/>
              <a:t>how</a:t>
            </a:r>
            <a:r>
              <a:rPr lang="en-US" sz="5600" dirty="0"/>
              <a:t> its knowledge is structured. Knowing structure matters because it explains </a:t>
            </a:r>
            <a:r>
              <a:rPr lang="en-US" sz="5600" i="1" dirty="0"/>
              <a:t>why</a:t>
            </a:r>
            <a:r>
              <a:rPr lang="en-US" sz="5600" dirty="0"/>
              <a:t> models behave differently — not just that they do. It also offers a window into what scaling actually builds internally, beyond just "bigger models perform better."</a:t>
            </a:r>
            <a:endParaRPr lang="es-MX" sz="5600" dirty="0"/>
          </a:p>
          <a:p>
            <a:pPr marL="0" indent="0" algn="just">
              <a:buNone/>
            </a:pPr>
            <a:r>
              <a:rPr lang="en-US" sz="5600" dirty="0"/>
              <a:t>If graph topology changes </a:t>
            </a:r>
            <a:r>
              <a:rPr lang="en-US" sz="5600" i="1" dirty="0"/>
              <a:t>predictably</a:t>
            </a:r>
            <a:r>
              <a:rPr lang="en-US" sz="5600" dirty="0"/>
              <a:t> with scale — kernel shrinks, cyclic core gets denser — that's evidence that scaling is doing something structurally coherent. Specifically it suggests that:</a:t>
            </a:r>
            <a:endParaRPr lang="es-MX" sz="5600" dirty="0"/>
          </a:p>
          <a:p>
            <a:pPr algn="just"/>
            <a:r>
              <a:rPr lang="en-US" sz="5600" dirty="0"/>
              <a:t>Larger models are not just memorizing more facts</a:t>
            </a:r>
            <a:endParaRPr lang="es-MX" sz="5600" dirty="0"/>
          </a:p>
          <a:p>
            <a:pPr algn="just"/>
            <a:r>
              <a:rPr lang="en-US" sz="5600" dirty="0"/>
              <a:t>They are actually </a:t>
            </a:r>
            <a:r>
              <a:rPr lang="en-US" sz="5600" i="1" dirty="0"/>
              <a:t>reorganizing</a:t>
            </a:r>
            <a:r>
              <a:rPr lang="en-US" sz="5600" dirty="0"/>
              <a:t> how concepts relate to each other</a:t>
            </a:r>
            <a:endParaRPr lang="es-MX" sz="5600" dirty="0"/>
          </a:p>
          <a:p>
            <a:pPr algn="just"/>
            <a:r>
              <a:rPr lang="en-US" sz="5600" dirty="0"/>
              <a:t>Meaning becomes more efficiently concentrated around a tighter, more entangled core</a:t>
            </a:r>
            <a:endParaRPr lang="es-MX" sz="5600" dirty="0"/>
          </a:p>
          <a:p>
            <a:pPr marL="0" indent="0" algn="just">
              <a:buNone/>
            </a:pPr>
            <a:r>
              <a:rPr lang="en-US" sz="5600" dirty="0"/>
              <a:t>So graph topology gives you a peek inside the black box, not at the weights themselves, but at the </a:t>
            </a:r>
            <a:r>
              <a:rPr lang="en-US" sz="5600" i="1" dirty="0"/>
              <a:t>conceptual architecture</a:t>
            </a:r>
            <a:r>
              <a:rPr lang="en-US" sz="5600" dirty="0"/>
              <a:t> those weights produce. It turns "bigger is better" from an empirical observation into something you can start to describe mechanistically.</a:t>
            </a:r>
            <a:endParaRPr lang="es-MX" sz="5600" dirty="0"/>
          </a:p>
          <a:p>
            <a:pPr algn="just"/>
            <a:endParaRPr lang="es-MX" sz="1400" dirty="0"/>
          </a:p>
        </p:txBody>
      </p:sp>
      <p:sp>
        <p:nvSpPr>
          <p:cNvPr id="6" name="Content Placeholder 5">
            <a:extLst>
              <a:ext uri="{FF2B5EF4-FFF2-40B4-BE49-F238E27FC236}">
                <a16:creationId xmlns:a16="http://schemas.microsoft.com/office/drawing/2014/main" id="{168B0ABC-2183-C121-E179-3DFC1658EABB}"/>
              </a:ext>
            </a:extLst>
          </p:cNvPr>
          <p:cNvSpPr>
            <a:spLocks noGrp="1"/>
          </p:cNvSpPr>
          <p:nvPr>
            <p:ph sz="half" idx="2"/>
          </p:nvPr>
        </p:nvSpPr>
        <p:spPr>
          <a:xfrm>
            <a:off x="5782962" y="305258"/>
            <a:ext cx="6170141" cy="6359610"/>
          </a:xfrm>
        </p:spPr>
        <p:txBody>
          <a:bodyPr>
            <a:noAutofit/>
          </a:bodyPr>
          <a:lstStyle/>
          <a:p>
            <a:pPr marL="0" indent="0">
              <a:buNone/>
            </a:pPr>
            <a:r>
              <a:rPr lang="es-MX" sz="1300" b="1" dirty="0" err="1"/>
              <a:t>なぜこの手法が重要なのか</a:t>
            </a:r>
            <a:r>
              <a:rPr lang="es-MX" sz="1300" b="1" dirty="0"/>
              <a:t>？</a:t>
            </a:r>
            <a:endParaRPr lang="es-MX" sz="1300" dirty="0"/>
          </a:p>
          <a:p>
            <a:pPr marL="0" indent="0">
              <a:buNone/>
            </a:pPr>
            <a:r>
              <a:rPr lang="es-MX" sz="1300" dirty="0"/>
              <a:t>従来のベンチマークは、モデルが正しい答えを出せるかどうかを測定する。しかしスコアは、実際の知識とは無関係な要因によって歪められる——トークナイゼーションの違い、アテンションパターン、学習目標などがすべてスコアに影響する。モデルは、評価者が期待する形式で答えを出すように訓練されているだけで高スコアを獲得できるため、genuine な知識と表面的なパフォーマンスを切り離すことが難しい。さらに、異なるモデルが似たようなベンチマーク結果を達成した場合、ベンチマークだけではそれらを区別する方法も、その類似性の背後にあるものを理解する方法もない。</a:t>
            </a:r>
          </a:p>
          <a:p>
            <a:pPr marL="0" indent="0">
              <a:buNone/>
            </a:pPr>
            <a:r>
              <a:rPr lang="es-MX" sz="1300" dirty="0" err="1"/>
              <a:t>グラフ指標は、モデルが概念同士を関連付けるために言語をどのように使うかを測定する</a:t>
            </a:r>
            <a:r>
              <a:rPr lang="es-MX" sz="1300" dirty="0"/>
              <a:t>——語彙の関係的な構造を探るものだ。具体的には、どの単語が基盤となっているか、概念同士がどれほど密接に依存し合っているか、そしてコア語彙から意味がどれだけ効率的に導き出されるかを明らかにする。</a:t>
            </a:r>
          </a:p>
          <a:p>
            <a:pPr marL="0" indent="0">
              <a:buNone/>
            </a:pPr>
            <a:r>
              <a:rPr lang="es-MX" sz="1300" dirty="0"/>
              <a:t>ベンチマークはモデルが何を</a:t>
            </a:r>
            <a:r>
              <a:rPr lang="es-MX" sz="1300" b="1" dirty="0"/>
              <a:t>できるか</a:t>
            </a:r>
            <a:r>
              <a:rPr lang="es-MX" sz="1300" dirty="0"/>
              <a:t>を教えてくれる。グラフ指標はモデルの知識が</a:t>
            </a:r>
            <a:r>
              <a:rPr lang="es-MX" sz="1300" b="1" dirty="0"/>
              <a:t>どのように構造化されているか</a:t>
            </a:r>
            <a:r>
              <a:rPr lang="es-MX" sz="1300" dirty="0"/>
              <a:t>を教えてくれる。構造を知ることが重要なのは、モデルがなぜ異なる振る舞いをするのかを説明できるからだ——</a:t>
            </a:r>
            <a:r>
              <a:rPr lang="es-MX" sz="1300" dirty="0" err="1"/>
              <a:t>単にそうであるという事実だけでなく。またそれは、スケーリングが内部的に何を構築しているかへの窓口を提供する</a:t>
            </a:r>
            <a:r>
              <a:rPr lang="es-MX" sz="1300" dirty="0"/>
              <a:t>——</a:t>
            </a:r>
            <a:r>
              <a:rPr lang="es-MX" sz="1300" dirty="0" err="1"/>
              <a:t>単に「大きいモデルほど優れている」という観察を超えて</a:t>
            </a:r>
            <a:r>
              <a:rPr lang="es-MX" sz="1300" dirty="0"/>
              <a:t>。</a:t>
            </a:r>
          </a:p>
          <a:p>
            <a:pPr marL="0" indent="0">
              <a:buNone/>
            </a:pPr>
            <a:r>
              <a:rPr lang="es-MX" sz="1300" dirty="0" err="1"/>
              <a:t>グラフトポロジーがスケールに対して予測可能な変化を示す場合</a:t>
            </a:r>
            <a:r>
              <a:rPr lang="es-MX" sz="1300" dirty="0"/>
              <a:t>——</a:t>
            </a:r>
            <a:r>
              <a:rPr lang="es-MX" sz="1300" dirty="0" err="1"/>
              <a:t>カーネルが縮小し、循環コアが密になる</a:t>
            </a:r>
            <a:r>
              <a:rPr lang="es-MX" sz="1300" dirty="0"/>
              <a:t>——</a:t>
            </a:r>
            <a:r>
              <a:rPr lang="es-MX" sz="1300" dirty="0" err="1"/>
              <a:t>それはスケーリングが構造的に一貫した何かをしているという証拠となる。具体的には以下のことが示唆される</a:t>
            </a:r>
            <a:r>
              <a:rPr lang="es-MX" sz="1300" dirty="0"/>
              <a:t>：</a:t>
            </a:r>
          </a:p>
          <a:p>
            <a:r>
              <a:rPr lang="es-MX" sz="1300" dirty="0" err="1"/>
              <a:t>大きなモデルは単により多くの事実を記憶しているだけではない</a:t>
            </a:r>
            <a:endParaRPr lang="es-MX" sz="1300" dirty="0"/>
          </a:p>
          <a:p>
            <a:r>
              <a:rPr lang="es-MX" sz="1300" dirty="0" err="1"/>
              <a:t>概念同士の関係を実際に再編成している可能性がある</a:t>
            </a:r>
            <a:endParaRPr lang="es-MX" sz="1300" dirty="0"/>
          </a:p>
          <a:p>
            <a:r>
              <a:rPr lang="es-MX" sz="1300" dirty="0" err="1"/>
              <a:t>意味が、より小さくより緊密に絡み合ったコアの周りに、より効率的に集約されていく</a:t>
            </a:r>
            <a:endParaRPr lang="es-MX" sz="1300" dirty="0"/>
          </a:p>
          <a:p>
            <a:pPr marL="0" indent="0">
              <a:buNone/>
            </a:pPr>
            <a:r>
              <a:rPr lang="es-MX" sz="1270" dirty="0" err="1"/>
              <a:t>グラフトポロジーはこうしてブラックボックスの内部を覗く窓を提供する</a:t>
            </a:r>
            <a:r>
              <a:rPr lang="es-MX" sz="1270" dirty="0"/>
              <a:t>——重み自体ではなく、それらの重みが生み出す概念的アーキテクチャを「大きいほど良い」という経験的観察を、構造的に記述し始めることができるものへと変える。</a:t>
            </a:r>
          </a:p>
          <a:p>
            <a:pPr marL="0" indent="0">
              <a:buNone/>
            </a:pPr>
            <a:endParaRPr lang="es-MX" sz="1200" dirty="0"/>
          </a:p>
        </p:txBody>
      </p:sp>
    </p:spTree>
    <p:extLst>
      <p:ext uri="{BB962C8B-B14F-4D97-AF65-F5344CB8AC3E}">
        <p14:creationId xmlns:p14="http://schemas.microsoft.com/office/powerpoint/2010/main" val="1891667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7004E-0823-F0D9-1848-B5872C89A714}"/>
              </a:ext>
            </a:extLst>
          </p:cNvPr>
          <p:cNvSpPr>
            <a:spLocks noGrp="1"/>
          </p:cNvSpPr>
          <p:nvPr>
            <p:ph type="title"/>
          </p:nvPr>
        </p:nvSpPr>
        <p:spPr/>
        <p:txBody>
          <a:bodyPr>
            <a:normAutofit/>
          </a:bodyPr>
          <a:lstStyle/>
          <a:p>
            <a:r>
              <a:rPr lang="en-US" sz="4000" b="1" i="1" dirty="0"/>
              <a:t>4.3 Universal Kernel: 92 Scale-Invariant Words</a:t>
            </a:r>
            <a:endParaRPr lang="es-MX" sz="4000" b="1" i="1" dirty="0"/>
          </a:p>
        </p:txBody>
      </p:sp>
      <p:sp>
        <p:nvSpPr>
          <p:cNvPr id="3" name="Content Placeholder 2">
            <a:extLst>
              <a:ext uri="{FF2B5EF4-FFF2-40B4-BE49-F238E27FC236}">
                <a16:creationId xmlns:a16="http://schemas.microsoft.com/office/drawing/2014/main" id="{AB09DB06-7667-CF25-B268-F71F7835205D}"/>
              </a:ext>
            </a:extLst>
          </p:cNvPr>
          <p:cNvSpPr>
            <a:spLocks noGrp="1"/>
          </p:cNvSpPr>
          <p:nvPr>
            <p:ph sz="half" idx="1"/>
          </p:nvPr>
        </p:nvSpPr>
        <p:spPr/>
        <p:txBody>
          <a:bodyPr>
            <a:normAutofit fontScale="70000" lnSpcReduction="20000"/>
          </a:bodyPr>
          <a:lstStyle/>
          <a:p>
            <a:pPr marL="0" indent="0" algn="just">
              <a:buNone/>
            </a:pPr>
            <a:r>
              <a:rPr lang="en-US" sz="2600" dirty="0">
                <a:solidFill>
                  <a:schemeClr val="accent3"/>
                </a:solidFill>
              </a:rPr>
              <a:t>Here I would argue that NSM comparison to the 92 words found across the Qwen 3.5 model family is not quite relevant to the findings of the paper. Wierzbicka's primitives were specifically designed to be universal across all human languages stripped of cultural specificity precisely so they can serve as a foundation for a universal semantic metalanguage. The overlap is expected as they are the most foundational concepts for every language, so the claim “… the definitional role of these concepts is determined by English lexical structure” I believe is problematic.</a:t>
            </a:r>
            <a:endParaRPr lang="es-MX" sz="2600" dirty="0">
              <a:solidFill>
                <a:schemeClr val="accent3"/>
              </a:solidFill>
            </a:endParaRPr>
          </a:p>
          <a:p>
            <a:pPr marL="0" indent="0">
              <a:buNone/>
            </a:pPr>
            <a:endParaRPr lang="es-MX" dirty="0"/>
          </a:p>
        </p:txBody>
      </p:sp>
      <p:sp>
        <p:nvSpPr>
          <p:cNvPr id="4" name="Content Placeholder 3">
            <a:extLst>
              <a:ext uri="{FF2B5EF4-FFF2-40B4-BE49-F238E27FC236}">
                <a16:creationId xmlns:a16="http://schemas.microsoft.com/office/drawing/2014/main" id="{F8E934B7-BBAC-0D32-2BE2-B5880B9DFDC9}"/>
              </a:ext>
            </a:extLst>
          </p:cNvPr>
          <p:cNvSpPr>
            <a:spLocks noGrp="1"/>
          </p:cNvSpPr>
          <p:nvPr>
            <p:ph sz="half" idx="2"/>
          </p:nvPr>
        </p:nvSpPr>
        <p:spPr/>
        <p:txBody>
          <a:bodyPr>
            <a:normAutofit fontScale="70000" lnSpcReduction="20000"/>
          </a:bodyPr>
          <a:lstStyle/>
          <a:p>
            <a:pPr marL="0" indent="0">
              <a:lnSpc>
                <a:spcPct val="120000"/>
              </a:lnSpc>
              <a:buNone/>
            </a:pPr>
            <a:r>
              <a:rPr lang="es-MX" sz="2600" dirty="0">
                <a:solidFill>
                  <a:schemeClr val="accent3"/>
                </a:solidFill>
              </a:rPr>
              <a:t>ここで指摘したいのは、Qwen3.5モデルファミリー全体で発見された92語とNSMプリミティブの比較は、本論文の知見にとってあまり関連性がないということだ。Wierzbickaのプリミティブは、文化的特殊性を排除し、普遍的な意味メタ言語の基盤として機能するよう、すべての人間言語において普遍的であるように設計されたものだ。その重複はあらゆる言語において最も基盤的な概念として選ばれたものである以上、ほぼ必然的な結果といえる。したがって「これらの概念の定義的役割は英語の語彙構造によって決定される」という主張は問題があると考える。</a:t>
            </a:r>
          </a:p>
          <a:p>
            <a:pPr marL="0" indent="0">
              <a:buNone/>
            </a:pPr>
            <a:endParaRPr lang="es-MX" dirty="0"/>
          </a:p>
        </p:txBody>
      </p:sp>
    </p:spTree>
    <p:extLst>
      <p:ext uri="{BB962C8B-B14F-4D97-AF65-F5344CB8AC3E}">
        <p14:creationId xmlns:p14="http://schemas.microsoft.com/office/powerpoint/2010/main" val="2375134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DFE7-A5D7-92E3-CC0D-770F8FA3C80D}"/>
              </a:ext>
            </a:extLst>
          </p:cNvPr>
          <p:cNvSpPr>
            <a:spLocks noGrp="1"/>
          </p:cNvSpPr>
          <p:nvPr>
            <p:ph type="title"/>
          </p:nvPr>
        </p:nvSpPr>
        <p:spPr/>
        <p:txBody>
          <a:bodyPr/>
          <a:lstStyle/>
          <a:p>
            <a:r>
              <a:rPr lang="en-US" b="1" i="1" dirty="0"/>
              <a:t>5.4 NSM Alignment</a:t>
            </a:r>
            <a:endParaRPr lang="es-MX" i="1" dirty="0"/>
          </a:p>
        </p:txBody>
      </p:sp>
      <p:sp>
        <p:nvSpPr>
          <p:cNvPr id="3" name="Content Placeholder 2">
            <a:extLst>
              <a:ext uri="{FF2B5EF4-FFF2-40B4-BE49-F238E27FC236}">
                <a16:creationId xmlns:a16="http://schemas.microsoft.com/office/drawing/2014/main" id="{690E7ABD-2E11-9AF3-B97B-383B23AD269B}"/>
              </a:ext>
            </a:extLst>
          </p:cNvPr>
          <p:cNvSpPr>
            <a:spLocks noGrp="1"/>
          </p:cNvSpPr>
          <p:nvPr>
            <p:ph sz="half" idx="1"/>
          </p:nvPr>
        </p:nvSpPr>
        <p:spPr/>
        <p:txBody>
          <a:bodyPr>
            <a:noAutofit/>
          </a:bodyPr>
          <a:lstStyle/>
          <a:p>
            <a:pPr marL="0" indent="0" algn="just">
              <a:buNone/>
            </a:pPr>
            <a:r>
              <a:rPr lang="en-US" sz="1600" dirty="0">
                <a:solidFill>
                  <a:schemeClr val="accent3"/>
                </a:solidFill>
              </a:rPr>
              <a:t>Similarly to my previous point, I agree with the claim that </a:t>
            </a:r>
            <a:r>
              <a:rPr lang="en-US" sz="1600" i="1" dirty="0">
                <a:solidFill>
                  <a:schemeClr val="accent3"/>
                </a:solidFill>
              </a:rPr>
              <a:t>"… this gap may reflect the different nature of LLM vs. human definitional practice: LLMs generate functional descriptions, not minimal semantic decompositions" </a:t>
            </a:r>
            <a:r>
              <a:rPr lang="en-US" sz="1600" dirty="0">
                <a:solidFill>
                  <a:schemeClr val="accent3"/>
                </a:solidFill>
              </a:rPr>
              <a:t>but </a:t>
            </a:r>
            <a:r>
              <a:rPr lang="en-US" sz="1600" b="1" dirty="0">
                <a:solidFill>
                  <a:schemeClr val="accent3"/>
                </a:solidFill>
              </a:rPr>
              <a:t>I would argue the reason is not that LLMs fail to utilize primitives to build meaning.</a:t>
            </a:r>
            <a:endParaRPr lang="es-MX" sz="1600" dirty="0">
              <a:solidFill>
                <a:schemeClr val="accent3"/>
              </a:solidFill>
            </a:endParaRPr>
          </a:p>
          <a:p>
            <a:pPr marL="0" indent="0" algn="just">
              <a:buNone/>
            </a:pPr>
            <a:r>
              <a:rPr lang="en-US" sz="1600" dirty="0">
                <a:solidFill>
                  <a:schemeClr val="accent3"/>
                </a:solidFill>
              </a:rPr>
              <a:t>It is that NSM primitives were never designed to describe how language is used in practice. They were designed to describe how meaning is decomposed at the most abstract, crosslinguistic level. So the gap in NSM overlap does not indicate that LLMs fail to internalize primitive concepts. It means LLMs and human lexicographers are doing different things. Human lexicographers are explicitly trying to reduce words to their most primitive components, while LLMs were trained to predict and generate language as it is actually used, so their definitions reflect functional, contextual, descriptive language the way words appear in real text.</a:t>
            </a:r>
            <a:endParaRPr lang="es-MX" sz="1600" dirty="0">
              <a:solidFill>
                <a:schemeClr val="accent3"/>
              </a:solidFill>
            </a:endParaRPr>
          </a:p>
        </p:txBody>
      </p:sp>
      <p:sp>
        <p:nvSpPr>
          <p:cNvPr id="4" name="Content Placeholder 3">
            <a:extLst>
              <a:ext uri="{FF2B5EF4-FFF2-40B4-BE49-F238E27FC236}">
                <a16:creationId xmlns:a16="http://schemas.microsoft.com/office/drawing/2014/main" id="{314B3D99-44C5-561F-6595-031552007868}"/>
              </a:ext>
            </a:extLst>
          </p:cNvPr>
          <p:cNvSpPr>
            <a:spLocks noGrp="1"/>
          </p:cNvSpPr>
          <p:nvPr>
            <p:ph sz="half" idx="2"/>
          </p:nvPr>
        </p:nvSpPr>
        <p:spPr/>
        <p:txBody>
          <a:bodyPr>
            <a:normAutofit fontScale="55000" lnSpcReduction="20000"/>
          </a:bodyPr>
          <a:lstStyle/>
          <a:p>
            <a:pPr marL="0" indent="0" algn="just">
              <a:lnSpc>
                <a:spcPct val="120000"/>
              </a:lnSpc>
              <a:buNone/>
            </a:pPr>
            <a:r>
              <a:rPr lang="es-MX" dirty="0" err="1">
                <a:solidFill>
                  <a:schemeClr val="accent3"/>
                </a:solidFill>
              </a:rPr>
              <a:t>前述の指摘と同様に</a:t>
            </a:r>
            <a:r>
              <a:rPr lang="es-MX" dirty="0">
                <a:solidFill>
                  <a:schemeClr val="accent3"/>
                </a:solidFill>
              </a:rPr>
              <a:t>、「</a:t>
            </a:r>
            <a:r>
              <a:rPr lang="es-MX" dirty="0" err="1">
                <a:solidFill>
                  <a:schemeClr val="accent3"/>
                </a:solidFill>
              </a:rPr>
              <a:t>このギャップはLLMと人間の定義的実践の性質の違いを反映している可能性がある</a:t>
            </a:r>
            <a:r>
              <a:rPr lang="es-MX" dirty="0">
                <a:solidFill>
                  <a:schemeClr val="accent3"/>
                </a:solidFill>
              </a:rPr>
              <a:t>——LLMは機能的な記述を生成するのであって、最小限の意味分解を行うわけではない」という主張には同意する。しかし、その理由はLLMがプリミティブを意味構築に活用できていないからではないと考える。</a:t>
            </a:r>
          </a:p>
          <a:p>
            <a:pPr marL="0" indent="0" algn="just">
              <a:lnSpc>
                <a:spcPct val="120000"/>
              </a:lnSpc>
              <a:buNone/>
            </a:pPr>
            <a:r>
              <a:rPr lang="es-MX" dirty="0">
                <a:solidFill>
                  <a:schemeClr val="accent3"/>
                </a:solidFill>
              </a:rPr>
              <a:t>NSMプリミティブはそもそも言語が実際にどのように使われるかを記述するために設計されたものではない。意味が最も抽象的な、言語横断的なレベルでどのように分解されるかを記述するために設計されたものだ。したがってNSM重複のギャップは、LLMがプリミティブな概念を内部化できていないことを示すものではない。それはLLMと人間の辞書編集者が異なることをしているということを意味する。人間の辞書編集者は明示的に単語を最も原始的な構成要素へと還元しようとしているのに対し、LLMは実際に使われる言語を予測・生成するよう訓練されているため、その定義は機能的・文脈的・記述的な言語——</a:t>
            </a:r>
            <a:r>
              <a:rPr lang="es-MX" dirty="0" err="1">
                <a:solidFill>
                  <a:schemeClr val="accent3"/>
                </a:solidFill>
              </a:rPr>
              <a:t>実際のテキストに単語が現れる方法</a:t>
            </a:r>
            <a:r>
              <a:rPr lang="es-MX" dirty="0">
                <a:solidFill>
                  <a:schemeClr val="accent3"/>
                </a:solidFill>
              </a:rPr>
              <a:t>——</a:t>
            </a:r>
            <a:r>
              <a:rPr lang="es-MX" dirty="0" err="1">
                <a:solidFill>
                  <a:schemeClr val="accent3"/>
                </a:solidFill>
              </a:rPr>
              <a:t>を反映している</a:t>
            </a:r>
            <a:r>
              <a:rPr lang="es-MX" dirty="0">
                <a:solidFill>
                  <a:schemeClr val="accent3"/>
                </a:solidFill>
              </a:rPr>
              <a:t>。</a:t>
            </a:r>
          </a:p>
          <a:p>
            <a:pPr marL="0" indent="0" algn="just">
              <a:lnSpc>
                <a:spcPct val="120000"/>
              </a:lnSpc>
              <a:buNone/>
            </a:pPr>
            <a:endParaRPr lang="es-MX" dirty="0">
              <a:solidFill>
                <a:schemeClr val="accent3"/>
              </a:solidFill>
            </a:endParaRPr>
          </a:p>
        </p:txBody>
      </p:sp>
    </p:spTree>
    <p:extLst>
      <p:ext uri="{BB962C8B-B14F-4D97-AF65-F5344CB8AC3E}">
        <p14:creationId xmlns:p14="http://schemas.microsoft.com/office/powerpoint/2010/main" val="8266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JAP1">
      <a:majorFont>
        <a:latin typeface="Aptos Display"/>
        <a:ea typeface="Noto Sans JP"/>
        <a:cs typeface=""/>
      </a:majorFont>
      <a:minorFont>
        <a:latin typeface="Aptos"/>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2367</Words>
  <Application>Microsoft Office PowerPoint</Application>
  <PresentationFormat>Widescreen</PresentationFormat>
  <Paragraphs>70</Paragraphs>
  <Slides>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kernel_rate</vt:lpstr>
      <vt:lpstr>mset/k</vt:lpstr>
      <vt:lpstr>circulation_rate</vt:lpstr>
      <vt:lpstr>PowerPoint Presentation</vt:lpstr>
      <vt:lpstr>4.3 Universal Kernel: 92 Scale-Invariant Words</vt:lpstr>
      <vt:lpstr>5.4 NSM Alignment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2</cp:revision>
  <dcterms:created xsi:type="dcterms:W3CDTF">2026-06-16T01:05:21Z</dcterms:created>
  <dcterms:modified xsi:type="dcterms:W3CDTF">2026-06-16T04:50:49Z</dcterms:modified>
</cp:coreProperties>
</file>