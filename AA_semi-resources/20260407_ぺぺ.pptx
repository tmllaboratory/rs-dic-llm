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74" r:id="rId3"/>
    <p:sldId id="261" r:id="rId4"/>
    <p:sldId id="260" r:id="rId5"/>
    <p:sldId id="262" r:id="rId6"/>
    <p:sldId id="263" r:id="rId7"/>
    <p:sldId id="264" r:id="rId8"/>
    <p:sldId id="272" r:id="rId9"/>
    <p:sldId id="271" r:id="rId10"/>
    <p:sldId id="266" r:id="rId11"/>
    <p:sldId id="267" r:id="rId12"/>
    <p:sldId id="269" r:id="rId13"/>
    <p:sldId id="273"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68" autoAdjust="0"/>
    <p:restoredTop sz="79387" autoAdjust="0"/>
  </p:normalViewPr>
  <p:slideViewPr>
    <p:cSldViewPr snapToGrid="0">
      <p:cViewPr varScale="1">
        <p:scale>
          <a:sx n="100" d="100"/>
          <a:sy n="100" d="100"/>
        </p:scale>
        <p:origin x="14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C25A71-28AD-44B4-B895-3BB98FA2EAFB}" type="datetimeFigureOut">
              <a:rPr lang="es-MX" smtClean="0"/>
              <a:t>07/04/2026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80DBBC-1305-460F-8812-338FF8EEB6E3}" type="slidenum">
              <a:rPr lang="es-MX" smtClean="0"/>
              <a:t>‹#›</a:t>
            </a:fld>
            <a:endParaRPr lang="es-MX"/>
          </a:p>
        </p:txBody>
      </p:sp>
    </p:spTree>
    <p:extLst>
      <p:ext uri="{BB962C8B-B14F-4D97-AF65-F5344CB8AC3E}">
        <p14:creationId xmlns:p14="http://schemas.microsoft.com/office/powerpoint/2010/main" val="2501484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g3d1eafd1ad1_0_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 name="Google Shape;13;g3d1eafd1ad1_0_2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"Good morning. The title of this proposal is </a:t>
            </a:r>
            <a:r>
              <a:rPr lang="en-US" i="1" dirty="0"/>
              <a:t>Knowledge Graph-Based Long-Term Memory for LLM Agents</a:t>
            </a:r>
          </a:p>
          <a:p>
            <a:endParaRPr lang="en-US" i="1" dirty="0"/>
          </a:p>
          <a:p>
            <a:r>
              <a:rPr lang="en-US" dirty="0"/>
              <a:t>This is not a proposal about making language models smarter in general. It is specifically about a structural gap in how AI coding agents — tools like Claude Code — handle information across sessions. Every session, in the current state of things, starts from zero. No memory of past decisions, no memory of what failed, no memory of what was already tried.</a:t>
            </a:r>
          </a:p>
          <a:p>
            <a:endParaRPr lang="en-US" dirty="0"/>
          </a:p>
          <a:p>
            <a:r>
              <a:rPr lang="en-US" dirty="0"/>
              <a:t>This proposal asks whether a Knowledge Graph approach can solve that problem in a principled, low-cost way. I'll walk you through the problem, the proposal, the tools that support it, and the evaluation design."</a:t>
            </a:r>
          </a:p>
          <a:p>
            <a:pPr marL="0" lvl="0" indent="0" algn="l" rtl="0">
              <a:spcBef>
                <a:spcPts val="0"/>
              </a:spcBef>
              <a:spcAft>
                <a:spcPts val="0"/>
              </a:spcAft>
              <a:buNone/>
            </a:pPr>
            <a:endParaRPr dirty="0"/>
          </a:p>
        </p:txBody>
      </p:sp>
      <p:sp>
        <p:nvSpPr>
          <p:cNvPr id="14" name="Google Shape;14;g3d1eafd1ad1_0_2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D3E66-3299-BDAB-9EB6-55CD0DEE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776A1-06E9-BDB6-AAF9-A299EEF66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E396F-E7F1-1883-164B-B8B45FC86A45}"/>
              </a:ext>
            </a:extLst>
          </p:cNvPr>
          <p:cNvSpPr>
            <a:spLocks noGrp="1"/>
          </p:cNvSpPr>
          <p:nvPr>
            <p:ph type="body" idx="1"/>
          </p:nvPr>
        </p:nvSpPr>
        <p:spPr/>
        <p:txBody>
          <a:bodyPr/>
          <a:lstStyle/>
          <a:p>
            <a:r>
              <a:rPr lang="en-US" dirty="0"/>
              <a:t>"Before we get into the problem, ill just explain briefly </a:t>
            </a:r>
            <a:r>
              <a:rPr lang="en-US" dirty="0" err="1"/>
              <a:t>whar</a:t>
            </a:r>
            <a:r>
              <a:rPr lang="en-US" dirty="0"/>
              <a:t> an AI coding agent actually is — because the rest of the proposal builds on this.</a:t>
            </a:r>
          </a:p>
          <a:p>
            <a:endParaRPr lang="en-US" dirty="0"/>
          </a:p>
          <a:p>
            <a:r>
              <a:rPr lang="en-US" dirty="0"/>
              <a:t>Claude Code is an agent that operates inside a terminal session. You describe a task in natural language — something like 'refactor this module' or 'fix the authentication bug' — and the agent takes over. It reads files, writes code, runs commands, debugs errors, and iterates. It acts autonomously over multiple steps, not just generating a single response.</a:t>
            </a:r>
          </a:p>
          <a:p>
            <a:endParaRPr lang="en-US" dirty="0"/>
          </a:p>
          <a:p>
            <a:r>
              <a:rPr lang="en-US" dirty="0"/>
              <a:t>Each session is structured as a back-and-forth conversation, and that conversation is saved as a JSONL file on disk. So there is a record — the data exists.</a:t>
            </a:r>
          </a:p>
          <a:p>
            <a:endParaRPr lang="en-US" dirty="0"/>
          </a:p>
          <a:p>
            <a:r>
              <a:rPr lang="en-US" dirty="0"/>
              <a:t>But here is the fundamental gap, and this is really the starting point of everything that follows: every new session starts completely fresh. The agent has no access to what happened last time. It doesn't know which decisions were made, which approaches failed, or which tools were already configured. The developer has to re-explain all of that context from scratch, every single time.</a:t>
            </a:r>
          </a:p>
          <a:p>
            <a:endParaRPr lang="en-US" dirty="0"/>
          </a:p>
          <a:p>
            <a:r>
              <a:rPr lang="en-US" dirty="0"/>
              <a:t>That's the problem we're trying to solve."</a:t>
            </a:r>
          </a:p>
          <a:p>
            <a:endParaRPr lang="en-US" dirty="0"/>
          </a:p>
        </p:txBody>
      </p:sp>
      <p:sp>
        <p:nvSpPr>
          <p:cNvPr id="4" name="Slide Number Placeholder 3">
            <a:extLst>
              <a:ext uri="{FF2B5EF4-FFF2-40B4-BE49-F238E27FC236}">
                <a16:creationId xmlns:a16="http://schemas.microsoft.com/office/drawing/2014/main" id="{185AFD7F-9626-9FB4-0B69-26E4F50ABE6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91026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problem is not new. There is a tool called sui-memory, which is the trigger for this research proposal.</a:t>
            </a:r>
          </a:p>
          <a:p>
            <a:endParaRPr lang="en-US" dirty="0"/>
          </a:p>
          <a:p>
            <a:r>
              <a:rPr lang="en-US" dirty="0"/>
              <a:t>Sui-memory gives Claude Code persistent memory across sessions. The way it works is fairly straightforward: at the end of each session, it captures the full conversation transcript, splits it into question-and-answer chunks using rule-based methods, embeds those chunks using a Japanese-specialized embedding model called Ruri v3, and stores everything in a SQLite database. Retrieval then combines full-text search, vector search, and a time decay component to surface the most relevant past context.</a:t>
            </a:r>
          </a:p>
          <a:p>
            <a:endParaRPr lang="en-US" dirty="0"/>
          </a:p>
          <a:p>
            <a:r>
              <a:rPr lang="en-US" dirty="0"/>
              <a:t>One design decision worth highlighting here is that the entire storage pipeline uses no LLM calls at all. That is a deliberate constraint — it keeps costs low and latency near zero. We will come back to this principle later because our proposal inherits it.</a:t>
            </a:r>
          </a:p>
          <a:p>
            <a:endParaRPr lang="en-US" dirty="0"/>
          </a:p>
          <a:p>
            <a:r>
              <a:rPr lang="en-US" dirty="0"/>
              <a:t>So — sui-memory is a real, working solution. But it has a structural limitation, and that limitation is what motivates this proposal. </a:t>
            </a:r>
          </a:p>
          <a:p>
            <a:endParaRPr lang="en-US" dirty="0"/>
          </a:p>
          <a:p>
            <a:r>
              <a:rPr lang="en-US" dirty="0"/>
              <a:t>The chunking logic treats every chunk as independent. There are no relationships stored between them. Which means the system cannot answer questions like 'why did we choose this approach?' or 'what broke after we made that change?' — because answering those requires traversing a chain of causally connected events, and the flat structure simply has no way to represent that.</a:t>
            </a:r>
          </a:p>
          <a:p>
            <a:endParaRPr lang="en-US" dirty="0"/>
          </a:p>
          <a:p>
            <a:r>
              <a:rPr lang="en-US" dirty="0"/>
              <a:t>That gap is precisely what we are trying to address."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understand what sui-memory does. Now let me be precise about where it falls short, because this is the core technical motivation for the proposal.</a:t>
            </a:r>
          </a:p>
          <a:p>
            <a:endParaRPr lang="en-US" dirty="0"/>
          </a:p>
          <a:p>
            <a:r>
              <a:rPr lang="en-US" dirty="0"/>
              <a:t>The problem is structural. In sui-memory, every chunk of conversation is stored independently. When you query the system, it looks for the chunks most semantically similar to your question — but all chunks are treated as equidistant. There are no connections between them. The index has no concept of cause, sequence, or consequence.</a:t>
            </a:r>
          </a:p>
          <a:p>
            <a:endParaRPr lang="en-US" dirty="0"/>
          </a:p>
          <a:p>
            <a:r>
              <a:rPr lang="en-US" dirty="0"/>
              <a:t>Look at the three examples on the slide. Chunk one records that the team adopted SQLite for portability. Chunk two records that </a:t>
            </a:r>
            <a:r>
              <a:rPr lang="en-US" dirty="0" err="1"/>
              <a:t>Tailscale</a:t>
            </a:r>
            <a:r>
              <a:rPr lang="en-US" dirty="0"/>
              <a:t> was set up for student access. Chunk three records that an error occurred in the </a:t>
            </a:r>
            <a:r>
              <a:rPr lang="en-US" dirty="0" err="1"/>
              <a:t>Ollama</a:t>
            </a:r>
            <a:r>
              <a:rPr lang="en-US" dirty="0"/>
              <a:t> configuration. In the index, these three facts sit at equal distance from each other. There is no edge saying chunk three follows from chunk two, or that chunk one caused a design decision elsewhere.</a:t>
            </a:r>
          </a:p>
          <a:p>
            <a:endParaRPr lang="en-US" dirty="0"/>
          </a:p>
          <a:p>
            <a:r>
              <a:rPr lang="en-US" dirty="0"/>
              <a:t>Now consider the kinds of questions a developer would actually want to ask. </a:t>
            </a:r>
          </a:p>
          <a:p>
            <a:endParaRPr lang="en-US" dirty="0"/>
          </a:p>
          <a:p>
            <a:r>
              <a:rPr lang="en-US" dirty="0"/>
              <a:t>'Why did we choose SQLite?' — that requires a Cause edge connecting the decision to its rationale.</a:t>
            </a:r>
          </a:p>
          <a:p>
            <a:endParaRPr lang="en-US" dirty="0"/>
          </a:p>
          <a:p>
            <a:r>
              <a:rPr lang="en-US" dirty="0"/>
              <a:t> 'What broke after we changed Y?' — that requires a Succession edge linking events across time. </a:t>
            </a:r>
          </a:p>
          <a:p>
            <a:endParaRPr lang="en-US" dirty="0"/>
          </a:p>
          <a:p>
            <a:r>
              <a:rPr lang="en-US" dirty="0"/>
              <a:t>'What decisions led to this error?' — that requires traversing multiple chunks in sequence.</a:t>
            </a:r>
          </a:p>
          <a:p>
            <a:endParaRPr lang="en-US" dirty="0"/>
          </a:p>
          <a:p>
            <a:r>
              <a:rPr lang="en-US" dirty="0"/>
              <a:t>None of these are answerable with flat retrieval. And this is not a limitation of sui-memory specifically — it is a fundamental limitation of any flat vector store. The structure of the data simply cannot represent these relationships.</a:t>
            </a:r>
          </a:p>
          <a:p>
            <a:r>
              <a:rPr lang="en-US" dirty="0"/>
              <a:t>That is the gap this proposal is designed to fill."</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brings us to the central question of the proposal.</a:t>
            </a:r>
          </a:p>
          <a:p>
            <a:endParaRPr lang="en-US" dirty="0"/>
          </a:p>
          <a:p>
            <a:r>
              <a:rPr lang="en-US" dirty="0"/>
              <a:t>Can a Knowledge Graph approach — specifically one inspired by a system called ASER — improve the quality of long-term memory retrieval for AI coding agents?</a:t>
            </a:r>
          </a:p>
          <a:p>
            <a:endParaRPr lang="en-US" dirty="0"/>
          </a:p>
          <a:p>
            <a:r>
              <a:rPr lang="en-US" dirty="0"/>
              <a:t>Let me explain what ASER is, because it is the conceptual foundation of everything that follows. ASER stands for Activities, States, Events and their Relations. It is a large-scale Knowledge Graph built from web corpora and what makes it distinctive is that it does not just store facts. It stores eventualities — verbs, states, events — and crucially, the typed relations between them. Things like Cause, Result, Succession, and Contrast. And it extracts all of this using dependency parsing and discourse connectives, with no LLM involved.</a:t>
            </a:r>
          </a:p>
          <a:p>
            <a:endParaRPr lang="en-US" dirty="0"/>
          </a:p>
          <a:p>
            <a:r>
              <a:rPr lang="en-US" dirty="0"/>
              <a:t>Now, we are not proposing to use ASER directly. What we are proposing is to take ASER's extraction philosophy and apply it to a completely different domain — personal work history encoded in Claude Code session transcripts.</a:t>
            </a:r>
          </a:p>
          <a:p>
            <a:r>
              <a:rPr lang="en-US" dirty="0"/>
              <a:t>The mapping is fairly direct. What ASER calls an eventuality, we call a design decision, a failure, or an adoption. What ASER calls a Cause-Result relation, we represent as 'because we needed X, we chose Y.' What ASER calls Succession, we represent as 'we tried approach A last week, and fixed it with B this week.’</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design decision in this proposal deserves its own slide, because it is not obvious at first glance — and it is actually a deliberate constraint, not a compromise.</a:t>
            </a:r>
          </a:p>
          <a:p>
            <a:endParaRPr lang="en-US" dirty="0"/>
          </a:p>
          <a:p>
            <a:r>
              <a:rPr lang="en-US" dirty="0"/>
              <a:t>The entire extraction pipeline, from raw transcript to Knowledge Graph, uses no LLM calls. And there are three reasons for that.</a:t>
            </a:r>
          </a:p>
          <a:p>
            <a:endParaRPr lang="en-US" dirty="0"/>
          </a:p>
          <a:p>
            <a:r>
              <a:rPr lang="en-US" dirty="0"/>
              <a:t>The first is cost. If every session end or compaction event triggered an LLM call, the system would be prohibitively expensive to run continuously. The whole point of persistent memory is that it runs automatically, in the background, every time. That only works if the cost per run is essentially zero.</a:t>
            </a:r>
          </a:p>
          <a:p>
            <a:endParaRPr lang="en-US" dirty="0"/>
          </a:p>
          <a:p>
            <a:r>
              <a:rPr lang="en-US" dirty="0"/>
              <a:t>The second is latency. Archiving needs to complete before the user starts the next session. An LLM-based extraction step would introduce a delay that breaks that expectation.</a:t>
            </a:r>
          </a:p>
          <a:p>
            <a:endParaRPr lang="en-US" dirty="0"/>
          </a:p>
          <a:p>
            <a:r>
              <a:rPr lang="en-US" dirty="0"/>
              <a:t>The third is reliability. Rule-based dependency parsing with </a:t>
            </a:r>
            <a:r>
              <a:rPr lang="en-US" dirty="0" err="1"/>
              <a:t>spaCy</a:t>
            </a:r>
            <a:r>
              <a:rPr lang="en-US" dirty="0"/>
              <a:t> is deterministic. You run it twice on the same input, you get the same output. LLM-based extraction introduces variance — outputs can differ across runs, which makes debugging and reproducing results significantly harder.</a:t>
            </a:r>
          </a:p>
          <a:p>
            <a:endParaRPr lang="en-US" dirty="0"/>
          </a:p>
          <a:p>
            <a:r>
              <a:rPr lang="en-US" dirty="0"/>
              <a:t>So when you see the architecture in the next slide, the absence of an LLM is not a gap — it is a feature."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the pipeline actually works </a:t>
            </a:r>
          </a:p>
          <a:p>
            <a:r>
              <a:rPr lang="en-US" dirty="0"/>
              <a:t>The input is a Claude Code session transcript — a JSONL file sitting on disk. That file goes through 5 stages, none of which involve an LLM call.</a:t>
            </a:r>
          </a:p>
          <a:p>
            <a:endParaRPr lang="en-US" dirty="0"/>
          </a:p>
          <a:p>
            <a:r>
              <a:rPr lang="en-US" dirty="0"/>
              <a:t>First, the transcript is parsed using </a:t>
            </a:r>
            <a:r>
              <a:rPr lang="en-US" dirty="0" err="1"/>
              <a:t>spaCy's</a:t>
            </a:r>
            <a:r>
              <a:rPr lang="en-US" dirty="0"/>
              <a:t> dependency parser. This gives us the grammatical structure of each sentence — who did what to whom, and how the parts of the sentence relate to each other.</a:t>
            </a:r>
          </a:p>
          <a:p>
            <a:endParaRPr lang="en-US" dirty="0"/>
          </a:p>
          <a:p>
            <a:r>
              <a:rPr lang="en-US" dirty="0"/>
              <a:t>Second, we extract eventualities from that structure. We look for verb-centric patterns — actions, states, events — and pull them out as nodes. Something like 'we adopted SQLite' becomes a node in the graph.</a:t>
            </a:r>
          </a:p>
          <a:p>
            <a:endParaRPr lang="en-US" dirty="0"/>
          </a:p>
          <a:p>
            <a:r>
              <a:rPr lang="en-US" dirty="0"/>
              <a:t>Third, we extract the relations between those nodes. This is where discourse connectives do the heavy lifting. If a sentence contains 'because', that signals a Cause edge. 'So' or 'thus' signals a Result edge. 'Then' or 'after' signals Succession. 'But' or 'yet' signals Contrast. </a:t>
            </a:r>
          </a:p>
          <a:p>
            <a:r>
              <a:rPr lang="en-US" dirty="0"/>
              <a:t>The connectives are already in the text — we are just reading them systematically.</a:t>
            </a:r>
          </a:p>
          <a:p>
            <a:endParaRPr lang="en-US" dirty="0"/>
          </a:p>
          <a:p>
            <a:r>
              <a:rPr lang="en-US" dirty="0"/>
              <a:t>Fourth, everything gets stored in SQLite — a nodes table and an edges table, following the ASER core schema.</a:t>
            </a:r>
          </a:p>
          <a:p>
            <a:endParaRPr lang="en-US" dirty="0"/>
          </a:p>
          <a:p>
            <a:r>
              <a:rPr lang="en-US" dirty="0"/>
              <a:t>And the output is a </a:t>
            </a:r>
            <a:r>
              <a:rPr lang="en-US" dirty="0" err="1"/>
              <a:t>queryable</a:t>
            </a:r>
            <a:r>
              <a:rPr lang="en-US" dirty="0"/>
              <a:t> Knowledge Graph that supports multi-hop retrieval. Instead of asking 'which chunk is most similar to my query', you can now ask 'what caused this event' or 'what followed from this decision' — and traverse the graph to find the answer.</a:t>
            </a:r>
          </a:p>
          <a:p>
            <a:endParaRPr lang="en-US" dirty="0"/>
          </a:p>
          <a:p>
            <a:r>
              <a:rPr lang="en-US" dirty="0"/>
              <a:t>The whole pipeline is lightweight, deterministic, and runs in the background."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be upfront about where this approach has known weaknesses which are mainly these three.</a:t>
            </a:r>
          </a:p>
          <a:p>
            <a:endParaRPr lang="en-US" dirty="0"/>
          </a:p>
          <a:p>
            <a:r>
              <a:rPr lang="en-US" dirty="0"/>
              <a:t>The first is technical proper nouns. Dependency parsers are trained on general language, and terms like '</a:t>
            </a:r>
            <a:r>
              <a:rPr lang="en-US" dirty="0" err="1"/>
              <a:t>Tailscale</a:t>
            </a:r>
            <a:r>
              <a:rPr lang="en-US" dirty="0"/>
              <a:t>', '</a:t>
            </a:r>
            <a:r>
              <a:rPr lang="en-US" dirty="0" err="1"/>
              <a:t>sqlite-vec</a:t>
            </a:r>
            <a:r>
              <a:rPr lang="en-US" dirty="0"/>
              <a:t>', or '</a:t>
            </a:r>
            <a:r>
              <a:rPr lang="en-US" dirty="0" err="1"/>
              <a:t>Ollama</a:t>
            </a:r>
            <a:r>
              <a:rPr lang="en-US" dirty="0"/>
              <a:t>' are essentially invisible to them. The parser does not recognize these as meaningful entities, so events involving these tools end up as poorly connected nodes in the graph — or orphaned entirely. The example on the slide makes this concrete: 'We set up </a:t>
            </a:r>
            <a:r>
              <a:rPr lang="en-US" dirty="0" err="1"/>
              <a:t>Tailscale</a:t>
            </a:r>
            <a:r>
              <a:rPr lang="en-US" dirty="0"/>
              <a:t> for the students' — the parser cannot link '</a:t>
            </a:r>
            <a:r>
              <a:rPr lang="en-US" dirty="0" err="1"/>
              <a:t>Tailscale</a:t>
            </a:r>
            <a:r>
              <a:rPr lang="en-US" dirty="0"/>
              <a:t>' to any node in the KG because it has no representation for it.</a:t>
            </a:r>
          </a:p>
          <a:p>
            <a:endParaRPr lang="en-US" dirty="0"/>
          </a:p>
          <a:p>
            <a:r>
              <a:rPr lang="en-US" dirty="0"/>
              <a:t>The second is implicit causality. A lot of causal reasoning in developer dialogue has no explicit signal. 'We switched to SQLite. The latency dropped.' — those are two facts sitting next to each other, but there is no 'because', no 'so', no 'therefore'. The rule-based extractor has nothing to act on, and no edge gets created. This is actually a known limitation in the original ASER paper as well — it is not unique to our domain, but it is more acute in short, task-oriented dialogue.</a:t>
            </a:r>
          </a:p>
          <a:p>
            <a:endParaRPr lang="en-US" dirty="0"/>
          </a:p>
          <a:p>
            <a:r>
              <a:rPr lang="en-US" dirty="0"/>
              <a:t>The third is dialogue-specific ellipsis. This is perhaps the most subtle one. Ellipsis occurs when a sentence omits a referent entirely — not just replaces it with a pronoun, but drops it. 'That worked.' 'It failed again.' 'Still broken.' The extractor sees a grammatically incomplete fragment and cannot determine what the event is actually about without reading the surrounding turns. These sentences produce what we call orphan eventualities — nodes with no meaningful argument.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to how are we planning to evaluate the system, I want to briefly introduce two tools that could support this proposal</a:t>
            </a:r>
          </a:p>
          <a:p>
            <a:endParaRPr lang="en-US" dirty="0"/>
          </a:p>
          <a:p>
            <a:r>
              <a:rPr lang="en-US" dirty="0"/>
              <a:t>The first is </a:t>
            </a:r>
            <a:r>
              <a:rPr lang="en-US" dirty="0" err="1"/>
              <a:t>claude</a:t>
            </a:r>
            <a:r>
              <a:rPr lang="en-US" dirty="0"/>
              <a:t>-vault.</a:t>
            </a:r>
          </a:p>
          <a:p>
            <a:endParaRPr lang="en-US" dirty="0"/>
          </a:p>
          <a:p>
            <a:r>
              <a:rPr lang="en-US" dirty="0"/>
              <a:t>The problem it solves is straightforward. Claude Code stores your conversations as files on disk — but those files get deleted over time, they get compressed when you run </a:t>
            </a:r>
            <a:r>
              <a:rPr lang="en-US" sz="1200" kern="1200" dirty="0">
                <a:solidFill>
                  <a:schemeClr val="tx1"/>
                </a:solidFill>
                <a:latin typeface="+mn-lt"/>
                <a:ea typeface="+mn-ea"/>
                <a:cs typeface="+mn-cs"/>
              </a:rPr>
              <a:t>/compact</a:t>
            </a:r>
            <a:r>
              <a:rPr lang="en-US" dirty="0"/>
              <a:t>, and even when they do survive, they are scattered across folders with no way to search them. So the history exists in theory, but in practice it is very difficult to actually use.</a:t>
            </a:r>
          </a:p>
          <a:p>
            <a:endParaRPr lang="en-US" dirty="0"/>
          </a:p>
          <a:p>
            <a:r>
              <a:rPr lang="en-US" dirty="0"/>
              <a:t>Claude-vault fixes that. It automatically saves every session into a local database, before anything gets deleted or compressed, and lets you search across all of it in plain language. </a:t>
            </a:r>
          </a:p>
          <a:p>
            <a:endParaRPr lang="en-US" dirty="0"/>
          </a:p>
          <a:p>
            <a:r>
              <a:rPr lang="en-US" dirty="0"/>
              <a:t>Now, why does this matter for our proposal? Because a Knowledge Graph can only be built from data that actually exists. Claude-vault is what guarantees that the transcripts are there when our pipeline needs them. It is the foundation layer.</a:t>
            </a:r>
          </a:p>
          <a:p>
            <a:r>
              <a:rPr lang="en-US" dirty="0"/>
              <a:t>The diagram on the right makes the dependency clear. Claude-vault captures the raw transcripts. Our pipeline reads those transcripts and structures them into a graph. The retrieval layer then sits on top and answers queries. Each layer depends on the one below — and if the bottom layer is missing, nothing else works."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supporting tool is a benchmark — specifically, a Text-to-SQL benchmark — and I want to explain why it is relevant here, because at first glance it might not be obvious.</a:t>
            </a:r>
          </a:p>
          <a:p>
            <a:endParaRPr lang="en-US" dirty="0"/>
          </a:p>
          <a:p>
            <a:r>
              <a:rPr lang="en-US" dirty="0"/>
              <a:t>This benchmark was built to evaluate how well language models can translate natural language questions into SQL queries. It runs 25 questions, takes under five minutes to complete, and is designed around an agentic loop — the model sees its own output, can detect errors, and self-correct before finalizing an answer. But here is the key point — this benchmark is not part of our system. It does not process transcripts, it does not build graphs, it has nothing to do with memory. What it gives us is a model of how to evaluate an agentic system rigorously and honestly.</a:t>
            </a:r>
          </a:p>
          <a:p>
            <a:endParaRPr lang="en-US" dirty="0"/>
          </a:p>
          <a:p>
            <a:r>
              <a:rPr lang="en-US" dirty="0"/>
              <a:t>And that is something this proposal genuinely needs. One of the hardest parts of this kind of research is not building the system — it is proving that it actually works better than what existed before. That requires a clear evaluation design: what do you measure, how do you measure it, and how do you make sure the comparison is fair. The Text-to-SQL benchmark has solved that problem for its own domain very cleanly. It is fast enough to run repeatedly, scores results without ambiguity, reports cost, speed, and accuracy together so trade-offs are always visible, and is explicit about every failure mode — wrong output, tool error, timeout — so you always know why something failed, not just that it did.</a:t>
            </a:r>
          </a:p>
          <a:p>
            <a:endParaRPr lang="en-US" dirty="0"/>
          </a:p>
          <a:p>
            <a:r>
              <a:rPr lang="en-US" dirty="0"/>
              <a:t>We are borrowing that discipline directly. On the right side of the slide you can see how we translate it into our context — three retrieval levels, each with a defined build cost, all evaluated on the same set of queries. The baseline is flat RAG, essentially what sui-memory does today. Level two adds discourse structure. Level three is the full Knowledge Graph with typed edges. The benchmark gives us the template for how to compare them in a way that is reproducible and honest about trade-offs."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the evaluation is actually designed — concretely, what data we use, how we annotate it, and what we measure.</a:t>
            </a:r>
          </a:p>
          <a:p>
            <a:endParaRPr lang="en-US" dirty="0"/>
          </a:p>
          <a:p>
            <a:r>
              <a:rPr lang="en-US" dirty="0"/>
              <a:t>One of the more practical advantages of this proposal is that no new data collection is required. The dataset comes entirely from existing Claude Code session logs already stored locally in the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claude</a:t>
            </a:r>
            <a:r>
              <a:rPr lang="en-US" sz="1200" kern="1200" dirty="0">
                <a:solidFill>
                  <a:schemeClr val="tx1"/>
                </a:solidFill>
                <a:latin typeface="+mn-lt"/>
                <a:ea typeface="+mn-ea"/>
                <a:cs typeface="+mn-cs"/>
              </a:rPr>
              <a:t>/projects/</a:t>
            </a:r>
            <a:r>
              <a:rPr lang="en-US" dirty="0"/>
              <a:t> directory. We plan to use between ten and twenty sessions, which at the KG level translates to roughly two to five hundred eventuality nodes and one to three hundred relation edges. That is a small but meaningful graph — large enough to surface real retrieval differences, small enough to annotate carefully.</a:t>
            </a:r>
          </a:p>
          <a:p>
            <a:endParaRPr lang="en-US" dirty="0"/>
          </a:p>
          <a:p>
            <a:r>
              <a:rPr lang="en-US" dirty="0"/>
              <a:t>On top of that, we construct a query set of fifty to a hundred questions. These are not synthetic questions designed to make the system look good — they are questions the researcher would realistically ask when returning to past work. Things like 'why did we choose this approach' or 'what was the first time this error appeared.' That framing is important because it keeps the evaluation grounded in actual developer behavior.</a:t>
            </a:r>
          </a:p>
          <a:p>
            <a:endParaRPr lang="en-US" dirty="0"/>
          </a:p>
          <a:p>
            <a:r>
              <a:rPr lang="en-US" dirty="0"/>
              <a:t>The annotation process has two stages. The first evaluates the quality of the Knowledge Graph itself — for each extracted eventuality, is it semantically valid? For each edge, is the relation type correct? This tells us how well the extraction pipeline is working. The second stage evaluates retrieval quality — given a query, does the retrieved result actually contain the answer? </a:t>
            </a:r>
          </a:p>
          <a:p>
            <a:endParaRPr lang="en-US" dirty="0"/>
          </a:p>
          <a:p>
            <a:r>
              <a:rPr lang="en-US" dirty="0"/>
              <a:t>And the metrics we care about are three: retrieval quality as the primary measure, answer coverage as a secondary measure, and build cost — tokens, time, storage — as the third. That last one matters because a system that retrieves perfectly but costs ten times more to build is not necessarily a better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me bring everything together.</a:t>
            </a:r>
          </a:p>
          <a:p>
            <a:r>
              <a:rPr lang="en-US" dirty="0"/>
              <a:t>This work is not a replacement for ASER, and it is not a replacement for sui-memory. What it is, is a domain transfer. Let me use the diagram on the slide to explain what I mean by that.</a:t>
            </a:r>
          </a:p>
          <a:p>
            <a:endParaRPr lang="en-US" dirty="0"/>
          </a:p>
          <a:p>
            <a:r>
              <a:rPr lang="en-US" dirty="0"/>
              <a:t>On the left you have general commonsense Knowledge Graphs — systems like </a:t>
            </a:r>
            <a:r>
              <a:rPr lang="en-US"/>
              <a:t>ASER are </a:t>
            </a:r>
            <a:r>
              <a:rPr lang="en-US" dirty="0"/>
              <a:t>built from massive web corpora, eleven billion tokens in ASER's case, and they capture knowledge that is broadly true about the world. What usually follows buying a movie ticket. What it typically means to feel tired. General, universal knowledge.</a:t>
            </a:r>
          </a:p>
          <a:p>
            <a:endParaRPr lang="en-US" dirty="0"/>
          </a:p>
          <a:p>
            <a:r>
              <a:rPr lang="en-US" dirty="0"/>
              <a:t>On the right you have what we are proposing — a personal work-memory Knowledge Graph. This is built not from web text, but from your own Claude Code session transcripts. It captures knowledge that is specific to you and your project. Why you chose a particular tool. What broke when you made a certain change. Which approach you already tried and abandoned.</a:t>
            </a:r>
          </a:p>
          <a:p>
            <a:endParaRPr lang="en-US" dirty="0"/>
          </a:p>
          <a:p>
            <a:r>
              <a:rPr lang="en-US" dirty="0"/>
              <a:t>These are fundamentally different kinds of knowledge — and the gap between them is exactly where this proposal lives. We are not building a new general knowledge graph. We are taking the extraction philosophy that made ASER work, and redirecting it toward this entirely different domain to produce something personal and actionable.</a:t>
            </a:r>
          </a:p>
          <a:p>
            <a:endParaRPr lang="en-US" dirty="0"/>
          </a:p>
          <a:p>
            <a:r>
              <a:rPr lang="en-US" dirty="0"/>
              <a:t>From that positioning follow two concrete contributions. The first is the domain transfer itself — showing that ASER's principles extend to this new input modality. The second is an empirical comparison — flat RAG versus KG-augmented retrieval on the same corpus, giving us a direct answer to whether the structural overhead is actually worth it.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let me walk through what the actual execution of this proposal looks like.</a:t>
            </a:r>
          </a:p>
          <a:p>
            <a:endParaRPr lang="en-US" dirty="0"/>
          </a:p>
          <a:p>
            <a:r>
              <a:rPr lang="en-US" dirty="0"/>
              <a:t>The first step is implementing the extraction pipeline — writing the </a:t>
            </a:r>
            <a:r>
              <a:rPr lang="en-US" dirty="0" err="1"/>
              <a:t>spaCy</a:t>
            </a:r>
            <a:r>
              <a:rPr lang="en-US" dirty="0"/>
              <a:t>-based dependency parser, the discourse connective matching rules, and the SQLite storage layer with nodes and edges tables. This is the core engineering work of the project.</a:t>
            </a:r>
          </a:p>
          <a:p>
            <a:endParaRPr lang="en-US" dirty="0"/>
          </a:p>
          <a:p>
            <a:r>
              <a:rPr lang="en-US" dirty="0"/>
              <a:t>Once that is in place, the second step is selecting ten representative sessions from existing transcripts already sitting in the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claude</a:t>
            </a:r>
            <a:r>
              <a:rPr lang="en-US" sz="1200" kern="1200" dirty="0">
                <a:solidFill>
                  <a:schemeClr val="tx1"/>
                </a:solidFill>
                <a:latin typeface="+mn-lt"/>
                <a:ea typeface="+mn-ea"/>
                <a:cs typeface="+mn-cs"/>
              </a:rPr>
              <a:t>/projects/</a:t>
            </a:r>
            <a:r>
              <a:rPr lang="en-US" dirty="0"/>
              <a:t> directory. No new data collection, no additional setup — the data is already there.</a:t>
            </a:r>
          </a:p>
          <a:p>
            <a:endParaRPr lang="en-US" dirty="0"/>
          </a:p>
          <a:p>
            <a:r>
              <a:rPr lang="en-US" dirty="0"/>
              <a:t>Third, we build the query set. Fifty questions that a developer would realistically ask when returning to past work. This step is more deliberate than it might sound — the quality of the evaluation depends directly on the quality of these questions, so they need to reflect genuine retrieval needs, not synthetic ones.</a:t>
            </a:r>
          </a:p>
          <a:p>
            <a:endParaRPr lang="en-US" dirty="0"/>
          </a:p>
          <a:p>
            <a:r>
              <a:rPr lang="en-US" dirty="0"/>
              <a:t>Fourth, we run the comparison. Baseline flat RAG against the proposed KG traversal, on the exact same queries. Same data, same questions, different retrieval methods — so any difference in results is attributable to the structure, not to anything else.</a:t>
            </a:r>
          </a:p>
          <a:p>
            <a:endParaRPr lang="en-US" dirty="0"/>
          </a:p>
          <a:p>
            <a:r>
              <a:rPr lang="en-US" dirty="0"/>
              <a:t>Fifth, human annotation. We ask one or two lab students to independently look at the same queries and results and judge whether each retrieved result actually answers what was asked. We then compare how often everyone's judgments agree. If they mostly agree, the scoring is consistent and trustworthy. If they frequently disagree, it means the criteria need to be tightened. This step is what ensures the results are credible to anyone reading the paper — not just to the person who built the system.</a:t>
            </a:r>
          </a:p>
          <a:p>
            <a:endParaRPr lang="en-US" dirty="0"/>
          </a:p>
          <a:p>
            <a:r>
              <a:rPr lang="en-US" dirty="0"/>
              <a:t>And finally, the write-up — targeting a workshop or letters venue, which is the appropriate format for a focused contribution of this scope.</a:t>
            </a:r>
          </a:p>
          <a:p>
            <a:endParaRPr lang="en-US" dirty="0"/>
          </a:p>
          <a:p>
            <a:r>
              <a:rPr lang="en-US" dirty="0"/>
              <a:t>That is the full proposal. Thank you."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37DA-5090-6D95-4555-D838713EC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FD4B297A-112D-3FC2-3806-4DECB34CCF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9256A971-0553-E69D-023D-DF355ABD7E11}"/>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5" name="Footer Placeholder 4">
            <a:extLst>
              <a:ext uri="{FF2B5EF4-FFF2-40B4-BE49-F238E27FC236}">
                <a16:creationId xmlns:a16="http://schemas.microsoft.com/office/drawing/2014/main" id="{BB126FC4-2ABF-A85E-6CC7-1876B64BD6E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115081B-12FF-3AB5-A1AB-886D53CD0B3E}"/>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3284841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92DD0-6B3F-A0FF-F623-DF2CAFD669E6}"/>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714BC95C-2A72-7201-C3B3-A75E0FF6B3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DBE3F2AB-E62E-CA01-0175-783DF1A5E553}"/>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5" name="Footer Placeholder 4">
            <a:extLst>
              <a:ext uri="{FF2B5EF4-FFF2-40B4-BE49-F238E27FC236}">
                <a16:creationId xmlns:a16="http://schemas.microsoft.com/office/drawing/2014/main" id="{A96C2698-D8EB-D86F-43F9-9A2E1DEF5D2B}"/>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30A4214C-999D-7882-0801-F41FDCC5F0B4}"/>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2687343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3BFE-87B3-CA07-0BF9-6100FAC0DC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EB619BD0-3DA3-F1F2-205A-C8CC23704A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752854-C698-1749-C3C2-5ECE5AA073AE}"/>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5" name="Footer Placeholder 4">
            <a:extLst>
              <a:ext uri="{FF2B5EF4-FFF2-40B4-BE49-F238E27FC236}">
                <a16:creationId xmlns:a16="http://schemas.microsoft.com/office/drawing/2014/main" id="{2BAA5DBA-2F0C-7A9A-C8B7-9830B4C573ED}"/>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F889A542-D138-7DEF-0D70-A4415E577F15}"/>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3426418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4580-D7DA-2650-ABA0-42AFBA61646E}"/>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BDA3B4DA-707D-FFCB-F067-2FBEF80B50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F30834B9-1979-949D-E518-7869D66F33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62B3B49F-72B9-A906-0609-2B574CAEE820}"/>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6" name="Footer Placeholder 5">
            <a:extLst>
              <a:ext uri="{FF2B5EF4-FFF2-40B4-BE49-F238E27FC236}">
                <a16:creationId xmlns:a16="http://schemas.microsoft.com/office/drawing/2014/main" id="{AA99D7D3-5F69-8F0A-B68A-78473F91ECA1}"/>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6DC03F78-121C-E0AE-4792-ADB9AC21EC04}"/>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529214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7CCB8-EACA-8711-E850-F4C935CBC21D}"/>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833A9C43-1432-0890-CE3C-EDD86F4E84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E90611-15CE-F445-DD94-5A9D4C2ED9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2F2729F8-B70B-CB36-74F9-1534BB154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57BFE9-1FAA-2F7B-51DA-542BAB5268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34E3A0F1-E26D-C641-3794-1936C6BB78E2}"/>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8" name="Footer Placeholder 7">
            <a:extLst>
              <a:ext uri="{FF2B5EF4-FFF2-40B4-BE49-F238E27FC236}">
                <a16:creationId xmlns:a16="http://schemas.microsoft.com/office/drawing/2014/main" id="{2277FFFA-1212-C775-FEE3-C784603933AE}"/>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D832636F-F03D-58BC-ACE8-0B059AF42798}"/>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772460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9D32-3A8F-5CF4-5A6A-702F3F9D05C6}"/>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53FB490E-1BC9-9A17-B3EC-BF021FE27F5D}"/>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4" name="Footer Placeholder 3">
            <a:extLst>
              <a:ext uri="{FF2B5EF4-FFF2-40B4-BE49-F238E27FC236}">
                <a16:creationId xmlns:a16="http://schemas.microsoft.com/office/drawing/2014/main" id="{EDFD5D9A-3F32-E975-8261-5DA6A3003807}"/>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1D075EE0-D3D0-5A76-C183-D601890023E0}"/>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2208964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35074C-3001-95E1-7F82-6E96385D6126}"/>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3" name="Footer Placeholder 2">
            <a:extLst>
              <a:ext uri="{FF2B5EF4-FFF2-40B4-BE49-F238E27FC236}">
                <a16:creationId xmlns:a16="http://schemas.microsoft.com/office/drawing/2014/main" id="{6DFE3C62-BE11-959E-DE7C-5456C5FE1916}"/>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F066AE9B-E2F4-92F2-CC53-A198A0141C32}"/>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316784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2CA7E-D92B-286D-B709-8AD30AEC99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D105955A-75EB-7666-73F6-EE1FEFD462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93CDBFEE-F7AC-846E-5E0E-67479C330C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79AF58-1C68-50CA-B8E2-D7A958FA634A}"/>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6" name="Footer Placeholder 5">
            <a:extLst>
              <a:ext uri="{FF2B5EF4-FFF2-40B4-BE49-F238E27FC236}">
                <a16:creationId xmlns:a16="http://schemas.microsoft.com/office/drawing/2014/main" id="{B8662065-2942-9B00-B7E5-84730441AE43}"/>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C5B23EB9-0121-FAD1-49C8-A48172E1E108}"/>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864426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04E39-8C68-6FB0-A429-70B92FC794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0D8E642D-99BF-09EB-7DF1-99C62F7167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DD311A66-61C9-6C82-4CF0-3C7026EDC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0EB35A-2DBC-1138-FBE0-FC9A01DF8F8E}"/>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6" name="Footer Placeholder 5">
            <a:extLst>
              <a:ext uri="{FF2B5EF4-FFF2-40B4-BE49-F238E27FC236}">
                <a16:creationId xmlns:a16="http://schemas.microsoft.com/office/drawing/2014/main" id="{6A72AD57-CA6C-E8A6-C8D0-AEDDB93DD316}"/>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7BC2F4F5-0737-0F70-332B-8127E753B67C}"/>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1070743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1A20-6E45-DD42-38FB-5551B97BA683}"/>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FE29A3CD-8C61-2093-3BFB-F6C545151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A65036DB-6AEC-D014-5808-7BBA147BC14A}"/>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5" name="Footer Placeholder 4">
            <a:extLst>
              <a:ext uri="{FF2B5EF4-FFF2-40B4-BE49-F238E27FC236}">
                <a16:creationId xmlns:a16="http://schemas.microsoft.com/office/drawing/2014/main" id="{DC0AD0E5-5D5C-51AF-D16B-D1C5AC3E9D2C}"/>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DA220890-4CF7-A98D-8DA7-DB28CC24E78D}"/>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348167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E4020C-9A05-6D4B-13AD-43531E796A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E39C0C7F-479D-A8CE-FF49-1DE7FB0D92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E3B7E9C1-1CA2-15E3-AEAF-B05FB2636C65}"/>
              </a:ext>
            </a:extLst>
          </p:cNvPr>
          <p:cNvSpPr>
            <a:spLocks noGrp="1"/>
          </p:cNvSpPr>
          <p:nvPr>
            <p:ph type="dt" sz="half" idx="10"/>
          </p:nvPr>
        </p:nvSpPr>
        <p:spPr/>
        <p:txBody>
          <a:bodyPr/>
          <a:lstStyle/>
          <a:p>
            <a:fld id="{6D4F3881-2B6C-42B0-9B50-B6845D835038}" type="datetimeFigureOut">
              <a:rPr lang="es-MX" smtClean="0"/>
              <a:t>07/04/2026</a:t>
            </a:fld>
            <a:endParaRPr lang="es-MX"/>
          </a:p>
        </p:txBody>
      </p:sp>
      <p:sp>
        <p:nvSpPr>
          <p:cNvPr id="5" name="Footer Placeholder 4">
            <a:extLst>
              <a:ext uri="{FF2B5EF4-FFF2-40B4-BE49-F238E27FC236}">
                <a16:creationId xmlns:a16="http://schemas.microsoft.com/office/drawing/2014/main" id="{5AFF53CD-82CF-FBB1-81DD-C69B84B77E23}"/>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E1107CF8-A195-371A-FE28-D1B494541E3B}"/>
              </a:ext>
            </a:extLst>
          </p:cNvPr>
          <p:cNvSpPr>
            <a:spLocks noGrp="1"/>
          </p:cNvSpPr>
          <p:nvPr>
            <p:ph type="sldNum" sz="quarter" idx="12"/>
          </p:nvPr>
        </p:nvSpPr>
        <p:spPr/>
        <p:txBody>
          <a:bodyPr/>
          <a:lstStyle/>
          <a:p>
            <a:fld id="{3E189EC0-C007-4B34-8525-39E781110C7E}" type="slidenum">
              <a:rPr lang="es-MX" smtClean="0"/>
              <a:t>‹#›</a:t>
            </a:fld>
            <a:endParaRPr lang="es-MX"/>
          </a:p>
        </p:txBody>
      </p:sp>
    </p:spTree>
    <p:extLst>
      <p:ext uri="{BB962C8B-B14F-4D97-AF65-F5344CB8AC3E}">
        <p14:creationId xmlns:p14="http://schemas.microsoft.com/office/powerpoint/2010/main" val="1806045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363199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7CDE62-4002-438E-D1D0-5446E3552B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632F0B5D-EC4E-ED52-5F16-968ADBC9CE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356B05C-6947-6270-1CB1-0736E6F0F3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4F3881-2B6C-42B0-9B50-B6845D835038}" type="datetimeFigureOut">
              <a:rPr lang="es-MX" smtClean="0"/>
              <a:t>07/04/2026</a:t>
            </a:fld>
            <a:endParaRPr lang="es-MX"/>
          </a:p>
        </p:txBody>
      </p:sp>
      <p:sp>
        <p:nvSpPr>
          <p:cNvPr id="5" name="Footer Placeholder 4">
            <a:extLst>
              <a:ext uri="{FF2B5EF4-FFF2-40B4-BE49-F238E27FC236}">
                <a16:creationId xmlns:a16="http://schemas.microsoft.com/office/drawing/2014/main" id="{BC88F6D5-63EA-3325-981D-588ECFC78A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93483F3E-3F3C-C97B-C8D9-ABBDE192D6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189EC0-C007-4B34-8525-39E781110C7E}" type="slidenum">
              <a:rPr lang="es-MX" smtClean="0"/>
              <a:t>‹#›</a:t>
            </a:fld>
            <a:endParaRPr lang="es-MX"/>
          </a:p>
        </p:txBody>
      </p:sp>
    </p:spTree>
    <p:extLst>
      <p:ext uri="{BB962C8B-B14F-4D97-AF65-F5344CB8AC3E}">
        <p14:creationId xmlns:p14="http://schemas.microsoft.com/office/powerpoint/2010/main" val="2274291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g3d1eafd1ad1_0_214"/>
          <p:cNvSpPr txBox="1"/>
          <p:nvPr/>
        </p:nvSpPr>
        <p:spPr>
          <a:xfrm>
            <a:off x="755667" y="1951713"/>
            <a:ext cx="10275200" cy="1477287"/>
          </a:xfrm>
          <a:prstGeom prst="rect">
            <a:avLst/>
          </a:prstGeom>
          <a:noFill/>
          <a:ln>
            <a:noFill/>
          </a:ln>
        </p:spPr>
        <p:txBody>
          <a:bodyPr spcFirstLastPara="1" wrap="square" lIns="121900" tIns="121900" rIns="121900" bIns="121900" anchor="t" anchorCtr="0">
            <a:spAutoFit/>
          </a:bodyPr>
          <a:lstStyle/>
          <a:p>
            <a:r>
              <a:rPr lang="en-US" sz="4000" b="1" dirty="0">
                <a:solidFill>
                  <a:srgbClr val="1A2E2C"/>
                </a:solidFill>
                <a:latin typeface="Georgia"/>
                <a:ea typeface="Georgia"/>
                <a:cs typeface="Georgia"/>
                <a:sym typeface="Georgia"/>
              </a:rPr>
              <a:t>Knowledge Graph-Based Long-Term Memory for LLM Agents</a:t>
            </a:r>
            <a:endParaRPr sz="900" dirty="0"/>
          </a:p>
        </p:txBody>
      </p:sp>
      <p:sp>
        <p:nvSpPr>
          <p:cNvPr id="17" name="Google Shape;17;g3d1eafd1ad1_0_214"/>
          <p:cNvSpPr txBox="1"/>
          <p:nvPr/>
        </p:nvSpPr>
        <p:spPr>
          <a:xfrm>
            <a:off x="755667" y="3956934"/>
            <a:ext cx="10600800" cy="1723508"/>
          </a:xfrm>
          <a:prstGeom prst="rect">
            <a:avLst/>
          </a:prstGeom>
          <a:noFill/>
          <a:ln>
            <a:noFill/>
          </a:ln>
        </p:spPr>
        <p:txBody>
          <a:bodyPr spcFirstLastPara="1" wrap="square" lIns="121900" tIns="121900" rIns="121900" bIns="121900" anchor="t" anchorCtr="0">
            <a:spAutoFit/>
          </a:bodyPr>
          <a:lstStyle/>
          <a:p>
            <a:r>
              <a:rPr lang="en-US" sz="2400" dirty="0" err="1"/>
              <a:t>情報経営システム工学</a:t>
            </a:r>
            <a:r>
              <a:rPr lang="en-US" sz="2400" dirty="0"/>
              <a:t>　4年</a:t>
            </a:r>
            <a:endParaRPr sz="2400" dirty="0"/>
          </a:p>
          <a:p>
            <a:r>
              <a:rPr lang="en-US" sz="2400" dirty="0" err="1"/>
              <a:t>ロペスチャパホセ</a:t>
            </a:r>
            <a:endParaRPr sz="2400" dirty="0"/>
          </a:p>
          <a:p>
            <a:endParaRPr sz="2400" dirty="0"/>
          </a:p>
          <a:p>
            <a:pPr algn="r"/>
            <a:r>
              <a:rPr lang="ja-JP" altLang="es-MX" sz="2400" dirty="0">
                <a:latin typeface="+mj-lt"/>
              </a:rPr>
              <a:t>４</a:t>
            </a:r>
            <a:r>
              <a:rPr lang="en-US" sz="2400" dirty="0">
                <a:latin typeface="+mj-lt"/>
              </a:rPr>
              <a:t>月</a:t>
            </a:r>
            <a:r>
              <a:rPr lang="ja-JP" altLang="es-MX" sz="2400" dirty="0">
                <a:latin typeface="+mj-lt"/>
              </a:rPr>
              <a:t>７</a:t>
            </a:r>
            <a:r>
              <a:rPr lang="en-US" sz="2400" dirty="0">
                <a:latin typeface="+mj-lt"/>
              </a:rPr>
              <a:t>日２０２６年</a:t>
            </a:r>
            <a:endParaRPr sz="24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D596-9EC7-AAA9-15B1-7F1B04195F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B79AC9-7D69-4686-6A2E-CB533F48D0FB}"/>
              </a:ext>
            </a:extLst>
          </p:cNvPr>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a:extLst>
              <a:ext uri="{FF2B5EF4-FFF2-40B4-BE49-F238E27FC236}">
                <a16:creationId xmlns:a16="http://schemas.microsoft.com/office/drawing/2014/main" id="{C9741DCF-27E1-D570-4F28-59F3621A2EA3}"/>
              </a:ext>
            </a:extLst>
          </p:cNvPr>
          <p:cNvSpPr/>
          <p:nvPr/>
        </p:nvSpPr>
        <p:spPr>
          <a:xfrm>
            <a:off x="365760" y="0"/>
            <a:ext cx="1146048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Background: Existing Partial Solution — Sui-memory</a:t>
            </a:r>
            <a:endParaRPr lang="en-US" sz="2933" dirty="0"/>
          </a:p>
        </p:txBody>
      </p:sp>
      <p:sp>
        <p:nvSpPr>
          <p:cNvPr id="4" name="Text 2">
            <a:extLst>
              <a:ext uri="{FF2B5EF4-FFF2-40B4-BE49-F238E27FC236}">
                <a16:creationId xmlns:a16="http://schemas.microsoft.com/office/drawing/2014/main" id="{FF7D2A7A-0E4D-60E7-0557-4235EF3B88AD}"/>
              </a:ext>
            </a:extLst>
          </p:cNvPr>
          <p:cNvSpPr/>
          <p:nvPr/>
        </p:nvSpPr>
        <p:spPr>
          <a:xfrm>
            <a:off x="487680" y="1342208"/>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AI </a:t>
            </a:r>
            <a:r>
              <a:rPr lang="en-US" sz="2133" b="1" dirty="0" err="1">
                <a:solidFill>
                  <a:srgbClr val="2E2E2E"/>
                </a:solidFill>
                <a:latin typeface="Georgia" pitchFamily="34" charset="0"/>
                <a:ea typeface="Georgia" pitchFamily="34" charset="-122"/>
                <a:cs typeface="Georgia" pitchFamily="34" charset="-120"/>
              </a:rPr>
              <a:t>Agentは何か</a:t>
            </a:r>
            <a:r>
              <a:rPr lang="en-US" sz="2133" b="1" dirty="0">
                <a:solidFill>
                  <a:srgbClr val="2E2E2E"/>
                </a:solidFill>
                <a:latin typeface="Georgia" pitchFamily="34" charset="0"/>
                <a:ea typeface="Georgia" pitchFamily="34" charset="-122"/>
                <a:cs typeface="Georgia" pitchFamily="34" charset="-120"/>
              </a:rPr>
              <a:t>？</a:t>
            </a:r>
            <a:endParaRPr lang="en-US" sz="2133" dirty="0"/>
          </a:p>
        </p:txBody>
      </p:sp>
      <p:sp>
        <p:nvSpPr>
          <p:cNvPr id="5" name="Text 3">
            <a:extLst>
              <a:ext uri="{FF2B5EF4-FFF2-40B4-BE49-F238E27FC236}">
                <a16:creationId xmlns:a16="http://schemas.microsoft.com/office/drawing/2014/main" id="{E7FFB9B4-0206-A3A7-75F4-2633B6BD8A11}"/>
              </a:ext>
            </a:extLst>
          </p:cNvPr>
          <p:cNvSpPr/>
          <p:nvPr/>
        </p:nvSpPr>
        <p:spPr>
          <a:xfrm>
            <a:off x="487680" y="1752598"/>
            <a:ext cx="11216640" cy="133352"/>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An AI agent that writes, edits, and debugs code inside a terminal session — acting autonomously over multiple steps.</a:t>
            </a:r>
          </a:p>
        </p:txBody>
      </p:sp>
      <p:sp>
        <p:nvSpPr>
          <p:cNvPr id="6" name="Shape 4">
            <a:extLst>
              <a:ext uri="{FF2B5EF4-FFF2-40B4-BE49-F238E27FC236}">
                <a16:creationId xmlns:a16="http://schemas.microsoft.com/office/drawing/2014/main" id="{5EAEABC7-D09B-85AA-2D91-3D05A9307BC9}"/>
              </a:ext>
            </a:extLst>
          </p:cNvPr>
          <p:cNvSpPr/>
          <p:nvPr/>
        </p:nvSpPr>
        <p:spPr>
          <a:xfrm>
            <a:off x="487680" y="2255520"/>
            <a:ext cx="5865495" cy="4267200"/>
          </a:xfrm>
          <a:prstGeom prst="rect">
            <a:avLst/>
          </a:prstGeom>
          <a:solidFill>
            <a:srgbClr val="DAE3F3"/>
          </a:solidFill>
          <a:ln w="12700">
            <a:solidFill>
              <a:srgbClr val="156082"/>
            </a:solidFill>
            <a:prstDash val="solid"/>
          </a:ln>
        </p:spPr>
        <p:txBody>
          <a:bodyPr/>
          <a:lstStyle/>
          <a:p>
            <a:endParaRPr lang="es-MX" sz="2400"/>
          </a:p>
        </p:txBody>
      </p:sp>
      <p:sp>
        <p:nvSpPr>
          <p:cNvPr id="8" name="Text 6">
            <a:extLst>
              <a:ext uri="{FF2B5EF4-FFF2-40B4-BE49-F238E27FC236}">
                <a16:creationId xmlns:a16="http://schemas.microsoft.com/office/drawing/2014/main" id="{BC9FE72F-0E9D-AFF8-91D2-C50FD0697106}"/>
              </a:ext>
            </a:extLst>
          </p:cNvPr>
          <p:cNvSpPr/>
          <p:nvPr/>
        </p:nvSpPr>
        <p:spPr>
          <a:xfrm>
            <a:off x="487680" y="2255520"/>
            <a:ext cx="6705600" cy="548640"/>
          </a:xfrm>
          <a:prstGeom prst="rect">
            <a:avLst/>
          </a:prstGeom>
          <a:noFill/>
          <a:ln/>
        </p:spPr>
        <p:txBody>
          <a:bodyPr wrap="square" rtlCol="0" anchor="ctr"/>
          <a:lstStyle/>
          <a:p>
            <a:pPr algn="ctr"/>
            <a:endParaRPr lang="en-US" sz="1733" dirty="0"/>
          </a:p>
        </p:txBody>
      </p:sp>
      <p:sp>
        <p:nvSpPr>
          <p:cNvPr id="9" name="Text 7">
            <a:extLst>
              <a:ext uri="{FF2B5EF4-FFF2-40B4-BE49-F238E27FC236}">
                <a16:creationId xmlns:a16="http://schemas.microsoft.com/office/drawing/2014/main" id="{D0458728-6296-7620-72F2-E6EF7808C015}"/>
              </a:ext>
            </a:extLst>
          </p:cNvPr>
          <p:cNvSpPr/>
          <p:nvPr/>
        </p:nvSpPr>
        <p:spPr>
          <a:xfrm>
            <a:off x="670560" y="2926080"/>
            <a:ext cx="5425440" cy="3474720"/>
          </a:xfrm>
          <a:prstGeom prst="rect">
            <a:avLst/>
          </a:prstGeom>
          <a:noFill/>
          <a:ln/>
        </p:spPr>
        <p:txBody>
          <a:bodyPr wrap="square" rtlCol="0" anchor="t"/>
          <a:lstStyle/>
          <a:p>
            <a:pPr marL="285750" indent="-285750">
              <a:lnSpc>
                <a:spcPct val="200000"/>
              </a:lnSpc>
              <a:buFont typeface="Arial" panose="020B0604020202020204" pitchFamily="34" charset="0"/>
              <a:buChar char="•"/>
            </a:pPr>
            <a:r>
              <a:rPr lang="en-US" altLang="ja-JP" sz="1600" dirty="0">
                <a:solidFill>
                  <a:schemeClr val="tx2"/>
                </a:solidFill>
                <a:latin typeface="Calibri" panose="020F0502020204030204" pitchFamily="34" charset="0"/>
                <a:ea typeface="Calibri" panose="020F0502020204030204" pitchFamily="34" charset="0"/>
                <a:cs typeface="Calibri" panose="020F0502020204030204" pitchFamily="34" charset="0"/>
              </a:rPr>
              <a:t>Developer issues a request in natural language</a:t>
            </a:r>
          </a:p>
          <a:p>
            <a:pPr marL="285750" indent="-285750">
              <a:lnSpc>
                <a:spcPct val="200000"/>
              </a:lnSpc>
              <a:buFont typeface="Arial" panose="020B0604020202020204" pitchFamily="34" charset="0"/>
              <a:buChar char="•"/>
            </a:pPr>
            <a:r>
              <a:rPr lang="en-US" altLang="ja-JP" sz="1600" dirty="0">
                <a:solidFill>
                  <a:schemeClr val="tx2"/>
                </a:solidFill>
                <a:latin typeface="Calibri" panose="020F0502020204030204" pitchFamily="34" charset="0"/>
                <a:ea typeface="Calibri" panose="020F0502020204030204" pitchFamily="34" charset="0"/>
                <a:cs typeface="Calibri" panose="020F0502020204030204" pitchFamily="34" charset="0"/>
              </a:rPr>
              <a:t>Agent plans and executes multi-step actions</a:t>
            </a:r>
          </a:p>
          <a:p>
            <a:pPr marL="285750" indent="-285750">
              <a:lnSpc>
                <a:spcPct val="200000"/>
              </a:lnSpc>
              <a:buFont typeface="Arial" panose="020B0604020202020204" pitchFamily="34" charset="0"/>
              <a:buChar char="•"/>
            </a:pPr>
            <a:r>
              <a:rPr lang="en-US" altLang="ja-JP" sz="1600" dirty="0">
                <a:solidFill>
                  <a:schemeClr val="tx2"/>
                </a:solidFill>
                <a:latin typeface="Calibri" panose="020F0502020204030204" pitchFamily="34" charset="0"/>
                <a:ea typeface="Calibri" panose="020F0502020204030204" pitchFamily="34" charset="0"/>
                <a:cs typeface="Calibri" panose="020F0502020204030204" pitchFamily="34" charset="0"/>
              </a:rPr>
              <a:t>Each session is a back-and-forth conversation</a:t>
            </a:r>
          </a:p>
          <a:p>
            <a:pPr marL="285750" indent="-285750">
              <a:lnSpc>
                <a:spcPct val="200000"/>
              </a:lnSpc>
              <a:buFont typeface="Arial" panose="020B0604020202020204" pitchFamily="34" charset="0"/>
              <a:buChar char="•"/>
            </a:pPr>
            <a:r>
              <a:rPr lang="en-US" altLang="ja-JP" sz="1600" dirty="0">
                <a:solidFill>
                  <a:schemeClr val="tx2"/>
                </a:solidFill>
                <a:latin typeface="Calibri" panose="020F0502020204030204" pitchFamily="34" charset="0"/>
                <a:ea typeface="Calibri" panose="020F0502020204030204" pitchFamily="34" charset="0"/>
                <a:cs typeface="Calibri" panose="020F0502020204030204" pitchFamily="34" charset="0"/>
              </a:rPr>
              <a:t>Session logs stored as JSONL files on disk</a:t>
            </a:r>
          </a:p>
        </p:txBody>
      </p:sp>
      <p:sp>
        <p:nvSpPr>
          <p:cNvPr id="10" name="Shape 8">
            <a:extLst>
              <a:ext uri="{FF2B5EF4-FFF2-40B4-BE49-F238E27FC236}">
                <a16:creationId xmlns:a16="http://schemas.microsoft.com/office/drawing/2014/main" id="{D2E8F86A-1587-2418-3B56-9AE92E36A534}"/>
              </a:ext>
            </a:extLst>
          </p:cNvPr>
          <p:cNvSpPr/>
          <p:nvPr/>
        </p:nvSpPr>
        <p:spPr>
          <a:xfrm>
            <a:off x="6667500" y="2255520"/>
            <a:ext cx="5036820" cy="4267200"/>
          </a:xfrm>
          <a:prstGeom prst="rect">
            <a:avLst/>
          </a:prstGeom>
          <a:solidFill>
            <a:srgbClr val="DAE3F3"/>
          </a:solidFill>
          <a:ln w="12700">
            <a:solidFill>
              <a:srgbClr val="156082"/>
            </a:solidFill>
            <a:prstDash val="solid"/>
          </a:ln>
        </p:spPr>
        <p:txBody>
          <a:bodyPr/>
          <a:lstStyle/>
          <a:p>
            <a:endParaRPr lang="es-MX" sz="2400"/>
          </a:p>
        </p:txBody>
      </p:sp>
      <p:sp>
        <p:nvSpPr>
          <p:cNvPr id="11" name="Shape 9">
            <a:extLst>
              <a:ext uri="{FF2B5EF4-FFF2-40B4-BE49-F238E27FC236}">
                <a16:creationId xmlns:a16="http://schemas.microsoft.com/office/drawing/2014/main" id="{26022981-BF63-1269-2D40-0A15664920F2}"/>
              </a:ext>
            </a:extLst>
          </p:cNvPr>
          <p:cNvSpPr/>
          <p:nvPr/>
        </p:nvSpPr>
        <p:spPr>
          <a:xfrm>
            <a:off x="6667500" y="2255520"/>
            <a:ext cx="5036820" cy="548640"/>
          </a:xfrm>
          <a:prstGeom prst="rect">
            <a:avLst/>
          </a:prstGeom>
          <a:solidFill>
            <a:srgbClr val="0D1B2A"/>
          </a:solidFill>
          <a:ln w="12700">
            <a:solidFill>
              <a:srgbClr val="0D1B2A"/>
            </a:solidFill>
            <a:prstDash val="solid"/>
          </a:ln>
        </p:spPr>
        <p:txBody>
          <a:bodyPr/>
          <a:lstStyle/>
          <a:p>
            <a:endParaRPr lang="es-MX" sz="2400"/>
          </a:p>
        </p:txBody>
      </p:sp>
      <p:sp>
        <p:nvSpPr>
          <p:cNvPr id="12" name="Text 10">
            <a:extLst>
              <a:ext uri="{FF2B5EF4-FFF2-40B4-BE49-F238E27FC236}">
                <a16:creationId xmlns:a16="http://schemas.microsoft.com/office/drawing/2014/main" id="{4AF1B23B-68B3-F64F-4120-6AFF5F31C7EA}"/>
              </a:ext>
            </a:extLst>
          </p:cNvPr>
          <p:cNvSpPr/>
          <p:nvPr/>
        </p:nvSpPr>
        <p:spPr>
          <a:xfrm>
            <a:off x="6667500" y="2255520"/>
            <a:ext cx="503682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Fundamental Gap</a:t>
            </a:r>
            <a:endParaRPr lang="en-US" sz="1733" dirty="0"/>
          </a:p>
        </p:txBody>
      </p:sp>
      <p:sp>
        <p:nvSpPr>
          <p:cNvPr id="13" name="Text 11">
            <a:extLst>
              <a:ext uri="{FF2B5EF4-FFF2-40B4-BE49-F238E27FC236}">
                <a16:creationId xmlns:a16="http://schemas.microsoft.com/office/drawing/2014/main" id="{585D53A5-2EEE-0465-138B-511EE659A6CA}"/>
              </a:ext>
            </a:extLst>
          </p:cNvPr>
          <p:cNvSpPr/>
          <p:nvPr/>
        </p:nvSpPr>
        <p:spPr>
          <a:xfrm>
            <a:off x="6916347" y="2926080"/>
            <a:ext cx="4605093" cy="3474720"/>
          </a:xfrm>
          <a:prstGeom prst="rect">
            <a:avLst/>
          </a:prstGeom>
          <a:noFill/>
          <a:ln/>
        </p:spPr>
        <p:txBody>
          <a:bodyPr wrap="square" rtlCol="0" anchor="t"/>
          <a:lstStyle/>
          <a:p>
            <a:pPr marL="457189" indent="-457189">
              <a:lnSpc>
                <a:spcPct val="200000"/>
              </a:lnSpc>
              <a:buSzPct val="100000"/>
              <a:buChar char="•"/>
            </a:pPr>
            <a:r>
              <a:rPr lang="en-US" sz="1600" dirty="0">
                <a:solidFill>
                  <a:srgbClr val="2E2E2E"/>
                </a:solidFill>
                <a:latin typeface="Calibri" pitchFamily="34" charset="0"/>
                <a:ea typeface="Calibri" pitchFamily="34" charset="-122"/>
                <a:cs typeface="Calibri" pitchFamily="34" charset="-120"/>
              </a:rPr>
              <a:t>Each new session starts completely fresh</a:t>
            </a:r>
          </a:p>
          <a:p>
            <a:pPr marL="457189" indent="-457189">
              <a:lnSpc>
                <a:spcPct val="200000"/>
              </a:lnSpc>
              <a:buSzPct val="100000"/>
              <a:buChar char="•"/>
            </a:pPr>
            <a:r>
              <a:rPr lang="en-US" sz="1600" dirty="0">
                <a:solidFill>
                  <a:srgbClr val="2E2E2E"/>
                </a:solidFill>
                <a:latin typeface="Calibri" pitchFamily="34" charset="0"/>
                <a:ea typeface="Calibri" pitchFamily="34" charset="-122"/>
                <a:cs typeface="Calibri" pitchFamily="34" charset="-120"/>
              </a:rPr>
              <a:t>No memory of past decisions or failures</a:t>
            </a:r>
          </a:p>
          <a:p>
            <a:pPr marL="457189" indent="-457189">
              <a:lnSpc>
                <a:spcPct val="200000"/>
              </a:lnSpc>
              <a:buSzPct val="100000"/>
              <a:buChar char="•"/>
            </a:pPr>
            <a:r>
              <a:rPr lang="en-US" sz="1600" dirty="0">
                <a:solidFill>
                  <a:srgbClr val="2E2E2E"/>
                </a:solidFill>
                <a:latin typeface="Calibri" pitchFamily="34" charset="0"/>
                <a:ea typeface="Calibri" pitchFamily="34" charset="-122"/>
                <a:cs typeface="Calibri" pitchFamily="34" charset="-120"/>
              </a:rPr>
              <a:t>No memory of what was tried and why</a:t>
            </a:r>
          </a:p>
          <a:p>
            <a:pPr marL="457189" indent="-457189">
              <a:lnSpc>
                <a:spcPct val="200000"/>
              </a:lnSpc>
              <a:buSzPct val="100000"/>
              <a:buChar char="•"/>
            </a:pPr>
            <a:r>
              <a:rPr lang="en-US" sz="1600" dirty="0">
                <a:solidFill>
                  <a:srgbClr val="2E2E2E"/>
                </a:solidFill>
                <a:latin typeface="Calibri" pitchFamily="34" charset="0"/>
                <a:ea typeface="Calibri" pitchFamily="34" charset="-122"/>
                <a:cs typeface="Calibri" pitchFamily="34" charset="-120"/>
              </a:rPr>
              <a:t>Developers must re-explain context every time</a:t>
            </a:r>
          </a:p>
        </p:txBody>
      </p:sp>
      <p:sp>
        <p:nvSpPr>
          <p:cNvPr id="14" name="Shape 9">
            <a:extLst>
              <a:ext uri="{FF2B5EF4-FFF2-40B4-BE49-F238E27FC236}">
                <a16:creationId xmlns:a16="http://schemas.microsoft.com/office/drawing/2014/main" id="{FDD45C38-1003-DFE2-369B-38175A219DBA}"/>
              </a:ext>
            </a:extLst>
          </p:cNvPr>
          <p:cNvSpPr/>
          <p:nvPr/>
        </p:nvSpPr>
        <p:spPr>
          <a:xfrm>
            <a:off x="487680" y="2255520"/>
            <a:ext cx="5865494" cy="548640"/>
          </a:xfrm>
          <a:prstGeom prst="rect">
            <a:avLst/>
          </a:prstGeom>
          <a:solidFill>
            <a:srgbClr val="0D1B2A"/>
          </a:solidFill>
          <a:ln w="12700">
            <a:solidFill>
              <a:srgbClr val="0D1B2A"/>
            </a:solidFill>
            <a:prstDash val="solid"/>
          </a:ln>
        </p:spPr>
        <p:txBody>
          <a:bodyPr/>
          <a:lstStyle/>
          <a:p>
            <a:endParaRPr lang="es-MX" sz="2400" dirty="0"/>
          </a:p>
        </p:txBody>
      </p:sp>
      <p:sp>
        <p:nvSpPr>
          <p:cNvPr id="15" name="Text 10">
            <a:extLst>
              <a:ext uri="{FF2B5EF4-FFF2-40B4-BE49-F238E27FC236}">
                <a16:creationId xmlns:a16="http://schemas.microsoft.com/office/drawing/2014/main" id="{218A3053-B319-9607-CF7A-99C719E33ECF}"/>
              </a:ext>
            </a:extLst>
          </p:cNvPr>
          <p:cNvSpPr/>
          <p:nvPr/>
        </p:nvSpPr>
        <p:spPr>
          <a:xfrm>
            <a:off x="902017" y="2265859"/>
            <a:ext cx="503682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How it works</a:t>
            </a:r>
            <a:endParaRPr lang="en-US" sz="1733" dirty="0"/>
          </a:p>
        </p:txBody>
      </p:sp>
    </p:spTree>
    <p:extLst>
      <p:ext uri="{BB962C8B-B14F-4D97-AF65-F5344CB8AC3E}">
        <p14:creationId xmlns:p14="http://schemas.microsoft.com/office/powerpoint/2010/main" val="4272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p:cNvSpPr/>
          <p:nvPr/>
        </p:nvSpPr>
        <p:spPr>
          <a:xfrm>
            <a:off x="365760" y="0"/>
            <a:ext cx="1146048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Background: Existing Partial Solution — Sui-memory</a:t>
            </a:r>
            <a:endParaRPr lang="en-US" sz="2933" dirty="0"/>
          </a:p>
        </p:txBody>
      </p:sp>
      <p:sp>
        <p:nvSpPr>
          <p:cNvPr id="4" name="Text 2"/>
          <p:cNvSpPr/>
          <p:nvPr/>
        </p:nvSpPr>
        <p:spPr>
          <a:xfrm>
            <a:off x="487680" y="1342208"/>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Sui-memoryは何か？</a:t>
            </a:r>
            <a:endParaRPr lang="en-US" sz="2133" dirty="0"/>
          </a:p>
        </p:txBody>
      </p:sp>
      <p:sp>
        <p:nvSpPr>
          <p:cNvPr id="5" name="Text 3"/>
          <p:cNvSpPr/>
          <p:nvPr/>
        </p:nvSpPr>
        <p:spPr>
          <a:xfrm>
            <a:off x="487680" y="1752598"/>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A tool designed to give Claude Code persistent memory across sessions. It was the trigger for this research proposal.</a:t>
            </a:r>
            <a:endParaRPr lang="en-US" sz="1733" dirty="0"/>
          </a:p>
        </p:txBody>
      </p:sp>
      <p:sp>
        <p:nvSpPr>
          <p:cNvPr id="6" name="Shape 4"/>
          <p:cNvSpPr/>
          <p:nvPr/>
        </p:nvSpPr>
        <p:spPr>
          <a:xfrm>
            <a:off x="487680" y="2255520"/>
            <a:ext cx="6705600" cy="4267200"/>
          </a:xfrm>
          <a:prstGeom prst="rect">
            <a:avLst/>
          </a:prstGeom>
          <a:solidFill>
            <a:srgbClr val="DAE3F3"/>
          </a:solidFill>
          <a:ln w="12700">
            <a:solidFill>
              <a:srgbClr val="156082"/>
            </a:solidFill>
            <a:prstDash val="solid"/>
          </a:ln>
        </p:spPr>
        <p:txBody>
          <a:bodyPr/>
          <a:lstStyle/>
          <a:p>
            <a:endParaRPr lang="es-MX" sz="2400"/>
          </a:p>
        </p:txBody>
      </p:sp>
      <p:sp>
        <p:nvSpPr>
          <p:cNvPr id="7" name="Shape 5"/>
          <p:cNvSpPr/>
          <p:nvPr/>
        </p:nvSpPr>
        <p:spPr>
          <a:xfrm>
            <a:off x="487680" y="2255520"/>
            <a:ext cx="6705600" cy="548640"/>
          </a:xfrm>
          <a:prstGeom prst="rect">
            <a:avLst/>
          </a:prstGeom>
          <a:solidFill>
            <a:srgbClr val="0D1B2A"/>
          </a:solidFill>
          <a:ln w="12700">
            <a:solidFill>
              <a:srgbClr val="0D1B2A"/>
            </a:solidFill>
            <a:prstDash val="solid"/>
          </a:ln>
        </p:spPr>
        <p:txBody>
          <a:bodyPr/>
          <a:lstStyle/>
          <a:p>
            <a:endParaRPr lang="es-MX" sz="2400"/>
          </a:p>
        </p:txBody>
      </p:sp>
      <p:sp>
        <p:nvSpPr>
          <p:cNvPr id="8" name="Text 6"/>
          <p:cNvSpPr/>
          <p:nvPr/>
        </p:nvSpPr>
        <p:spPr>
          <a:xfrm>
            <a:off x="487680" y="2255520"/>
            <a:ext cx="670560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How it works</a:t>
            </a:r>
            <a:endParaRPr lang="en-US" sz="1733" dirty="0"/>
          </a:p>
        </p:txBody>
      </p:sp>
      <p:sp>
        <p:nvSpPr>
          <p:cNvPr id="9" name="Text 7"/>
          <p:cNvSpPr/>
          <p:nvPr/>
        </p:nvSpPr>
        <p:spPr>
          <a:xfrm>
            <a:off x="670560" y="2926080"/>
            <a:ext cx="6339840" cy="3474720"/>
          </a:xfrm>
          <a:prstGeom prst="rect">
            <a:avLst/>
          </a:prstGeom>
          <a:noFill/>
          <a:ln/>
        </p:spPr>
        <p:txBody>
          <a:bodyPr wrap="square" rtlCol="0" anchor="t"/>
          <a:lstStyle/>
          <a:p>
            <a:pPr>
              <a:lnSpc>
                <a:spcPct val="200000"/>
              </a:lnSpc>
              <a:buSzPct val="100000"/>
            </a:pPr>
            <a:r>
              <a:rPr lang="en-US" sz="1600" dirty="0">
                <a:solidFill>
                  <a:srgbClr val="2E2E2E"/>
                </a:solidFill>
                <a:latin typeface="Calibri" pitchFamily="34" charset="0"/>
                <a:ea typeface="Calibri" pitchFamily="34" charset="-122"/>
                <a:cs typeface="Calibri" pitchFamily="34" charset="-120"/>
              </a:rPr>
              <a:t>① Captures the full conversation transcript at session end</a:t>
            </a:r>
            <a:endParaRPr lang="en-US" sz="1600" dirty="0"/>
          </a:p>
          <a:p>
            <a:pPr>
              <a:lnSpc>
                <a:spcPct val="200000"/>
              </a:lnSpc>
              <a:buSzPct val="100000"/>
            </a:pPr>
            <a:r>
              <a:rPr lang="en-US" sz="1600" dirty="0">
                <a:solidFill>
                  <a:srgbClr val="2E2E2E"/>
                </a:solidFill>
                <a:latin typeface="Calibri" pitchFamily="34" charset="0"/>
                <a:ea typeface="Calibri" pitchFamily="34" charset="-122"/>
                <a:cs typeface="Calibri" pitchFamily="34" charset="-120"/>
              </a:rPr>
              <a:t>② Splits into Q&amp;A chunks using rule-based (non-LLM) methods</a:t>
            </a:r>
            <a:endParaRPr lang="en-US" sz="1600" dirty="0"/>
          </a:p>
          <a:p>
            <a:pPr>
              <a:lnSpc>
                <a:spcPct val="200000"/>
              </a:lnSpc>
              <a:buSzPct val="100000"/>
            </a:pPr>
            <a:r>
              <a:rPr lang="en-US" sz="1600" dirty="0">
                <a:solidFill>
                  <a:srgbClr val="2E2E2E"/>
                </a:solidFill>
                <a:latin typeface="Calibri" pitchFamily="34" charset="0"/>
                <a:ea typeface="Calibri" pitchFamily="34" charset="-122"/>
                <a:cs typeface="Calibri" pitchFamily="34" charset="-120"/>
              </a:rPr>
              <a:t>③ Embeds chunks with a Japanese-specialized model (Ruri v3)</a:t>
            </a:r>
            <a:endParaRPr lang="en-US" sz="1600" dirty="0"/>
          </a:p>
          <a:p>
            <a:pPr>
              <a:lnSpc>
                <a:spcPct val="200000"/>
              </a:lnSpc>
              <a:buSzPct val="100000"/>
            </a:pPr>
            <a:r>
              <a:rPr lang="en-US" sz="1600" dirty="0">
                <a:solidFill>
                  <a:srgbClr val="2E2E2E"/>
                </a:solidFill>
                <a:latin typeface="Calibri" pitchFamily="34" charset="0"/>
                <a:ea typeface="Calibri" pitchFamily="34" charset="-122"/>
                <a:cs typeface="Calibri" pitchFamily="34" charset="-120"/>
              </a:rPr>
              <a:t>④ Stores in SQLite: BM25 + vector search + RRF fusion + time decay</a:t>
            </a:r>
            <a:endParaRPr lang="en-US" sz="1600" dirty="0"/>
          </a:p>
        </p:txBody>
      </p:sp>
      <p:sp>
        <p:nvSpPr>
          <p:cNvPr id="10" name="Shape 8"/>
          <p:cNvSpPr/>
          <p:nvPr/>
        </p:nvSpPr>
        <p:spPr>
          <a:xfrm>
            <a:off x="7437120" y="2255520"/>
            <a:ext cx="4267200" cy="4267200"/>
          </a:xfrm>
          <a:prstGeom prst="rect">
            <a:avLst/>
          </a:prstGeom>
          <a:solidFill>
            <a:srgbClr val="DAE3F3"/>
          </a:solidFill>
          <a:ln w="12700">
            <a:solidFill>
              <a:srgbClr val="156082"/>
            </a:solidFill>
            <a:prstDash val="solid"/>
          </a:ln>
        </p:spPr>
        <p:txBody>
          <a:bodyPr/>
          <a:lstStyle/>
          <a:p>
            <a:endParaRPr lang="es-MX" sz="2400"/>
          </a:p>
        </p:txBody>
      </p:sp>
      <p:sp>
        <p:nvSpPr>
          <p:cNvPr id="11" name="Shape 9"/>
          <p:cNvSpPr/>
          <p:nvPr/>
        </p:nvSpPr>
        <p:spPr>
          <a:xfrm>
            <a:off x="7437120" y="2255520"/>
            <a:ext cx="4267200" cy="548640"/>
          </a:xfrm>
          <a:prstGeom prst="rect">
            <a:avLst/>
          </a:prstGeom>
          <a:solidFill>
            <a:srgbClr val="0D1B2A"/>
          </a:solidFill>
          <a:ln w="12700">
            <a:solidFill>
              <a:srgbClr val="0D1B2A"/>
            </a:solidFill>
            <a:prstDash val="solid"/>
          </a:ln>
        </p:spPr>
        <p:txBody>
          <a:bodyPr/>
          <a:lstStyle/>
          <a:p>
            <a:endParaRPr lang="es-MX" sz="2400"/>
          </a:p>
        </p:txBody>
      </p:sp>
      <p:sp>
        <p:nvSpPr>
          <p:cNvPr id="12" name="Text 10"/>
          <p:cNvSpPr/>
          <p:nvPr/>
        </p:nvSpPr>
        <p:spPr>
          <a:xfrm>
            <a:off x="7437120" y="2255520"/>
            <a:ext cx="426720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What it leaves unresolved</a:t>
            </a:r>
            <a:endParaRPr lang="en-US" sz="1733" dirty="0"/>
          </a:p>
        </p:txBody>
      </p:sp>
      <p:sp>
        <p:nvSpPr>
          <p:cNvPr id="13" name="Text 11"/>
          <p:cNvSpPr/>
          <p:nvPr/>
        </p:nvSpPr>
        <p:spPr>
          <a:xfrm>
            <a:off x="7620000" y="2926080"/>
            <a:ext cx="3901440" cy="3474720"/>
          </a:xfrm>
          <a:prstGeom prst="rect">
            <a:avLst/>
          </a:prstGeom>
          <a:noFill/>
          <a:ln/>
        </p:spPr>
        <p:txBody>
          <a:bodyPr wrap="square" rtlCol="0" anchor="t"/>
          <a:lstStyle/>
          <a:p>
            <a:pPr marL="457189" indent="-457189">
              <a:lnSpc>
                <a:spcPct val="200000"/>
              </a:lnSpc>
              <a:buSzPct val="100000"/>
              <a:buChar char="•"/>
            </a:pPr>
            <a:r>
              <a:rPr lang="en-US" sz="1467" dirty="0">
                <a:solidFill>
                  <a:srgbClr val="2E2E2E"/>
                </a:solidFill>
                <a:latin typeface="Calibri" pitchFamily="34" charset="0"/>
                <a:ea typeface="Calibri" pitchFamily="34" charset="-122"/>
                <a:cs typeface="Calibri" pitchFamily="34" charset="-120"/>
              </a:rPr>
              <a:t>Q&amp;A chunking logic is a black box</a:t>
            </a:r>
            <a:endParaRPr lang="en-US" sz="1467" dirty="0"/>
          </a:p>
          <a:p>
            <a:pPr marL="457189" indent="-457189">
              <a:lnSpc>
                <a:spcPct val="200000"/>
              </a:lnSpc>
              <a:buSzPct val="100000"/>
              <a:buChar char="•"/>
            </a:pPr>
            <a:r>
              <a:rPr lang="en-US" sz="1467" dirty="0">
                <a:solidFill>
                  <a:srgbClr val="2E2E2E"/>
                </a:solidFill>
                <a:latin typeface="Calibri" pitchFamily="34" charset="0"/>
                <a:ea typeface="Calibri" pitchFamily="34" charset="-122"/>
                <a:cs typeface="Calibri" pitchFamily="34" charset="-120"/>
              </a:rPr>
              <a:t>No inter-chunk relationships are stored</a:t>
            </a:r>
            <a:endParaRPr lang="en-US" sz="1467" dirty="0"/>
          </a:p>
          <a:p>
            <a:pPr marL="457189" indent="-457189">
              <a:lnSpc>
                <a:spcPct val="200000"/>
              </a:lnSpc>
              <a:buSzPct val="100000"/>
              <a:buChar char="•"/>
            </a:pPr>
            <a:r>
              <a:rPr lang="en-US" sz="1467" dirty="0">
                <a:solidFill>
                  <a:srgbClr val="2E2E2E"/>
                </a:solidFill>
                <a:latin typeface="Calibri" pitchFamily="34" charset="0"/>
                <a:ea typeface="Calibri" pitchFamily="34" charset="-122"/>
                <a:cs typeface="Calibri" pitchFamily="34" charset="-120"/>
              </a:rPr>
              <a:t>Queries like "Why did we choose X?" cannot traverse causal links</a:t>
            </a:r>
            <a:endParaRPr lang="en-US" sz="1467" dirty="0"/>
          </a:p>
          <a:p>
            <a:pPr marL="457189" indent="-457189">
              <a:lnSpc>
                <a:spcPct val="200000"/>
              </a:lnSpc>
              <a:buSzPct val="100000"/>
              <a:buChar char="•"/>
            </a:pPr>
            <a:r>
              <a:rPr lang="en-US" sz="1467" dirty="0">
                <a:solidFill>
                  <a:srgbClr val="2E2E2E"/>
                </a:solidFill>
                <a:latin typeface="Calibri" pitchFamily="34" charset="0"/>
                <a:ea typeface="Calibri" pitchFamily="34" charset="-122"/>
                <a:cs typeface="Calibri" pitchFamily="34" charset="-120"/>
              </a:rPr>
              <a:t>Multi-session topic continuity is lost</a:t>
            </a:r>
            <a:endParaRPr lang="en-US" sz="14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p:cNvSpPr/>
          <p:nvPr/>
        </p:nvSpPr>
        <p:spPr>
          <a:xfrm>
            <a:off x="365760" y="0"/>
            <a:ext cx="1146048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Problem: The Core Limitation of Flat Vector Search</a:t>
            </a:r>
            <a:endParaRPr lang="en-US" sz="2933" dirty="0"/>
          </a:p>
        </p:txBody>
      </p:sp>
      <p:sp>
        <p:nvSpPr>
          <p:cNvPr id="4" name="Text 2"/>
          <p:cNvSpPr/>
          <p:nvPr/>
        </p:nvSpPr>
        <p:spPr>
          <a:xfrm>
            <a:off x="487680" y="1227908"/>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フラットベクター検索の限界</a:t>
            </a:r>
            <a:endParaRPr lang="en-US" sz="2133" dirty="0"/>
          </a:p>
        </p:txBody>
      </p:sp>
      <p:sp>
        <p:nvSpPr>
          <p:cNvPr id="5" name="Text 3"/>
          <p:cNvSpPr/>
          <p:nvPr/>
        </p:nvSpPr>
        <p:spPr>
          <a:xfrm>
            <a:off x="487680" y="1525366"/>
            <a:ext cx="11216640" cy="340143"/>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Even with reliable storage, the fundamental retrieval model of sui-memory has a structural problem: all chunks are treated as independent, equidistant units. The index has no concept of cause, sequence, or consequence between them.</a:t>
            </a:r>
          </a:p>
        </p:txBody>
      </p:sp>
      <p:sp>
        <p:nvSpPr>
          <p:cNvPr id="6" name="Shape 4"/>
          <p:cNvSpPr/>
          <p:nvPr/>
        </p:nvSpPr>
        <p:spPr>
          <a:xfrm>
            <a:off x="487680" y="2292096"/>
            <a:ext cx="3413760" cy="1524000"/>
          </a:xfrm>
          <a:prstGeom prst="rect">
            <a:avLst/>
          </a:prstGeom>
          <a:solidFill>
            <a:srgbClr val="DAE3F3"/>
          </a:solidFill>
          <a:ln w="12700">
            <a:solidFill>
              <a:srgbClr val="156082"/>
            </a:solidFill>
            <a:prstDash val="solid"/>
          </a:ln>
        </p:spPr>
        <p:txBody>
          <a:bodyPr/>
          <a:lstStyle/>
          <a:p>
            <a:endParaRPr lang="es-MX" sz="2400"/>
          </a:p>
        </p:txBody>
      </p:sp>
      <p:sp>
        <p:nvSpPr>
          <p:cNvPr id="7" name="Text 5"/>
          <p:cNvSpPr/>
          <p:nvPr/>
        </p:nvSpPr>
        <p:spPr>
          <a:xfrm>
            <a:off x="487680" y="2631352"/>
            <a:ext cx="3413760" cy="0"/>
          </a:xfrm>
          <a:prstGeom prst="rect">
            <a:avLst/>
          </a:prstGeom>
          <a:noFill/>
          <a:ln/>
        </p:spPr>
        <p:txBody>
          <a:bodyPr wrap="square" rtlCol="0" anchor="ctr"/>
          <a:lstStyle/>
          <a:p>
            <a:pPr algn="ctr"/>
            <a:r>
              <a:rPr lang="en-US" sz="1200" dirty="0">
                <a:solidFill>
                  <a:srgbClr val="666666"/>
                </a:solidFill>
                <a:latin typeface="Calibri" pitchFamily="34" charset="0"/>
                <a:ea typeface="Calibri" pitchFamily="34" charset="-122"/>
                <a:cs typeface="Calibri" pitchFamily="34" charset="-120"/>
              </a:rPr>
              <a:t>chunk_1</a:t>
            </a:r>
            <a:endParaRPr lang="en-US" sz="1200" dirty="0"/>
          </a:p>
        </p:txBody>
      </p:sp>
      <p:sp>
        <p:nvSpPr>
          <p:cNvPr id="8" name="Text 6"/>
          <p:cNvSpPr/>
          <p:nvPr/>
        </p:nvSpPr>
        <p:spPr>
          <a:xfrm>
            <a:off x="487680" y="3021496"/>
            <a:ext cx="3413760" cy="0"/>
          </a:xfrm>
          <a:prstGeom prst="rect">
            <a:avLst/>
          </a:prstGeom>
          <a:noFill/>
          <a:ln/>
        </p:spPr>
        <p:txBody>
          <a:bodyPr wrap="square" rtlCol="0" anchor="ctr"/>
          <a:lstStyle/>
          <a:p>
            <a:pPr algn="ctr"/>
            <a:r>
              <a:rPr lang="en-US" sz="1667" i="1" dirty="0">
                <a:solidFill>
                  <a:srgbClr val="2E2E2E"/>
                </a:solidFill>
                <a:latin typeface="Calibri" pitchFamily="34" charset="0"/>
                <a:ea typeface="Calibri" pitchFamily="34" charset="-122"/>
                <a:cs typeface="Calibri" pitchFamily="34" charset="-120"/>
              </a:rPr>
              <a:t>"Adopted SQLite</a:t>
            </a:r>
            <a:endParaRPr lang="en-US" sz="1667" dirty="0"/>
          </a:p>
          <a:p>
            <a:pPr algn="ctr"/>
            <a:r>
              <a:rPr lang="en-US" sz="1667" i="1" dirty="0">
                <a:solidFill>
                  <a:srgbClr val="2E2E2E"/>
                </a:solidFill>
                <a:latin typeface="Calibri" pitchFamily="34" charset="0"/>
                <a:ea typeface="Calibri" pitchFamily="34" charset="-122"/>
                <a:cs typeface="Calibri" pitchFamily="34" charset="-120"/>
              </a:rPr>
              <a:t>for portability"</a:t>
            </a:r>
            <a:endParaRPr lang="en-US" sz="1667" dirty="0"/>
          </a:p>
        </p:txBody>
      </p:sp>
      <p:sp>
        <p:nvSpPr>
          <p:cNvPr id="9" name="Shape 7"/>
          <p:cNvSpPr/>
          <p:nvPr/>
        </p:nvSpPr>
        <p:spPr>
          <a:xfrm>
            <a:off x="4242816" y="2292096"/>
            <a:ext cx="3413760" cy="1524000"/>
          </a:xfrm>
          <a:prstGeom prst="rect">
            <a:avLst/>
          </a:prstGeom>
          <a:solidFill>
            <a:srgbClr val="DAE3F3"/>
          </a:solidFill>
          <a:ln w="12700">
            <a:solidFill>
              <a:srgbClr val="156082"/>
            </a:solidFill>
            <a:prstDash val="solid"/>
          </a:ln>
        </p:spPr>
        <p:txBody>
          <a:bodyPr/>
          <a:lstStyle/>
          <a:p>
            <a:endParaRPr lang="es-MX" sz="2400"/>
          </a:p>
        </p:txBody>
      </p:sp>
      <p:sp>
        <p:nvSpPr>
          <p:cNvPr id="10" name="Text 8"/>
          <p:cNvSpPr/>
          <p:nvPr/>
        </p:nvSpPr>
        <p:spPr>
          <a:xfrm>
            <a:off x="4242816" y="2631352"/>
            <a:ext cx="3413760" cy="0"/>
          </a:xfrm>
          <a:prstGeom prst="rect">
            <a:avLst/>
          </a:prstGeom>
          <a:noFill/>
          <a:ln/>
        </p:spPr>
        <p:txBody>
          <a:bodyPr wrap="square" rtlCol="0" anchor="ctr"/>
          <a:lstStyle/>
          <a:p>
            <a:pPr algn="ctr"/>
            <a:r>
              <a:rPr lang="en-US" sz="1200" dirty="0">
                <a:solidFill>
                  <a:srgbClr val="666666"/>
                </a:solidFill>
                <a:latin typeface="Calibri" pitchFamily="34" charset="0"/>
                <a:ea typeface="Calibri" pitchFamily="34" charset="-122"/>
                <a:cs typeface="Calibri" pitchFamily="34" charset="-120"/>
              </a:rPr>
              <a:t>chunk_2</a:t>
            </a:r>
            <a:endParaRPr lang="en-US" sz="1200" dirty="0"/>
          </a:p>
        </p:txBody>
      </p:sp>
      <p:sp>
        <p:nvSpPr>
          <p:cNvPr id="11" name="Text 9"/>
          <p:cNvSpPr/>
          <p:nvPr/>
        </p:nvSpPr>
        <p:spPr>
          <a:xfrm>
            <a:off x="4242816" y="3021496"/>
            <a:ext cx="3413760" cy="0"/>
          </a:xfrm>
          <a:prstGeom prst="rect">
            <a:avLst/>
          </a:prstGeom>
          <a:noFill/>
          <a:ln/>
        </p:spPr>
        <p:txBody>
          <a:bodyPr wrap="square" rtlCol="0" anchor="ctr"/>
          <a:lstStyle/>
          <a:p>
            <a:pPr algn="ctr"/>
            <a:r>
              <a:rPr lang="en-US" sz="1667" i="1" dirty="0">
                <a:solidFill>
                  <a:srgbClr val="2E2E2E"/>
                </a:solidFill>
                <a:latin typeface="Calibri" pitchFamily="34" charset="0"/>
                <a:ea typeface="Calibri" pitchFamily="34" charset="-122"/>
                <a:cs typeface="Calibri" pitchFamily="34" charset="-120"/>
              </a:rPr>
              <a:t>"Set up Tailscale</a:t>
            </a:r>
            <a:endParaRPr lang="en-US" sz="1667" dirty="0"/>
          </a:p>
          <a:p>
            <a:pPr algn="ctr"/>
            <a:r>
              <a:rPr lang="en-US" sz="1667" i="1" dirty="0">
                <a:solidFill>
                  <a:srgbClr val="2E2E2E"/>
                </a:solidFill>
                <a:latin typeface="Calibri" pitchFamily="34" charset="0"/>
                <a:ea typeface="Calibri" pitchFamily="34" charset="-122"/>
                <a:cs typeface="Calibri" pitchFamily="34" charset="-120"/>
              </a:rPr>
              <a:t>for student access"</a:t>
            </a:r>
            <a:endParaRPr lang="en-US" sz="1667" dirty="0"/>
          </a:p>
        </p:txBody>
      </p:sp>
      <p:sp>
        <p:nvSpPr>
          <p:cNvPr id="12" name="Shape 10"/>
          <p:cNvSpPr/>
          <p:nvPr/>
        </p:nvSpPr>
        <p:spPr>
          <a:xfrm>
            <a:off x="7997952" y="2292096"/>
            <a:ext cx="3413760" cy="1524000"/>
          </a:xfrm>
          <a:prstGeom prst="rect">
            <a:avLst/>
          </a:prstGeom>
          <a:solidFill>
            <a:srgbClr val="DAE3F3"/>
          </a:solidFill>
          <a:ln w="12700">
            <a:solidFill>
              <a:srgbClr val="156082"/>
            </a:solidFill>
            <a:prstDash val="solid"/>
          </a:ln>
        </p:spPr>
        <p:txBody>
          <a:bodyPr/>
          <a:lstStyle/>
          <a:p>
            <a:endParaRPr lang="es-MX" sz="2400"/>
          </a:p>
        </p:txBody>
      </p:sp>
      <p:sp>
        <p:nvSpPr>
          <p:cNvPr id="13" name="Text 11"/>
          <p:cNvSpPr/>
          <p:nvPr/>
        </p:nvSpPr>
        <p:spPr>
          <a:xfrm>
            <a:off x="7997952" y="2631352"/>
            <a:ext cx="3413760" cy="0"/>
          </a:xfrm>
          <a:prstGeom prst="rect">
            <a:avLst/>
          </a:prstGeom>
          <a:noFill/>
          <a:ln/>
        </p:spPr>
        <p:txBody>
          <a:bodyPr wrap="square" rtlCol="0" anchor="ctr"/>
          <a:lstStyle/>
          <a:p>
            <a:pPr algn="ctr"/>
            <a:r>
              <a:rPr lang="en-US" sz="1200" dirty="0">
                <a:solidFill>
                  <a:srgbClr val="666666"/>
                </a:solidFill>
                <a:latin typeface="Calibri" pitchFamily="34" charset="0"/>
                <a:ea typeface="Calibri" pitchFamily="34" charset="-122"/>
                <a:cs typeface="Calibri" pitchFamily="34" charset="-120"/>
              </a:rPr>
              <a:t>chunk_3</a:t>
            </a:r>
            <a:endParaRPr lang="en-US" sz="1200" dirty="0"/>
          </a:p>
        </p:txBody>
      </p:sp>
      <p:sp>
        <p:nvSpPr>
          <p:cNvPr id="14" name="Text 12"/>
          <p:cNvSpPr/>
          <p:nvPr/>
        </p:nvSpPr>
        <p:spPr>
          <a:xfrm>
            <a:off x="7997952" y="3021496"/>
            <a:ext cx="3413760" cy="0"/>
          </a:xfrm>
          <a:prstGeom prst="rect">
            <a:avLst/>
          </a:prstGeom>
          <a:noFill/>
          <a:ln/>
        </p:spPr>
        <p:txBody>
          <a:bodyPr wrap="square" rtlCol="0" anchor="ctr"/>
          <a:lstStyle/>
          <a:p>
            <a:pPr algn="ctr"/>
            <a:r>
              <a:rPr lang="en-US" sz="1667" i="1" dirty="0">
                <a:solidFill>
                  <a:srgbClr val="2E2E2E"/>
                </a:solidFill>
                <a:latin typeface="Calibri" pitchFamily="34" charset="0"/>
                <a:ea typeface="Calibri" pitchFamily="34" charset="-122"/>
                <a:cs typeface="Calibri" pitchFamily="34" charset="-120"/>
              </a:rPr>
              <a:t>"Hit an error in</a:t>
            </a:r>
            <a:endParaRPr lang="en-US" sz="1667" dirty="0"/>
          </a:p>
          <a:p>
            <a:pPr algn="ctr"/>
            <a:r>
              <a:rPr lang="en-US" sz="1667" i="1" dirty="0">
                <a:solidFill>
                  <a:srgbClr val="2E2E2E"/>
                </a:solidFill>
                <a:latin typeface="Calibri" pitchFamily="34" charset="0"/>
                <a:ea typeface="Calibri" pitchFamily="34" charset="-122"/>
                <a:cs typeface="Calibri" pitchFamily="34" charset="-120"/>
              </a:rPr>
              <a:t>the Ollama config"</a:t>
            </a:r>
            <a:endParaRPr lang="en-US" sz="1667" dirty="0"/>
          </a:p>
        </p:txBody>
      </p:sp>
      <p:sp>
        <p:nvSpPr>
          <p:cNvPr id="15" name="Text 13"/>
          <p:cNvSpPr/>
          <p:nvPr/>
        </p:nvSpPr>
        <p:spPr>
          <a:xfrm>
            <a:off x="365760" y="3962401"/>
            <a:ext cx="11216640" cy="253911"/>
          </a:xfrm>
          <a:prstGeom prst="rect">
            <a:avLst/>
          </a:prstGeom>
          <a:noFill/>
          <a:ln/>
        </p:spPr>
        <p:txBody>
          <a:bodyPr wrap="square" rtlCol="0" anchor="ctr"/>
          <a:lstStyle/>
          <a:p>
            <a:pPr algn="ctr"/>
            <a:r>
              <a:rPr lang="en-US" sz="1467" i="1" dirty="0">
                <a:solidFill>
                  <a:srgbClr val="E97132"/>
                </a:solidFill>
                <a:latin typeface="Calibri" pitchFamily="34" charset="0"/>
                <a:ea typeface="Calibri" pitchFamily="34" charset="-122"/>
                <a:cs typeface="Calibri" pitchFamily="34" charset="-120"/>
              </a:rPr>
              <a:t>all chunks are equidistant in index space</a:t>
            </a:r>
            <a:endParaRPr lang="en-US" sz="1467" dirty="0"/>
          </a:p>
        </p:txBody>
      </p:sp>
      <p:sp>
        <p:nvSpPr>
          <p:cNvPr id="16" name="Text 14"/>
          <p:cNvSpPr/>
          <p:nvPr/>
        </p:nvSpPr>
        <p:spPr>
          <a:xfrm>
            <a:off x="487680" y="4450080"/>
            <a:ext cx="11216640" cy="0"/>
          </a:xfrm>
          <a:prstGeom prst="rect">
            <a:avLst/>
          </a:prstGeom>
          <a:noFill/>
          <a:ln/>
        </p:spPr>
        <p:txBody>
          <a:bodyPr wrap="square" rtlCol="0" anchor="ctr"/>
          <a:lstStyle/>
          <a:p>
            <a:r>
              <a:rPr lang="en-US" sz="1733" b="1" dirty="0">
                <a:solidFill>
                  <a:srgbClr val="2E2E2E"/>
                </a:solidFill>
                <a:latin typeface="Calibri" pitchFamily="34" charset="0"/>
                <a:ea typeface="Calibri" pitchFamily="34" charset="-122"/>
                <a:cs typeface="Calibri" pitchFamily="34" charset="-120"/>
              </a:rPr>
              <a:t>Queries that fail with flat retrieval:</a:t>
            </a:r>
            <a:endParaRPr lang="en-US" sz="1733" dirty="0"/>
          </a:p>
        </p:txBody>
      </p:sp>
      <p:sp>
        <p:nvSpPr>
          <p:cNvPr id="27" name="TextBox 26">
            <a:extLst>
              <a:ext uri="{FF2B5EF4-FFF2-40B4-BE49-F238E27FC236}">
                <a16:creationId xmlns:a16="http://schemas.microsoft.com/office/drawing/2014/main" id="{A2330D68-ECCD-9416-D0E4-5B5D210D5D0D}"/>
              </a:ext>
            </a:extLst>
          </p:cNvPr>
          <p:cNvSpPr txBox="1"/>
          <p:nvPr/>
        </p:nvSpPr>
        <p:spPr>
          <a:xfrm>
            <a:off x="3830541" y="2859295"/>
            <a:ext cx="6102626" cy="369332"/>
          </a:xfrm>
          <a:prstGeom prst="rect">
            <a:avLst/>
          </a:prstGeom>
          <a:noFill/>
        </p:spPr>
        <p:txBody>
          <a:bodyPr wrap="square">
            <a:spAutoFit/>
          </a:bodyPr>
          <a:lstStyle/>
          <a:p>
            <a:r>
              <a:rPr lang="en-US" sz="1800" i="1" dirty="0">
                <a:solidFill>
                  <a:srgbClr val="E97132"/>
                </a:solidFill>
                <a:latin typeface="Calibri" pitchFamily="34" charset="0"/>
                <a:ea typeface="Calibri" pitchFamily="34" charset="-122"/>
                <a:cs typeface="Calibri" pitchFamily="34" charset="-120"/>
              </a:rPr>
              <a:t>↔</a:t>
            </a:r>
            <a:endParaRPr lang="es-MX" dirty="0"/>
          </a:p>
        </p:txBody>
      </p:sp>
      <p:sp>
        <p:nvSpPr>
          <p:cNvPr id="29" name="TextBox 28">
            <a:extLst>
              <a:ext uri="{FF2B5EF4-FFF2-40B4-BE49-F238E27FC236}">
                <a16:creationId xmlns:a16="http://schemas.microsoft.com/office/drawing/2014/main" id="{BAE89DBF-D4AC-8355-71C4-C8E89F08FD6D}"/>
              </a:ext>
            </a:extLst>
          </p:cNvPr>
          <p:cNvSpPr txBox="1"/>
          <p:nvPr/>
        </p:nvSpPr>
        <p:spPr>
          <a:xfrm>
            <a:off x="7592471" y="2871621"/>
            <a:ext cx="6102626" cy="369332"/>
          </a:xfrm>
          <a:prstGeom prst="rect">
            <a:avLst/>
          </a:prstGeom>
          <a:noFill/>
        </p:spPr>
        <p:txBody>
          <a:bodyPr wrap="square">
            <a:spAutoFit/>
          </a:bodyPr>
          <a:lstStyle/>
          <a:p>
            <a:r>
              <a:rPr lang="en-US" sz="1800" i="1" dirty="0">
                <a:solidFill>
                  <a:srgbClr val="E97132"/>
                </a:solidFill>
                <a:latin typeface="Calibri" pitchFamily="34" charset="0"/>
                <a:ea typeface="Calibri" pitchFamily="34" charset="-122"/>
                <a:cs typeface="Calibri" pitchFamily="34" charset="-120"/>
              </a:rPr>
              <a:t>↔</a:t>
            </a:r>
            <a:endParaRPr lang="es-MX" dirty="0"/>
          </a:p>
        </p:txBody>
      </p:sp>
      <p:sp>
        <p:nvSpPr>
          <p:cNvPr id="30" name="Text 3">
            <a:extLst>
              <a:ext uri="{FF2B5EF4-FFF2-40B4-BE49-F238E27FC236}">
                <a16:creationId xmlns:a16="http://schemas.microsoft.com/office/drawing/2014/main" id="{34A6A4CB-6DB7-3D1D-17B9-C5CA2537C710}"/>
              </a:ext>
            </a:extLst>
          </p:cNvPr>
          <p:cNvSpPr/>
          <p:nvPr/>
        </p:nvSpPr>
        <p:spPr>
          <a:xfrm>
            <a:off x="487680" y="5809893"/>
            <a:ext cx="11216640" cy="340143"/>
          </a:xfrm>
          <a:prstGeom prst="rect">
            <a:avLst/>
          </a:prstGeom>
          <a:noFill/>
          <a:ln/>
        </p:spPr>
        <p:txBody>
          <a:bodyPr wrap="square" rtlCol="0" anchor="ctr"/>
          <a:lstStyle/>
          <a:p>
            <a:pPr marL="342900" indent="-342900">
              <a:lnSpc>
                <a:spcPct val="200000"/>
              </a:lnSpc>
              <a:buFont typeface="+mj-lt"/>
              <a:buAutoNum type="arabicPeriod"/>
            </a:pPr>
            <a:r>
              <a:rPr lang="en-US" b="1" dirty="0">
                <a:solidFill>
                  <a:srgbClr val="E97132"/>
                </a:solidFill>
                <a:latin typeface="Calibri" pitchFamily="34" charset="0"/>
                <a:ea typeface="Calibri" pitchFamily="34" charset="-122"/>
                <a:cs typeface="Calibri" pitchFamily="34" charset="-120"/>
              </a:rPr>
              <a:t>“Why did we choose SQLite?” </a:t>
            </a:r>
            <a:r>
              <a:rPr lang="en-US" sz="1733" dirty="0">
                <a:solidFill>
                  <a:srgbClr val="404040"/>
                </a:solidFill>
                <a:latin typeface="Calibri" pitchFamily="34" charset="0"/>
                <a:ea typeface="Calibri" pitchFamily="34" charset="-122"/>
                <a:cs typeface="Calibri" pitchFamily="34" charset="-120"/>
              </a:rPr>
              <a:t>		</a:t>
            </a:r>
            <a:r>
              <a:rPr lang="en-US" dirty="0">
                <a:solidFill>
                  <a:srgbClr val="404040"/>
                </a:solidFill>
                <a:latin typeface="Calibri" pitchFamily="34" charset="0"/>
                <a:ea typeface="Calibri" pitchFamily="34" charset="-122"/>
                <a:cs typeface="Calibri" pitchFamily="34" charset="-120"/>
              </a:rPr>
              <a:t>→  requires a Cause edge between chunk_1 and the decision context</a:t>
            </a:r>
          </a:p>
          <a:p>
            <a:pPr marL="342900" indent="-342900">
              <a:lnSpc>
                <a:spcPct val="200000"/>
              </a:lnSpc>
              <a:buFont typeface="+mj-lt"/>
              <a:buAutoNum type="arabicPeriod"/>
            </a:pPr>
            <a:r>
              <a:rPr lang="en-US" b="1" dirty="0">
                <a:solidFill>
                  <a:srgbClr val="E97132"/>
                </a:solidFill>
                <a:latin typeface="Calibri" pitchFamily="34" charset="0"/>
                <a:ea typeface="Calibri" pitchFamily="34" charset="-122"/>
                <a:cs typeface="Calibri" pitchFamily="34" charset="-120"/>
              </a:rPr>
              <a:t>“What broke after we changed Y?”		</a:t>
            </a:r>
            <a:r>
              <a:rPr lang="en-US" dirty="0">
                <a:solidFill>
                  <a:srgbClr val="404040"/>
                </a:solidFill>
                <a:latin typeface="Calibri" pitchFamily="34" charset="0"/>
                <a:ea typeface="Calibri" pitchFamily="34" charset="-122"/>
                <a:cs typeface="Calibri" pitchFamily="34" charset="-120"/>
              </a:rPr>
              <a:t>→  requires a Succession edge linking events across time</a:t>
            </a:r>
          </a:p>
          <a:p>
            <a:pPr marL="342900" indent="-342900">
              <a:lnSpc>
                <a:spcPct val="200000"/>
              </a:lnSpc>
              <a:buFont typeface="+mj-lt"/>
              <a:buAutoNum type="arabicPeriod"/>
            </a:pPr>
            <a:r>
              <a:rPr lang="en-US" b="1" dirty="0">
                <a:solidFill>
                  <a:srgbClr val="E97132"/>
                </a:solidFill>
                <a:latin typeface="Calibri" pitchFamily="34" charset="0"/>
                <a:ea typeface="Calibri" pitchFamily="34" charset="-122"/>
                <a:cs typeface="Calibri" pitchFamily="34" charset="-120"/>
              </a:rPr>
              <a:t>“What decisions led to this error?”		</a:t>
            </a:r>
            <a:r>
              <a:rPr lang="en-US" dirty="0">
                <a:solidFill>
                  <a:srgbClr val="404040"/>
                </a:solidFill>
                <a:latin typeface="Calibri" pitchFamily="34" charset="0"/>
                <a:ea typeface="Calibri" pitchFamily="34" charset="-122"/>
                <a:cs typeface="Calibri" pitchFamily="34" charset="-120"/>
              </a:rPr>
              <a:t>→  requires multi-hop traversal across multiple chunks</a:t>
            </a:r>
            <a:endParaRPr lang="en-US" dirty="0"/>
          </a:p>
          <a:p>
            <a:endParaRPr lang="en-US" dirty="0"/>
          </a:p>
          <a:p>
            <a:pPr marL="342900" indent="-342900">
              <a:buFont typeface="+mj-lt"/>
              <a:buAutoNum type="arabicPeriod"/>
            </a:pPr>
            <a:endParaRPr lang="en-US" dirty="0"/>
          </a:p>
          <a:p>
            <a:pPr marL="342900" indent="-342900">
              <a:buFont typeface="+mj-lt"/>
              <a:buAutoNum type="arabicPeriod"/>
            </a:pPr>
            <a:endParaRPr lang="en-US" sz="173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p:cNvSpPr/>
          <p:nvPr/>
        </p:nvSpPr>
        <p:spPr>
          <a:xfrm>
            <a:off x="365760" y="0"/>
            <a:ext cx="1146048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Proposal: Central Research Question</a:t>
            </a:r>
            <a:endParaRPr lang="en-US" sz="2933" dirty="0"/>
          </a:p>
        </p:txBody>
      </p:sp>
      <p:sp>
        <p:nvSpPr>
          <p:cNvPr id="4" name="Shape 2"/>
          <p:cNvSpPr/>
          <p:nvPr/>
        </p:nvSpPr>
        <p:spPr>
          <a:xfrm>
            <a:off x="487680" y="1072896"/>
            <a:ext cx="11216640" cy="1767840"/>
          </a:xfrm>
          <a:prstGeom prst="rect">
            <a:avLst/>
          </a:prstGeom>
          <a:solidFill>
            <a:srgbClr val="DAE3F3"/>
          </a:solidFill>
          <a:ln w="25400">
            <a:solidFill>
              <a:srgbClr val="0D1B2A"/>
            </a:solidFill>
            <a:prstDash val="solid"/>
          </a:ln>
        </p:spPr>
        <p:txBody>
          <a:bodyPr/>
          <a:lstStyle/>
          <a:p>
            <a:endParaRPr lang="es-MX" sz="2400"/>
          </a:p>
        </p:txBody>
      </p:sp>
      <p:sp>
        <p:nvSpPr>
          <p:cNvPr id="5" name="Text 3"/>
          <p:cNvSpPr/>
          <p:nvPr/>
        </p:nvSpPr>
        <p:spPr>
          <a:xfrm>
            <a:off x="731520" y="1182624"/>
            <a:ext cx="10728960" cy="1524000"/>
          </a:xfrm>
          <a:prstGeom prst="rect">
            <a:avLst/>
          </a:prstGeom>
          <a:noFill/>
          <a:ln/>
        </p:spPr>
        <p:txBody>
          <a:bodyPr wrap="square" rtlCol="0" anchor="ctr"/>
          <a:lstStyle/>
          <a:p>
            <a:pPr algn="ctr"/>
            <a:r>
              <a:rPr lang="en-US" sz="1867" i="1" dirty="0">
                <a:solidFill>
                  <a:srgbClr val="0D1B2A"/>
                </a:solidFill>
                <a:latin typeface="Georgia" pitchFamily="34" charset="0"/>
                <a:ea typeface="Georgia" pitchFamily="34" charset="-122"/>
                <a:cs typeface="Georgia" pitchFamily="34" charset="-120"/>
              </a:rPr>
              <a:t>Can a Knowledge Graph (KG) approach — inspired by ASER's eventuality-centric design — improve the quality of long-term memory retrieval for LLM coding agents (Claude Code)?</a:t>
            </a:r>
            <a:endParaRPr lang="en-US" sz="1867" dirty="0"/>
          </a:p>
        </p:txBody>
      </p:sp>
      <p:sp>
        <p:nvSpPr>
          <p:cNvPr id="6" name="Shape 4"/>
          <p:cNvSpPr/>
          <p:nvPr/>
        </p:nvSpPr>
        <p:spPr>
          <a:xfrm>
            <a:off x="487680" y="3108960"/>
            <a:ext cx="5486400" cy="3474720"/>
          </a:xfrm>
          <a:prstGeom prst="rect">
            <a:avLst/>
          </a:prstGeom>
          <a:solidFill>
            <a:srgbClr val="DAE3F3"/>
          </a:solidFill>
          <a:ln w="12700">
            <a:solidFill>
              <a:srgbClr val="156082"/>
            </a:solidFill>
            <a:prstDash val="solid"/>
          </a:ln>
        </p:spPr>
        <p:txBody>
          <a:bodyPr/>
          <a:lstStyle/>
          <a:p>
            <a:endParaRPr lang="es-MX" sz="2400"/>
          </a:p>
        </p:txBody>
      </p:sp>
      <p:sp>
        <p:nvSpPr>
          <p:cNvPr id="7" name="Shape 5"/>
          <p:cNvSpPr/>
          <p:nvPr/>
        </p:nvSpPr>
        <p:spPr>
          <a:xfrm>
            <a:off x="487680" y="3108960"/>
            <a:ext cx="5486400" cy="548640"/>
          </a:xfrm>
          <a:prstGeom prst="rect">
            <a:avLst/>
          </a:prstGeom>
          <a:solidFill>
            <a:srgbClr val="0D1B2A"/>
          </a:solidFill>
          <a:ln w="12700">
            <a:solidFill>
              <a:srgbClr val="0D1B2A"/>
            </a:solidFill>
            <a:prstDash val="solid"/>
          </a:ln>
        </p:spPr>
        <p:txBody>
          <a:bodyPr/>
          <a:lstStyle/>
          <a:p>
            <a:endParaRPr lang="es-MX" sz="2400"/>
          </a:p>
        </p:txBody>
      </p:sp>
      <p:sp>
        <p:nvSpPr>
          <p:cNvPr id="8" name="Text 6"/>
          <p:cNvSpPr/>
          <p:nvPr/>
        </p:nvSpPr>
        <p:spPr>
          <a:xfrm>
            <a:off x="487680" y="3108960"/>
            <a:ext cx="548640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What ASER is</a:t>
            </a:r>
            <a:endParaRPr lang="en-US" sz="1733" dirty="0"/>
          </a:p>
        </p:txBody>
      </p:sp>
      <p:sp>
        <p:nvSpPr>
          <p:cNvPr id="9" name="Text 7"/>
          <p:cNvSpPr/>
          <p:nvPr/>
        </p:nvSpPr>
        <p:spPr>
          <a:xfrm>
            <a:off x="670560" y="3779520"/>
            <a:ext cx="5120640" cy="2682240"/>
          </a:xfrm>
          <a:prstGeom prst="rect">
            <a:avLst/>
          </a:prstGeom>
          <a:noFill/>
          <a:ln/>
        </p:spPr>
        <p:txBody>
          <a:bodyPr wrap="square" rtlCol="0" anchor="t"/>
          <a:lstStyle/>
          <a:p>
            <a:pPr marL="457189" indent="-457189">
              <a:buSzPct val="100000"/>
              <a:buChar char="•"/>
            </a:pPr>
            <a:r>
              <a:rPr lang="en-US" sz="1400" dirty="0">
                <a:solidFill>
                  <a:srgbClr val="2E2E2E"/>
                </a:solidFill>
                <a:latin typeface="Calibri" pitchFamily="34" charset="0"/>
                <a:ea typeface="Calibri" pitchFamily="34" charset="-122"/>
                <a:cs typeface="Calibri" pitchFamily="34" charset="-120"/>
              </a:rPr>
              <a:t>ASER (Activities, States, Events, and their Relations) is a large-scale Knowledge Graph that represents eventualities — verbs, states, and events — and the typed relations between them.</a:t>
            </a:r>
          </a:p>
          <a:p>
            <a:pPr>
              <a:buSzPct val="100000"/>
            </a:pPr>
            <a:endParaRPr lang="en-US" sz="1400" dirty="0">
              <a:solidFill>
                <a:srgbClr val="2E2E2E"/>
              </a:solidFill>
              <a:latin typeface="Calibri" pitchFamily="34" charset="0"/>
              <a:ea typeface="Calibri" pitchFamily="34" charset="-122"/>
              <a:cs typeface="Calibri" pitchFamily="34" charset="-120"/>
            </a:endParaRPr>
          </a:p>
          <a:p>
            <a:pPr>
              <a:buSzPct val="100000"/>
            </a:pPr>
            <a:r>
              <a:rPr lang="en-US" sz="1400" dirty="0">
                <a:solidFill>
                  <a:srgbClr val="2E2E2E"/>
                </a:solidFill>
                <a:latin typeface="Calibri" pitchFamily="34" charset="0"/>
                <a:ea typeface="Calibri" pitchFamily="34" charset="-122"/>
                <a:cs typeface="Calibri" pitchFamily="34" charset="-120"/>
              </a:rPr>
              <a:t>          Typed relations: </a:t>
            </a:r>
          </a:p>
          <a:p>
            <a:pPr marL="1200150" lvl="2" indent="-285750">
              <a:buSzPct val="100000"/>
              <a:buFont typeface="Courier New" panose="02070309020205020404" pitchFamily="49" charset="0"/>
              <a:buChar char="o"/>
            </a:pPr>
            <a:r>
              <a:rPr lang="en-US" sz="1400" dirty="0">
                <a:solidFill>
                  <a:srgbClr val="2E2E2E"/>
                </a:solidFill>
                <a:latin typeface="Calibri" pitchFamily="34" charset="0"/>
                <a:ea typeface="Calibri" pitchFamily="34" charset="-122"/>
                <a:cs typeface="Calibri" pitchFamily="34" charset="-120"/>
              </a:rPr>
              <a:t>Cause / Result, </a:t>
            </a:r>
          </a:p>
          <a:p>
            <a:pPr marL="1200150" lvl="2" indent="-285750">
              <a:buSzPct val="100000"/>
              <a:buFont typeface="Courier New" panose="02070309020205020404" pitchFamily="49" charset="0"/>
              <a:buChar char="o"/>
            </a:pPr>
            <a:r>
              <a:rPr lang="en-US" sz="1400" dirty="0">
                <a:solidFill>
                  <a:srgbClr val="2E2E2E"/>
                </a:solidFill>
                <a:latin typeface="Calibri" pitchFamily="34" charset="0"/>
                <a:ea typeface="Calibri" pitchFamily="34" charset="-122"/>
                <a:cs typeface="Calibri" pitchFamily="34" charset="-120"/>
              </a:rPr>
              <a:t>Succession, </a:t>
            </a:r>
          </a:p>
          <a:p>
            <a:pPr marL="1200150" lvl="2" indent="-285750">
              <a:buSzPct val="100000"/>
              <a:buFont typeface="Courier New" panose="02070309020205020404" pitchFamily="49" charset="0"/>
              <a:buChar char="o"/>
            </a:pPr>
            <a:r>
              <a:rPr lang="en-US" sz="1400" dirty="0">
                <a:solidFill>
                  <a:srgbClr val="2E2E2E"/>
                </a:solidFill>
                <a:latin typeface="Calibri" pitchFamily="34" charset="0"/>
                <a:ea typeface="Calibri" pitchFamily="34" charset="-122"/>
                <a:cs typeface="Calibri" pitchFamily="34" charset="-120"/>
              </a:rPr>
              <a:t>Contrast</a:t>
            </a:r>
          </a:p>
          <a:p>
            <a:pPr lvl="2">
              <a:buSzPct val="100000"/>
            </a:pPr>
            <a:endParaRPr lang="en-US" sz="1400" dirty="0"/>
          </a:p>
          <a:p>
            <a:pPr marL="457189" indent="-457189">
              <a:buSzPct val="100000"/>
              <a:buChar char="•"/>
            </a:pPr>
            <a:r>
              <a:rPr lang="en-US" sz="1400" dirty="0">
                <a:solidFill>
                  <a:srgbClr val="2E2E2E"/>
                </a:solidFill>
                <a:latin typeface="Calibri" pitchFamily="34" charset="0"/>
                <a:ea typeface="Calibri" pitchFamily="34" charset="-122"/>
                <a:cs typeface="Calibri" pitchFamily="34" charset="-120"/>
              </a:rPr>
              <a:t>Built from 11B-token web corpora using dependency parsing + discourse connectives</a:t>
            </a:r>
            <a:endParaRPr lang="en-US" sz="1400" dirty="0"/>
          </a:p>
        </p:txBody>
      </p:sp>
      <p:sp>
        <p:nvSpPr>
          <p:cNvPr id="10" name="Shape 8"/>
          <p:cNvSpPr/>
          <p:nvPr/>
        </p:nvSpPr>
        <p:spPr>
          <a:xfrm>
            <a:off x="6217920" y="3108960"/>
            <a:ext cx="5486400" cy="3474720"/>
          </a:xfrm>
          <a:prstGeom prst="rect">
            <a:avLst/>
          </a:prstGeom>
          <a:solidFill>
            <a:srgbClr val="DAE3F3"/>
          </a:solidFill>
          <a:ln w="12700">
            <a:solidFill>
              <a:srgbClr val="156082"/>
            </a:solidFill>
            <a:prstDash val="solid"/>
          </a:ln>
        </p:spPr>
        <p:txBody>
          <a:bodyPr/>
          <a:lstStyle/>
          <a:p>
            <a:endParaRPr lang="es-MX" sz="2400"/>
          </a:p>
        </p:txBody>
      </p:sp>
      <p:sp>
        <p:nvSpPr>
          <p:cNvPr id="11" name="Shape 9"/>
          <p:cNvSpPr/>
          <p:nvPr/>
        </p:nvSpPr>
        <p:spPr>
          <a:xfrm>
            <a:off x="6217920" y="3108960"/>
            <a:ext cx="5486400" cy="548640"/>
          </a:xfrm>
          <a:prstGeom prst="rect">
            <a:avLst/>
          </a:prstGeom>
          <a:solidFill>
            <a:srgbClr val="0D1B2A"/>
          </a:solidFill>
          <a:ln w="12700">
            <a:solidFill>
              <a:srgbClr val="0D1B2A"/>
            </a:solidFill>
            <a:prstDash val="solid"/>
          </a:ln>
        </p:spPr>
        <p:txBody>
          <a:bodyPr/>
          <a:lstStyle/>
          <a:p>
            <a:endParaRPr lang="es-MX" sz="2400"/>
          </a:p>
        </p:txBody>
      </p:sp>
      <p:sp>
        <p:nvSpPr>
          <p:cNvPr id="12" name="Text 10"/>
          <p:cNvSpPr/>
          <p:nvPr/>
        </p:nvSpPr>
        <p:spPr>
          <a:xfrm>
            <a:off x="6217920" y="3108960"/>
            <a:ext cx="548640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What we propose</a:t>
            </a:r>
            <a:endParaRPr lang="en-US" sz="1733" dirty="0"/>
          </a:p>
        </p:txBody>
      </p:sp>
      <p:sp>
        <p:nvSpPr>
          <p:cNvPr id="13" name="Text 11"/>
          <p:cNvSpPr/>
          <p:nvPr/>
        </p:nvSpPr>
        <p:spPr>
          <a:xfrm>
            <a:off x="6400800" y="3779520"/>
            <a:ext cx="5120640" cy="2682240"/>
          </a:xfrm>
          <a:prstGeom prst="rect">
            <a:avLst/>
          </a:prstGeom>
          <a:noFill/>
          <a:ln/>
        </p:spPr>
        <p:txBody>
          <a:bodyPr wrap="square" rtlCol="0" anchor="t"/>
          <a:lstStyle/>
          <a:p>
            <a:pPr marL="457189" indent="-457189">
              <a:buSzPct val="100000"/>
              <a:buChar char="•"/>
            </a:pPr>
            <a:r>
              <a:rPr lang="en-US" sz="1600" dirty="0">
                <a:solidFill>
                  <a:srgbClr val="2E2E2E"/>
                </a:solidFill>
                <a:latin typeface="Calibri" pitchFamily="34" charset="0"/>
                <a:ea typeface="Calibri" pitchFamily="34" charset="-122"/>
                <a:cs typeface="Calibri" pitchFamily="34" charset="-120"/>
              </a:rPr>
              <a:t>Apply ASER's extraction philosophy to a new domain: personal work history encoded in Claude Code session transcripts.</a:t>
            </a:r>
          </a:p>
        </p:txBody>
      </p:sp>
      <p:graphicFrame>
        <p:nvGraphicFramePr>
          <p:cNvPr id="14" name="Table 13">
            <a:extLst>
              <a:ext uri="{FF2B5EF4-FFF2-40B4-BE49-F238E27FC236}">
                <a16:creationId xmlns:a16="http://schemas.microsoft.com/office/drawing/2014/main" id="{66AFF709-CD12-806F-538A-99C6F6EB7ABB}"/>
              </a:ext>
            </a:extLst>
          </p:cNvPr>
          <p:cNvGraphicFramePr>
            <a:graphicFrameLocks noGrp="1"/>
          </p:cNvGraphicFramePr>
          <p:nvPr>
            <p:extLst>
              <p:ext uri="{D42A27DB-BD31-4B8C-83A1-F6EECF244321}">
                <p14:modId xmlns:p14="http://schemas.microsoft.com/office/powerpoint/2010/main" val="4110715076"/>
              </p:ext>
            </p:extLst>
          </p:nvPr>
        </p:nvGraphicFramePr>
        <p:xfrm>
          <a:off x="6217920" y="4905374"/>
          <a:ext cx="5486400" cy="1699053"/>
        </p:xfrm>
        <a:graphic>
          <a:graphicData uri="http://schemas.openxmlformats.org/drawingml/2006/table">
            <a:tbl>
              <a:tblPr firstRow="1" bandRow="1">
                <a:tableStyleId>{5940675A-B579-460E-94D1-54222C63F5DA}</a:tableStyleId>
              </a:tblPr>
              <a:tblGrid>
                <a:gridCol w="2049780">
                  <a:extLst>
                    <a:ext uri="{9D8B030D-6E8A-4147-A177-3AD203B41FA5}">
                      <a16:colId xmlns:a16="http://schemas.microsoft.com/office/drawing/2014/main" val="2653591931"/>
                    </a:ext>
                  </a:extLst>
                </a:gridCol>
                <a:gridCol w="3436620">
                  <a:extLst>
                    <a:ext uri="{9D8B030D-6E8A-4147-A177-3AD203B41FA5}">
                      <a16:colId xmlns:a16="http://schemas.microsoft.com/office/drawing/2014/main" val="1418996833"/>
                    </a:ext>
                  </a:extLst>
                </a:gridCol>
              </a:tblGrid>
              <a:tr h="393631">
                <a:tc>
                  <a:txBody>
                    <a:bodyPr/>
                    <a:lstStyle/>
                    <a:p>
                      <a:pPr algn="ctr"/>
                      <a:r>
                        <a:rPr lang="en-US" sz="1400" b="1" dirty="0">
                          <a:solidFill>
                            <a:schemeClr val="bg1"/>
                          </a:solidFill>
                          <a:latin typeface="Calibri" pitchFamily="34" charset="0"/>
                          <a:ea typeface="Calibri" pitchFamily="34" charset="-122"/>
                          <a:cs typeface="Calibri" pitchFamily="34" charset="-120"/>
                        </a:rPr>
                        <a:t>Aser Concept</a:t>
                      </a:r>
                      <a:endParaRPr lang="es-MX" sz="1400" b="1" dirty="0">
                        <a:solidFill>
                          <a:schemeClr val="bg1"/>
                        </a:solidFill>
                      </a:endParaRP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latin typeface="Calibri" pitchFamily="34" charset="0"/>
                          <a:ea typeface="Calibri" pitchFamily="34" charset="-122"/>
                          <a:cs typeface="Calibri" pitchFamily="34" charset="-120"/>
                        </a:rPr>
                        <a:t>Our Adaptation</a:t>
                      </a:r>
                      <a:endParaRPr lang="es-MX" sz="1400" b="1" dirty="0">
                        <a:solidFill>
                          <a:schemeClr val="bg1"/>
                        </a:solidFill>
                      </a:endParaRPr>
                    </a:p>
                  </a:txBody>
                  <a:tcPr>
                    <a:solidFill>
                      <a:schemeClr val="tx2"/>
                    </a:solidFill>
                  </a:tcPr>
                </a:tc>
                <a:extLst>
                  <a:ext uri="{0D108BD9-81ED-4DB2-BD59-A6C34878D82A}">
                    <a16:rowId xmlns:a16="http://schemas.microsoft.com/office/drawing/2014/main" val="1474554881"/>
                  </a:ext>
                </a:extLst>
              </a:tr>
              <a:tr h="393631">
                <a:tc>
                  <a:txBody>
                    <a:bodyPr/>
                    <a:lstStyle/>
                    <a:p>
                      <a:r>
                        <a:rPr lang="en-US" sz="1400" dirty="0">
                          <a:solidFill>
                            <a:srgbClr val="2E2E2E"/>
                          </a:solidFill>
                          <a:latin typeface="Calibri" pitchFamily="34" charset="0"/>
                          <a:ea typeface="Calibri" pitchFamily="34" charset="-122"/>
                          <a:cs typeface="Calibri" pitchFamily="34" charset="-120"/>
                        </a:rPr>
                        <a:t>Eventuality</a:t>
                      </a:r>
                    </a:p>
                  </a:txBody>
                  <a:tcPr/>
                </a:tc>
                <a:tc>
                  <a:txBody>
                    <a:bodyPr/>
                    <a:lstStyle/>
                    <a:p>
                      <a:r>
                        <a:rPr lang="en-US" sz="1400" dirty="0">
                          <a:solidFill>
                            <a:srgbClr val="2E2E2E"/>
                          </a:solidFill>
                          <a:latin typeface="Calibri" pitchFamily="34" charset="0"/>
                          <a:ea typeface="Calibri" pitchFamily="34" charset="-122"/>
                          <a:cs typeface="Calibri" pitchFamily="34" charset="-120"/>
                        </a:rPr>
                        <a:t>“Design decisions”, “Failures”, “Adoption”</a:t>
                      </a:r>
                      <a:endParaRPr lang="es-MX" sz="1400" dirty="0"/>
                    </a:p>
                  </a:txBody>
                  <a:tcPr/>
                </a:tc>
                <a:extLst>
                  <a:ext uri="{0D108BD9-81ED-4DB2-BD59-A6C34878D82A}">
                    <a16:rowId xmlns:a16="http://schemas.microsoft.com/office/drawing/2014/main" val="1787141932"/>
                  </a:ext>
                </a:extLst>
              </a:tr>
              <a:tr h="393631">
                <a:tc>
                  <a:txBody>
                    <a:bodyPr/>
                    <a:lstStyle/>
                    <a:p>
                      <a:r>
                        <a:rPr lang="en-US" sz="1400" dirty="0"/>
                        <a:t>Cause / Result</a:t>
                      </a:r>
                      <a:endParaRPr lang="es-MX" sz="1400" dirty="0"/>
                    </a:p>
                  </a:txBody>
                  <a:tcPr/>
                </a:tc>
                <a:tc>
                  <a:txBody>
                    <a:bodyPr/>
                    <a:lstStyle/>
                    <a:p>
                      <a:r>
                        <a:rPr lang="en-US" sz="1400" dirty="0">
                          <a:solidFill>
                            <a:srgbClr val="2E2E2E"/>
                          </a:solidFill>
                          <a:latin typeface="Calibri" pitchFamily="34" charset="0"/>
                          <a:ea typeface="Calibri" pitchFamily="34" charset="-122"/>
                          <a:cs typeface="Calibri" pitchFamily="34" charset="-120"/>
                        </a:rPr>
                        <a:t>"Because we needed X → we chose Y"</a:t>
                      </a:r>
                      <a:endParaRPr lang="es-MX" sz="1400" dirty="0"/>
                    </a:p>
                  </a:txBody>
                  <a:tcPr/>
                </a:tc>
                <a:extLst>
                  <a:ext uri="{0D108BD9-81ED-4DB2-BD59-A6C34878D82A}">
                    <a16:rowId xmlns:a16="http://schemas.microsoft.com/office/drawing/2014/main" val="1913787623"/>
                  </a:ext>
                </a:extLst>
              </a:tr>
              <a:tr h="497411">
                <a:tc>
                  <a:txBody>
                    <a:bodyPr/>
                    <a:lstStyle/>
                    <a:p>
                      <a:r>
                        <a:rPr lang="en-US" sz="1400" dirty="0"/>
                        <a:t>Succession </a:t>
                      </a:r>
                      <a:endParaRPr lang="es-MX" sz="1400" dirty="0"/>
                    </a:p>
                  </a:txBody>
                  <a:tcPr/>
                </a:tc>
                <a:tc>
                  <a:txBody>
                    <a:bodyPr/>
                    <a:lstStyle/>
                    <a:p>
                      <a:r>
                        <a:rPr lang="en-US" sz="1400" dirty="0">
                          <a:solidFill>
                            <a:srgbClr val="2E2E2E"/>
                          </a:solidFill>
                          <a:latin typeface="Calibri" pitchFamily="34" charset="0"/>
                          <a:ea typeface="Calibri" pitchFamily="34" charset="-122"/>
                          <a:cs typeface="Calibri" pitchFamily="34" charset="-120"/>
                        </a:rPr>
                        <a:t>→ "Tried A last week → fixed with B this week"</a:t>
                      </a:r>
                      <a:endParaRPr lang="es-MX" sz="1400" dirty="0"/>
                    </a:p>
                  </a:txBody>
                  <a:tcPr/>
                </a:tc>
                <a:extLst>
                  <a:ext uri="{0D108BD9-81ED-4DB2-BD59-A6C34878D82A}">
                    <a16:rowId xmlns:a16="http://schemas.microsoft.com/office/drawing/2014/main" val="257981335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p:cNvSpPr/>
          <p:nvPr/>
        </p:nvSpPr>
        <p:spPr>
          <a:xfrm>
            <a:off x="365760" y="0"/>
            <a:ext cx="11460480" cy="877824"/>
          </a:xfrm>
          <a:prstGeom prst="rect">
            <a:avLst/>
          </a:prstGeom>
          <a:noFill/>
          <a:ln/>
        </p:spPr>
        <p:txBody>
          <a:bodyPr wrap="square" rtlCol="0" anchor="ctr"/>
          <a:lstStyle/>
          <a:p>
            <a:r>
              <a:rPr lang="en-US" sz="2400" b="1" dirty="0">
                <a:solidFill>
                  <a:srgbClr val="FFFFFF"/>
                </a:solidFill>
                <a:latin typeface="Georgia" pitchFamily="34" charset="0"/>
                <a:ea typeface="Georgia" pitchFamily="34" charset="-122"/>
                <a:cs typeface="Georgia" pitchFamily="34" charset="-120"/>
              </a:rPr>
              <a:t>Proposal: Deliberate Design Constraint — Zero LLM at Build Time</a:t>
            </a:r>
            <a:endParaRPr lang="en-US" sz="2400" dirty="0"/>
          </a:p>
        </p:txBody>
      </p:sp>
      <p:sp>
        <p:nvSpPr>
          <p:cNvPr id="4" name="Text 2"/>
          <p:cNvSpPr/>
          <p:nvPr/>
        </p:nvSpPr>
        <p:spPr>
          <a:xfrm>
            <a:off x="304800" y="1297305"/>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なぜLLMを使わないか？</a:t>
            </a:r>
            <a:endParaRPr lang="en-US" sz="2133" dirty="0"/>
          </a:p>
        </p:txBody>
      </p:sp>
      <p:sp>
        <p:nvSpPr>
          <p:cNvPr id="5" name="Text 3"/>
          <p:cNvSpPr/>
          <p:nvPr/>
        </p:nvSpPr>
        <p:spPr>
          <a:xfrm>
            <a:off x="304800" y="1643057"/>
            <a:ext cx="11216640" cy="219069"/>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The entire extraction pipeline (from raw transcript to Knowledge Graph) uses no LLM calls. This is not a limitation; it is a deliberate design choice, and it is shared with both sui-memory and </a:t>
            </a:r>
            <a:r>
              <a:rPr lang="en-US" sz="1733" dirty="0" err="1">
                <a:solidFill>
                  <a:srgbClr val="404040"/>
                </a:solidFill>
                <a:latin typeface="Calibri" pitchFamily="34" charset="0"/>
                <a:ea typeface="Calibri" pitchFamily="34" charset="-122"/>
                <a:cs typeface="Calibri" pitchFamily="34" charset="-120"/>
              </a:rPr>
              <a:t>claude</a:t>
            </a:r>
            <a:r>
              <a:rPr lang="en-US" sz="1733" dirty="0">
                <a:solidFill>
                  <a:srgbClr val="404040"/>
                </a:solidFill>
                <a:latin typeface="Calibri" pitchFamily="34" charset="0"/>
                <a:ea typeface="Calibri" pitchFamily="34" charset="-122"/>
                <a:cs typeface="Calibri" pitchFamily="34" charset="-120"/>
              </a:rPr>
              <a:t>-vault.</a:t>
            </a:r>
          </a:p>
        </p:txBody>
      </p:sp>
      <p:sp>
        <p:nvSpPr>
          <p:cNvPr id="6" name="Shape 4"/>
          <p:cNvSpPr/>
          <p:nvPr/>
        </p:nvSpPr>
        <p:spPr>
          <a:xfrm>
            <a:off x="304800" y="2265045"/>
            <a:ext cx="5608320" cy="1889760"/>
          </a:xfrm>
          <a:prstGeom prst="rect">
            <a:avLst/>
          </a:prstGeom>
          <a:solidFill>
            <a:srgbClr val="DAE3F3"/>
          </a:solidFill>
          <a:ln w="12700">
            <a:solidFill>
              <a:srgbClr val="156082"/>
            </a:solidFill>
            <a:prstDash val="solid"/>
          </a:ln>
        </p:spPr>
        <p:txBody>
          <a:bodyPr/>
          <a:lstStyle/>
          <a:p>
            <a:endParaRPr lang="es-MX" sz="2400"/>
          </a:p>
        </p:txBody>
      </p:sp>
      <p:sp>
        <p:nvSpPr>
          <p:cNvPr id="7" name="Shape 5"/>
          <p:cNvSpPr/>
          <p:nvPr/>
        </p:nvSpPr>
        <p:spPr>
          <a:xfrm>
            <a:off x="304800" y="2265045"/>
            <a:ext cx="5608320" cy="548640"/>
          </a:xfrm>
          <a:prstGeom prst="rect">
            <a:avLst/>
          </a:prstGeom>
          <a:solidFill>
            <a:srgbClr val="0D1B2A"/>
          </a:solidFill>
          <a:ln w="12700">
            <a:solidFill>
              <a:srgbClr val="0D1B2A"/>
            </a:solidFill>
            <a:prstDash val="solid"/>
          </a:ln>
        </p:spPr>
        <p:txBody>
          <a:bodyPr/>
          <a:lstStyle/>
          <a:p>
            <a:endParaRPr lang="es-MX" sz="2400"/>
          </a:p>
        </p:txBody>
      </p:sp>
      <p:sp>
        <p:nvSpPr>
          <p:cNvPr id="8" name="Text 6"/>
          <p:cNvSpPr/>
          <p:nvPr/>
        </p:nvSpPr>
        <p:spPr>
          <a:xfrm>
            <a:off x="304800" y="2265045"/>
            <a:ext cx="560832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Token cost</a:t>
            </a:r>
            <a:endParaRPr lang="en-US" sz="1733" dirty="0"/>
          </a:p>
        </p:txBody>
      </p:sp>
      <p:sp>
        <p:nvSpPr>
          <p:cNvPr id="9" name="Text 7"/>
          <p:cNvSpPr/>
          <p:nvPr/>
        </p:nvSpPr>
        <p:spPr>
          <a:xfrm>
            <a:off x="487680" y="2935605"/>
            <a:ext cx="5242560" cy="1097280"/>
          </a:xfrm>
          <a:prstGeom prst="rect">
            <a:avLst/>
          </a:prstGeom>
          <a:noFill/>
          <a:ln/>
        </p:spPr>
        <p:txBody>
          <a:bodyPr wrap="square" rtlCol="0" anchor="t"/>
          <a:lstStyle/>
          <a:p>
            <a:r>
              <a:rPr lang="en-US" sz="1600" dirty="0">
                <a:solidFill>
                  <a:srgbClr val="2E2E2E"/>
                </a:solidFill>
                <a:latin typeface="Calibri" pitchFamily="34" charset="0"/>
                <a:ea typeface="Calibri" pitchFamily="34" charset="-122"/>
                <a:cs typeface="Calibri" pitchFamily="34" charset="-120"/>
              </a:rPr>
              <a:t>LLM calls at storage time would make the system prohibitively expensive. Every session end or compaction event would incur a cost.</a:t>
            </a:r>
            <a:endParaRPr lang="en-US" sz="1600" dirty="0"/>
          </a:p>
        </p:txBody>
      </p:sp>
      <p:sp>
        <p:nvSpPr>
          <p:cNvPr id="10" name="Shape 8"/>
          <p:cNvSpPr/>
          <p:nvPr/>
        </p:nvSpPr>
        <p:spPr>
          <a:xfrm>
            <a:off x="6217920" y="2265045"/>
            <a:ext cx="5608320" cy="1889760"/>
          </a:xfrm>
          <a:prstGeom prst="rect">
            <a:avLst/>
          </a:prstGeom>
          <a:solidFill>
            <a:srgbClr val="DAE3F3"/>
          </a:solidFill>
          <a:ln w="12700">
            <a:solidFill>
              <a:srgbClr val="156082"/>
            </a:solidFill>
            <a:prstDash val="solid"/>
          </a:ln>
        </p:spPr>
        <p:txBody>
          <a:bodyPr/>
          <a:lstStyle/>
          <a:p>
            <a:endParaRPr lang="es-MX" sz="2400"/>
          </a:p>
        </p:txBody>
      </p:sp>
      <p:sp>
        <p:nvSpPr>
          <p:cNvPr id="11" name="Shape 9"/>
          <p:cNvSpPr/>
          <p:nvPr/>
        </p:nvSpPr>
        <p:spPr>
          <a:xfrm>
            <a:off x="6217920" y="2265045"/>
            <a:ext cx="5608320" cy="548640"/>
          </a:xfrm>
          <a:prstGeom prst="rect">
            <a:avLst/>
          </a:prstGeom>
          <a:solidFill>
            <a:srgbClr val="0D1B2A"/>
          </a:solidFill>
          <a:ln w="12700">
            <a:solidFill>
              <a:srgbClr val="0D1B2A"/>
            </a:solidFill>
            <a:prstDash val="solid"/>
          </a:ln>
        </p:spPr>
        <p:txBody>
          <a:bodyPr/>
          <a:lstStyle/>
          <a:p>
            <a:endParaRPr lang="es-MX" sz="2400"/>
          </a:p>
        </p:txBody>
      </p:sp>
      <p:sp>
        <p:nvSpPr>
          <p:cNvPr id="12" name="Text 10"/>
          <p:cNvSpPr/>
          <p:nvPr/>
        </p:nvSpPr>
        <p:spPr>
          <a:xfrm>
            <a:off x="6217920" y="2265045"/>
            <a:ext cx="560832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Latency</a:t>
            </a:r>
            <a:endParaRPr lang="en-US" sz="1733" dirty="0"/>
          </a:p>
        </p:txBody>
      </p:sp>
      <p:sp>
        <p:nvSpPr>
          <p:cNvPr id="13" name="Text 11"/>
          <p:cNvSpPr/>
          <p:nvPr/>
        </p:nvSpPr>
        <p:spPr>
          <a:xfrm>
            <a:off x="6400800" y="2935605"/>
            <a:ext cx="5242560" cy="1097280"/>
          </a:xfrm>
          <a:prstGeom prst="rect">
            <a:avLst/>
          </a:prstGeom>
          <a:noFill/>
          <a:ln/>
        </p:spPr>
        <p:txBody>
          <a:bodyPr wrap="square" rtlCol="0" anchor="t"/>
          <a:lstStyle/>
          <a:p>
            <a:r>
              <a:rPr lang="en-US" sz="1600" dirty="0">
                <a:solidFill>
                  <a:srgbClr val="2E2E2E"/>
                </a:solidFill>
                <a:latin typeface="Calibri" pitchFamily="34" charset="0"/>
                <a:ea typeface="Calibri" pitchFamily="34" charset="-122"/>
                <a:cs typeface="Calibri" pitchFamily="34" charset="-120"/>
              </a:rPr>
              <a:t>Archiving must complete quickly — before the user starts the next session. LLM-based extraction would introduce unacceptable delay.</a:t>
            </a:r>
            <a:endParaRPr lang="en-US" sz="1600" dirty="0"/>
          </a:p>
        </p:txBody>
      </p:sp>
      <p:sp>
        <p:nvSpPr>
          <p:cNvPr id="14" name="Shape 12"/>
          <p:cNvSpPr/>
          <p:nvPr/>
        </p:nvSpPr>
        <p:spPr>
          <a:xfrm>
            <a:off x="3291840" y="4447235"/>
            <a:ext cx="5608320" cy="1889760"/>
          </a:xfrm>
          <a:prstGeom prst="rect">
            <a:avLst/>
          </a:prstGeom>
          <a:solidFill>
            <a:srgbClr val="DAE3F3"/>
          </a:solidFill>
          <a:ln w="12700">
            <a:solidFill>
              <a:srgbClr val="156082"/>
            </a:solidFill>
            <a:prstDash val="solid"/>
          </a:ln>
        </p:spPr>
        <p:txBody>
          <a:bodyPr/>
          <a:lstStyle/>
          <a:p>
            <a:endParaRPr lang="es-MX" sz="2400"/>
          </a:p>
        </p:txBody>
      </p:sp>
      <p:sp>
        <p:nvSpPr>
          <p:cNvPr id="15" name="Shape 13"/>
          <p:cNvSpPr/>
          <p:nvPr/>
        </p:nvSpPr>
        <p:spPr>
          <a:xfrm>
            <a:off x="3291840" y="4447235"/>
            <a:ext cx="5608320" cy="548640"/>
          </a:xfrm>
          <a:prstGeom prst="rect">
            <a:avLst/>
          </a:prstGeom>
          <a:solidFill>
            <a:srgbClr val="0D1B2A"/>
          </a:solidFill>
          <a:ln w="12700">
            <a:solidFill>
              <a:srgbClr val="0D1B2A"/>
            </a:solidFill>
            <a:prstDash val="solid"/>
          </a:ln>
        </p:spPr>
        <p:txBody>
          <a:bodyPr/>
          <a:lstStyle/>
          <a:p>
            <a:endParaRPr lang="es-MX" sz="2400"/>
          </a:p>
        </p:txBody>
      </p:sp>
      <p:sp>
        <p:nvSpPr>
          <p:cNvPr id="16" name="Text 14"/>
          <p:cNvSpPr/>
          <p:nvPr/>
        </p:nvSpPr>
        <p:spPr>
          <a:xfrm>
            <a:off x="3291840" y="4447235"/>
            <a:ext cx="5608320" cy="548640"/>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Reliability</a:t>
            </a:r>
            <a:endParaRPr lang="en-US" sz="1733" dirty="0"/>
          </a:p>
        </p:txBody>
      </p:sp>
      <p:sp>
        <p:nvSpPr>
          <p:cNvPr id="17" name="Text 15"/>
          <p:cNvSpPr/>
          <p:nvPr/>
        </p:nvSpPr>
        <p:spPr>
          <a:xfrm>
            <a:off x="3474720" y="5117795"/>
            <a:ext cx="5242560" cy="1097280"/>
          </a:xfrm>
          <a:prstGeom prst="rect">
            <a:avLst/>
          </a:prstGeom>
          <a:noFill/>
          <a:ln/>
        </p:spPr>
        <p:txBody>
          <a:bodyPr wrap="square" rtlCol="0" anchor="t"/>
          <a:lstStyle/>
          <a:p>
            <a:r>
              <a:rPr lang="en-US" sz="1600" dirty="0">
                <a:solidFill>
                  <a:srgbClr val="2E2E2E"/>
                </a:solidFill>
                <a:latin typeface="Calibri" pitchFamily="34" charset="0"/>
                <a:ea typeface="Calibri" pitchFamily="34" charset="-122"/>
                <a:cs typeface="Calibri" pitchFamily="34" charset="-120"/>
              </a:rPr>
              <a:t>Rule-based dependency parsing with spaCy is deterministic and auditable. LLM outputs introduce variance that complicates debugging.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p:cNvSpPr/>
          <p:nvPr/>
        </p:nvSpPr>
        <p:spPr>
          <a:xfrm>
            <a:off x="365760" y="0"/>
            <a:ext cx="1146048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Proposal: System Architecture</a:t>
            </a:r>
            <a:endParaRPr lang="en-US" sz="2933" dirty="0"/>
          </a:p>
        </p:txBody>
      </p:sp>
      <p:sp>
        <p:nvSpPr>
          <p:cNvPr id="4" name="Text 2"/>
          <p:cNvSpPr/>
          <p:nvPr/>
        </p:nvSpPr>
        <p:spPr>
          <a:xfrm>
            <a:off x="487680" y="1287780"/>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パイプライン概要</a:t>
            </a:r>
            <a:endParaRPr lang="en-US" sz="2133" dirty="0"/>
          </a:p>
        </p:txBody>
      </p:sp>
      <p:sp>
        <p:nvSpPr>
          <p:cNvPr id="5" name="Text 3"/>
          <p:cNvSpPr/>
          <p:nvPr/>
        </p:nvSpPr>
        <p:spPr>
          <a:xfrm>
            <a:off x="487680" y="1714500"/>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The pipeline transforms raw session transcripts into a </a:t>
            </a:r>
            <a:r>
              <a:rPr lang="en-US" sz="1733" dirty="0" err="1">
                <a:solidFill>
                  <a:srgbClr val="404040"/>
                </a:solidFill>
                <a:latin typeface="Calibri" pitchFamily="34" charset="0"/>
                <a:ea typeface="Calibri" pitchFamily="34" charset="-122"/>
                <a:cs typeface="Calibri" pitchFamily="34" charset="-120"/>
              </a:rPr>
              <a:t>queryable</a:t>
            </a:r>
            <a:r>
              <a:rPr lang="en-US" sz="1733" dirty="0">
                <a:solidFill>
                  <a:srgbClr val="404040"/>
                </a:solidFill>
                <a:latin typeface="Calibri" pitchFamily="34" charset="0"/>
                <a:ea typeface="Calibri" pitchFamily="34" charset="-122"/>
                <a:cs typeface="Calibri" pitchFamily="34" charset="-120"/>
              </a:rPr>
              <a:t> Knowledge Graph through six stages, none of which require an LLM call. Discourse connectives in the text serve as signals for edge type.</a:t>
            </a:r>
          </a:p>
        </p:txBody>
      </p:sp>
      <p:sp>
        <p:nvSpPr>
          <p:cNvPr id="6" name="Shape 4"/>
          <p:cNvSpPr/>
          <p:nvPr/>
        </p:nvSpPr>
        <p:spPr>
          <a:xfrm>
            <a:off x="487680" y="2255520"/>
            <a:ext cx="3535680" cy="1609344"/>
          </a:xfrm>
          <a:prstGeom prst="rect">
            <a:avLst/>
          </a:prstGeom>
          <a:solidFill>
            <a:srgbClr val="E8F0F8"/>
          </a:solidFill>
          <a:ln w="12700">
            <a:solidFill>
              <a:srgbClr val="0D1B2A"/>
            </a:solidFill>
            <a:prstDash val="solid"/>
          </a:ln>
        </p:spPr>
        <p:txBody>
          <a:bodyPr/>
          <a:lstStyle/>
          <a:p>
            <a:endParaRPr lang="es-MX" sz="2400"/>
          </a:p>
        </p:txBody>
      </p:sp>
      <p:sp>
        <p:nvSpPr>
          <p:cNvPr id="7" name="Shape 5"/>
          <p:cNvSpPr/>
          <p:nvPr/>
        </p:nvSpPr>
        <p:spPr>
          <a:xfrm>
            <a:off x="487680" y="2255520"/>
            <a:ext cx="3535680" cy="390144"/>
          </a:xfrm>
          <a:prstGeom prst="rect">
            <a:avLst/>
          </a:prstGeom>
          <a:solidFill>
            <a:srgbClr val="0D1B2A"/>
          </a:solidFill>
          <a:ln w="12700">
            <a:solidFill>
              <a:srgbClr val="0D1B2A"/>
            </a:solidFill>
            <a:prstDash val="solid"/>
          </a:ln>
        </p:spPr>
        <p:txBody>
          <a:bodyPr/>
          <a:lstStyle/>
          <a:p>
            <a:endParaRPr lang="es-MX" sz="2400"/>
          </a:p>
        </p:txBody>
      </p:sp>
      <p:sp>
        <p:nvSpPr>
          <p:cNvPr id="8" name="Text 6"/>
          <p:cNvSpPr/>
          <p:nvPr/>
        </p:nvSpPr>
        <p:spPr>
          <a:xfrm>
            <a:off x="487680" y="2255520"/>
            <a:ext cx="3535680" cy="390144"/>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0</a:t>
            </a:r>
            <a:endParaRPr lang="en-US" sz="1333" dirty="0"/>
          </a:p>
        </p:txBody>
      </p:sp>
      <p:sp>
        <p:nvSpPr>
          <p:cNvPr id="9" name="Text 7"/>
          <p:cNvSpPr/>
          <p:nvPr/>
        </p:nvSpPr>
        <p:spPr>
          <a:xfrm>
            <a:off x="609600" y="3072765"/>
            <a:ext cx="3291840" cy="0"/>
          </a:xfrm>
          <a:prstGeom prst="rect">
            <a:avLst/>
          </a:prstGeom>
          <a:noFill/>
          <a:ln/>
        </p:spPr>
        <p:txBody>
          <a:bodyPr wrap="square" rtlCol="0" anchor="ctr"/>
          <a:lstStyle/>
          <a:p>
            <a:pPr algn="ctr"/>
            <a:r>
              <a:rPr lang="en-US" sz="1600" b="1" dirty="0">
                <a:solidFill>
                  <a:srgbClr val="2E2E2E"/>
                </a:solidFill>
                <a:latin typeface="Calibri" pitchFamily="34" charset="0"/>
                <a:ea typeface="Calibri" pitchFamily="34" charset="-122"/>
                <a:cs typeface="Calibri" pitchFamily="34" charset="-120"/>
              </a:rPr>
              <a:t>Claude Code</a:t>
            </a:r>
            <a:endParaRPr lang="en-US" sz="1600" dirty="0"/>
          </a:p>
          <a:p>
            <a:pPr algn="ctr"/>
            <a:r>
              <a:rPr lang="en-US" sz="1600" b="1" dirty="0">
                <a:solidFill>
                  <a:srgbClr val="2E2E2E"/>
                </a:solidFill>
                <a:latin typeface="Calibri" pitchFamily="34" charset="0"/>
                <a:ea typeface="Calibri" pitchFamily="34" charset="-122"/>
                <a:cs typeface="Calibri" pitchFamily="34" charset="-120"/>
              </a:rPr>
              <a:t>Transcript (.jsonl)</a:t>
            </a:r>
            <a:endParaRPr lang="en-US" sz="1600" dirty="0"/>
          </a:p>
        </p:txBody>
      </p:sp>
      <p:sp>
        <p:nvSpPr>
          <p:cNvPr id="10" name="Text 8"/>
          <p:cNvSpPr/>
          <p:nvPr/>
        </p:nvSpPr>
        <p:spPr>
          <a:xfrm>
            <a:off x="609600" y="3535680"/>
            <a:ext cx="3291840" cy="0"/>
          </a:xfrm>
          <a:prstGeom prst="rect">
            <a:avLst/>
          </a:prstGeom>
          <a:noFill/>
          <a:ln/>
        </p:spPr>
        <p:txBody>
          <a:bodyPr wrap="square" rtlCol="0" anchor="ctr"/>
          <a:lstStyle/>
          <a:p>
            <a:pPr algn="ctr"/>
            <a:r>
              <a:rPr lang="en-US" sz="1200" i="1" dirty="0">
                <a:solidFill>
                  <a:srgbClr val="666666"/>
                </a:solidFill>
                <a:latin typeface="Calibri" pitchFamily="34" charset="0"/>
                <a:ea typeface="Calibri" pitchFamily="34" charset="-122"/>
                <a:cs typeface="Calibri" pitchFamily="34" charset="-120"/>
              </a:rPr>
              <a:t>Input</a:t>
            </a:r>
            <a:endParaRPr lang="en-US" sz="1200" dirty="0"/>
          </a:p>
        </p:txBody>
      </p:sp>
      <p:sp>
        <p:nvSpPr>
          <p:cNvPr id="11" name="Text 9"/>
          <p:cNvSpPr/>
          <p:nvPr/>
        </p:nvSpPr>
        <p:spPr>
          <a:xfrm>
            <a:off x="4023360" y="2840736"/>
            <a:ext cx="304800" cy="0"/>
          </a:xfrm>
          <a:prstGeom prst="rect">
            <a:avLst/>
          </a:prstGeom>
          <a:noFill/>
          <a:ln/>
        </p:spPr>
        <p:txBody>
          <a:bodyPr wrap="square" rtlCol="0" anchor="ctr"/>
          <a:lstStyle/>
          <a:p>
            <a:pPr algn="ctr"/>
            <a:r>
              <a:rPr lang="en-US" sz="2133" dirty="0">
                <a:solidFill>
                  <a:srgbClr val="666666"/>
                </a:solidFill>
                <a:latin typeface="Calibri" pitchFamily="34" charset="0"/>
                <a:ea typeface="Calibri" pitchFamily="34" charset="-122"/>
                <a:cs typeface="Calibri" pitchFamily="34" charset="-120"/>
              </a:rPr>
              <a:t>→</a:t>
            </a:r>
            <a:endParaRPr lang="en-US" sz="2133" dirty="0"/>
          </a:p>
        </p:txBody>
      </p:sp>
      <p:sp>
        <p:nvSpPr>
          <p:cNvPr id="12" name="Shape 10"/>
          <p:cNvSpPr/>
          <p:nvPr/>
        </p:nvSpPr>
        <p:spPr>
          <a:xfrm>
            <a:off x="4328160" y="2255520"/>
            <a:ext cx="3535680" cy="1609344"/>
          </a:xfrm>
          <a:prstGeom prst="rect">
            <a:avLst/>
          </a:prstGeom>
          <a:solidFill>
            <a:srgbClr val="DAE3F3"/>
          </a:solidFill>
          <a:ln w="12700">
            <a:solidFill>
              <a:srgbClr val="0D1B2A"/>
            </a:solidFill>
            <a:prstDash val="solid"/>
          </a:ln>
        </p:spPr>
        <p:txBody>
          <a:bodyPr/>
          <a:lstStyle/>
          <a:p>
            <a:endParaRPr lang="es-MX" sz="2400"/>
          </a:p>
        </p:txBody>
      </p:sp>
      <p:sp>
        <p:nvSpPr>
          <p:cNvPr id="13" name="Shape 11"/>
          <p:cNvSpPr/>
          <p:nvPr/>
        </p:nvSpPr>
        <p:spPr>
          <a:xfrm>
            <a:off x="4328160" y="2255520"/>
            <a:ext cx="3535680" cy="390144"/>
          </a:xfrm>
          <a:prstGeom prst="rect">
            <a:avLst/>
          </a:prstGeom>
          <a:solidFill>
            <a:srgbClr val="0D1B2A"/>
          </a:solidFill>
          <a:ln w="12700">
            <a:solidFill>
              <a:srgbClr val="0D1B2A"/>
            </a:solidFill>
            <a:prstDash val="solid"/>
          </a:ln>
        </p:spPr>
        <p:txBody>
          <a:bodyPr/>
          <a:lstStyle/>
          <a:p>
            <a:endParaRPr lang="es-MX" sz="2400"/>
          </a:p>
        </p:txBody>
      </p:sp>
      <p:sp>
        <p:nvSpPr>
          <p:cNvPr id="14" name="Text 12"/>
          <p:cNvSpPr/>
          <p:nvPr/>
        </p:nvSpPr>
        <p:spPr>
          <a:xfrm>
            <a:off x="4328160" y="2255520"/>
            <a:ext cx="3535680" cy="390144"/>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1</a:t>
            </a:r>
            <a:endParaRPr lang="en-US" sz="1333" dirty="0"/>
          </a:p>
        </p:txBody>
      </p:sp>
      <p:sp>
        <p:nvSpPr>
          <p:cNvPr id="15" name="Text 13"/>
          <p:cNvSpPr/>
          <p:nvPr/>
        </p:nvSpPr>
        <p:spPr>
          <a:xfrm>
            <a:off x="4450080" y="3072765"/>
            <a:ext cx="3291840" cy="0"/>
          </a:xfrm>
          <a:prstGeom prst="rect">
            <a:avLst/>
          </a:prstGeom>
          <a:noFill/>
          <a:ln/>
        </p:spPr>
        <p:txBody>
          <a:bodyPr wrap="square" rtlCol="0" anchor="ctr"/>
          <a:lstStyle/>
          <a:p>
            <a:pPr algn="ctr"/>
            <a:r>
              <a:rPr lang="en-US" sz="1600" b="1" dirty="0">
                <a:solidFill>
                  <a:srgbClr val="2E2E2E"/>
                </a:solidFill>
                <a:latin typeface="Calibri" pitchFamily="34" charset="0"/>
                <a:ea typeface="Calibri" pitchFamily="34" charset="-122"/>
                <a:cs typeface="Calibri" pitchFamily="34" charset="-120"/>
              </a:rPr>
              <a:t>Dependency</a:t>
            </a:r>
            <a:endParaRPr lang="en-US" sz="1600" dirty="0"/>
          </a:p>
          <a:p>
            <a:pPr algn="ctr"/>
            <a:r>
              <a:rPr lang="en-US" sz="1600" b="1" dirty="0">
                <a:solidFill>
                  <a:srgbClr val="2E2E2E"/>
                </a:solidFill>
                <a:latin typeface="Calibri" pitchFamily="34" charset="0"/>
                <a:ea typeface="Calibri" pitchFamily="34" charset="-122"/>
                <a:cs typeface="Calibri" pitchFamily="34" charset="-120"/>
              </a:rPr>
              <a:t>Parsing (spaCy)</a:t>
            </a:r>
            <a:endParaRPr lang="en-US" sz="1600" dirty="0"/>
          </a:p>
        </p:txBody>
      </p:sp>
      <p:sp>
        <p:nvSpPr>
          <p:cNvPr id="16" name="Text 14"/>
          <p:cNvSpPr/>
          <p:nvPr/>
        </p:nvSpPr>
        <p:spPr>
          <a:xfrm>
            <a:off x="4450080" y="3535680"/>
            <a:ext cx="3291840" cy="0"/>
          </a:xfrm>
          <a:prstGeom prst="rect">
            <a:avLst/>
          </a:prstGeom>
          <a:noFill/>
          <a:ln/>
        </p:spPr>
        <p:txBody>
          <a:bodyPr wrap="square" rtlCol="0" anchor="ctr"/>
          <a:lstStyle/>
          <a:p>
            <a:pPr algn="ctr"/>
            <a:r>
              <a:rPr lang="en-US" sz="1200" i="1" dirty="0">
                <a:solidFill>
                  <a:srgbClr val="666666"/>
                </a:solidFill>
                <a:latin typeface="Calibri" pitchFamily="34" charset="0"/>
                <a:ea typeface="Calibri" pitchFamily="34" charset="-122"/>
                <a:cs typeface="Calibri" pitchFamily="34" charset="-120"/>
              </a:rPr>
              <a:t>Rule-based</a:t>
            </a:r>
            <a:endParaRPr lang="en-US" sz="1200" dirty="0"/>
          </a:p>
        </p:txBody>
      </p:sp>
      <p:sp>
        <p:nvSpPr>
          <p:cNvPr id="17" name="Text 15"/>
          <p:cNvSpPr/>
          <p:nvPr/>
        </p:nvSpPr>
        <p:spPr>
          <a:xfrm>
            <a:off x="7863840" y="2840736"/>
            <a:ext cx="304800" cy="0"/>
          </a:xfrm>
          <a:prstGeom prst="rect">
            <a:avLst/>
          </a:prstGeom>
          <a:noFill/>
          <a:ln/>
        </p:spPr>
        <p:txBody>
          <a:bodyPr wrap="square" rtlCol="0" anchor="ctr"/>
          <a:lstStyle/>
          <a:p>
            <a:pPr algn="ctr"/>
            <a:r>
              <a:rPr lang="en-US" sz="2133" dirty="0">
                <a:solidFill>
                  <a:srgbClr val="666666"/>
                </a:solidFill>
                <a:latin typeface="Calibri" pitchFamily="34" charset="0"/>
                <a:ea typeface="Calibri" pitchFamily="34" charset="-122"/>
                <a:cs typeface="Calibri" pitchFamily="34" charset="-120"/>
              </a:rPr>
              <a:t>→</a:t>
            </a:r>
            <a:endParaRPr lang="en-US" sz="2133" dirty="0"/>
          </a:p>
        </p:txBody>
      </p:sp>
      <p:sp>
        <p:nvSpPr>
          <p:cNvPr id="18" name="Shape 16"/>
          <p:cNvSpPr/>
          <p:nvPr/>
        </p:nvSpPr>
        <p:spPr>
          <a:xfrm>
            <a:off x="8168640" y="2255520"/>
            <a:ext cx="3535680" cy="1609344"/>
          </a:xfrm>
          <a:prstGeom prst="rect">
            <a:avLst/>
          </a:prstGeom>
          <a:solidFill>
            <a:srgbClr val="DAE3F3"/>
          </a:solidFill>
          <a:ln w="12700">
            <a:solidFill>
              <a:srgbClr val="0D1B2A"/>
            </a:solidFill>
            <a:prstDash val="solid"/>
          </a:ln>
        </p:spPr>
        <p:txBody>
          <a:bodyPr/>
          <a:lstStyle/>
          <a:p>
            <a:endParaRPr lang="es-MX" sz="2400"/>
          </a:p>
        </p:txBody>
      </p:sp>
      <p:sp>
        <p:nvSpPr>
          <p:cNvPr id="19" name="Shape 17"/>
          <p:cNvSpPr/>
          <p:nvPr/>
        </p:nvSpPr>
        <p:spPr>
          <a:xfrm>
            <a:off x="8168640" y="2255520"/>
            <a:ext cx="3535680" cy="390144"/>
          </a:xfrm>
          <a:prstGeom prst="rect">
            <a:avLst/>
          </a:prstGeom>
          <a:solidFill>
            <a:srgbClr val="0D1B2A"/>
          </a:solidFill>
          <a:ln w="12700">
            <a:solidFill>
              <a:srgbClr val="0D1B2A"/>
            </a:solidFill>
            <a:prstDash val="solid"/>
          </a:ln>
        </p:spPr>
        <p:txBody>
          <a:bodyPr/>
          <a:lstStyle/>
          <a:p>
            <a:endParaRPr lang="es-MX" sz="2400"/>
          </a:p>
        </p:txBody>
      </p:sp>
      <p:sp>
        <p:nvSpPr>
          <p:cNvPr id="20" name="Text 18"/>
          <p:cNvSpPr/>
          <p:nvPr/>
        </p:nvSpPr>
        <p:spPr>
          <a:xfrm>
            <a:off x="8168640" y="2255520"/>
            <a:ext cx="3535680" cy="390144"/>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2</a:t>
            </a:r>
            <a:endParaRPr lang="en-US" sz="1333" dirty="0"/>
          </a:p>
        </p:txBody>
      </p:sp>
      <p:sp>
        <p:nvSpPr>
          <p:cNvPr id="21" name="Text 19"/>
          <p:cNvSpPr/>
          <p:nvPr/>
        </p:nvSpPr>
        <p:spPr>
          <a:xfrm>
            <a:off x="8290560" y="3072765"/>
            <a:ext cx="3291840" cy="0"/>
          </a:xfrm>
          <a:prstGeom prst="rect">
            <a:avLst/>
          </a:prstGeom>
          <a:noFill/>
          <a:ln/>
        </p:spPr>
        <p:txBody>
          <a:bodyPr wrap="square" rtlCol="0" anchor="ctr"/>
          <a:lstStyle/>
          <a:p>
            <a:pPr algn="ctr"/>
            <a:r>
              <a:rPr lang="en-US" sz="1600" b="1" dirty="0">
                <a:solidFill>
                  <a:srgbClr val="2E2E2E"/>
                </a:solidFill>
                <a:latin typeface="Calibri" pitchFamily="34" charset="0"/>
                <a:ea typeface="Calibri" pitchFamily="34" charset="-122"/>
                <a:cs typeface="Calibri" pitchFamily="34" charset="-120"/>
              </a:rPr>
              <a:t>Eventuality</a:t>
            </a:r>
            <a:endParaRPr lang="en-US" sz="1600" dirty="0"/>
          </a:p>
          <a:p>
            <a:pPr algn="ctr"/>
            <a:r>
              <a:rPr lang="en-US" sz="1600" b="1" dirty="0">
                <a:solidFill>
                  <a:srgbClr val="2E2E2E"/>
                </a:solidFill>
                <a:latin typeface="Calibri" pitchFamily="34" charset="0"/>
                <a:ea typeface="Calibri" pitchFamily="34" charset="-122"/>
                <a:cs typeface="Calibri" pitchFamily="34" charset="-120"/>
              </a:rPr>
              <a:t>Extraction</a:t>
            </a:r>
            <a:endParaRPr lang="en-US" sz="1600" dirty="0"/>
          </a:p>
        </p:txBody>
      </p:sp>
      <p:sp>
        <p:nvSpPr>
          <p:cNvPr id="22" name="Text 20"/>
          <p:cNvSpPr/>
          <p:nvPr/>
        </p:nvSpPr>
        <p:spPr>
          <a:xfrm>
            <a:off x="8290560" y="3535680"/>
            <a:ext cx="3291840" cy="0"/>
          </a:xfrm>
          <a:prstGeom prst="rect">
            <a:avLst/>
          </a:prstGeom>
          <a:noFill/>
          <a:ln/>
        </p:spPr>
        <p:txBody>
          <a:bodyPr wrap="square" rtlCol="0" anchor="ctr"/>
          <a:lstStyle/>
          <a:p>
            <a:pPr algn="ctr"/>
            <a:r>
              <a:rPr lang="en-US" sz="1200" i="1" dirty="0">
                <a:solidFill>
                  <a:srgbClr val="666666"/>
                </a:solidFill>
                <a:latin typeface="Calibri" pitchFamily="34" charset="0"/>
                <a:ea typeface="Calibri" pitchFamily="34" charset="-122"/>
                <a:cs typeface="Calibri" pitchFamily="34" charset="-120"/>
              </a:rPr>
              <a:t>Verb-centric patterns</a:t>
            </a:r>
            <a:endParaRPr lang="en-US" sz="1200" dirty="0"/>
          </a:p>
        </p:txBody>
      </p:sp>
      <p:sp>
        <p:nvSpPr>
          <p:cNvPr id="24" name="Shape 22"/>
          <p:cNvSpPr/>
          <p:nvPr/>
        </p:nvSpPr>
        <p:spPr>
          <a:xfrm>
            <a:off x="487680" y="4303776"/>
            <a:ext cx="3535680" cy="1609344"/>
          </a:xfrm>
          <a:prstGeom prst="rect">
            <a:avLst/>
          </a:prstGeom>
          <a:solidFill>
            <a:srgbClr val="DAE3F3"/>
          </a:solidFill>
          <a:ln w="12700">
            <a:solidFill>
              <a:srgbClr val="0D1B2A"/>
            </a:solidFill>
            <a:prstDash val="solid"/>
          </a:ln>
        </p:spPr>
        <p:txBody>
          <a:bodyPr/>
          <a:lstStyle/>
          <a:p>
            <a:endParaRPr lang="es-MX" sz="2400"/>
          </a:p>
        </p:txBody>
      </p:sp>
      <p:sp>
        <p:nvSpPr>
          <p:cNvPr id="25" name="Shape 23"/>
          <p:cNvSpPr/>
          <p:nvPr/>
        </p:nvSpPr>
        <p:spPr>
          <a:xfrm>
            <a:off x="487680" y="4303776"/>
            <a:ext cx="3535680" cy="390144"/>
          </a:xfrm>
          <a:prstGeom prst="rect">
            <a:avLst/>
          </a:prstGeom>
          <a:solidFill>
            <a:srgbClr val="0D1B2A"/>
          </a:solidFill>
          <a:ln w="12700">
            <a:solidFill>
              <a:srgbClr val="0D1B2A"/>
            </a:solidFill>
            <a:prstDash val="solid"/>
          </a:ln>
        </p:spPr>
        <p:txBody>
          <a:bodyPr/>
          <a:lstStyle/>
          <a:p>
            <a:endParaRPr lang="es-MX" sz="2400"/>
          </a:p>
        </p:txBody>
      </p:sp>
      <p:sp>
        <p:nvSpPr>
          <p:cNvPr id="26" name="Text 24"/>
          <p:cNvSpPr/>
          <p:nvPr/>
        </p:nvSpPr>
        <p:spPr>
          <a:xfrm>
            <a:off x="487680" y="4303776"/>
            <a:ext cx="3535680" cy="390144"/>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3</a:t>
            </a:r>
            <a:endParaRPr lang="en-US" sz="1333" dirty="0"/>
          </a:p>
        </p:txBody>
      </p:sp>
      <p:sp>
        <p:nvSpPr>
          <p:cNvPr id="27" name="Text 25"/>
          <p:cNvSpPr/>
          <p:nvPr/>
        </p:nvSpPr>
        <p:spPr>
          <a:xfrm>
            <a:off x="609600" y="5121021"/>
            <a:ext cx="3291840" cy="0"/>
          </a:xfrm>
          <a:prstGeom prst="rect">
            <a:avLst/>
          </a:prstGeom>
          <a:noFill/>
          <a:ln/>
        </p:spPr>
        <p:txBody>
          <a:bodyPr wrap="square" rtlCol="0" anchor="ctr"/>
          <a:lstStyle/>
          <a:p>
            <a:pPr algn="ctr"/>
            <a:r>
              <a:rPr lang="en-US" sz="1600" b="1" dirty="0">
                <a:solidFill>
                  <a:srgbClr val="2E2E2E"/>
                </a:solidFill>
                <a:latin typeface="Calibri" pitchFamily="34" charset="0"/>
                <a:ea typeface="Calibri" pitchFamily="34" charset="-122"/>
                <a:cs typeface="Calibri" pitchFamily="34" charset="-120"/>
              </a:rPr>
              <a:t>Relation</a:t>
            </a:r>
            <a:endParaRPr lang="en-US" sz="1600" dirty="0"/>
          </a:p>
          <a:p>
            <a:pPr algn="ctr"/>
            <a:r>
              <a:rPr lang="en-US" sz="1600" b="1" dirty="0">
                <a:solidFill>
                  <a:srgbClr val="2E2E2E"/>
                </a:solidFill>
                <a:latin typeface="Calibri" pitchFamily="34" charset="0"/>
                <a:ea typeface="Calibri" pitchFamily="34" charset="-122"/>
                <a:cs typeface="Calibri" pitchFamily="34" charset="-120"/>
              </a:rPr>
              <a:t>Extraction</a:t>
            </a:r>
            <a:endParaRPr lang="en-US" sz="1600" dirty="0"/>
          </a:p>
        </p:txBody>
      </p:sp>
      <p:sp>
        <p:nvSpPr>
          <p:cNvPr id="28" name="Text 26"/>
          <p:cNvSpPr/>
          <p:nvPr/>
        </p:nvSpPr>
        <p:spPr>
          <a:xfrm>
            <a:off x="609600" y="5583936"/>
            <a:ext cx="3291840" cy="0"/>
          </a:xfrm>
          <a:prstGeom prst="rect">
            <a:avLst/>
          </a:prstGeom>
          <a:noFill/>
          <a:ln/>
        </p:spPr>
        <p:txBody>
          <a:bodyPr wrap="square" rtlCol="0" anchor="ctr"/>
          <a:lstStyle/>
          <a:p>
            <a:pPr algn="ctr"/>
            <a:r>
              <a:rPr lang="en-US" sz="1200" i="1" dirty="0">
                <a:solidFill>
                  <a:srgbClr val="666666"/>
                </a:solidFill>
                <a:latin typeface="Calibri" pitchFamily="34" charset="0"/>
                <a:ea typeface="Calibri" pitchFamily="34" charset="-122"/>
                <a:cs typeface="Calibri" pitchFamily="34" charset="-120"/>
              </a:rPr>
              <a:t>Connective matching</a:t>
            </a:r>
            <a:endParaRPr lang="en-US" sz="1200" dirty="0"/>
          </a:p>
        </p:txBody>
      </p:sp>
      <p:sp>
        <p:nvSpPr>
          <p:cNvPr id="29" name="Text 27"/>
          <p:cNvSpPr/>
          <p:nvPr/>
        </p:nvSpPr>
        <p:spPr>
          <a:xfrm>
            <a:off x="4023360" y="4888992"/>
            <a:ext cx="304800" cy="0"/>
          </a:xfrm>
          <a:prstGeom prst="rect">
            <a:avLst/>
          </a:prstGeom>
          <a:noFill/>
          <a:ln/>
        </p:spPr>
        <p:txBody>
          <a:bodyPr wrap="square" rtlCol="0" anchor="ctr"/>
          <a:lstStyle/>
          <a:p>
            <a:pPr algn="ctr"/>
            <a:r>
              <a:rPr lang="en-US" sz="2133" dirty="0">
                <a:solidFill>
                  <a:srgbClr val="666666"/>
                </a:solidFill>
                <a:latin typeface="Calibri" pitchFamily="34" charset="0"/>
                <a:ea typeface="Calibri" pitchFamily="34" charset="-122"/>
                <a:cs typeface="Calibri" pitchFamily="34" charset="-120"/>
              </a:rPr>
              <a:t>→</a:t>
            </a:r>
            <a:endParaRPr lang="en-US" sz="2133" dirty="0"/>
          </a:p>
        </p:txBody>
      </p:sp>
      <p:sp>
        <p:nvSpPr>
          <p:cNvPr id="30" name="Shape 28"/>
          <p:cNvSpPr/>
          <p:nvPr/>
        </p:nvSpPr>
        <p:spPr>
          <a:xfrm>
            <a:off x="4328160" y="4303776"/>
            <a:ext cx="3535680" cy="1609344"/>
          </a:xfrm>
          <a:prstGeom prst="rect">
            <a:avLst/>
          </a:prstGeom>
          <a:solidFill>
            <a:srgbClr val="DAE3F3"/>
          </a:solidFill>
          <a:ln w="12700">
            <a:solidFill>
              <a:srgbClr val="0D1B2A"/>
            </a:solidFill>
            <a:prstDash val="solid"/>
          </a:ln>
        </p:spPr>
        <p:txBody>
          <a:bodyPr/>
          <a:lstStyle/>
          <a:p>
            <a:endParaRPr lang="es-MX" sz="2400"/>
          </a:p>
        </p:txBody>
      </p:sp>
      <p:sp>
        <p:nvSpPr>
          <p:cNvPr id="31" name="Shape 29"/>
          <p:cNvSpPr/>
          <p:nvPr/>
        </p:nvSpPr>
        <p:spPr>
          <a:xfrm>
            <a:off x="4328160" y="4303776"/>
            <a:ext cx="3535680" cy="390144"/>
          </a:xfrm>
          <a:prstGeom prst="rect">
            <a:avLst/>
          </a:prstGeom>
          <a:solidFill>
            <a:srgbClr val="0D1B2A"/>
          </a:solidFill>
          <a:ln w="12700">
            <a:solidFill>
              <a:srgbClr val="0D1B2A"/>
            </a:solidFill>
            <a:prstDash val="solid"/>
          </a:ln>
        </p:spPr>
        <p:txBody>
          <a:bodyPr/>
          <a:lstStyle/>
          <a:p>
            <a:endParaRPr lang="es-MX" sz="2400"/>
          </a:p>
        </p:txBody>
      </p:sp>
      <p:sp>
        <p:nvSpPr>
          <p:cNvPr id="32" name="Text 30"/>
          <p:cNvSpPr/>
          <p:nvPr/>
        </p:nvSpPr>
        <p:spPr>
          <a:xfrm>
            <a:off x="4328160" y="4303776"/>
            <a:ext cx="3535680" cy="390144"/>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4</a:t>
            </a:r>
            <a:endParaRPr lang="en-US" sz="1333" dirty="0"/>
          </a:p>
        </p:txBody>
      </p:sp>
      <p:sp>
        <p:nvSpPr>
          <p:cNvPr id="33" name="Text 31"/>
          <p:cNvSpPr/>
          <p:nvPr/>
        </p:nvSpPr>
        <p:spPr>
          <a:xfrm>
            <a:off x="4450080" y="5121021"/>
            <a:ext cx="3291840" cy="0"/>
          </a:xfrm>
          <a:prstGeom prst="rect">
            <a:avLst/>
          </a:prstGeom>
          <a:noFill/>
          <a:ln/>
        </p:spPr>
        <p:txBody>
          <a:bodyPr wrap="square" rtlCol="0" anchor="ctr"/>
          <a:lstStyle/>
          <a:p>
            <a:pPr algn="ctr"/>
            <a:r>
              <a:rPr lang="en-US" sz="1600" b="1" dirty="0">
                <a:solidFill>
                  <a:srgbClr val="2E2E2E"/>
                </a:solidFill>
                <a:latin typeface="Calibri" pitchFamily="34" charset="0"/>
                <a:ea typeface="Calibri" pitchFamily="34" charset="-122"/>
                <a:cs typeface="Calibri" pitchFamily="34" charset="-120"/>
              </a:rPr>
              <a:t>KG Storage</a:t>
            </a:r>
            <a:endParaRPr lang="en-US" sz="1600" dirty="0"/>
          </a:p>
          <a:p>
            <a:pPr algn="ctr"/>
            <a:r>
              <a:rPr lang="en-US" sz="1600" b="1" dirty="0">
                <a:solidFill>
                  <a:srgbClr val="2E2E2E"/>
                </a:solidFill>
                <a:latin typeface="Calibri" pitchFamily="34" charset="0"/>
                <a:ea typeface="Calibri" pitchFamily="34" charset="-122"/>
                <a:cs typeface="Calibri" pitchFamily="34" charset="-120"/>
              </a:rPr>
              <a:t>(SQLite)</a:t>
            </a:r>
            <a:endParaRPr lang="en-US" sz="1600" dirty="0"/>
          </a:p>
        </p:txBody>
      </p:sp>
      <p:sp>
        <p:nvSpPr>
          <p:cNvPr id="34" name="Text 32"/>
          <p:cNvSpPr/>
          <p:nvPr/>
        </p:nvSpPr>
        <p:spPr>
          <a:xfrm>
            <a:off x="4450080" y="5583936"/>
            <a:ext cx="3291840" cy="0"/>
          </a:xfrm>
          <a:prstGeom prst="rect">
            <a:avLst/>
          </a:prstGeom>
          <a:noFill/>
          <a:ln/>
        </p:spPr>
        <p:txBody>
          <a:bodyPr wrap="square" rtlCol="0" anchor="ctr"/>
          <a:lstStyle/>
          <a:p>
            <a:pPr algn="ctr"/>
            <a:r>
              <a:rPr lang="en-US" sz="1200" i="1" dirty="0">
                <a:solidFill>
                  <a:srgbClr val="666666"/>
                </a:solidFill>
                <a:latin typeface="Calibri" pitchFamily="34" charset="0"/>
                <a:ea typeface="Calibri" pitchFamily="34" charset="-122"/>
                <a:cs typeface="Calibri" pitchFamily="34" charset="-120"/>
              </a:rPr>
              <a:t>nodes + edges tables</a:t>
            </a:r>
            <a:endParaRPr lang="en-US" sz="1200" dirty="0"/>
          </a:p>
        </p:txBody>
      </p:sp>
      <p:sp>
        <p:nvSpPr>
          <p:cNvPr id="35" name="Text 33"/>
          <p:cNvSpPr/>
          <p:nvPr/>
        </p:nvSpPr>
        <p:spPr>
          <a:xfrm>
            <a:off x="7863840" y="4888992"/>
            <a:ext cx="304800" cy="0"/>
          </a:xfrm>
          <a:prstGeom prst="rect">
            <a:avLst/>
          </a:prstGeom>
          <a:noFill/>
          <a:ln/>
        </p:spPr>
        <p:txBody>
          <a:bodyPr wrap="square" rtlCol="0" anchor="ctr"/>
          <a:lstStyle/>
          <a:p>
            <a:pPr algn="ctr"/>
            <a:r>
              <a:rPr lang="en-US" sz="2133" dirty="0">
                <a:solidFill>
                  <a:srgbClr val="666666"/>
                </a:solidFill>
                <a:latin typeface="Calibri" pitchFamily="34" charset="0"/>
                <a:ea typeface="Calibri" pitchFamily="34" charset="-122"/>
                <a:cs typeface="Calibri" pitchFamily="34" charset="-120"/>
              </a:rPr>
              <a:t>→</a:t>
            </a:r>
            <a:endParaRPr lang="en-US" sz="2133" dirty="0"/>
          </a:p>
        </p:txBody>
      </p:sp>
      <p:sp>
        <p:nvSpPr>
          <p:cNvPr id="36" name="Shape 34"/>
          <p:cNvSpPr/>
          <p:nvPr/>
        </p:nvSpPr>
        <p:spPr>
          <a:xfrm>
            <a:off x="8168640" y="4303776"/>
            <a:ext cx="3535680" cy="1609344"/>
          </a:xfrm>
          <a:prstGeom prst="rect">
            <a:avLst/>
          </a:prstGeom>
          <a:solidFill>
            <a:srgbClr val="E8F0F8"/>
          </a:solidFill>
          <a:ln w="12700">
            <a:solidFill>
              <a:srgbClr val="0D1B2A"/>
            </a:solidFill>
            <a:prstDash val="solid"/>
          </a:ln>
        </p:spPr>
        <p:txBody>
          <a:bodyPr/>
          <a:lstStyle/>
          <a:p>
            <a:endParaRPr lang="es-MX" sz="2400"/>
          </a:p>
        </p:txBody>
      </p:sp>
      <p:sp>
        <p:nvSpPr>
          <p:cNvPr id="37" name="Shape 35"/>
          <p:cNvSpPr/>
          <p:nvPr/>
        </p:nvSpPr>
        <p:spPr>
          <a:xfrm>
            <a:off x="8168640" y="4303776"/>
            <a:ext cx="3535680" cy="390144"/>
          </a:xfrm>
          <a:prstGeom prst="rect">
            <a:avLst/>
          </a:prstGeom>
          <a:solidFill>
            <a:srgbClr val="0D1B2A"/>
          </a:solidFill>
          <a:ln w="12700">
            <a:solidFill>
              <a:srgbClr val="0D1B2A"/>
            </a:solidFill>
            <a:prstDash val="solid"/>
          </a:ln>
        </p:spPr>
        <p:txBody>
          <a:bodyPr/>
          <a:lstStyle/>
          <a:p>
            <a:endParaRPr lang="es-MX" sz="2400"/>
          </a:p>
        </p:txBody>
      </p:sp>
      <p:sp>
        <p:nvSpPr>
          <p:cNvPr id="38" name="Text 36"/>
          <p:cNvSpPr/>
          <p:nvPr/>
        </p:nvSpPr>
        <p:spPr>
          <a:xfrm>
            <a:off x="8168640" y="4303776"/>
            <a:ext cx="3535680" cy="390144"/>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5</a:t>
            </a:r>
            <a:endParaRPr lang="en-US" sz="1333" dirty="0"/>
          </a:p>
        </p:txBody>
      </p:sp>
      <p:sp>
        <p:nvSpPr>
          <p:cNvPr id="39" name="Text 37"/>
          <p:cNvSpPr/>
          <p:nvPr/>
        </p:nvSpPr>
        <p:spPr>
          <a:xfrm>
            <a:off x="8290560" y="5121021"/>
            <a:ext cx="3291840" cy="0"/>
          </a:xfrm>
          <a:prstGeom prst="rect">
            <a:avLst/>
          </a:prstGeom>
          <a:noFill/>
          <a:ln/>
        </p:spPr>
        <p:txBody>
          <a:bodyPr wrap="square" rtlCol="0" anchor="ctr"/>
          <a:lstStyle/>
          <a:p>
            <a:pPr algn="ctr"/>
            <a:r>
              <a:rPr lang="en-US" sz="1600" b="1" dirty="0">
                <a:solidFill>
                  <a:srgbClr val="2E2E2E"/>
                </a:solidFill>
                <a:latin typeface="Calibri" pitchFamily="34" charset="0"/>
                <a:ea typeface="Calibri" pitchFamily="34" charset="-122"/>
                <a:cs typeface="Calibri" pitchFamily="34" charset="-120"/>
              </a:rPr>
              <a:t>Multi-hop</a:t>
            </a:r>
            <a:endParaRPr lang="en-US" sz="1600" dirty="0"/>
          </a:p>
          <a:p>
            <a:pPr algn="ctr"/>
            <a:r>
              <a:rPr lang="en-US" sz="1600" b="1" dirty="0">
                <a:solidFill>
                  <a:srgbClr val="2E2E2E"/>
                </a:solidFill>
                <a:latin typeface="Calibri" pitchFamily="34" charset="0"/>
                <a:ea typeface="Calibri" pitchFamily="34" charset="-122"/>
                <a:cs typeface="Calibri" pitchFamily="34" charset="-120"/>
              </a:rPr>
              <a:t>Retrieval</a:t>
            </a:r>
            <a:endParaRPr lang="en-US" sz="1600" dirty="0"/>
          </a:p>
        </p:txBody>
      </p:sp>
      <p:sp>
        <p:nvSpPr>
          <p:cNvPr id="40" name="Text 38"/>
          <p:cNvSpPr/>
          <p:nvPr/>
        </p:nvSpPr>
        <p:spPr>
          <a:xfrm>
            <a:off x="8290560" y="5583936"/>
            <a:ext cx="3291840" cy="0"/>
          </a:xfrm>
          <a:prstGeom prst="rect">
            <a:avLst/>
          </a:prstGeom>
          <a:noFill/>
          <a:ln/>
        </p:spPr>
        <p:txBody>
          <a:bodyPr wrap="square" rtlCol="0" anchor="ctr"/>
          <a:lstStyle/>
          <a:p>
            <a:pPr algn="ctr"/>
            <a:r>
              <a:rPr lang="en-US" sz="1200" i="1" dirty="0">
                <a:solidFill>
                  <a:srgbClr val="666666"/>
                </a:solidFill>
                <a:latin typeface="Calibri" pitchFamily="34" charset="0"/>
                <a:ea typeface="Calibri" pitchFamily="34" charset="-122"/>
                <a:cs typeface="Calibri" pitchFamily="34" charset="-120"/>
              </a:rPr>
              <a:t>Output</a:t>
            </a:r>
            <a:endParaRPr lang="en-US" sz="1200" dirty="0"/>
          </a:p>
        </p:txBody>
      </p:sp>
      <p:sp>
        <p:nvSpPr>
          <p:cNvPr id="41" name="Shape 39"/>
          <p:cNvSpPr/>
          <p:nvPr/>
        </p:nvSpPr>
        <p:spPr>
          <a:xfrm>
            <a:off x="487680" y="6217920"/>
            <a:ext cx="11216640" cy="463296"/>
          </a:xfrm>
          <a:prstGeom prst="rect">
            <a:avLst/>
          </a:prstGeom>
          <a:solidFill>
            <a:srgbClr val="DAE3F3"/>
          </a:solidFill>
          <a:ln w="6350">
            <a:solidFill>
              <a:srgbClr val="156082"/>
            </a:solidFill>
            <a:prstDash val="solid"/>
          </a:ln>
        </p:spPr>
        <p:txBody>
          <a:bodyPr/>
          <a:lstStyle/>
          <a:p>
            <a:endParaRPr lang="es-MX" sz="2400"/>
          </a:p>
        </p:txBody>
      </p:sp>
      <p:sp>
        <p:nvSpPr>
          <p:cNvPr id="42" name="Text 40"/>
          <p:cNvSpPr/>
          <p:nvPr/>
        </p:nvSpPr>
        <p:spPr>
          <a:xfrm>
            <a:off x="487680" y="6217920"/>
            <a:ext cx="11216640" cy="463296"/>
          </a:xfrm>
          <a:prstGeom prst="rect">
            <a:avLst/>
          </a:prstGeom>
          <a:noFill/>
          <a:ln/>
        </p:spPr>
        <p:txBody>
          <a:bodyPr wrap="square" rtlCol="0" anchor="ctr"/>
          <a:lstStyle/>
          <a:p>
            <a:pPr algn="ctr"/>
            <a:r>
              <a:rPr lang="en-US" sz="1400" i="1" dirty="0">
                <a:solidFill>
                  <a:srgbClr val="404040"/>
                </a:solidFill>
                <a:latin typeface="Calibri" pitchFamily="34" charset="0"/>
                <a:ea typeface="Calibri" pitchFamily="34" charset="-122"/>
                <a:cs typeface="Calibri" pitchFamily="34" charset="-120"/>
              </a:rPr>
              <a:t>"because" → Cause     |     "so/thus" → Result     |     "then/after" → Succession     |     "but/yet" → Contrast</a:t>
            </a:r>
            <a:endParaRPr lang="en-US" sz="1400" dirty="0"/>
          </a:p>
        </p:txBody>
      </p:sp>
      <p:cxnSp>
        <p:nvCxnSpPr>
          <p:cNvPr id="44" name="Connector: Elbow 43">
            <a:extLst>
              <a:ext uri="{FF2B5EF4-FFF2-40B4-BE49-F238E27FC236}">
                <a16:creationId xmlns:a16="http://schemas.microsoft.com/office/drawing/2014/main" id="{151C9420-224A-CCE9-E32A-97BABFAE4A63}"/>
              </a:ext>
            </a:extLst>
          </p:cNvPr>
          <p:cNvCxnSpPr>
            <a:stCxn id="18" idx="2"/>
            <a:endCxn id="25" idx="0"/>
          </p:cNvCxnSpPr>
          <p:nvPr/>
        </p:nvCxnSpPr>
        <p:spPr>
          <a:xfrm rot="5400000">
            <a:off x="5876544" y="243840"/>
            <a:ext cx="438912" cy="7680960"/>
          </a:xfrm>
          <a:prstGeom prst="bentConnector3">
            <a:avLst/>
          </a:prstGeom>
          <a:ln>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5" name="Text 27">
            <a:extLst>
              <a:ext uri="{FF2B5EF4-FFF2-40B4-BE49-F238E27FC236}">
                <a16:creationId xmlns:a16="http://schemas.microsoft.com/office/drawing/2014/main" id="{A747E46E-9E7D-9096-E17A-6C302400E597}"/>
              </a:ext>
            </a:extLst>
          </p:cNvPr>
          <p:cNvSpPr/>
          <p:nvPr/>
        </p:nvSpPr>
        <p:spPr>
          <a:xfrm rot="5400000">
            <a:off x="2103120" y="6065520"/>
            <a:ext cx="304800" cy="0"/>
          </a:xfrm>
          <a:prstGeom prst="rect">
            <a:avLst/>
          </a:prstGeom>
          <a:noFill/>
          <a:ln/>
        </p:spPr>
        <p:txBody>
          <a:bodyPr wrap="square" rtlCol="0" anchor="ctr"/>
          <a:lstStyle/>
          <a:p>
            <a:pPr algn="ctr"/>
            <a:r>
              <a:rPr lang="en-US" sz="2133" dirty="0">
                <a:solidFill>
                  <a:srgbClr val="666666"/>
                </a:solidFill>
                <a:latin typeface="Calibri" pitchFamily="34" charset="0"/>
                <a:ea typeface="Calibri" pitchFamily="34" charset="-122"/>
                <a:cs typeface="Calibri" pitchFamily="34" charset="-120"/>
              </a:rPr>
              <a:t>→</a:t>
            </a:r>
            <a:endParaRPr lang="en-US" sz="213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a:p>
        </p:txBody>
      </p:sp>
      <p:sp>
        <p:nvSpPr>
          <p:cNvPr id="3" name="Text 1"/>
          <p:cNvSpPr/>
          <p:nvPr/>
        </p:nvSpPr>
        <p:spPr>
          <a:xfrm>
            <a:off x="426720" y="0"/>
            <a:ext cx="1133856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Limitations</a:t>
            </a:r>
            <a:endParaRPr lang="en-US" sz="2933" dirty="0"/>
          </a:p>
        </p:txBody>
      </p:sp>
      <p:sp>
        <p:nvSpPr>
          <p:cNvPr id="4" name="Text 2"/>
          <p:cNvSpPr/>
          <p:nvPr/>
        </p:nvSpPr>
        <p:spPr>
          <a:xfrm>
            <a:off x="487680" y="1263396"/>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既知の限界点</a:t>
            </a:r>
            <a:endParaRPr lang="en-US" sz="2133" dirty="0"/>
          </a:p>
        </p:txBody>
      </p:sp>
      <p:sp>
        <p:nvSpPr>
          <p:cNvPr id="5" name="Text 3"/>
          <p:cNvSpPr/>
          <p:nvPr/>
        </p:nvSpPr>
        <p:spPr>
          <a:xfrm>
            <a:off x="487680" y="1677924"/>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These limitations are acknowledged upfront. Characterizing where extraction degrades on agent transcript data is itself a research contribution.</a:t>
            </a:r>
            <a:endParaRPr lang="en-US" sz="1733" dirty="0"/>
          </a:p>
        </p:txBody>
      </p:sp>
      <p:sp>
        <p:nvSpPr>
          <p:cNvPr id="6" name="Shape 4"/>
          <p:cNvSpPr/>
          <p:nvPr/>
        </p:nvSpPr>
        <p:spPr>
          <a:xfrm>
            <a:off x="487680" y="2292096"/>
            <a:ext cx="7010400" cy="1316736"/>
          </a:xfrm>
          <a:prstGeom prst="rect">
            <a:avLst/>
          </a:prstGeom>
          <a:solidFill>
            <a:srgbClr val="DAE3F3"/>
          </a:solidFill>
          <a:ln w="12700">
            <a:solidFill>
              <a:srgbClr val="156082"/>
            </a:solidFill>
            <a:prstDash val="solid"/>
          </a:ln>
        </p:spPr>
        <p:txBody>
          <a:bodyPr/>
          <a:lstStyle/>
          <a:p>
            <a:endParaRPr lang="es-MX"/>
          </a:p>
        </p:txBody>
      </p:sp>
      <p:sp>
        <p:nvSpPr>
          <p:cNvPr id="7" name="Text 5"/>
          <p:cNvSpPr/>
          <p:nvPr/>
        </p:nvSpPr>
        <p:spPr>
          <a:xfrm>
            <a:off x="670560" y="2353056"/>
            <a:ext cx="6644640" cy="0"/>
          </a:xfrm>
          <a:prstGeom prst="rect">
            <a:avLst/>
          </a:prstGeom>
          <a:noFill/>
          <a:ln/>
        </p:spPr>
        <p:txBody>
          <a:bodyPr wrap="square" rtlCol="0" anchor="t"/>
          <a:lstStyle/>
          <a:p>
            <a:r>
              <a:rPr lang="en-US" sz="1600" b="1" dirty="0">
                <a:solidFill>
                  <a:srgbClr val="2E2E2E"/>
                </a:solidFill>
                <a:latin typeface="Calibri" pitchFamily="34" charset="0"/>
                <a:ea typeface="Calibri" pitchFamily="34" charset="-122"/>
                <a:cs typeface="Calibri" pitchFamily="34" charset="-120"/>
              </a:rPr>
              <a:t>Technical proper nouns</a:t>
            </a:r>
            <a:endParaRPr lang="en-US" sz="1600" dirty="0"/>
          </a:p>
        </p:txBody>
      </p:sp>
      <p:sp>
        <p:nvSpPr>
          <p:cNvPr id="8" name="Text 6"/>
          <p:cNvSpPr/>
          <p:nvPr/>
        </p:nvSpPr>
        <p:spPr>
          <a:xfrm>
            <a:off x="670560" y="2731008"/>
            <a:ext cx="6644640" cy="0"/>
          </a:xfrm>
          <a:prstGeom prst="rect">
            <a:avLst/>
          </a:prstGeom>
          <a:noFill/>
          <a:ln/>
        </p:spPr>
        <p:txBody>
          <a:bodyPr wrap="square" rtlCol="0" anchor="t"/>
          <a:lstStyle/>
          <a:p>
            <a:r>
              <a:rPr lang="en-US" sz="1400" dirty="0">
                <a:solidFill>
                  <a:srgbClr val="404040"/>
                </a:solidFill>
                <a:latin typeface="Calibri" pitchFamily="34" charset="0"/>
                <a:ea typeface="Calibri" pitchFamily="34" charset="-122"/>
                <a:cs typeface="Calibri" pitchFamily="34" charset="-120"/>
              </a:rPr>
              <a:t>"Tailscale", "sqlite-vec", and "Ollama" are opaque to dependency parsers — they are not recognized as meaningful entities. Events involving these tools will suffer from higher sparsity during KG matching.</a:t>
            </a:r>
            <a:endParaRPr lang="en-US" sz="1400" dirty="0"/>
          </a:p>
        </p:txBody>
      </p:sp>
      <p:sp>
        <p:nvSpPr>
          <p:cNvPr id="9" name="Shape 7"/>
          <p:cNvSpPr/>
          <p:nvPr/>
        </p:nvSpPr>
        <p:spPr>
          <a:xfrm>
            <a:off x="7741920" y="2292096"/>
            <a:ext cx="3962400" cy="1316736"/>
          </a:xfrm>
          <a:prstGeom prst="rect">
            <a:avLst/>
          </a:prstGeom>
          <a:solidFill>
            <a:srgbClr val="FFF8E8"/>
          </a:solidFill>
          <a:ln w="12700">
            <a:solidFill>
              <a:srgbClr val="C8A030"/>
            </a:solidFill>
            <a:prstDash val="solid"/>
          </a:ln>
        </p:spPr>
        <p:txBody>
          <a:bodyPr/>
          <a:lstStyle/>
          <a:p>
            <a:endParaRPr lang="es-MX"/>
          </a:p>
        </p:txBody>
      </p:sp>
      <p:sp>
        <p:nvSpPr>
          <p:cNvPr id="10" name="Text 8"/>
          <p:cNvSpPr/>
          <p:nvPr/>
        </p:nvSpPr>
        <p:spPr>
          <a:xfrm>
            <a:off x="7888224" y="2414016"/>
            <a:ext cx="3681984" cy="0"/>
          </a:xfrm>
          <a:prstGeom prst="rect">
            <a:avLst/>
          </a:prstGeom>
          <a:noFill/>
          <a:ln/>
        </p:spPr>
        <p:txBody>
          <a:bodyPr wrap="square" rtlCol="0" anchor="t"/>
          <a:lstStyle/>
          <a:p>
            <a:r>
              <a:rPr lang="en-US" sz="1267" i="1" dirty="0">
                <a:solidFill>
                  <a:srgbClr val="7A5A00"/>
                </a:solidFill>
                <a:latin typeface="Calibri" pitchFamily="34" charset="0"/>
                <a:ea typeface="Calibri" pitchFamily="34" charset="-122"/>
                <a:cs typeface="Calibri" pitchFamily="34" charset="-120"/>
              </a:rPr>
              <a:t>Example: "We set up Tailscale for the students" → parser cannot link "Tailscale" to any eventuality node in the KG.</a:t>
            </a:r>
            <a:endParaRPr lang="en-US" sz="1267" dirty="0"/>
          </a:p>
        </p:txBody>
      </p:sp>
      <p:sp>
        <p:nvSpPr>
          <p:cNvPr id="11" name="Shape 9"/>
          <p:cNvSpPr/>
          <p:nvPr/>
        </p:nvSpPr>
        <p:spPr>
          <a:xfrm>
            <a:off x="487680" y="3755136"/>
            <a:ext cx="7010400" cy="1316736"/>
          </a:xfrm>
          <a:prstGeom prst="rect">
            <a:avLst/>
          </a:prstGeom>
          <a:solidFill>
            <a:srgbClr val="DAE3F3"/>
          </a:solidFill>
          <a:ln w="12700">
            <a:solidFill>
              <a:srgbClr val="156082"/>
            </a:solidFill>
            <a:prstDash val="solid"/>
          </a:ln>
        </p:spPr>
        <p:txBody>
          <a:bodyPr/>
          <a:lstStyle/>
          <a:p>
            <a:endParaRPr lang="es-MX"/>
          </a:p>
        </p:txBody>
      </p:sp>
      <p:sp>
        <p:nvSpPr>
          <p:cNvPr id="12" name="Text 10"/>
          <p:cNvSpPr/>
          <p:nvPr/>
        </p:nvSpPr>
        <p:spPr>
          <a:xfrm>
            <a:off x="670560" y="3816096"/>
            <a:ext cx="6644640" cy="0"/>
          </a:xfrm>
          <a:prstGeom prst="rect">
            <a:avLst/>
          </a:prstGeom>
          <a:noFill/>
          <a:ln/>
        </p:spPr>
        <p:txBody>
          <a:bodyPr wrap="square" rtlCol="0" anchor="t"/>
          <a:lstStyle/>
          <a:p>
            <a:r>
              <a:rPr lang="en-US" sz="1600" b="1" dirty="0">
                <a:solidFill>
                  <a:srgbClr val="2E2E2E"/>
                </a:solidFill>
                <a:latin typeface="Calibri" pitchFamily="34" charset="0"/>
                <a:ea typeface="Calibri" pitchFamily="34" charset="-122"/>
                <a:cs typeface="Calibri" pitchFamily="34" charset="-120"/>
              </a:rPr>
              <a:t>Implicit causality</a:t>
            </a:r>
            <a:endParaRPr lang="en-US" sz="1600" dirty="0"/>
          </a:p>
        </p:txBody>
      </p:sp>
      <p:sp>
        <p:nvSpPr>
          <p:cNvPr id="13" name="Text 11"/>
          <p:cNvSpPr/>
          <p:nvPr/>
        </p:nvSpPr>
        <p:spPr>
          <a:xfrm>
            <a:off x="670560" y="4194048"/>
            <a:ext cx="6644640" cy="0"/>
          </a:xfrm>
          <a:prstGeom prst="rect">
            <a:avLst/>
          </a:prstGeom>
          <a:noFill/>
          <a:ln/>
        </p:spPr>
        <p:txBody>
          <a:bodyPr wrap="square" rtlCol="0" anchor="t"/>
          <a:lstStyle/>
          <a:p>
            <a:r>
              <a:rPr lang="en-US" sz="1400" dirty="0">
                <a:solidFill>
                  <a:srgbClr val="404040"/>
                </a:solidFill>
                <a:latin typeface="Calibri" pitchFamily="34" charset="0"/>
                <a:ea typeface="Calibri" pitchFamily="34" charset="-122"/>
                <a:cs typeface="Calibri" pitchFamily="34" charset="-120"/>
              </a:rPr>
              <a:t>"We tried it. It worked." — there is no discourse connective, so no Cause or Result edge is extracted. Much causal reasoning in developer dialogue is implicit, with no signal for the rule-based extractor to act on.</a:t>
            </a:r>
            <a:endParaRPr lang="en-US" sz="1400" dirty="0"/>
          </a:p>
        </p:txBody>
      </p:sp>
      <p:sp>
        <p:nvSpPr>
          <p:cNvPr id="14" name="Shape 12"/>
          <p:cNvSpPr/>
          <p:nvPr/>
        </p:nvSpPr>
        <p:spPr>
          <a:xfrm>
            <a:off x="7741920" y="3755136"/>
            <a:ext cx="3962400" cy="1316736"/>
          </a:xfrm>
          <a:prstGeom prst="rect">
            <a:avLst/>
          </a:prstGeom>
          <a:solidFill>
            <a:srgbClr val="FFF8E8"/>
          </a:solidFill>
          <a:ln w="12700">
            <a:solidFill>
              <a:srgbClr val="C8A030"/>
            </a:solidFill>
            <a:prstDash val="solid"/>
          </a:ln>
        </p:spPr>
        <p:txBody>
          <a:bodyPr/>
          <a:lstStyle/>
          <a:p>
            <a:endParaRPr lang="es-MX"/>
          </a:p>
        </p:txBody>
      </p:sp>
      <p:sp>
        <p:nvSpPr>
          <p:cNvPr id="15" name="Text 13"/>
          <p:cNvSpPr/>
          <p:nvPr/>
        </p:nvSpPr>
        <p:spPr>
          <a:xfrm>
            <a:off x="7888224" y="3877056"/>
            <a:ext cx="3681984" cy="0"/>
          </a:xfrm>
          <a:prstGeom prst="rect">
            <a:avLst/>
          </a:prstGeom>
          <a:noFill/>
          <a:ln/>
        </p:spPr>
        <p:txBody>
          <a:bodyPr wrap="square" rtlCol="0" anchor="t"/>
          <a:lstStyle/>
          <a:p>
            <a:r>
              <a:rPr lang="en-US" sz="1267" i="1" dirty="0">
                <a:solidFill>
                  <a:srgbClr val="7A5A00"/>
                </a:solidFill>
                <a:latin typeface="Calibri" pitchFamily="34" charset="0"/>
                <a:ea typeface="Calibri" pitchFamily="34" charset="-122"/>
                <a:cs typeface="Calibri" pitchFamily="34" charset="-120"/>
              </a:rPr>
              <a:t>Example: "Switched to SQLite. The latency dropped." → two facts, zero edges — because there isn’t a "because / so / therefore" that connects them.</a:t>
            </a:r>
            <a:endParaRPr lang="en-US" sz="1267" dirty="0"/>
          </a:p>
        </p:txBody>
      </p:sp>
      <p:sp>
        <p:nvSpPr>
          <p:cNvPr id="16" name="Shape 14"/>
          <p:cNvSpPr/>
          <p:nvPr/>
        </p:nvSpPr>
        <p:spPr>
          <a:xfrm>
            <a:off x="487680" y="5218176"/>
            <a:ext cx="7010400" cy="1316736"/>
          </a:xfrm>
          <a:prstGeom prst="rect">
            <a:avLst/>
          </a:prstGeom>
          <a:solidFill>
            <a:srgbClr val="DAE3F3"/>
          </a:solidFill>
          <a:ln w="12700">
            <a:solidFill>
              <a:srgbClr val="156082"/>
            </a:solidFill>
            <a:prstDash val="solid"/>
          </a:ln>
        </p:spPr>
        <p:txBody>
          <a:bodyPr/>
          <a:lstStyle/>
          <a:p>
            <a:endParaRPr lang="es-MX"/>
          </a:p>
        </p:txBody>
      </p:sp>
      <p:sp>
        <p:nvSpPr>
          <p:cNvPr id="17" name="Text 15"/>
          <p:cNvSpPr/>
          <p:nvPr/>
        </p:nvSpPr>
        <p:spPr>
          <a:xfrm>
            <a:off x="670560" y="5279136"/>
            <a:ext cx="6644640" cy="0"/>
          </a:xfrm>
          <a:prstGeom prst="rect">
            <a:avLst/>
          </a:prstGeom>
          <a:noFill/>
          <a:ln/>
        </p:spPr>
        <p:txBody>
          <a:bodyPr wrap="square" rtlCol="0" anchor="t"/>
          <a:lstStyle/>
          <a:p>
            <a:r>
              <a:rPr lang="en-US" sz="1600" b="1" dirty="0">
                <a:solidFill>
                  <a:srgbClr val="2E2E2E"/>
                </a:solidFill>
                <a:latin typeface="Calibri" pitchFamily="34" charset="0"/>
                <a:ea typeface="Calibri" pitchFamily="34" charset="-122"/>
                <a:cs typeface="Calibri" pitchFamily="34" charset="-120"/>
              </a:rPr>
              <a:t>Dialogue-specific ellipsis</a:t>
            </a:r>
            <a:endParaRPr lang="en-US" sz="1600" dirty="0"/>
          </a:p>
        </p:txBody>
      </p:sp>
      <p:sp>
        <p:nvSpPr>
          <p:cNvPr id="18" name="Text 16"/>
          <p:cNvSpPr/>
          <p:nvPr/>
        </p:nvSpPr>
        <p:spPr>
          <a:xfrm>
            <a:off x="670560" y="5657088"/>
            <a:ext cx="6644640" cy="0"/>
          </a:xfrm>
          <a:prstGeom prst="rect">
            <a:avLst/>
          </a:prstGeom>
          <a:noFill/>
          <a:ln/>
        </p:spPr>
        <p:txBody>
          <a:bodyPr wrap="square" rtlCol="0" anchor="t"/>
          <a:lstStyle/>
          <a:p>
            <a:r>
              <a:rPr lang="en-US" sz="1400" dirty="0">
                <a:solidFill>
                  <a:srgbClr val="404040"/>
                </a:solidFill>
                <a:latin typeface="Calibri" pitchFamily="34" charset="0"/>
                <a:ea typeface="Calibri" pitchFamily="34" charset="-122"/>
                <a:cs typeface="Calibri" pitchFamily="34" charset="-120"/>
              </a:rPr>
              <a:t>Ellipsis occurs when a sentence omits a referent that must be resolved from prior context. Unlike coreference (e.g. "he" → "the general"), ellipsis drops the referent entirely. The extractor sees a grammatically incomplete fragment and cannot determine what the event is about without reading the surrounding turns.</a:t>
            </a:r>
            <a:endParaRPr lang="en-US" sz="1400" dirty="0"/>
          </a:p>
        </p:txBody>
      </p:sp>
      <p:sp>
        <p:nvSpPr>
          <p:cNvPr id="19" name="Shape 17"/>
          <p:cNvSpPr/>
          <p:nvPr/>
        </p:nvSpPr>
        <p:spPr>
          <a:xfrm>
            <a:off x="7741920" y="5218176"/>
            <a:ext cx="3962400" cy="1316736"/>
          </a:xfrm>
          <a:prstGeom prst="rect">
            <a:avLst/>
          </a:prstGeom>
          <a:solidFill>
            <a:srgbClr val="FFF8E8"/>
          </a:solidFill>
          <a:ln w="12700">
            <a:solidFill>
              <a:srgbClr val="C8A030"/>
            </a:solidFill>
            <a:prstDash val="solid"/>
          </a:ln>
        </p:spPr>
        <p:txBody>
          <a:bodyPr/>
          <a:lstStyle/>
          <a:p>
            <a:endParaRPr lang="es-MX"/>
          </a:p>
        </p:txBody>
      </p:sp>
      <p:sp>
        <p:nvSpPr>
          <p:cNvPr id="20" name="Text 18"/>
          <p:cNvSpPr/>
          <p:nvPr/>
        </p:nvSpPr>
        <p:spPr>
          <a:xfrm>
            <a:off x="7888224" y="5340096"/>
            <a:ext cx="3681984" cy="0"/>
          </a:xfrm>
          <a:prstGeom prst="rect">
            <a:avLst/>
          </a:prstGeom>
          <a:noFill/>
          <a:ln/>
        </p:spPr>
        <p:txBody>
          <a:bodyPr wrap="square" rtlCol="0" anchor="t"/>
          <a:lstStyle/>
          <a:p>
            <a:r>
              <a:rPr lang="en-US" sz="1267" i="1" dirty="0">
                <a:solidFill>
                  <a:srgbClr val="7A5A00"/>
                </a:solidFill>
                <a:latin typeface="Calibri" pitchFamily="34" charset="0"/>
                <a:ea typeface="Calibri" pitchFamily="34" charset="-122"/>
                <a:cs typeface="Calibri" pitchFamily="34" charset="-120"/>
              </a:rPr>
              <a:t>Examples: "That worked." (what is 'that'?)  ·  "It failed again." (what failed?)  ·  "Still broken." (what is still broken?)  →  all produce orphan eventualities with no argument.</a:t>
            </a:r>
            <a:endParaRPr lang="en-US" sz="126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a:p>
        </p:txBody>
      </p:sp>
      <p:sp>
        <p:nvSpPr>
          <p:cNvPr id="3" name="Text 1"/>
          <p:cNvSpPr/>
          <p:nvPr/>
        </p:nvSpPr>
        <p:spPr>
          <a:xfrm>
            <a:off x="426720" y="0"/>
            <a:ext cx="11338560" cy="877824"/>
          </a:xfrm>
          <a:prstGeom prst="rect">
            <a:avLst/>
          </a:prstGeom>
          <a:noFill/>
          <a:ln/>
        </p:spPr>
        <p:txBody>
          <a:bodyPr wrap="square" rtlCol="0" anchor="ctr"/>
          <a:lstStyle/>
          <a:p>
            <a:r>
              <a:rPr lang="en-US" sz="2400" b="1" dirty="0">
                <a:solidFill>
                  <a:srgbClr val="FFFFFF"/>
                </a:solidFill>
                <a:latin typeface="Georgia" pitchFamily="34" charset="0"/>
                <a:ea typeface="Georgia" pitchFamily="34" charset="-122"/>
                <a:cs typeface="Georgia" pitchFamily="34" charset="-120"/>
              </a:rPr>
              <a:t>Supporting Tool — Claude-vault: Solving the Data Persistence Layer</a:t>
            </a:r>
            <a:endParaRPr lang="en-US" sz="2400" dirty="0"/>
          </a:p>
        </p:txBody>
      </p:sp>
      <p:sp>
        <p:nvSpPr>
          <p:cNvPr id="4" name="Text 2"/>
          <p:cNvSpPr/>
          <p:nvPr/>
        </p:nvSpPr>
        <p:spPr>
          <a:xfrm>
            <a:off x="487680" y="1339596"/>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Claude-</a:t>
            </a:r>
            <a:r>
              <a:rPr lang="en-US" sz="2133" b="1" dirty="0" err="1">
                <a:solidFill>
                  <a:srgbClr val="2E2E2E"/>
                </a:solidFill>
                <a:latin typeface="Georgia" pitchFamily="34" charset="0"/>
                <a:ea typeface="Georgia" pitchFamily="34" charset="-122"/>
                <a:cs typeface="Georgia" pitchFamily="34" charset="-120"/>
              </a:rPr>
              <a:t>vaultとは</a:t>
            </a:r>
            <a:r>
              <a:rPr lang="en-US" sz="2133" b="1" dirty="0">
                <a:solidFill>
                  <a:srgbClr val="2E2E2E"/>
                </a:solidFill>
                <a:latin typeface="Georgia" pitchFamily="34" charset="0"/>
                <a:ea typeface="Georgia" pitchFamily="34" charset="-122"/>
                <a:cs typeface="Georgia" pitchFamily="34" charset="-120"/>
              </a:rPr>
              <a:t>？</a:t>
            </a:r>
            <a:endParaRPr lang="en-US" sz="2133" dirty="0"/>
          </a:p>
        </p:txBody>
      </p:sp>
      <p:sp>
        <p:nvSpPr>
          <p:cNvPr id="5" name="Text 3"/>
          <p:cNvSpPr/>
          <p:nvPr/>
        </p:nvSpPr>
        <p:spPr>
          <a:xfrm>
            <a:off x="487680" y="1754124"/>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An open-source tool that solves the data input problem. Before a KG can be built, transcripts must be reliably captured and stored.</a:t>
            </a:r>
            <a:endParaRPr lang="en-US" sz="1733" dirty="0"/>
          </a:p>
        </p:txBody>
      </p:sp>
      <p:sp>
        <p:nvSpPr>
          <p:cNvPr id="6" name="Shape 4"/>
          <p:cNvSpPr/>
          <p:nvPr/>
        </p:nvSpPr>
        <p:spPr>
          <a:xfrm>
            <a:off x="487680" y="2255520"/>
            <a:ext cx="6705600" cy="4267200"/>
          </a:xfrm>
          <a:prstGeom prst="rect">
            <a:avLst/>
          </a:prstGeom>
          <a:solidFill>
            <a:srgbClr val="DAE3F3"/>
          </a:solidFill>
          <a:ln w="12700">
            <a:solidFill>
              <a:srgbClr val="156082"/>
            </a:solidFill>
            <a:prstDash val="solid"/>
          </a:ln>
        </p:spPr>
        <p:txBody>
          <a:bodyPr/>
          <a:lstStyle/>
          <a:p>
            <a:endParaRPr lang="es-MX"/>
          </a:p>
        </p:txBody>
      </p:sp>
      <p:sp>
        <p:nvSpPr>
          <p:cNvPr id="7" name="Shape 5"/>
          <p:cNvSpPr/>
          <p:nvPr/>
        </p:nvSpPr>
        <p:spPr>
          <a:xfrm>
            <a:off x="487680" y="2255520"/>
            <a:ext cx="6705600" cy="524256"/>
          </a:xfrm>
          <a:prstGeom prst="rect">
            <a:avLst/>
          </a:prstGeom>
          <a:solidFill>
            <a:srgbClr val="0D1B2A"/>
          </a:solidFill>
          <a:ln w="12700">
            <a:solidFill>
              <a:srgbClr val="0D1B2A"/>
            </a:solidFill>
            <a:prstDash val="solid"/>
          </a:ln>
        </p:spPr>
        <p:txBody>
          <a:bodyPr/>
          <a:lstStyle/>
          <a:p>
            <a:endParaRPr lang="es-MX"/>
          </a:p>
        </p:txBody>
      </p:sp>
      <p:sp>
        <p:nvSpPr>
          <p:cNvPr id="8" name="Text 6"/>
          <p:cNvSpPr/>
          <p:nvPr/>
        </p:nvSpPr>
        <p:spPr>
          <a:xfrm>
            <a:off x="487680" y="2255520"/>
            <a:ext cx="6705600" cy="524256"/>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What claude-vault does</a:t>
            </a:r>
            <a:endParaRPr lang="en-US" sz="1733" dirty="0"/>
          </a:p>
        </p:txBody>
      </p:sp>
      <p:sp>
        <p:nvSpPr>
          <p:cNvPr id="9" name="Text 7"/>
          <p:cNvSpPr/>
          <p:nvPr/>
        </p:nvSpPr>
        <p:spPr>
          <a:xfrm>
            <a:off x="670560" y="2889504"/>
            <a:ext cx="6339840" cy="3511296"/>
          </a:xfrm>
          <a:prstGeom prst="rect">
            <a:avLst/>
          </a:prstGeom>
          <a:noFill/>
          <a:ln/>
        </p:spPr>
        <p:txBody>
          <a:bodyPr wrap="square" rtlCol="0" anchor="t"/>
          <a:lstStyle/>
          <a:p>
            <a:pPr marL="457189" indent="-457189">
              <a:lnSpc>
                <a:spcPct val="200000"/>
              </a:lnSpc>
              <a:buSzPct val="100000"/>
              <a:buChar char="•"/>
            </a:pPr>
            <a:r>
              <a:rPr lang="en-US" sz="1467" dirty="0"/>
              <a:t>Saves every Claude Code conversation automatically before it disappears</a:t>
            </a:r>
          </a:p>
          <a:p>
            <a:pPr marL="457189" indent="-457189">
              <a:lnSpc>
                <a:spcPct val="200000"/>
              </a:lnSpc>
              <a:buSzPct val="100000"/>
              <a:buChar char="•"/>
            </a:pPr>
            <a:r>
              <a:rPr lang="en-US" sz="1467" dirty="0"/>
              <a:t>Stores everything in a permanent database on your computer</a:t>
            </a:r>
          </a:p>
          <a:p>
            <a:pPr marL="457189" indent="-457189">
              <a:lnSpc>
                <a:spcPct val="200000"/>
              </a:lnSpc>
              <a:buSzPct val="100000"/>
              <a:buChar char="•"/>
            </a:pPr>
            <a:r>
              <a:rPr lang="en-US" sz="1467" dirty="0"/>
              <a:t>Let’s you search across all past sessions in plain language</a:t>
            </a:r>
          </a:p>
          <a:p>
            <a:pPr marL="457189" indent="-457189">
              <a:lnSpc>
                <a:spcPct val="200000"/>
              </a:lnSpc>
              <a:buSzPct val="100000"/>
              <a:buChar char="•"/>
            </a:pPr>
            <a:r>
              <a:rPr lang="en-US" sz="1467" dirty="0"/>
              <a:t>Works silently in the background — no manual steps needed</a:t>
            </a:r>
          </a:p>
        </p:txBody>
      </p:sp>
      <p:sp>
        <p:nvSpPr>
          <p:cNvPr id="10" name="Shape 8"/>
          <p:cNvSpPr/>
          <p:nvPr/>
        </p:nvSpPr>
        <p:spPr>
          <a:xfrm>
            <a:off x="7437120" y="2255520"/>
            <a:ext cx="4267200" cy="4267200"/>
          </a:xfrm>
          <a:prstGeom prst="rect">
            <a:avLst/>
          </a:prstGeom>
          <a:solidFill>
            <a:srgbClr val="DAE3F3"/>
          </a:solidFill>
          <a:ln w="12700">
            <a:solidFill>
              <a:srgbClr val="156082"/>
            </a:solidFill>
            <a:prstDash val="solid"/>
          </a:ln>
        </p:spPr>
        <p:txBody>
          <a:bodyPr/>
          <a:lstStyle/>
          <a:p>
            <a:endParaRPr lang="es-MX"/>
          </a:p>
        </p:txBody>
      </p:sp>
      <p:sp>
        <p:nvSpPr>
          <p:cNvPr id="11" name="Shape 9"/>
          <p:cNvSpPr/>
          <p:nvPr/>
        </p:nvSpPr>
        <p:spPr>
          <a:xfrm>
            <a:off x="7437120" y="2255520"/>
            <a:ext cx="4267200" cy="524256"/>
          </a:xfrm>
          <a:prstGeom prst="rect">
            <a:avLst/>
          </a:prstGeom>
          <a:solidFill>
            <a:srgbClr val="0D1B2A"/>
          </a:solidFill>
          <a:ln w="12700">
            <a:solidFill>
              <a:srgbClr val="0D1B2A"/>
            </a:solidFill>
            <a:prstDash val="solid"/>
          </a:ln>
        </p:spPr>
        <p:txBody>
          <a:bodyPr/>
          <a:lstStyle/>
          <a:p>
            <a:endParaRPr lang="es-MX"/>
          </a:p>
        </p:txBody>
      </p:sp>
      <p:sp>
        <p:nvSpPr>
          <p:cNvPr id="12" name="Text 10"/>
          <p:cNvSpPr/>
          <p:nvPr/>
        </p:nvSpPr>
        <p:spPr>
          <a:xfrm>
            <a:off x="7437120" y="2255520"/>
            <a:ext cx="4267200" cy="524256"/>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How it fits our proposal</a:t>
            </a:r>
            <a:endParaRPr lang="en-US" sz="1733" dirty="0"/>
          </a:p>
        </p:txBody>
      </p:sp>
      <p:sp>
        <p:nvSpPr>
          <p:cNvPr id="13" name="Text 11"/>
          <p:cNvSpPr/>
          <p:nvPr/>
        </p:nvSpPr>
        <p:spPr>
          <a:xfrm>
            <a:off x="7620000" y="2889504"/>
            <a:ext cx="3901440" cy="3511296"/>
          </a:xfrm>
          <a:prstGeom prst="rect">
            <a:avLst/>
          </a:prstGeom>
          <a:noFill/>
          <a:ln/>
        </p:spPr>
        <p:txBody>
          <a:bodyPr wrap="square" rtlCol="0" anchor="t"/>
          <a:lstStyle/>
          <a:p>
            <a:r>
              <a:rPr lang="en-US" sz="1467" dirty="0">
                <a:solidFill>
                  <a:srgbClr val="2E2E2E"/>
                </a:solidFill>
                <a:latin typeface="Calibri" pitchFamily="34" charset="0"/>
                <a:ea typeface="Calibri" pitchFamily="34" charset="-122"/>
                <a:cs typeface="Calibri" pitchFamily="34" charset="-120"/>
              </a:rPr>
              <a:t>Dependency stack:</a:t>
            </a:r>
            <a:endParaRPr lang="en-US" sz="1467" dirty="0"/>
          </a:p>
          <a:p>
            <a:endParaRPr lang="en-US" sz="1467" dirty="0"/>
          </a:p>
          <a:p>
            <a:r>
              <a:rPr lang="en-US" sz="1467" dirty="0">
                <a:solidFill>
                  <a:srgbClr val="2E2E2E"/>
                </a:solidFill>
                <a:latin typeface="Calibri" pitchFamily="34" charset="0"/>
                <a:ea typeface="Calibri" pitchFamily="34" charset="-122"/>
                <a:cs typeface="Calibri" pitchFamily="34" charset="-120"/>
              </a:rPr>
              <a:t>  claude-vault</a:t>
            </a:r>
            <a:endParaRPr lang="en-US" sz="1467" dirty="0"/>
          </a:p>
          <a:p>
            <a:r>
              <a:rPr lang="en-US" sz="1467" dirty="0">
                <a:solidFill>
                  <a:srgbClr val="2E2E2E"/>
                </a:solidFill>
                <a:latin typeface="Calibri" pitchFamily="34" charset="0"/>
                <a:ea typeface="Calibri" pitchFamily="34" charset="-122"/>
                <a:cs typeface="Calibri" pitchFamily="34" charset="-120"/>
              </a:rPr>
              <a:t>  → captures raw transcripts</a:t>
            </a:r>
            <a:endParaRPr lang="en-US" sz="1467" dirty="0"/>
          </a:p>
          <a:p>
            <a:endParaRPr lang="en-US" sz="1467" dirty="0"/>
          </a:p>
          <a:p>
            <a:r>
              <a:rPr lang="en-US" sz="1467" dirty="0">
                <a:solidFill>
                  <a:srgbClr val="2E2E2E"/>
                </a:solidFill>
                <a:latin typeface="Calibri" pitchFamily="34" charset="0"/>
                <a:ea typeface="Calibri" pitchFamily="34" charset="-122"/>
                <a:cs typeface="Calibri" pitchFamily="34" charset="-120"/>
              </a:rPr>
              <a:t>  our KG pipeline</a:t>
            </a:r>
            <a:endParaRPr lang="en-US" sz="1467" dirty="0"/>
          </a:p>
          <a:p>
            <a:r>
              <a:rPr lang="en-US" sz="1467" dirty="0">
                <a:solidFill>
                  <a:srgbClr val="2E2E2E"/>
                </a:solidFill>
                <a:latin typeface="Calibri" pitchFamily="34" charset="0"/>
                <a:ea typeface="Calibri" pitchFamily="34" charset="-122"/>
                <a:cs typeface="Calibri" pitchFamily="34" charset="-120"/>
              </a:rPr>
              <a:t>  → structures them as a graph</a:t>
            </a:r>
            <a:endParaRPr lang="en-US" sz="1467" dirty="0"/>
          </a:p>
          <a:p>
            <a:endParaRPr lang="en-US" sz="1467" dirty="0"/>
          </a:p>
          <a:p>
            <a:r>
              <a:rPr lang="en-US" sz="1467" dirty="0">
                <a:solidFill>
                  <a:srgbClr val="2E2E2E"/>
                </a:solidFill>
                <a:latin typeface="Calibri" pitchFamily="34" charset="0"/>
                <a:ea typeface="Calibri" pitchFamily="34" charset="-122"/>
                <a:cs typeface="Calibri" pitchFamily="34" charset="-120"/>
              </a:rPr>
              <a:t>  retrieval layer</a:t>
            </a:r>
            <a:endParaRPr lang="en-US" sz="1467" dirty="0"/>
          </a:p>
          <a:p>
            <a:r>
              <a:rPr lang="en-US" sz="1467" dirty="0">
                <a:solidFill>
                  <a:srgbClr val="2E2E2E"/>
                </a:solidFill>
                <a:latin typeface="Calibri" pitchFamily="34" charset="0"/>
                <a:ea typeface="Calibri" pitchFamily="34" charset="-122"/>
                <a:cs typeface="Calibri" pitchFamily="34" charset="-120"/>
              </a:rPr>
              <a:t>  → answers multi-hop queries</a:t>
            </a:r>
            <a:endParaRPr lang="en-US" sz="1467" dirty="0"/>
          </a:p>
          <a:p>
            <a:endParaRPr lang="en-US" sz="1467" dirty="0"/>
          </a:p>
          <a:p>
            <a:r>
              <a:rPr lang="en-US" sz="1467" dirty="0">
                <a:solidFill>
                  <a:srgbClr val="2E2E2E"/>
                </a:solidFill>
                <a:latin typeface="Calibri" pitchFamily="34" charset="0"/>
                <a:ea typeface="Calibri" pitchFamily="34" charset="-122"/>
                <a:cs typeface="Calibri" pitchFamily="34" charset="-120"/>
              </a:rPr>
              <a:t>claude-vault is the input layer.</a:t>
            </a:r>
            <a:endParaRPr lang="en-US" sz="1467" dirty="0"/>
          </a:p>
          <a:p>
            <a:r>
              <a:rPr lang="en-US" sz="1467" dirty="0">
                <a:solidFill>
                  <a:srgbClr val="2E2E2E"/>
                </a:solidFill>
                <a:latin typeface="Calibri" pitchFamily="34" charset="0"/>
                <a:ea typeface="Calibri" pitchFamily="34" charset="-122"/>
                <a:cs typeface="Calibri" pitchFamily="34" charset="-120"/>
              </a:rPr>
              <a:t>Without reliable capture, there is nothing to build a KG from.</a:t>
            </a:r>
            <a:endParaRPr lang="en-US" sz="1467" dirty="0"/>
          </a:p>
        </p:txBody>
      </p:sp>
      <p:sp>
        <p:nvSpPr>
          <p:cNvPr id="14" name="Rectangle 13">
            <a:extLst>
              <a:ext uri="{FF2B5EF4-FFF2-40B4-BE49-F238E27FC236}">
                <a16:creationId xmlns:a16="http://schemas.microsoft.com/office/drawing/2014/main" id="{CE0E0FFB-CA22-D4BA-CDDC-E902CCD7224B}"/>
              </a:ext>
            </a:extLst>
          </p:cNvPr>
          <p:cNvSpPr/>
          <p:nvPr/>
        </p:nvSpPr>
        <p:spPr>
          <a:xfrm>
            <a:off x="7620000" y="3324225"/>
            <a:ext cx="2809875" cy="58102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a:p>
        </p:txBody>
      </p:sp>
      <p:sp>
        <p:nvSpPr>
          <p:cNvPr id="15" name="Rectangle 14">
            <a:extLst>
              <a:ext uri="{FF2B5EF4-FFF2-40B4-BE49-F238E27FC236}">
                <a16:creationId xmlns:a16="http://schemas.microsoft.com/office/drawing/2014/main" id="{766BA49C-2819-C9C7-161D-F48DFE4D8AC9}"/>
              </a:ext>
            </a:extLst>
          </p:cNvPr>
          <p:cNvSpPr/>
          <p:nvPr/>
        </p:nvSpPr>
        <p:spPr>
          <a:xfrm>
            <a:off x="7620000" y="4014978"/>
            <a:ext cx="2809875" cy="58102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a:p>
        </p:txBody>
      </p:sp>
      <p:sp>
        <p:nvSpPr>
          <p:cNvPr id="16" name="Rectangle 15">
            <a:extLst>
              <a:ext uri="{FF2B5EF4-FFF2-40B4-BE49-F238E27FC236}">
                <a16:creationId xmlns:a16="http://schemas.microsoft.com/office/drawing/2014/main" id="{B47B2968-A35B-2C93-1058-4CE73BEC5C5B}"/>
              </a:ext>
            </a:extLst>
          </p:cNvPr>
          <p:cNvSpPr/>
          <p:nvPr/>
        </p:nvSpPr>
        <p:spPr>
          <a:xfrm>
            <a:off x="7620000" y="4705731"/>
            <a:ext cx="2809875" cy="58102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MX"/>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a:p>
        </p:txBody>
      </p:sp>
      <p:sp>
        <p:nvSpPr>
          <p:cNvPr id="3" name="Text 1"/>
          <p:cNvSpPr/>
          <p:nvPr/>
        </p:nvSpPr>
        <p:spPr>
          <a:xfrm>
            <a:off x="426720" y="0"/>
            <a:ext cx="11338560" cy="877824"/>
          </a:xfrm>
          <a:prstGeom prst="rect">
            <a:avLst/>
          </a:prstGeom>
          <a:noFill/>
          <a:ln/>
        </p:spPr>
        <p:txBody>
          <a:bodyPr wrap="square" rtlCol="0" anchor="ctr"/>
          <a:lstStyle/>
          <a:p>
            <a:r>
              <a:rPr lang="en-US" sz="2400" b="1" dirty="0">
                <a:solidFill>
                  <a:srgbClr val="FFFFFF"/>
                </a:solidFill>
                <a:latin typeface="Georgia" pitchFamily="34" charset="0"/>
                <a:ea typeface="Georgia" pitchFamily="34" charset="-122"/>
                <a:cs typeface="Georgia" pitchFamily="34" charset="-120"/>
              </a:rPr>
              <a:t>Supporting Tool — Text-to-SQL Benchmark as an Evaluation Model</a:t>
            </a:r>
            <a:endParaRPr lang="en-US" sz="2400" dirty="0"/>
          </a:p>
        </p:txBody>
      </p:sp>
      <p:sp>
        <p:nvSpPr>
          <p:cNvPr id="4" name="Text 2"/>
          <p:cNvSpPr/>
          <p:nvPr/>
        </p:nvSpPr>
        <p:spPr>
          <a:xfrm>
            <a:off x="487680" y="1339596"/>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評価モデルとして</a:t>
            </a:r>
            <a:endParaRPr lang="en-US" sz="2133" dirty="0"/>
          </a:p>
        </p:txBody>
      </p:sp>
      <p:sp>
        <p:nvSpPr>
          <p:cNvPr id="5" name="Text 3"/>
          <p:cNvSpPr/>
          <p:nvPr/>
        </p:nvSpPr>
        <p:spPr>
          <a:xfrm>
            <a:off x="487680" y="1754124"/>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The benchmark demonstrates what rigorous, reproducible evaluation looks like. Our evaluation design is directly inspired by its approach.</a:t>
            </a:r>
            <a:endParaRPr lang="en-US" sz="1733" dirty="0"/>
          </a:p>
        </p:txBody>
      </p:sp>
      <p:sp>
        <p:nvSpPr>
          <p:cNvPr id="6" name="Shape 4"/>
          <p:cNvSpPr/>
          <p:nvPr/>
        </p:nvSpPr>
        <p:spPr>
          <a:xfrm>
            <a:off x="487680" y="2255520"/>
            <a:ext cx="6705600" cy="4267200"/>
          </a:xfrm>
          <a:prstGeom prst="rect">
            <a:avLst/>
          </a:prstGeom>
          <a:solidFill>
            <a:srgbClr val="DAE3F3"/>
          </a:solidFill>
          <a:ln w="12700">
            <a:solidFill>
              <a:srgbClr val="156082"/>
            </a:solidFill>
            <a:prstDash val="solid"/>
          </a:ln>
        </p:spPr>
        <p:txBody>
          <a:bodyPr/>
          <a:lstStyle/>
          <a:p>
            <a:endParaRPr lang="es-MX"/>
          </a:p>
        </p:txBody>
      </p:sp>
      <p:sp>
        <p:nvSpPr>
          <p:cNvPr id="7" name="Shape 5"/>
          <p:cNvSpPr/>
          <p:nvPr/>
        </p:nvSpPr>
        <p:spPr>
          <a:xfrm>
            <a:off x="487680" y="2255520"/>
            <a:ext cx="6705600" cy="524256"/>
          </a:xfrm>
          <a:prstGeom prst="rect">
            <a:avLst/>
          </a:prstGeom>
          <a:solidFill>
            <a:srgbClr val="0D1B2A"/>
          </a:solidFill>
          <a:ln w="12700">
            <a:solidFill>
              <a:srgbClr val="0D1B2A"/>
            </a:solidFill>
            <a:prstDash val="solid"/>
          </a:ln>
        </p:spPr>
        <p:txBody>
          <a:bodyPr/>
          <a:lstStyle/>
          <a:p>
            <a:endParaRPr lang="es-MX"/>
          </a:p>
        </p:txBody>
      </p:sp>
      <p:sp>
        <p:nvSpPr>
          <p:cNvPr id="8" name="Text 6"/>
          <p:cNvSpPr/>
          <p:nvPr/>
        </p:nvSpPr>
        <p:spPr>
          <a:xfrm>
            <a:off x="487680" y="2255520"/>
            <a:ext cx="6705600" cy="524256"/>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What the benchmark shows us</a:t>
            </a:r>
            <a:endParaRPr lang="en-US" sz="1733" dirty="0"/>
          </a:p>
        </p:txBody>
      </p:sp>
      <p:sp>
        <p:nvSpPr>
          <p:cNvPr id="9" name="Text 7"/>
          <p:cNvSpPr/>
          <p:nvPr/>
        </p:nvSpPr>
        <p:spPr>
          <a:xfrm>
            <a:off x="670560" y="2889504"/>
            <a:ext cx="6339840" cy="3511296"/>
          </a:xfrm>
          <a:prstGeom prst="rect">
            <a:avLst/>
          </a:prstGeom>
          <a:noFill/>
          <a:ln/>
        </p:spPr>
        <p:txBody>
          <a:bodyPr wrap="square" rtlCol="0" anchor="t"/>
          <a:lstStyle/>
          <a:p>
            <a:pPr>
              <a:buSzPct val="100000"/>
            </a:pPr>
            <a:endParaRPr lang="en-US" sz="1467" dirty="0"/>
          </a:p>
        </p:txBody>
      </p:sp>
      <p:sp>
        <p:nvSpPr>
          <p:cNvPr id="10" name="Shape 8"/>
          <p:cNvSpPr/>
          <p:nvPr/>
        </p:nvSpPr>
        <p:spPr>
          <a:xfrm>
            <a:off x="7437120" y="2255520"/>
            <a:ext cx="4267200" cy="4267200"/>
          </a:xfrm>
          <a:prstGeom prst="rect">
            <a:avLst/>
          </a:prstGeom>
          <a:solidFill>
            <a:srgbClr val="DAE3F3"/>
          </a:solidFill>
          <a:ln w="12700">
            <a:solidFill>
              <a:srgbClr val="156082"/>
            </a:solidFill>
            <a:prstDash val="solid"/>
          </a:ln>
        </p:spPr>
        <p:txBody>
          <a:bodyPr/>
          <a:lstStyle/>
          <a:p>
            <a:endParaRPr lang="es-MX"/>
          </a:p>
        </p:txBody>
      </p:sp>
      <p:sp>
        <p:nvSpPr>
          <p:cNvPr id="11" name="Shape 9"/>
          <p:cNvSpPr/>
          <p:nvPr/>
        </p:nvSpPr>
        <p:spPr>
          <a:xfrm>
            <a:off x="7437120" y="2255520"/>
            <a:ext cx="4267200" cy="524256"/>
          </a:xfrm>
          <a:prstGeom prst="rect">
            <a:avLst/>
          </a:prstGeom>
          <a:solidFill>
            <a:srgbClr val="0D1B2A"/>
          </a:solidFill>
          <a:ln w="12700">
            <a:solidFill>
              <a:srgbClr val="0D1B2A"/>
            </a:solidFill>
            <a:prstDash val="solid"/>
          </a:ln>
        </p:spPr>
        <p:txBody>
          <a:bodyPr/>
          <a:lstStyle/>
          <a:p>
            <a:endParaRPr lang="es-MX"/>
          </a:p>
        </p:txBody>
      </p:sp>
      <p:sp>
        <p:nvSpPr>
          <p:cNvPr id="12" name="Text 10"/>
          <p:cNvSpPr/>
          <p:nvPr/>
        </p:nvSpPr>
        <p:spPr>
          <a:xfrm>
            <a:off x="7437120" y="2255520"/>
            <a:ext cx="4267200" cy="0"/>
          </a:xfrm>
          <a:prstGeom prst="rect">
            <a:avLst/>
          </a:prstGeom>
          <a:noFill/>
          <a:ln/>
        </p:spPr>
        <p:txBody>
          <a:bodyPr wrap="square" rtlCol="0" anchor="t"/>
          <a:lstStyle/>
          <a:p>
            <a:pPr algn="ctr"/>
            <a:r>
              <a:rPr lang="en-US" sz="1733" b="1" dirty="0">
                <a:solidFill>
                  <a:srgbClr val="FFFFFF"/>
                </a:solidFill>
                <a:latin typeface="Georgia" pitchFamily="34" charset="0"/>
                <a:ea typeface="Georgia" pitchFamily="34" charset="-122"/>
                <a:cs typeface="Georgia" pitchFamily="34" charset="-120"/>
              </a:rPr>
              <a:t>Our 3-level evaluation</a:t>
            </a:r>
            <a:endParaRPr lang="en-US" sz="1733" dirty="0"/>
          </a:p>
        </p:txBody>
      </p:sp>
      <p:sp>
        <p:nvSpPr>
          <p:cNvPr id="13" name="Shape 11"/>
          <p:cNvSpPr/>
          <p:nvPr/>
        </p:nvSpPr>
        <p:spPr>
          <a:xfrm>
            <a:off x="7437120" y="2877312"/>
            <a:ext cx="4267200" cy="1072896"/>
          </a:xfrm>
          <a:prstGeom prst="rect">
            <a:avLst/>
          </a:prstGeom>
          <a:solidFill>
            <a:srgbClr val="F5F8FF"/>
          </a:solidFill>
          <a:ln w="12700">
            <a:solidFill>
              <a:srgbClr val="666666"/>
            </a:solidFill>
            <a:prstDash val="solid"/>
          </a:ln>
        </p:spPr>
        <p:txBody>
          <a:bodyPr/>
          <a:lstStyle/>
          <a:p>
            <a:endParaRPr lang="es-MX"/>
          </a:p>
        </p:txBody>
      </p:sp>
      <p:sp>
        <p:nvSpPr>
          <p:cNvPr id="14" name="Text 12"/>
          <p:cNvSpPr/>
          <p:nvPr/>
        </p:nvSpPr>
        <p:spPr>
          <a:xfrm>
            <a:off x="7620000" y="2926080"/>
            <a:ext cx="3901440" cy="0"/>
          </a:xfrm>
          <a:prstGeom prst="rect">
            <a:avLst/>
          </a:prstGeom>
          <a:noFill/>
          <a:ln/>
        </p:spPr>
        <p:txBody>
          <a:bodyPr wrap="square" rtlCol="0" anchor="t"/>
          <a:lstStyle/>
          <a:p>
            <a:r>
              <a:rPr lang="en-US" sz="1533" b="1" dirty="0">
                <a:solidFill>
                  <a:srgbClr val="666666"/>
                </a:solidFill>
                <a:latin typeface="Calibri" pitchFamily="34" charset="0"/>
                <a:ea typeface="Calibri" pitchFamily="34" charset="-122"/>
                <a:cs typeface="Calibri" pitchFamily="34" charset="-120"/>
              </a:rPr>
              <a:t>Baseline</a:t>
            </a:r>
            <a:endParaRPr lang="en-US" sz="1533" dirty="0"/>
          </a:p>
        </p:txBody>
      </p:sp>
      <p:sp>
        <p:nvSpPr>
          <p:cNvPr id="15" name="Text 13"/>
          <p:cNvSpPr/>
          <p:nvPr/>
        </p:nvSpPr>
        <p:spPr>
          <a:xfrm>
            <a:off x="7620000" y="3267456"/>
            <a:ext cx="3901440" cy="0"/>
          </a:xfrm>
          <a:prstGeom prst="rect">
            <a:avLst/>
          </a:prstGeom>
          <a:noFill/>
          <a:ln/>
        </p:spPr>
        <p:txBody>
          <a:bodyPr wrap="square" rtlCol="0" anchor="t"/>
          <a:lstStyle/>
          <a:p>
            <a:r>
              <a:rPr lang="en-US" sz="1400" dirty="0">
                <a:solidFill>
                  <a:srgbClr val="2E2E2E"/>
                </a:solidFill>
                <a:latin typeface="Calibri" pitchFamily="34" charset="0"/>
                <a:ea typeface="Calibri" pitchFamily="34" charset="-122"/>
                <a:cs typeface="Calibri" pitchFamily="34" charset="-120"/>
              </a:rPr>
              <a:t>Flat RAG (sui-memory style)</a:t>
            </a:r>
            <a:endParaRPr lang="en-US" sz="1400" dirty="0"/>
          </a:p>
        </p:txBody>
      </p:sp>
      <p:sp>
        <p:nvSpPr>
          <p:cNvPr id="16" name="Text 14"/>
          <p:cNvSpPr/>
          <p:nvPr/>
        </p:nvSpPr>
        <p:spPr>
          <a:xfrm>
            <a:off x="7620000" y="3608832"/>
            <a:ext cx="3901440" cy="0"/>
          </a:xfrm>
          <a:prstGeom prst="rect">
            <a:avLst/>
          </a:prstGeom>
          <a:noFill/>
          <a:ln/>
        </p:spPr>
        <p:txBody>
          <a:bodyPr wrap="square" rtlCol="0" anchor="t"/>
          <a:lstStyle/>
          <a:p>
            <a:r>
              <a:rPr lang="en-US" sz="1267" i="1" dirty="0">
                <a:solidFill>
                  <a:srgbClr val="666666"/>
                </a:solidFill>
                <a:latin typeface="Calibri" pitchFamily="34" charset="0"/>
                <a:ea typeface="Calibri" pitchFamily="34" charset="-122"/>
                <a:cs typeface="Calibri" pitchFamily="34" charset="-120"/>
              </a:rPr>
              <a:t>Build cost: Near-zero</a:t>
            </a:r>
            <a:endParaRPr lang="en-US" sz="1267" dirty="0"/>
          </a:p>
        </p:txBody>
      </p:sp>
      <p:sp>
        <p:nvSpPr>
          <p:cNvPr id="17" name="Shape 15"/>
          <p:cNvSpPr/>
          <p:nvPr/>
        </p:nvSpPr>
        <p:spPr>
          <a:xfrm>
            <a:off x="7437120" y="4096512"/>
            <a:ext cx="4267200" cy="1072896"/>
          </a:xfrm>
          <a:prstGeom prst="rect">
            <a:avLst/>
          </a:prstGeom>
          <a:solidFill>
            <a:srgbClr val="F5F8FF"/>
          </a:solidFill>
          <a:ln w="12700">
            <a:solidFill>
              <a:srgbClr val="156082"/>
            </a:solidFill>
            <a:prstDash val="solid"/>
          </a:ln>
        </p:spPr>
        <p:txBody>
          <a:bodyPr/>
          <a:lstStyle/>
          <a:p>
            <a:endParaRPr lang="es-MX"/>
          </a:p>
        </p:txBody>
      </p:sp>
      <p:sp>
        <p:nvSpPr>
          <p:cNvPr id="18" name="Text 16"/>
          <p:cNvSpPr/>
          <p:nvPr/>
        </p:nvSpPr>
        <p:spPr>
          <a:xfrm>
            <a:off x="7620000" y="4145280"/>
            <a:ext cx="3901440" cy="0"/>
          </a:xfrm>
          <a:prstGeom prst="rect">
            <a:avLst/>
          </a:prstGeom>
          <a:noFill/>
          <a:ln/>
        </p:spPr>
        <p:txBody>
          <a:bodyPr wrap="square" rtlCol="0" anchor="t"/>
          <a:lstStyle/>
          <a:p>
            <a:r>
              <a:rPr lang="en-US" sz="1533" b="1" dirty="0">
                <a:solidFill>
                  <a:srgbClr val="156082"/>
                </a:solidFill>
                <a:latin typeface="Calibri" pitchFamily="34" charset="0"/>
                <a:ea typeface="Calibri" pitchFamily="34" charset="-122"/>
                <a:cs typeface="Calibri" pitchFamily="34" charset="-120"/>
              </a:rPr>
              <a:t>Level 2</a:t>
            </a:r>
            <a:endParaRPr lang="en-US" sz="1533" dirty="0"/>
          </a:p>
        </p:txBody>
      </p:sp>
      <p:sp>
        <p:nvSpPr>
          <p:cNvPr id="19" name="Text 17"/>
          <p:cNvSpPr/>
          <p:nvPr/>
        </p:nvSpPr>
        <p:spPr>
          <a:xfrm>
            <a:off x="7620000" y="4486656"/>
            <a:ext cx="3901440" cy="0"/>
          </a:xfrm>
          <a:prstGeom prst="rect">
            <a:avLst/>
          </a:prstGeom>
          <a:noFill/>
          <a:ln/>
        </p:spPr>
        <p:txBody>
          <a:bodyPr wrap="square" rtlCol="0" anchor="t"/>
          <a:lstStyle/>
          <a:p>
            <a:r>
              <a:rPr lang="en-US" sz="1400" dirty="0">
                <a:solidFill>
                  <a:srgbClr val="2E2E2E"/>
                </a:solidFill>
                <a:latin typeface="Calibri" pitchFamily="34" charset="0"/>
                <a:ea typeface="Calibri" pitchFamily="34" charset="-122"/>
                <a:cs typeface="Calibri" pitchFamily="34" charset="-120"/>
              </a:rPr>
              <a:t>Q&amp;A pairs with discourse structure</a:t>
            </a:r>
            <a:endParaRPr lang="en-US" sz="1400" dirty="0"/>
          </a:p>
        </p:txBody>
      </p:sp>
      <p:sp>
        <p:nvSpPr>
          <p:cNvPr id="20" name="Text 18"/>
          <p:cNvSpPr/>
          <p:nvPr/>
        </p:nvSpPr>
        <p:spPr>
          <a:xfrm>
            <a:off x="7620000" y="4828032"/>
            <a:ext cx="3901440" cy="0"/>
          </a:xfrm>
          <a:prstGeom prst="rect">
            <a:avLst/>
          </a:prstGeom>
          <a:noFill/>
          <a:ln/>
        </p:spPr>
        <p:txBody>
          <a:bodyPr wrap="square" rtlCol="0" anchor="t"/>
          <a:lstStyle/>
          <a:p>
            <a:r>
              <a:rPr lang="en-US" sz="1267" i="1" dirty="0">
                <a:solidFill>
                  <a:srgbClr val="666666"/>
                </a:solidFill>
                <a:latin typeface="Calibri" pitchFamily="34" charset="0"/>
                <a:ea typeface="Calibri" pitchFamily="34" charset="-122"/>
                <a:cs typeface="Calibri" pitchFamily="34" charset="-120"/>
              </a:rPr>
              <a:t>Build cost: Low</a:t>
            </a:r>
            <a:endParaRPr lang="en-US" sz="1267" dirty="0"/>
          </a:p>
        </p:txBody>
      </p:sp>
      <p:sp>
        <p:nvSpPr>
          <p:cNvPr id="21" name="Shape 19"/>
          <p:cNvSpPr/>
          <p:nvPr/>
        </p:nvSpPr>
        <p:spPr>
          <a:xfrm>
            <a:off x="7437120" y="5315712"/>
            <a:ext cx="4267200" cy="1072896"/>
          </a:xfrm>
          <a:prstGeom prst="rect">
            <a:avLst/>
          </a:prstGeom>
          <a:solidFill>
            <a:srgbClr val="F5F8FF"/>
          </a:solidFill>
          <a:ln w="12700">
            <a:solidFill>
              <a:srgbClr val="0D1B2A"/>
            </a:solidFill>
            <a:prstDash val="solid"/>
          </a:ln>
        </p:spPr>
        <p:txBody>
          <a:bodyPr/>
          <a:lstStyle/>
          <a:p>
            <a:endParaRPr lang="es-MX"/>
          </a:p>
        </p:txBody>
      </p:sp>
      <p:sp>
        <p:nvSpPr>
          <p:cNvPr id="22" name="Text 20"/>
          <p:cNvSpPr/>
          <p:nvPr/>
        </p:nvSpPr>
        <p:spPr>
          <a:xfrm>
            <a:off x="7620000" y="5364480"/>
            <a:ext cx="3901440" cy="0"/>
          </a:xfrm>
          <a:prstGeom prst="rect">
            <a:avLst/>
          </a:prstGeom>
          <a:noFill/>
          <a:ln/>
        </p:spPr>
        <p:txBody>
          <a:bodyPr wrap="square" rtlCol="0" anchor="t"/>
          <a:lstStyle/>
          <a:p>
            <a:r>
              <a:rPr lang="en-US" sz="1533" b="1" dirty="0">
                <a:solidFill>
                  <a:srgbClr val="0D1B2A"/>
                </a:solidFill>
                <a:latin typeface="Calibri" pitchFamily="34" charset="0"/>
                <a:ea typeface="Calibri" pitchFamily="34" charset="-122"/>
                <a:cs typeface="Calibri" pitchFamily="34" charset="-120"/>
              </a:rPr>
              <a:t>Level 3</a:t>
            </a:r>
            <a:endParaRPr lang="en-US" sz="1533" dirty="0"/>
          </a:p>
        </p:txBody>
      </p:sp>
      <p:sp>
        <p:nvSpPr>
          <p:cNvPr id="23" name="Text 21"/>
          <p:cNvSpPr/>
          <p:nvPr/>
        </p:nvSpPr>
        <p:spPr>
          <a:xfrm>
            <a:off x="7620000" y="5705856"/>
            <a:ext cx="3901440" cy="0"/>
          </a:xfrm>
          <a:prstGeom prst="rect">
            <a:avLst/>
          </a:prstGeom>
          <a:noFill/>
          <a:ln/>
        </p:spPr>
        <p:txBody>
          <a:bodyPr wrap="square" rtlCol="0" anchor="t"/>
          <a:lstStyle/>
          <a:p>
            <a:r>
              <a:rPr lang="en-US" sz="1400" dirty="0">
                <a:solidFill>
                  <a:srgbClr val="2E2E2E"/>
                </a:solidFill>
                <a:latin typeface="Calibri" pitchFamily="34" charset="0"/>
                <a:ea typeface="Calibri" pitchFamily="34" charset="-122"/>
                <a:cs typeface="Calibri" pitchFamily="34" charset="-120"/>
              </a:rPr>
              <a:t>Eventuality KG with typed edges</a:t>
            </a:r>
            <a:endParaRPr lang="en-US" sz="1400" dirty="0"/>
          </a:p>
        </p:txBody>
      </p:sp>
      <p:sp>
        <p:nvSpPr>
          <p:cNvPr id="24" name="Text 22"/>
          <p:cNvSpPr/>
          <p:nvPr/>
        </p:nvSpPr>
        <p:spPr>
          <a:xfrm>
            <a:off x="7620000" y="6047232"/>
            <a:ext cx="3901440" cy="0"/>
          </a:xfrm>
          <a:prstGeom prst="rect">
            <a:avLst/>
          </a:prstGeom>
          <a:noFill/>
          <a:ln/>
        </p:spPr>
        <p:txBody>
          <a:bodyPr wrap="square" rtlCol="0" anchor="t"/>
          <a:lstStyle/>
          <a:p>
            <a:r>
              <a:rPr lang="en-US" sz="1267" i="1" dirty="0">
                <a:solidFill>
                  <a:srgbClr val="666666"/>
                </a:solidFill>
                <a:latin typeface="Calibri" pitchFamily="34" charset="0"/>
                <a:ea typeface="Calibri" pitchFamily="34" charset="-122"/>
                <a:cs typeface="Calibri" pitchFamily="34" charset="-120"/>
              </a:rPr>
              <a:t>Build cost: Medium</a:t>
            </a:r>
            <a:endParaRPr lang="en-US" sz="1267" dirty="0"/>
          </a:p>
        </p:txBody>
      </p:sp>
      <p:sp>
        <p:nvSpPr>
          <p:cNvPr id="25" name="Text 7">
            <a:extLst>
              <a:ext uri="{FF2B5EF4-FFF2-40B4-BE49-F238E27FC236}">
                <a16:creationId xmlns:a16="http://schemas.microsoft.com/office/drawing/2014/main" id="{C210DD75-3087-7965-8F21-EBB09825D5AF}"/>
              </a:ext>
            </a:extLst>
          </p:cNvPr>
          <p:cNvSpPr/>
          <p:nvPr/>
        </p:nvSpPr>
        <p:spPr>
          <a:xfrm>
            <a:off x="670560" y="3107436"/>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b="1" dirty="0">
                <a:latin typeface="Calibri" pitchFamily="34" charset="0"/>
                <a:ea typeface="Calibri" pitchFamily="34" charset="-122"/>
                <a:cs typeface="Calibri" pitchFamily="34" charset="-120"/>
              </a:rPr>
              <a:t>▸  25 questions, &lt; 5 minutes to run</a:t>
            </a:r>
            <a:endParaRPr lang="en-US" sz="1400" dirty="0"/>
          </a:p>
        </p:txBody>
      </p:sp>
      <p:sp>
        <p:nvSpPr>
          <p:cNvPr id="26" name="Text 8">
            <a:extLst>
              <a:ext uri="{FF2B5EF4-FFF2-40B4-BE49-F238E27FC236}">
                <a16:creationId xmlns:a16="http://schemas.microsoft.com/office/drawing/2014/main" id="{13748AAE-73F8-811F-221D-AC6A1A7D3173}"/>
              </a:ext>
            </a:extLst>
          </p:cNvPr>
          <p:cNvSpPr/>
          <p:nvPr/>
        </p:nvSpPr>
        <p:spPr>
          <a:xfrm>
            <a:off x="3568065" y="3107436"/>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a:latin typeface="Calibri" pitchFamily="34" charset="0"/>
                <a:ea typeface="Calibri" pitchFamily="34" charset="-122"/>
                <a:cs typeface="Calibri" pitchFamily="34" charset="-120"/>
              </a:rPr>
              <a:t>Evaluation must be fast enough to iterate on</a:t>
            </a:r>
            <a:endParaRPr lang="en-US" sz="1400" dirty="0"/>
          </a:p>
        </p:txBody>
      </p:sp>
      <p:sp>
        <p:nvSpPr>
          <p:cNvPr id="27" name="Text 9">
            <a:extLst>
              <a:ext uri="{FF2B5EF4-FFF2-40B4-BE49-F238E27FC236}">
                <a16:creationId xmlns:a16="http://schemas.microsoft.com/office/drawing/2014/main" id="{DA53B568-7421-9D4B-4066-1654050C41FF}"/>
              </a:ext>
            </a:extLst>
          </p:cNvPr>
          <p:cNvSpPr/>
          <p:nvPr/>
        </p:nvSpPr>
        <p:spPr>
          <a:xfrm>
            <a:off x="670560" y="3683508"/>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b="1" dirty="0">
                <a:latin typeface="Calibri" pitchFamily="34" charset="0"/>
                <a:ea typeface="Calibri" pitchFamily="34" charset="-122"/>
                <a:cs typeface="Calibri" pitchFamily="34" charset="-120"/>
              </a:rPr>
              <a:t>▸  Agentic check-correct loop</a:t>
            </a:r>
            <a:endParaRPr lang="en-US" sz="1400" dirty="0"/>
          </a:p>
        </p:txBody>
      </p:sp>
      <p:sp>
        <p:nvSpPr>
          <p:cNvPr id="28" name="Text 10">
            <a:extLst>
              <a:ext uri="{FF2B5EF4-FFF2-40B4-BE49-F238E27FC236}">
                <a16:creationId xmlns:a16="http://schemas.microsoft.com/office/drawing/2014/main" id="{CCD79F69-A760-0880-FEEF-96A160888F45}"/>
              </a:ext>
            </a:extLst>
          </p:cNvPr>
          <p:cNvSpPr/>
          <p:nvPr/>
        </p:nvSpPr>
        <p:spPr>
          <a:xfrm>
            <a:off x="3568065" y="3683508"/>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a:latin typeface="Calibri" pitchFamily="34" charset="0"/>
                <a:ea typeface="Calibri" pitchFamily="34" charset="-122"/>
                <a:cs typeface="Calibri" pitchFamily="34" charset="-120"/>
              </a:rPr>
              <a:t>The agent sees its output and can self-correct — just as our KG retrieval would</a:t>
            </a:r>
            <a:endParaRPr lang="en-US" sz="1400" dirty="0"/>
          </a:p>
        </p:txBody>
      </p:sp>
      <p:sp>
        <p:nvSpPr>
          <p:cNvPr id="29" name="Text 11">
            <a:extLst>
              <a:ext uri="{FF2B5EF4-FFF2-40B4-BE49-F238E27FC236}">
                <a16:creationId xmlns:a16="http://schemas.microsoft.com/office/drawing/2014/main" id="{669661E8-B21E-E96B-EEED-5784946280D8}"/>
              </a:ext>
            </a:extLst>
          </p:cNvPr>
          <p:cNvSpPr/>
          <p:nvPr/>
        </p:nvSpPr>
        <p:spPr>
          <a:xfrm>
            <a:off x="670560" y="4259580"/>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b="1" dirty="0">
                <a:latin typeface="Calibri" pitchFamily="34" charset="0"/>
                <a:ea typeface="Calibri" pitchFamily="34" charset="-122"/>
                <a:cs typeface="Calibri" pitchFamily="34" charset="-120"/>
              </a:rPr>
              <a:t>▸  Clear pass/fail on result sets</a:t>
            </a:r>
            <a:endParaRPr lang="en-US" sz="1400" dirty="0"/>
          </a:p>
        </p:txBody>
      </p:sp>
      <p:sp>
        <p:nvSpPr>
          <p:cNvPr id="30" name="Text 12">
            <a:extLst>
              <a:ext uri="{FF2B5EF4-FFF2-40B4-BE49-F238E27FC236}">
                <a16:creationId xmlns:a16="http://schemas.microsoft.com/office/drawing/2014/main" id="{474E1183-631B-0386-879A-9A0EE9ED9624}"/>
              </a:ext>
            </a:extLst>
          </p:cNvPr>
          <p:cNvSpPr/>
          <p:nvPr/>
        </p:nvSpPr>
        <p:spPr>
          <a:xfrm>
            <a:off x="3568065" y="4259580"/>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a:latin typeface="Calibri" pitchFamily="34" charset="0"/>
                <a:ea typeface="Calibri" pitchFamily="34" charset="-122"/>
                <a:cs typeface="Calibri" pitchFamily="34" charset="-120"/>
              </a:rPr>
              <a:t>Binary scoring removes ambiguity from evaluation</a:t>
            </a:r>
            <a:endParaRPr lang="en-US" sz="1400" dirty="0"/>
          </a:p>
        </p:txBody>
      </p:sp>
      <p:sp>
        <p:nvSpPr>
          <p:cNvPr id="31" name="Text 13">
            <a:extLst>
              <a:ext uri="{FF2B5EF4-FFF2-40B4-BE49-F238E27FC236}">
                <a16:creationId xmlns:a16="http://schemas.microsoft.com/office/drawing/2014/main" id="{530490DE-CFDF-18EB-EEE0-C1092B11F033}"/>
              </a:ext>
            </a:extLst>
          </p:cNvPr>
          <p:cNvSpPr/>
          <p:nvPr/>
        </p:nvSpPr>
        <p:spPr>
          <a:xfrm>
            <a:off x="670560" y="4835652"/>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b="1" dirty="0">
                <a:latin typeface="Calibri" pitchFamily="34" charset="0"/>
                <a:ea typeface="Calibri" pitchFamily="34" charset="-122"/>
                <a:cs typeface="Calibri" pitchFamily="34" charset="-120"/>
              </a:rPr>
              <a:t>▸  Cost + speed + accuracy reported</a:t>
            </a:r>
            <a:endParaRPr lang="en-US" sz="1400" dirty="0"/>
          </a:p>
        </p:txBody>
      </p:sp>
      <p:sp>
        <p:nvSpPr>
          <p:cNvPr id="32" name="Text 14">
            <a:extLst>
              <a:ext uri="{FF2B5EF4-FFF2-40B4-BE49-F238E27FC236}">
                <a16:creationId xmlns:a16="http://schemas.microsoft.com/office/drawing/2014/main" id="{E100BAD7-FBC2-BFDD-3F79-9F0DF0102FB5}"/>
              </a:ext>
            </a:extLst>
          </p:cNvPr>
          <p:cNvSpPr/>
          <p:nvPr/>
        </p:nvSpPr>
        <p:spPr>
          <a:xfrm>
            <a:off x="3568065" y="4835652"/>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a:latin typeface="Calibri" pitchFamily="34" charset="0"/>
                <a:ea typeface="Calibri" pitchFamily="34" charset="-122"/>
                <a:cs typeface="Calibri" pitchFamily="34" charset="-120"/>
              </a:rPr>
              <a:t>Trade-offs must be made explicit, not hidden</a:t>
            </a:r>
            <a:endParaRPr lang="en-US" sz="1400" dirty="0"/>
          </a:p>
        </p:txBody>
      </p:sp>
      <p:sp>
        <p:nvSpPr>
          <p:cNvPr id="33" name="Text 15">
            <a:extLst>
              <a:ext uri="{FF2B5EF4-FFF2-40B4-BE49-F238E27FC236}">
                <a16:creationId xmlns:a16="http://schemas.microsoft.com/office/drawing/2014/main" id="{1B6F1F2C-6D9B-EE29-71B5-6B6FD76DA446}"/>
              </a:ext>
            </a:extLst>
          </p:cNvPr>
          <p:cNvSpPr/>
          <p:nvPr/>
        </p:nvSpPr>
        <p:spPr>
          <a:xfrm>
            <a:off x="670560" y="5411724"/>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b="1" dirty="0">
                <a:latin typeface="Calibri" pitchFamily="34" charset="0"/>
                <a:ea typeface="Calibri" pitchFamily="34" charset="-122"/>
                <a:cs typeface="Calibri" pitchFamily="34" charset="-120"/>
              </a:rPr>
              <a:t>▸  Honest about model failures</a:t>
            </a:r>
            <a:endParaRPr lang="en-US" sz="1400" dirty="0"/>
          </a:p>
        </p:txBody>
      </p:sp>
      <p:sp>
        <p:nvSpPr>
          <p:cNvPr id="34" name="Text 16">
            <a:extLst>
              <a:ext uri="{FF2B5EF4-FFF2-40B4-BE49-F238E27FC236}">
                <a16:creationId xmlns:a16="http://schemas.microsoft.com/office/drawing/2014/main" id="{29762A6E-EA4B-CAF4-C58F-2300E7E9B42C}"/>
              </a:ext>
            </a:extLst>
          </p:cNvPr>
          <p:cNvSpPr/>
          <p:nvPr/>
        </p:nvSpPr>
        <p:spPr>
          <a:xfrm>
            <a:off x="3568065" y="5411724"/>
            <a:ext cx="3533775" cy="32004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a:latin typeface="Calibri" pitchFamily="34" charset="0"/>
                <a:ea typeface="Calibri" pitchFamily="34" charset="-122"/>
                <a:cs typeface="Calibri" pitchFamily="34" charset="-120"/>
              </a:rPr>
              <a:t>Every failure mode is categorized: wrong SQL, tool-call error, timeout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a:p>
        </p:txBody>
      </p:sp>
      <p:sp>
        <p:nvSpPr>
          <p:cNvPr id="3" name="Text 1"/>
          <p:cNvSpPr/>
          <p:nvPr/>
        </p:nvSpPr>
        <p:spPr>
          <a:xfrm>
            <a:off x="426720" y="0"/>
            <a:ext cx="1133856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Evaluation — Dataset and Annotation Design</a:t>
            </a:r>
            <a:endParaRPr lang="en-US" sz="2933" dirty="0"/>
          </a:p>
        </p:txBody>
      </p:sp>
      <p:sp>
        <p:nvSpPr>
          <p:cNvPr id="4" name="Text 2"/>
          <p:cNvSpPr/>
          <p:nvPr/>
        </p:nvSpPr>
        <p:spPr>
          <a:xfrm>
            <a:off x="426720" y="1330071"/>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データセット</a:t>
            </a:r>
            <a:endParaRPr lang="en-US" sz="2133" dirty="0"/>
          </a:p>
        </p:txBody>
      </p:sp>
      <p:sp>
        <p:nvSpPr>
          <p:cNvPr id="5" name="Text 3"/>
          <p:cNvSpPr/>
          <p:nvPr/>
        </p:nvSpPr>
        <p:spPr>
          <a:xfrm>
            <a:off x="426720" y="1744599"/>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No new data collection is required. Existing session logs in ~/.claude/projects/ make the experiment immediately reproducible.</a:t>
            </a:r>
            <a:endParaRPr lang="en-US" sz="1733" dirty="0"/>
          </a:p>
        </p:txBody>
      </p:sp>
      <p:sp>
        <p:nvSpPr>
          <p:cNvPr id="6" name="Shape 4"/>
          <p:cNvSpPr/>
          <p:nvPr/>
        </p:nvSpPr>
        <p:spPr>
          <a:xfrm>
            <a:off x="487680" y="2255520"/>
            <a:ext cx="5486400" cy="4267200"/>
          </a:xfrm>
          <a:prstGeom prst="rect">
            <a:avLst/>
          </a:prstGeom>
          <a:solidFill>
            <a:srgbClr val="DAE3F3"/>
          </a:solidFill>
          <a:ln w="12700">
            <a:solidFill>
              <a:srgbClr val="156082"/>
            </a:solidFill>
            <a:prstDash val="solid"/>
          </a:ln>
        </p:spPr>
        <p:txBody>
          <a:bodyPr/>
          <a:lstStyle/>
          <a:p>
            <a:endParaRPr lang="es-MX"/>
          </a:p>
        </p:txBody>
      </p:sp>
      <p:sp>
        <p:nvSpPr>
          <p:cNvPr id="7" name="Shape 5"/>
          <p:cNvSpPr/>
          <p:nvPr/>
        </p:nvSpPr>
        <p:spPr>
          <a:xfrm>
            <a:off x="487680" y="2255520"/>
            <a:ext cx="5486400" cy="524256"/>
          </a:xfrm>
          <a:prstGeom prst="rect">
            <a:avLst/>
          </a:prstGeom>
          <a:solidFill>
            <a:srgbClr val="0D1B2A"/>
          </a:solidFill>
          <a:ln w="12700">
            <a:solidFill>
              <a:srgbClr val="0D1B2A"/>
            </a:solidFill>
            <a:prstDash val="solid"/>
          </a:ln>
        </p:spPr>
        <p:txBody>
          <a:bodyPr/>
          <a:lstStyle/>
          <a:p>
            <a:endParaRPr lang="es-MX"/>
          </a:p>
        </p:txBody>
      </p:sp>
      <p:sp>
        <p:nvSpPr>
          <p:cNvPr id="8" name="Text 6"/>
          <p:cNvSpPr/>
          <p:nvPr/>
        </p:nvSpPr>
        <p:spPr>
          <a:xfrm>
            <a:off x="487680" y="2255520"/>
            <a:ext cx="5486400" cy="524256"/>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Dataset</a:t>
            </a:r>
            <a:endParaRPr lang="en-US" sz="1733" dirty="0"/>
          </a:p>
        </p:txBody>
      </p:sp>
      <p:sp>
        <p:nvSpPr>
          <p:cNvPr id="9" name="Text 7"/>
          <p:cNvSpPr/>
          <p:nvPr/>
        </p:nvSpPr>
        <p:spPr>
          <a:xfrm>
            <a:off x="670560" y="2889504"/>
            <a:ext cx="5120640" cy="3511296"/>
          </a:xfrm>
          <a:prstGeom prst="rect">
            <a:avLst/>
          </a:prstGeom>
          <a:noFill/>
          <a:ln/>
        </p:spPr>
        <p:txBody>
          <a:bodyPr wrap="square" rtlCol="0" anchor="t"/>
          <a:lstStyle/>
          <a:p>
            <a:pPr marL="457189" indent="-457189">
              <a:lnSpc>
                <a:spcPct val="150000"/>
              </a:lnSpc>
              <a:buSzPct val="100000"/>
              <a:buChar char="•"/>
            </a:pPr>
            <a:r>
              <a:rPr lang="en-US" sz="1600" dirty="0">
                <a:solidFill>
                  <a:srgbClr val="2E2E2E"/>
                </a:solidFill>
                <a:latin typeface="Calibri" pitchFamily="34" charset="0"/>
                <a:ea typeface="Calibri" pitchFamily="34" charset="-122"/>
                <a:cs typeface="Calibri" pitchFamily="34" charset="-120"/>
              </a:rPr>
              <a:t>Sessions: 10–20 Claude Code sessions from existing transcripts</a:t>
            </a:r>
            <a:endParaRPr lang="en-US" sz="1600" dirty="0"/>
          </a:p>
          <a:p>
            <a:pPr marL="457189" indent="-457189">
              <a:lnSpc>
                <a:spcPct val="150000"/>
              </a:lnSpc>
              <a:buSzPct val="100000"/>
              <a:buChar char="•"/>
            </a:pPr>
            <a:r>
              <a:rPr lang="en-US" sz="1600" dirty="0">
                <a:solidFill>
                  <a:srgbClr val="2E2E2E"/>
                </a:solidFill>
                <a:latin typeface="Calibri" pitchFamily="34" charset="0"/>
                <a:ea typeface="Calibri" pitchFamily="34" charset="-122"/>
                <a:cs typeface="Calibri" pitchFamily="34" charset="-120"/>
              </a:rPr>
              <a:t>KG scale: ~200–500 eventuality nodes, ~100–300 relation edges</a:t>
            </a:r>
            <a:endParaRPr lang="en-US" sz="1600" dirty="0"/>
          </a:p>
          <a:p>
            <a:pPr marL="457189" indent="-457189">
              <a:lnSpc>
                <a:spcPct val="150000"/>
              </a:lnSpc>
              <a:buSzPct val="100000"/>
              <a:buChar char="•"/>
            </a:pPr>
            <a:r>
              <a:rPr lang="en-US" sz="1600" dirty="0">
                <a:solidFill>
                  <a:srgbClr val="2E2E2E"/>
                </a:solidFill>
                <a:latin typeface="Calibri" pitchFamily="34" charset="0"/>
                <a:ea typeface="Calibri" pitchFamily="34" charset="-122"/>
                <a:cs typeface="Calibri" pitchFamily="34" charset="-120"/>
              </a:rPr>
              <a:t>Query set: 50–100 questions the researcher would realistically ask</a:t>
            </a:r>
            <a:endParaRPr lang="en-US" sz="1600" dirty="0"/>
          </a:p>
          <a:p>
            <a:pPr marL="457189" indent="-457189">
              <a:lnSpc>
                <a:spcPct val="150000"/>
              </a:lnSpc>
              <a:buSzPct val="100000"/>
              <a:buChar char="•"/>
            </a:pPr>
            <a:r>
              <a:rPr lang="en-US" sz="1600" dirty="0">
                <a:solidFill>
                  <a:srgbClr val="2E2E2E"/>
                </a:solidFill>
                <a:latin typeface="Calibri" pitchFamily="34" charset="0"/>
                <a:ea typeface="Calibri" pitchFamily="34" charset="-122"/>
                <a:cs typeface="Calibri" pitchFamily="34" charset="-120"/>
              </a:rPr>
              <a:t>Source: ~/.claude/projects/ — no new data collection needed</a:t>
            </a:r>
            <a:endParaRPr lang="en-US" sz="1600" dirty="0"/>
          </a:p>
        </p:txBody>
      </p:sp>
      <p:sp>
        <p:nvSpPr>
          <p:cNvPr id="10" name="Shape 8"/>
          <p:cNvSpPr/>
          <p:nvPr/>
        </p:nvSpPr>
        <p:spPr>
          <a:xfrm>
            <a:off x="6217920" y="2255520"/>
            <a:ext cx="5486400" cy="4267200"/>
          </a:xfrm>
          <a:prstGeom prst="rect">
            <a:avLst/>
          </a:prstGeom>
          <a:solidFill>
            <a:srgbClr val="DAE3F3"/>
          </a:solidFill>
          <a:ln w="12700">
            <a:solidFill>
              <a:srgbClr val="156082"/>
            </a:solidFill>
            <a:prstDash val="solid"/>
          </a:ln>
        </p:spPr>
        <p:txBody>
          <a:bodyPr/>
          <a:lstStyle/>
          <a:p>
            <a:endParaRPr lang="es-MX"/>
          </a:p>
        </p:txBody>
      </p:sp>
      <p:sp>
        <p:nvSpPr>
          <p:cNvPr id="11" name="Shape 9"/>
          <p:cNvSpPr/>
          <p:nvPr/>
        </p:nvSpPr>
        <p:spPr>
          <a:xfrm>
            <a:off x="6217920" y="2255520"/>
            <a:ext cx="5486400" cy="524256"/>
          </a:xfrm>
          <a:prstGeom prst="rect">
            <a:avLst/>
          </a:prstGeom>
          <a:solidFill>
            <a:srgbClr val="0D1B2A"/>
          </a:solidFill>
          <a:ln w="12700">
            <a:solidFill>
              <a:srgbClr val="0D1B2A"/>
            </a:solidFill>
            <a:prstDash val="solid"/>
          </a:ln>
        </p:spPr>
        <p:txBody>
          <a:bodyPr/>
          <a:lstStyle/>
          <a:p>
            <a:endParaRPr lang="es-MX"/>
          </a:p>
        </p:txBody>
      </p:sp>
      <p:sp>
        <p:nvSpPr>
          <p:cNvPr id="12" name="Text 10"/>
          <p:cNvSpPr/>
          <p:nvPr/>
        </p:nvSpPr>
        <p:spPr>
          <a:xfrm>
            <a:off x="6217920" y="2255520"/>
            <a:ext cx="5486400" cy="524256"/>
          </a:xfrm>
          <a:prstGeom prst="rect">
            <a:avLst/>
          </a:prstGeom>
          <a:noFill/>
          <a:ln/>
        </p:spPr>
        <p:txBody>
          <a:bodyPr wrap="square" rtlCol="0" anchor="ctr"/>
          <a:lstStyle/>
          <a:p>
            <a:pPr algn="ctr"/>
            <a:r>
              <a:rPr lang="en-US" sz="1733" b="1" dirty="0">
                <a:solidFill>
                  <a:srgbClr val="FFFFFF"/>
                </a:solidFill>
                <a:latin typeface="Georgia" pitchFamily="34" charset="0"/>
                <a:ea typeface="Georgia" pitchFamily="34" charset="-122"/>
                <a:cs typeface="Georgia" pitchFamily="34" charset="-120"/>
              </a:rPr>
              <a:t>Annotation (human, small-scale)</a:t>
            </a:r>
            <a:endParaRPr lang="en-US" sz="1733" dirty="0"/>
          </a:p>
        </p:txBody>
      </p:sp>
      <p:sp>
        <p:nvSpPr>
          <p:cNvPr id="13" name="Text 11"/>
          <p:cNvSpPr/>
          <p:nvPr/>
        </p:nvSpPr>
        <p:spPr>
          <a:xfrm>
            <a:off x="6400800" y="2889504"/>
            <a:ext cx="5120640" cy="3511296"/>
          </a:xfrm>
          <a:prstGeom prst="rect">
            <a:avLst/>
          </a:prstGeom>
          <a:noFill/>
          <a:ln/>
        </p:spPr>
        <p:txBody>
          <a:bodyPr wrap="square" rtlCol="0" anchor="t"/>
          <a:lstStyle/>
          <a:p>
            <a:pPr marL="285750" indent="-285750">
              <a:buSzPct val="100000"/>
              <a:buFont typeface="Arial" panose="020B0604020202020204" pitchFamily="34" charset="0"/>
              <a:buChar char="•"/>
            </a:pPr>
            <a:endParaRPr lang="en-US" sz="1467" dirty="0">
              <a:solidFill>
                <a:srgbClr val="2E2E2E"/>
              </a:solidFill>
              <a:latin typeface="Calibri" pitchFamily="34" charset="0"/>
              <a:ea typeface="Calibri" pitchFamily="34" charset="-122"/>
              <a:cs typeface="Calibri" pitchFamily="34" charset="-120"/>
            </a:endParaRPr>
          </a:p>
          <a:p>
            <a:pPr marL="285750" indent="-285750">
              <a:buSzPct val="100000"/>
              <a:buFont typeface="Arial" panose="020B0604020202020204" pitchFamily="34" charset="0"/>
              <a:buChar char="•"/>
            </a:pPr>
            <a:r>
              <a:rPr lang="en-US" sz="1600" b="1" i="1" dirty="0">
                <a:solidFill>
                  <a:srgbClr val="2E2E2E"/>
                </a:solidFill>
                <a:latin typeface="Calibri" pitchFamily="34" charset="0"/>
                <a:ea typeface="Calibri" pitchFamily="34" charset="-122"/>
                <a:cs typeface="Calibri" pitchFamily="34" charset="-120"/>
              </a:rPr>
              <a:t>Stage 1</a:t>
            </a:r>
            <a:r>
              <a:rPr lang="en-US" sz="1600" b="1" dirty="0">
                <a:solidFill>
                  <a:srgbClr val="2E2E2E"/>
                </a:solidFill>
                <a:latin typeface="Calibri" pitchFamily="34" charset="0"/>
                <a:ea typeface="Calibri" pitchFamily="34" charset="-122"/>
                <a:cs typeface="Calibri" pitchFamily="34" charset="-120"/>
              </a:rPr>
              <a:t> — KG Quality:</a:t>
            </a:r>
            <a:endParaRPr lang="en-US" sz="1467" dirty="0">
              <a:solidFill>
                <a:srgbClr val="2E2E2E"/>
              </a:solidFill>
              <a:latin typeface="Calibri" pitchFamily="34" charset="0"/>
              <a:ea typeface="Calibri" pitchFamily="34" charset="-122"/>
              <a:cs typeface="Calibri" pitchFamily="34" charset="-120"/>
            </a:endParaRPr>
          </a:p>
          <a:p>
            <a:pPr>
              <a:buSzPct val="100000"/>
            </a:pPr>
            <a:r>
              <a:rPr lang="en-US" sz="1467" dirty="0">
                <a:solidFill>
                  <a:srgbClr val="2E2E2E"/>
                </a:solidFill>
                <a:latin typeface="Calibri" pitchFamily="34" charset="0"/>
                <a:ea typeface="Calibri" pitchFamily="34" charset="-122"/>
                <a:cs typeface="Calibri" pitchFamily="34" charset="-120"/>
              </a:rPr>
              <a:t>Is this eventuality semantically valid? (0/1)</a:t>
            </a:r>
          </a:p>
          <a:p>
            <a:pPr>
              <a:buSzPct val="100000"/>
            </a:pPr>
            <a:r>
              <a:rPr lang="en-US" sz="1467" dirty="0">
                <a:solidFill>
                  <a:srgbClr val="2E2E2E"/>
                </a:solidFill>
                <a:latin typeface="Calibri" pitchFamily="34" charset="0"/>
                <a:ea typeface="Calibri" pitchFamily="34" charset="-122"/>
                <a:cs typeface="Calibri" pitchFamily="34" charset="-120"/>
              </a:rPr>
              <a:t>Is this edge type correct? (0/1 / NA)
</a:t>
            </a:r>
            <a:endParaRPr lang="en-US" sz="1467" dirty="0"/>
          </a:p>
          <a:p>
            <a:pPr marL="285750" indent="-285750">
              <a:buSzPct val="100000"/>
              <a:buFont typeface="Arial" panose="020B0604020202020204" pitchFamily="34" charset="0"/>
              <a:buChar char="•"/>
            </a:pPr>
            <a:r>
              <a:rPr lang="en-US" sz="1467" b="1" i="1" dirty="0">
                <a:solidFill>
                  <a:srgbClr val="2E2E2E"/>
                </a:solidFill>
                <a:latin typeface="Calibri" pitchFamily="34" charset="0"/>
                <a:ea typeface="Calibri" pitchFamily="34" charset="-122"/>
                <a:cs typeface="Calibri" pitchFamily="34" charset="-120"/>
              </a:rPr>
              <a:t>Stage 2 </a:t>
            </a:r>
            <a:r>
              <a:rPr lang="en-US" sz="1467" b="1" dirty="0">
                <a:solidFill>
                  <a:srgbClr val="2E2E2E"/>
                </a:solidFill>
                <a:latin typeface="Calibri" pitchFamily="34" charset="0"/>
                <a:ea typeface="Calibri" pitchFamily="34" charset="-122"/>
                <a:cs typeface="Calibri" pitchFamily="34" charset="-120"/>
              </a:rPr>
              <a:t>— Retrieval Quality:</a:t>
            </a:r>
          </a:p>
          <a:p>
            <a:pPr>
              <a:buSzPct val="100000"/>
            </a:pPr>
            <a:r>
              <a:rPr lang="en-US" sz="1467" dirty="0">
                <a:solidFill>
                  <a:srgbClr val="2E2E2E"/>
                </a:solidFill>
                <a:latin typeface="Calibri" pitchFamily="34" charset="0"/>
                <a:ea typeface="Calibri" pitchFamily="34" charset="-122"/>
                <a:cs typeface="Calibri" pitchFamily="34" charset="-120"/>
              </a:rPr>
              <a:t>Does the retrieved chunk contain the answer?</a:t>
            </a:r>
          </a:p>
          <a:p>
            <a:pPr>
              <a:buSzPct val="100000"/>
            </a:pPr>
            <a:r>
              <a:rPr lang="en-US" sz="1467" dirty="0">
                <a:solidFill>
                  <a:srgbClr val="2E2E2E"/>
                </a:solidFill>
                <a:latin typeface="Calibri" pitchFamily="34" charset="0"/>
                <a:ea typeface="Calibri" pitchFamily="34" charset="-122"/>
                <a:cs typeface="Calibri" pitchFamily="34" charset="-120"/>
              </a:rPr>
              <a:t>
</a:t>
            </a:r>
            <a:endParaRPr lang="en-US" sz="1467" dirty="0"/>
          </a:p>
        </p:txBody>
      </p:sp>
      <p:sp>
        <p:nvSpPr>
          <p:cNvPr id="14" name="Shape 12"/>
          <p:cNvSpPr/>
          <p:nvPr/>
        </p:nvSpPr>
        <p:spPr>
          <a:xfrm>
            <a:off x="487680" y="6608064"/>
            <a:ext cx="11216640" cy="0"/>
          </a:xfrm>
          <a:prstGeom prst="rect">
            <a:avLst/>
          </a:prstGeom>
          <a:solidFill>
            <a:srgbClr val="FFFFFF"/>
          </a:solidFill>
          <a:ln w="12700">
            <a:solidFill>
              <a:srgbClr val="FFFFFF"/>
            </a:solidFill>
            <a:prstDash val="solid"/>
          </a:ln>
        </p:spPr>
        <p:txBody>
          <a:bodyPr/>
          <a:lstStyle/>
          <a:p>
            <a:endParaRPr lang="es-MX"/>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sz="2400"/>
          </a:p>
        </p:txBody>
      </p:sp>
      <p:sp>
        <p:nvSpPr>
          <p:cNvPr id="3" name="Text 1"/>
          <p:cNvSpPr/>
          <p:nvPr/>
        </p:nvSpPr>
        <p:spPr>
          <a:xfrm>
            <a:off x="365760" y="0"/>
            <a:ext cx="11460480" cy="877824"/>
          </a:xfrm>
          <a:prstGeom prst="rect">
            <a:avLst/>
          </a:prstGeom>
          <a:noFill/>
          <a:ln/>
        </p:spPr>
        <p:txBody>
          <a:bodyPr wrap="square" rtlCol="0" anchor="ctr"/>
          <a:lstStyle/>
          <a:p>
            <a:r>
              <a:rPr lang="ja-JP" altLang="es-MX" sz="2933" b="1" dirty="0">
                <a:solidFill>
                  <a:srgbClr val="FFFFFF"/>
                </a:solidFill>
                <a:latin typeface="Georgia" pitchFamily="34" charset="0"/>
              </a:rPr>
              <a:t>まとめ</a:t>
            </a:r>
            <a:endParaRPr lang="en-US" sz="2933" dirty="0"/>
          </a:p>
        </p:txBody>
      </p:sp>
      <p:sp>
        <p:nvSpPr>
          <p:cNvPr id="4" name="Text 2"/>
          <p:cNvSpPr/>
          <p:nvPr/>
        </p:nvSpPr>
        <p:spPr>
          <a:xfrm>
            <a:off x="487680" y="1240155"/>
            <a:ext cx="11216640" cy="0"/>
          </a:xfrm>
          <a:prstGeom prst="rect">
            <a:avLst/>
          </a:prstGeom>
          <a:noFill/>
          <a:ln/>
        </p:spPr>
        <p:txBody>
          <a:bodyPr wrap="square" rtlCol="0" anchor="ctr"/>
          <a:lstStyle/>
          <a:p>
            <a:r>
              <a:rPr lang="en-US" sz="2133" b="1" dirty="0">
                <a:solidFill>
                  <a:srgbClr val="2E2E2E"/>
                </a:solidFill>
                <a:latin typeface="Georgia" pitchFamily="34" charset="0"/>
                <a:ea typeface="Georgia" pitchFamily="34" charset="-122"/>
                <a:cs typeface="Georgia" pitchFamily="34" charset="-120"/>
              </a:rPr>
              <a:t>研究の位置づけ</a:t>
            </a:r>
            <a:endParaRPr lang="en-US" sz="2133" dirty="0"/>
          </a:p>
        </p:txBody>
      </p:sp>
      <p:sp>
        <p:nvSpPr>
          <p:cNvPr id="5" name="Text 3"/>
          <p:cNvSpPr/>
          <p:nvPr/>
        </p:nvSpPr>
        <p:spPr>
          <a:xfrm>
            <a:off x="487680" y="1724025"/>
            <a:ext cx="11216640" cy="0"/>
          </a:xfrm>
          <a:prstGeom prst="rect">
            <a:avLst/>
          </a:prstGeom>
          <a:noFill/>
          <a:ln/>
        </p:spPr>
        <p:txBody>
          <a:bodyPr wrap="square" rtlCol="0" anchor="ctr"/>
          <a:lstStyle/>
          <a:p>
            <a:r>
              <a:rPr lang="en-US" sz="1733" dirty="0">
                <a:solidFill>
                  <a:srgbClr val="404040"/>
                </a:solidFill>
                <a:latin typeface="Calibri" pitchFamily="34" charset="0"/>
                <a:ea typeface="Calibri" pitchFamily="34" charset="-122"/>
                <a:cs typeface="Calibri" pitchFamily="34" charset="-120"/>
              </a:rPr>
              <a:t>This work is not a replacement for ASER. It applies ASER's extraction philosophy to a new input modality and a new use case. The contribution is both a system and an empirical characterization of where the approach helps and where it fails.</a:t>
            </a:r>
          </a:p>
        </p:txBody>
      </p:sp>
      <p:sp>
        <p:nvSpPr>
          <p:cNvPr id="6" name="Shape 4"/>
          <p:cNvSpPr/>
          <p:nvPr/>
        </p:nvSpPr>
        <p:spPr>
          <a:xfrm>
            <a:off x="2459355" y="2207895"/>
            <a:ext cx="3596640" cy="3048000"/>
          </a:xfrm>
          <a:prstGeom prst="rect">
            <a:avLst/>
          </a:prstGeom>
          <a:solidFill>
            <a:srgbClr val="DAE3F3"/>
          </a:solidFill>
          <a:ln w="12700">
            <a:solidFill>
              <a:srgbClr val="156082"/>
            </a:solidFill>
            <a:prstDash val="solid"/>
          </a:ln>
        </p:spPr>
        <p:txBody>
          <a:bodyPr/>
          <a:lstStyle/>
          <a:p>
            <a:endParaRPr lang="es-MX" sz="2400"/>
          </a:p>
        </p:txBody>
      </p:sp>
      <p:sp>
        <p:nvSpPr>
          <p:cNvPr id="7" name="Text 5"/>
          <p:cNvSpPr/>
          <p:nvPr/>
        </p:nvSpPr>
        <p:spPr>
          <a:xfrm>
            <a:off x="2526030" y="2634615"/>
            <a:ext cx="3352800" cy="0"/>
          </a:xfrm>
          <a:prstGeom prst="rect">
            <a:avLst/>
          </a:prstGeom>
          <a:noFill/>
          <a:ln/>
        </p:spPr>
        <p:txBody>
          <a:bodyPr wrap="square" rtlCol="0" anchor="ctr"/>
          <a:lstStyle/>
          <a:p>
            <a:pPr algn="ctr"/>
            <a:r>
              <a:rPr lang="en-US" sz="1667" b="1" dirty="0">
                <a:solidFill>
                  <a:srgbClr val="0D1B2A"/>
                </a:solidFill>
                <a:latin typeface="Georgia" pitchFamily="34" charset="0"/>
                <a:ea typeface="Georgia" pitchFamily="34" charset="-122"/>
                <a:cs typeface="Georgia" pitchFamily="34" charset="-120"/>
              </a:rPr>
              <a:t>General Commonsense KGs</a:t>
            </a:r>
            <a:endParaRPr lang="en-US" sz="1667" dirty="0"/>
          </a:p>
        </p:txBody>
      </p:sp>
      <p:sp>
        <p:nvSpPr>
          <p:cNvPr id="8" name="Text 6"/>
          <p:cNvSpPr/>
          <p:nvPr/>
        </p:nvSpPr>
        <p:spPr>
          <a:xfrm>
            <a:off x="2526030" y="3061335"/>
            <a:ext cx="3352800" cy="0"/>
          </a:xfrm>
          <a:prstGeom prst="rect">
            <a:avLst/>
          </a:prstGeom>
          <a:noFill/>
          <a:ln/>
        </p:spPr>
        <p:txBody>
          <a:bodyPr wrap="square" rtlCol="0" anchor="ctr"/>
          <a:lstStyle/>
          <a:p>
            <a:pPr algn="ctr"/>
            <a:r>
              <a:rPr lang="en-US" sz="1333" i="1" dirty="0">
                <a:solidFill>
                  <a:srgbClr val="666666"/>
                </a:solidFill>
                <a:latin typeface="Calibri" pitchFamily="34" charset="0"/>
                <a:ea typeface="Calibri" pitchFamily="34" charset="-122"/>
                <a:cs typeface="Calibri" pitchFamily="34" charset="-120"/>
              </a:rPr>
              <a:t>ASER, ConceptNet</a:t>
            </a:r>
            <a:endParaRPr lang="en-US" sz="1333" dirty="0"/>
          </a:p>
        </p:txBody>
      </p:sp>
      <p:sp>
        <p:nvSpPr>
          <p:cNvPr id="9" name="Text 7"/>
          <p:cNvSpPr/>
          <p:nvPr/>
        </p:nvSpPr>
        <p:spPr>
          <a:xfrm>
            <a:off x="2526030" y="4126230"/>
            <a:ext cx="3352800" cy="0"/>
          </a:xfrm>
          <a:prstGeom prst="rect">
            <a:avLst/>
          </a:prstGeom>
          <a:noFill/>
          <a:ln/>
        </p:spPr>
        <p:txBody>
          <a:bodyPr wrap="square" rtlCol="0" anchor="ctr"/>
          <a:lstStyle/>
          <a:p>
            <a:r>
              <a:rPr lang="en-US" sz="1467" dirty="0">
                <a:solidFill>
                  <a:srgbClr val="404040"/>
                </a:solidFill>
                <a:latin typeface="Calibri" pitchFamily="34" charset="0"/>
                <a:ea typeface="Calibri" pitchFamily="34" charset="-122"/>
                <a:cs typeface="Calibri" pitchFamily="34" charset="-120"/>
              </a:rPr>
              <a:t>Built from large web corpora (11B tokens). Represents general world knowledge — what usually follows buying a ticket, what it means to feel tired.</a:t>
            </a:r>
            <a:endParaRPr lang="en-US" sz="1467" dirty="0"/>
          </a:p>
        </p:txBody>
      </p:sp>
      <p:sp>
        <p:nvSpPr>
          <p:cNvPr id="10" name="Shape 8"/>
          <p:cNvSpPr/>
          <p:nvPr/>
        </p:nvSpPr>
        <p:spPr>
          <a:xfrm>
            <a:off x="6263259" y="2207895"/>
            <a:ext cx="3596640" cy="3048000"/>
          </a:xfrm>
          <a:prstGeom prst="rect">
            <a:avLst/>
          </a:prstGeom>
          <a:solidFill>
            <a:srgbClr val="0D1B2A"/>
          </a:solidFill>
          <a:ln w="12700">
            <a:solidFill>
              <a:srgbClr val="0D1B2A"/>
            </a:solidFill>
            <a:prstDash val="solid"/>
          </a:ln>
        </p:spPr>
        <p:txBody>
          <a:bodyPr/>
          <a:lstStyle/>
          <a:p>
            <a:endParaRPr lang="es-MX" sz="2400"/>
          </a:p>
        </p:txBody>
      </p:sp>
      <p:sp>
        <p:nvSpPr>
          <p:cNvPr id="11" name="Text 9"/>
          <p:cNvSpPr/>
          <p:nvPr/>
        </p:nvSpPr>
        <p:spPr>
          <a:xfrm>
            <a:off x="6329934" y="2634615"/>
            <a:ext cx="3352800" cy="0"/>
          </a:xfrm>
          <a:prstGeom prst="rect">
            <a:avLst/>
          </a:prstGeom>
          <a:noFill/>
          <a:ln/>
        </p:spPr>
        <p:txBody>
          <a:bodyPr wrap="square" rtlCol="0" anchor="ctr"/>
          <a:lstStyle/>
          <a:p>
            <a:pPr algn="ctr"/>
            <a:r>
              <a:rPr lang="en-US" sz="1667" b="1" dirty="0">
                <a:solidFill>
                  <a:srgbClr val="FFFFFF"/>
                </a:solidFill>
                <a:latin typeface="Georgia" pitchFamily="34" charset="0"/>
                <a:ea typeface="Georgia" pitchFamily="34" charset="-122"/>
                <a:cs typeface="Georgia" pitchFamily="34" charset="-120"/>
              </a:rPr>
              <a:t>Personal Work-Memory KGs</a:t>
            </a:r>
          </a:p>
        </p:txBody>
      </p:sp>
      <p:sp>
        <p:nvSpPr>
          <p:cNvPr id="12" name="Text 10"/>
          <p:cNvSpPr/>
          <p:nvPr/>
        </p:nvSpPr>
        <p:spPr>
          <a:xfrm>
            <a:off x="6329934" y="3061335"/>
            <a:ext cx="3352800" cy="0"/>
          </a:xfrm>
          <a:prstGeom prst="rect">
            <a:avLst/>
          </a:prstGeom>
          <a:noFill/>
          <a:ln/>
        </p:spPr>
        <p:txBody>
          <a:bodyPr wrap="square" rtlCol="0" anchor="ctr"/>
          <a:lstStyle/>
          <a:p>
            <a:pPr algn="ctr"/>
            <a:r>
              <a:rPr lang="en-US" sz="1333" i="1" dirty="0">
                <a:solidFill>
                  <a:srgbClr val="A0C0D0"/>
                </a:solidFill>
                <a:latin typeface="Calibri" pitchFamily="34" charset="0"/>
                <a:ea typeface="Calibri" pitchFamily="34" charset="-122"/>
                <a:cs typeface="Calibri" pitchFamily="34" charset="-120"/>
              </a:rPr>
              <a:t>Proposed system</a:t>
            </a:r>
            <a:endParaRPr lang="en-US" sz="1333" dirty="0"/>
          </a:p>
        </p:txBody>
      </p:sp>
      <p:sp>
        <p:nvSpPr>
          <p:cNvPr id="13" name="Text 11"/>
          <p:cNvSpPr/>
          <p:nvPr/>
        </p:nvSpPr>
        <p:spPr>
          <a:xfrm>
            <a:off x="6329934" y="4126230"/>
            <a:ext cx="3352800" cy="0"/>
          </a:xfrm>
          <a:prstGeom prst="rect">
            <a:avLst/>
          </a:prstGeom>
          <a:noFill/>
          <a:ln/>
        </p:spPr>
        <p:txBody>
          <a:bodyPr wrap="square" rtlCol="0" anchor="ctr"/>
          <a:lstStyle/>
          <a:p>
            <a:r>
              <a:rPr lang="en-US" sz="1467" dirty="0">
                <a:solidFill>
                  <a:srgbClr val="D0E8F0"/>
                </a:solidFill>
                <a:latin typeface="Calibri" pitchFamily="34" charset="0"/>
                <a:ea typeface="Calibri" pitchFamily="34" charset="-122"/>
                <a:cs typeface="Calibri" pitchFamily="34" charset="-120"/>
              </a:rPr>
              <a:t>Built from Claude Code session transcripts. Represents personal work history — why X was chosen, what broke after Y, what was tried across sessions.</a:t>
            </a:r>
          </a:p>
        </p:txBody>
      </p:sp>
      <p:sp>
        <p:nvSpPr>
          <p:cNvPr id="17" name="Text 15"/>
          <p:cNvSpPr/>
          <p:nvPr/>
        </p:nvSpPr>
        <p:spPr>
          <a:xfrm>
            <a:off x="8162163" y="4173855"/>
            <a:ext cx="3352800" cy="0"/>
          </a:xfrm>
          <a:prstGeom prst="rect">
            <a:avLst/>
          </a:prstGeom>
          <a:noFill/>
          <a:ln/>
        </p:spPr>
        <p:txBody>
          <a:bodyPr wrap="square" rtlCol="0" anchor="ctr"/>
          <a:lstStyle/>
          <a:p>
            <a:endParaRPr lang="en-US" sz="1467" dirty="0"/>
          </a:p>
        </p:txBody>
      </p:sp>
      <p:sp>
        <p:nvSpPr>
          <p:cNvPr id="18" name="Text 16"/>
          <p:cNvSpPr/>
          <p:nvPr/>
        </p:nvSpPr>
        <p:spPr>
          <a:xfrm>
            <a:off x="475488" y="5682234"/>
            <a:ext cx="11216640" cy="0"/>
          </a:xfrm>
          <a:prstGeom prst="rect">
            <a:avLst/>
          </a:prstGeom>
          <a:noFill/>
          <a:ln/>
        </p:spPr>
        <p:txBody>
          <a:bodyPr wrap="square" rtlCol="0" anchor="ctr"/>
          <a:lstStyle/>
          <a:p>
            <a:r>
              <a:rPr lang="en-US" sz="1733" b="1" dirty="0">
                <a:solidFill>
                  <a:srgbClr val="0D1B2A"/>
                </a:solidFill>
                <a:latin typeface="Georgia" pitchFamily="34" charset="0"/>
                <a:ea typeface="Georgia" pitchFamily="34" charset="-122"/>
                <a:cs typeface="Georgia" pitchFamily="34" charset="-120"/>
              </a:rPr>
              <a:t>Key Contributions</a:t>
            </a:r>
            <a:endParaRPr lang="en-US" sz="1733" dirty="0"/>
          </a:p>
        </p:txBody>
      </p:sp>
      <p:sp>
        <p:nvSpPr>
          <p:cNvPr id="19" name="Text 17"/>
          <p:cNvSpPr/>
          <p:nvPr/>
        </p:nvSpPr>
        <p:spPr>
          <a:xfrm>
            <a:off x="487680" y="5913120"/>
            <a:ext cx="11216640" cy="877824"/>
          </a:xfrm>
          <a:prstGeom prst="rect">
            <a:avLst/>
          </a:prstGeom>
          <a:noFill/>
          <a:ln/>
        </p:spPr>
        <p:txBody>
          <a:bodyPr wrap="square" rtlCol="0" anchor="ctr"/>
          <a:lstStyle/>
          <a:p>
            <a:r>
              <a:rPr lang="en-US" sz="1467" b="1" dirty="0">
                <a:solidFill>
                  <a:srgbClr val="2E2E2E"/>
                </a:solidFill>
                <a:latin typeface="Calibri" pitchFamily="34" charset="0"/>
                <a:ea typeface="Calibri" pitchFamily="34" charset="-122"/>
                <a:cs typeface="Calibri" pitchFamily="34" charset="-120"/>
              </a:rPr>
              <a:t>1.  </a:t>
            </a:r>
            <a:r>
              <a:rPr lang="en-US" sz="1467" dirty="0">
                <a:solidFill>
                  <a:srgbClr val="2E2E2E"/>
                </a:solidFill>
                <a:latin typeface="Calibri" pitchFamily="34" charset="0"/>
                <a:ea typeface="Calibri" pitchFamily="34" charset="-122"/>
                <a:cs typeface="Calibri" pitchFamily="34" charset="-120"/>
              </a:rPr>
              <a:t>Domain transfer: ASER's extraction philosophy applied to short, task-oriented, first-person agent session dialogue</a:t>
            </a:r>
            <a:endParaRPr lang="en-US" sz="1467" dirty="0"/>
          </a:p>
          <a:p>
            <a:r>
              <a:rPr lang="en-US" sz="1467" b="1" dirty="0">
                <a:solidFill>
                  <a:srgbClr val="2E2E2E"/>
                </a:solidFill>
                <a:latin typeface="Calibri" pitchFamily="34" charset="0"/>
                <a:ea typeface="Calibri" pitchFamily="34" charset="-122"/>
                <a:cs typeface="Calibri" pitchFamily="34" charset="-120"/>
              </a:rPr>
              <a:t>2.  </a:t>
            </a:r>
            <a:r>
              <a:rPr lang="en-US" sz="1467" dirty="0">
                <a:solidFill>
                  <a:srgbClr val="2E2E2E"/>
                </a:solidFill>
                <a:latin typeface="Calibri" pitchFamily="34" charset="0"/>
                <a:ea typeface="Calibri" pitchFamily="34" charset="-122"/>
                <a:cs typeface="Calibri" pitchFamily="34" charset="-120"/>
              </a:rPr>
              <a:t>Empirical comparison: flat RAG vs. KG-augmented retrieval on the same corpus — answers whether structural overhead is worth it</a:t>
            </a:r>
            <a:endParaRPr lang="en-US" sz="146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77824"/>
          </a:xfrm>
          <a:prstGeom prst="rect">
            <a:avLst/>
          </a:prstGeom>
          <a:solidFill>
            <a:srgbClr val="0D1B2A"/>
          </a:solidFill>
          <a:ln w="12700">
            <a:solidFill>
              <a:srgbClr val="0D1B2A"/>
            </a:solidFill>
            <a:prstDash val="solid"/>
          </a:ln>
        </p:spPr>
        <p:txBody>
          <a:bodyPr/>
          <a:lstStyle/>
          <a:p>
            <a:endParaRPr lang="es-MX"/>
          </a:p>
        </p:txBody>
      </p:sp>
      <p:sp>
        <p:nvSpPr>
          <p:cNvPr id="3" name="Text 1"/>
          <p:cNvSpPr/>
          <p:nvPr/>
        </p:nvSpPr>
        <p:spPr>
          <a:xfrm>
            <a:off x="426720" y="0"/>
            <a:ext cx="11338560" cy="877824"/>
          </a:xfrm>
          <a:prstGeom prst="rect">
            <a:avLst/>
          </a:prstGeom>
          <a:noFill/>
          <a:ln/>
        </p:spPr>
        <p:txBody>
          <a:bodyPr wrap="square" rtlCol="0" anchor="ctr"/>
          <a:lstStyle/>
          <a:p>
            <a:r>
              <a:rPr lang="en-US" sz="2933" b="1" dirty="0">
                <a:solidFill>
                  <a:srgbClr val="FFFFFF"/>
                </a:solidFill>
                <a:latin typeface="Georgia" pitchFamily="34" charset="0"/>
                <a:ea typeface="Georgia" pitchFamily="34" charset="-122"/>
                <a:cs typeface="Georgia" pitchFamily="34" charset="-120"/>
              </a:rPr>
              <a:t>Next Steps</a:t>
            </a:r>
            <a:endParaRPr lang="en-US" sz="2933" dirty="0"/>
          </a:p>
        </p:txBody>
      </p:sp>
      <p:sp>
        <p:nvSpPr>
          <p:cNvPr id="4" name="Shape 2"/>
          <p:cNvSpPr/>
          <p:nvPr/>
        </p:nvSpPr>
        <p:spPr>
          <a:xfrm>
            <a:off x="487680" y="1072896"/>
            <a:ext cx="670560" cy="804672"/>
          </a:xfrm>
          <a:prstGeom prst="rect">
            <a:avLst/>
          </a:prstGeom>
          <a:solidFill>
            <a:srgbClr val="0D1B2A"/>
          </a:solidFill>
          <a:ln w="12700">
            <a:solidFill>
              <a:srgbClr val="0D1B2A"/>
            </a:solidFill>
            <a:prstDash val="solid"/>
          </a:ln>
        </p:spPr>
        <p:txBody>
          <a:bodyPr/>
          <a:lstStyle/>
          <a:p>
            <a:endParaRPr lang="es-MX"/>
          </a:p>
        </p:txBody>
      </p:sp>
      <p:sp>
        <p:nvSpPr>
          <p:cNvPr id="5" name="Text 3"/>
          <p:cNvSpPr/>
          <p:nvPr/>
        </p:nvSpPr>
        <p:spPr>
          <a:xfrm>
            <a:off x="487680" y="1491996"/>
            <a:ext cx="670560" cy="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01</a:t>
            </a:r>
            <a:endParaRPr lang="en-US" sz="1467" dirty="0"/>
          </a:p>
        </p:txBody>
      </p:sp>
      <p:sp>
        <p:nvSpPr>
          <p:cNvPr id="6" name="Shape 4"/>
          <p:cNvSpPr/>
          <p:nvPr/>
        </p:nvSpPr>
        <p:spPr>
          <a:xfrm>
            <a:off x="1280160" y="1072896"/>
            <a:ext cx="10424160" cy="804672"/>
          </a:xfrm>
          <a:prstGeom prst="rect">
            <a:avLst/>
          </a:prstGeom>
          <a:solidFill>
            <a:srgbClr val="DAE3F3"/>
          </a:solidFill>
          <a:ln w="12700">
            <a:solidFill>
              <a:srgbClr val="156082"/>
            </a:solidFill>
            <a:prstDash val="solid"/>
          </a:ln>
        </p:spPr>
        <p:txBody>
          <a:bodyPr/>
          <a:lstStyle/>
          <a:p>
            <a:endParaRPr lang="es-MX"/>
          </a:p>
        </p:txBody>
      </p:sp>
      <p:sp>
        <p:nvSpPr>
          <p:cNvPr id="7" name="Text 5"/>
          <p:cNvSpPr/>
          <p:nvPr/>
        </p:nvSpPr>
        <p:spPr>
          <a:xfrm>
            <a:off x="1415415" y="1263015"/>
            <a:ext cx="3413760" cy="0"/>
          </a:xfrm>
          <a:prstGeom prst="rect">
            <a:avLst/>
          </a:prstGeom>
          <a:noFill/>
          <a:ln/>
        </p:spPr>
        <p:txBody>
          <a:bodyPr wrap="square" rtlCol="0" anchor="t"/>
          <a:lstStyle/>
          <a:p>
            <a:r>
              <a:rPr lang="en-US" sz="1600" b="1" dirty="0">
                <a:solidFill>
                  <a:srgbClr val="0D1B2A"/>
                </a:solidFill>
                <a:latin typeface="Georgia" pitchFamily="34" charset="0"/>
                <a:ea typeface="Georgia" pitchFamily="34" charset="-122"/>
                <a:cs typeface="Georgia" pitchFamily="34" charset="-120"/>
              </a:rPr>
              <a:t>Implement the extraction pipeline</a:t>
            </a:r>
            <a:endParaRPr lang="en-US" sz="1600" dirty="0"/>
          </a:p>
        </p:txBody>
      </p:sp>
      <p:sp>
        <p:nvSpPr>
          <p:cNvPr id="8" name="Text 6"/>
          <p:cNvSpPr/>
          <p:nvPr/>
        </p:nvSpPr>
        <p:spPr>
          <a:xfrm>
            <a:off x="4951095" y="1263015"/>
            <a:ext cx="6522720" cy="0"/>
          </a:xfrm>
          <a:prstGeom prst="rect">
            <a:avLst/>
          </a:prstGeom>
          <a:noFill/>
          <a:ln/>
        </p:spPr>
        <p:txBody>
          <a:bodyPr wrap="square" rtlCol="0" anchor="t"/>
          <a:lstStyle/>
          <a:p>
            <a:r>
              <a:rPr lang="en-US" sz="1533" dirty="0">
                <a:solidFill>
                  <a:srgbClr val="404040"/>
                </a:solidFill>
                <a:latin typeface="Calibri" pitchFamily="34" charset="0"/>
                <a:ea typeface="Calibri" pitchFamily="34" charset="-122"/>
                <a:cs typeface="Calibri" pitchFamily="34" charset="-120"/>
              </a:rPr>
              <a:t>spaCy dependency parsing + discourse connective rules → SQLite KG with nodes and edges tables.</a:t>
            </a:r>
            <a:endParaRPr lang="en-US" sz="1533" dirty="0"/>
          </a:p>
        </p:txBody>
      </p:sp>
      <p:sp>
        <p:nvSpPr>
          <p:cNvPr id="9" name="Shape 7"/>
          <p:cNvSpPr/>
          <p:nvPr/>
        </p:nvSpPr>
        <p:spPr>
          <a:xfrm>
            <a:off x="487680" y="1950720"/>
            <a:ext cx="670560" cy="804672"/>
          </a:xfrm>
          <a:prstGeom prst="rect">
            <a:avLst/>
          </a:prstGeom>
          <a:solidFill>
            <a:srgbClr val="0D1B2A"/>
          </a:solidFill>
          <a:ln w="12700">
            <a:solidFill>
              <a:srgbClr val="0D1B2A"/>
            </a:solidFill>
            <a:prstDash val="solid"/>
          </a:ln>
        </p:spPr>
        <p:txBody>
          <a:bodyPr/>
          <a:lstStyle/>
          <a:p>
            <a:endParaRPr lang="es-MX"/>
          </a:p>
        </p:txBody>
      </p:sp>
      <p:sp>
        <p:nvSpPr>
          <p:cNvPr id="10" name="Text 8"/>
          <p:cNvSpPr/>
          <p:nvPr/>
        </p:nvSpPr>
        <p:spPr>
          <a:xfrm>
            <a:off x="487680" y="2369820"/>
            <a:ext cx="670560" cy="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02</a:t>
            </a:r>
            <a:endParaRPr lang="en-US" sz="1467" dirty="0"/>
          </a:p>
        </p:txBody>
      </p:sp>
      <p:sp>
        <p:nvSpPr>
          <p:cNvPr id="11" name="Shape 9"/>
          <p:cNvSpPr/>
          <p:nvPr/>
        </p:nvSpPr>
        <p:spPr>
          <a:xfrm>
            <a:off x="1280160" y="1950720"/>
            <a:ext cx="10424160" cy="804672"/>
          </a:xfrm>
          <a:prstGeom prst="rect">
            <a:avLst/>
          </a:prstGeom>
          <a:solidFill>
            <a:srgbClr val="EEF3FA"/>
          </a:solidFill>
          <a:ln w="12700">
            <a:solidFill>
              <a:srgbClr val="156082"/>
            </a:solidFill>
            <a:prstDash val="solid"/>
          </a:ln>
        </p:spPr>
        <p:txBody>
          <a:bodyPr/>
          <a:lstStyle/>
          <a:p>
            <a:endParaRPr lang="es-MX"/>
          </a:p>
        </p:txBody>
      </p:sp>
      <p:sp>
        <p:nvSpPr>
          <p:cNvPr id="12" name="Text 10"/>
          <p:cNvSpPr/>
          <p:nvPr/>
        </p:nvSpPr>
        <p:spPr>
          <a:xfrm>
            <a:off x="1415415" y="2226564"/>
            <a:ext cx="3413760" cy="0"/>
          </a:xfrm>
          <a:prstGeom prst="rect">
            <a:avLst/>
          </a:prstGeom>
          <a:noFill/>
          <a:ln/>
        </p:spPr>
        <p:txBody>
          <a:bodyPr wrap="square" rtlCol="0" anchor="t"/>
          <a:lstStyle/>
          <a:p>
            <a:r>
              <a:rPr lang="en-US" sz="1600" b="1" dirty="0">
                <a:solidFill>
                  <a:srgbClr val="0D1B2A"/>
                </a:solidFill>
                <a:latin typeface="Georgia" pitchFamily="34" charset="0"/>
                <a:ea typeface="Georgia" pitchFamily="34" charset="-122"/>
                <a:cs typeface="Georgia" pitchFamily="34" charset="-120"/>
              </a:rPr>
              <a:t>Select representative sessions</a:t>
            </a:r>
            <a:endParaRPr lang="en-US" sz="1600" dirty="0"/>
          </a:p>
        </p:txBody>
      </p:sp>
      <p:sp>
        <p:nvSpPr>
          <p:cNvPr id="13" name="Text 11"/>
          <p:cNvSpPr/>
          <p:nvPr/>
        </p:nvSpPr>
        <p:spPr>
          <a:xfrm>
            <a:off x="4951095" y="2140839"/>
            <a:ext cx="6522720" cy="0"/>
          </a:xfrm>
          <a:prstGeom prst="rect">
            <a:avLst/>
          </a:prstGeom>
          <a:noFill/>
          <a:ln/>
        </p:spPr>
        <p:txBody>
          <a:bodyPr wrap="square" rtlCol="0" anchor="t"/>
          <a:lstStyle/>
          <a:p>
            <a:r>
              <a:rPr lang="en-US" sz="1533" dirty="0">
                <a:solidFill>
                  <a:srgbClr val="404040"/>
                </a:solidFill>
                <a:latin typeface="Calibri" pitchFamily="34" charset="0"/>
                <a:ea typeface="Calibri" pitchFamily="34" charset="-122"/>
                <a:cs typeface="Calibri" pitchFamily="34" charset="-120"/>
              </a:rPr>
              <a:t>Pick 10 sessions from existing ~/.claude/projects/ transcripts — no new data collection needed.</a:t>
            </a:r>
            <a:endParaRPr lang="en-US" sz="1533" dirty="0"/>
          </a:p>
        </p:txBody>
      </p:sp>
      <p:sp>
        <p:nvSpPr>
          <p:cNvPr id="14" name="Shape 12"/>
          <p:cNvSpPr/>
          <p:nvPr/>
        </p:nvSpPr>
        <p:spPr>
          <a:xfrm>
            <a:off x="487680" y="2828544"/>
            <a:ext cx="670560" cy="804672"/>
          </a:xfrm>
          <a:prstGeom prst="rect">
            <a:avLst/>
          </a:prstGeom>
          <a:solidFill>
            <a:srgbClr val="0D1B2A"/>
          </a:solidFill>
          <a:ln w="12700">
            <a:solidFill>
              <a:srgbClr val="0D1B2A"/>
            </a:solidFill>
            <a:prstDash val="solid"/>
          </a:ln>
        </p:spPr>
        <p:txBody>
          <a:bodyPr/>
          <a:lstStyle/>
          <a:p>
            <a:endParaRPr lang="es-MX"/>
          </a:p>
        </p:txBody>
      </p:sp>
      <p:sp>
        <p:nvSpPr>
          <p:cNvPr id="15" name="Text 13"/>
          <p:cNvSpPr/>
          <p:nvPr/>
        </p:nvSpPr>
        <p:spPr>
          <a:xfrm>
            <a:off x="487680" y="3247644"/>
            <a:ext cx="670560" cy="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03</a:t>
            </a:r>
            <a:endParaRPr lang="en-US" sz="1467" dirty="0"/>
          </a:p>
        </p:txBody>
      </p:sp>
      <p:sp>
        <p:nvSpPr>
          <p:cNvPr id="16" name="Shape 14"/>
          <p:cNvSpPr/>
          <p:nvPr/>
        </p:nvSpPr>
        <p:spPr>
          <a:xfrm>
            <a:off x="1280160" y="2828544"/>
            <a:ext cx="10424160" cy="804672"/>
          </a:xfrm>
          <a:prstGeom prst="rect">
            <a:avLst/>
          </a:prstGeom>
          <a:solidFill>
            <a:srgbClr val="DAE3F3"/>
          </a:solidFill>
          <a:ln w="12700">
            <a:solidFill>
              <a:srgbClr val="156082"/>
            </a:solidFill>
            <a:prstDash val="solid"/>
          </a:ln>
        </p:spPr>
        <p:txBody>
          <a:bodyPr/>
          <a:lstStyle/>
          <a:p>
            <a:endParaRPr lang="es-MX"/>
          </a:p>
        </p:txBody>
      </p:sp>
      <p:sp>
        <p:nvSpPr>
          <p:cNvPr id="17" name="Text 15"/>
          <p:cNvSpPr/>
          <p:nvPr/>
        </p:nvSpPr>
        <p:spPr>
          <a:xfrm>
            <a:off x="1415415" y="3104388"/>
            <a:ext cx="3413760" cy="0"/>
          </a:xfrm>
          <a:prstGeom prst="rect">
            <a:avLst/>
          </a:prstGeom>
          <a:noFill/>
          <a:ln/>
        </p:spPr>
        <p:txBody>
          <a:bodyPr wrap="square" rtlCol="0" anchor="t"/>
          <a:lstStyle/>
          <a:p>
            <a:r>
              <a:rPr lang="en-US" sz="1600" b="1" dirty="0">
                <a:solidFill>
                  <a:srgbClr val="0D1B2A"/>
                </a:solidFill>
                <a:latin typeface="Georgia" pitchFamily="34" charset="0"/>
                <a:ea typeface="Georgia" pitchFamily="34" charset="-122"/>
                <a:cs typeface="Georgia" pitchFamily="34" charset="-120"/>
              </a:rPr>
              <a:t>Build the query set</a:t>
            </a:r>
            <a:endParaRPr lang="en-US" sz="1600" dirty="0"/>
          </a:p>
        </p:txBody>
      </p:sp>
      <p:sp>
        <p:nvSpPr>
          <p:cNvPr id="18" name="Text 16"/>
          <p:cNvSpPr/>
          <p:nvPr/>
        </p:nvSpPr>
        <p:spPr>
          <a:xfrm>
            <a:off x="4951095" y="3104388"/>
            <a:ext cx="6522720" cy="0"/>
          </a:xfrm>
          <a:prstGeom prst="rect">
            <a:avLst/>
          </a:prstGeom>
          <a:noFill/>
          <a:ln/>
        </p:spPr>
        <p:txBody>
          <a:bodyPr wrap="square" rtlCol="0" anchor="t"/>
          <a:lstStyle/>
          <a:p>
            <a:r>
              <a:rPr lang="en-US" sz="1533" dirty="0">
                <a:solidFill>
                  <a:srgbClr val="404040"/>
                </a:solidFill>
                <a:latin typeface="Calibri" pitchFamily="34" charset="0"/>
                <a:ea typeface="Calibri" pitchFamily="34" charset="-122"/>
                <a:cs typeface="Calibri" pitchFamily="34" charset="-120"/>
              </a:rPr>
              <a:t>Write 50 questions the researcher would realistically ask across past sessions.</a:t>
            </a:r>
            <a:endParaRPr lang="en-US" sz="1533" dirty="0"/>
          </a:p>
        </p:txBody>
      </p:sp>
      <p:sp>
        <p:nvSpPr>
          <p:cNvPr id="19" name="Shape 17"/>
          <p:cNvSpPr/>
          <p:nvPr/>
        </p:nvSpPr>
        <p:spPr>
          <a:xfrm>
            <a:off x="487680" y="3706368"/>
            <a:ext cx="670560" cy="804672"/>
          </a:xfrm>
          <a:prstGeom prst="rect">
            <a:avLst/>
          </a:prstGeom>
          <a:solidFill>
            <a:srgbClr val="0D1B2A"/>
          </a:solidFill>
          <a:ln w="12700">
            <a:solidFill>
              <a:srgbClr val="0D1B2A"/>
            </a:solidFill>
            <a:prstDash val="solid"/>
          </a:ln>
        </p:spPr>
        <p:txBody>
          <a:bodyPr/>
          <a:lstStyle/>
          <a:p>
            <a:endParaRPr lang="es-MX"/>
          </a:p>
        </p:txBody>
      </p:sp>
      <p:sp>
        <p:nvSpPr>
          <p:cNvPr id="20" name="Text 18"/>
          <p:cNvSpPr/>
          <p:nvPr/>
        </p:nvSpPr>
        <p:spPr>
          <a:xfrm>
            <a:off x="487680" y="4125468"/>
            <a:ext cx="670560" cy="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04</a:t>
            </a:r>
            <a:endParaRPr lang="en-US" sz="1467" dirty="0"/>
          </a:p>
        </p:txBody>
      </p:sp>
      <p:sp>
        <p:nvSpPr>
          <p:cNvPr id="21" name="Shape 19"/>
          <p:cNvSpPr/>
          <p:nvPr/>
        </p:nvSpPr>
        <p:spPr>
          <a:xfrm>
            <a:off x="1280160" y="3706368"/>
            <a:ext cx="10424160" cy="804672"/>
          </a:xfrm>
          <a:prstGeom prst="rect">
            <a:avLst/>
          </a:prstGeom>
          <a:solidFill>
            <a:srgbClr val="EEF3FA"/>
          </a:solidFill>
          <a:ln w="12700">
            <a:solidFill>
              <a:srgbClr val="156082"/>
            </a:solidFill>
            <a:prstDash val="solid"/>
          </a:ln>
        </p:spPr>
        <p:txBody>
          <a:bodyPr/>
          <a:lstStyle/>
          <a:p>
            <a:endParaRPr lang="es-MX"/>
          </a:p>
        </p:txBody>
      </p:sp>
      <p:sp>
        <p:nvSpPr>
          <p:cNvPr id="22" name="Text 20"/>
          <p:cNvSpPr/>
          <p:nvPr/>
        </p:nvSpPr>
        <p:spPr>
          <a:xfrm>
            <a:off x="1415415" y="3982212"/>
            <a:ext cx="3413760" cy="0"/>
          </a:xfrm>
          <a:prstGeom prst="rect">
            <a:avLst/>
          </a:prstGeom>
          <a:noFill/>
          <a:ln/>
        </p:spPr>
        <p:txBody>
          <a:bodyPr wrap="square" rtlCol="0" anchor="t"/>
          <a:lstStyle/>
          <a:p>
            <a:r>
              <a:rPr lang="en-US" sz="1600" b="1" dirty="0">
                <a:solidFill>
                  <a:srgbClr val="0D1B2A"/>
                </a:solidFill>
                <a:latin typeface="Georgia" pitchFamily="34" charset="0"/>
                <a:ea typeface="Georgia" pitchFamily="34" charset="-122"/>
                <a:cs typeface="Georgia" pitchFamily="34" charset="-120"/>
              </a:rPr>
              <a:t>Run the comparison</a:t>
            </a:r>
            <a:endParaRPr lang="en-US" sz="1600" dirty="0"/>
          </a:p>
        </p:txBody>
      </p:sp>
      <p:sp>
        <p:nvSpPr>
          <p:cNvPr id="23" name="Text 21"/>
          <p:cNvSpPr/>
          <p:nvPr/>
        </p:nvSpPr>
        <p:spPr>
          <a:xfrm>
            <a:off x="4951095" y="3982212"/>
            <a:ext cx="6522720" cy="0"/>
          </a:xfrm>
          <a:prstGeom prst="rect">
            <a:avLst/>
          </a:prstGeom>
          <a:noFill/>
          <a:ln/>
        </p:spPr>
        <p:txBody>
          <a:bodyPr wrap="square" rtlCol="0" anchor="t"/>
          <a:lstStyle/>
          <a:p>
            <a:r>
              <a:rPr lang="en-US" sz="1533" dirty="0">
                <a:solidFill>
                  <a:srgbClr val="404040"/>
                </a:solidFill>
                <a:latin typeface="Calibri" pitchFamily="34" charset="0"/>
                <a:ea typeface="Calibri" pitchFamily="34" charset="-122"/>
                <a:cs typeface="Calibri" pitchFamily="34" charset="-120"/>
              </a:rPr>
              <a:t>Evaluate baseline (flat RAG) and proposed (KG traversal) on the same query set.</a:t>
            </a:r>
            <a:endParaRPr lang="en-US" sz="1533" dirty="0"/>
          </a:p>
        </p:txBody>
      </p:sp>
      <p:sp>
        <p:nvSpPr>
          <p:cNvPr id="24" name="Shape 22"/>
          <p:cNvSpPr/>
          <p:nvPr/>
        </p:nvSpPr>
        <p:spPr>
          <a:xfrm>
            <a:off x="487680" y="4584192"/>
            <a:ext cx="670560" cy="804672"/>
          </a:xfrm>
          <a:prstGeom prst="rect">
            <a:avLst/>
          </a:prstGeom>
          <a:solidFill>
            <a:srgbClr val="0D1B2A"/>
          </a:solidFill>
          <a:ln w="12700">
            <a:solidFill>
              <a:srgbClr val="0D1B2A"/>
            </a:solidFill>
            <a:prstDash val="solid"/>
          </a:ln>
        </p:spPr>
        <p:txBody>
          <a:bodyPr/>
          <a:lstStyle/>
          <a:p>
            <a:endParaRPr lang="es-MX"/>
          </a:p>
        </p:txBody>
      </p:sp>
      <p:sp>
        <p:nvSpPr>
          <p:cNvPr id="25" name="Text 23"/>
          <p:cNvSpPr/>
          <p:nvPr/>
        </p:nvSpPr>
        <p:spPr>
          <a:xfrm>
            <a:off x="487680" y="5003292"/>
            <a:ext cx="670560" cy="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05</a:t>
            </a:r>
            <a:endParaRPr lang="en-US" sz="1467" dirty="0"/>
          </a:p>
        </p:txBody>
      </p:sp>
      <p:sp>
        <p:nvSpPr>
          <p:cNvPr id="26" name="Shape 24"/>
          <p:cNvSpPr/>
          <p:nvPr/>
        </p:nvSpPr>
        <p:spPr>
          <a:xfrm>
            <a:off x="1280160" y="4584192"/>
            <a:ext cx="10424160" cy="804672"/>
          </a:xfrm>
          <a:prstGeom prst="rect">
            <a:avLst/>
          </a:prstGeom>
          <a:solidFill>
            <a:srgbClr val="DAE3F3"/>
          </a:solidFill>
          <a:ln w="12700">
            <a:solidFill>
              <a:srgbClr val="156082"/>
            </a:solidFill>
            <a:prstDash val="solid"/>
          </a:ln>
        </p:spPr>
        <p:txBody>
          <a:bodyPr/>
          <a:lstStyle/>
          <a:p>
            <a:endParaRPr lang="es-MX"/>
          </a:p>
        </p:txBody>
      </p:sp>
      <p:sp>
        <p:nvSpPr>
          <p:cNvPr id="27" name="Text 25"/>
          <p:cNvSpPr/>
          <p:nvPr/>
        </p:nvSpPr>
        <p:spPr>
          <a:xfrm>
            <a:off x="1415415" y="4860036"/>
            <a:ext cx="3413760" cy="0"/>
          </a:xfrm>
          <a:prstGeom prst="rect">
            <a:avLst/>
          </a:prstGeom>
          <a:noFill/>
          <a:ln/>
        </p:spPr>
        <p:txBody>
          <a:bodyPr wrap="square" rtlCol="0" anchor="t"/>
          <a:lstStyle/>
          <a:p>
            <a:r>
              <a:rPr lang="en-US" sz="1600" b="1" dirty="0">
                <a:solidFill>
                  <a:srgbClr val="0D1B2A"/>
                </a:solidFill>
                <a:latin typeface="Georgia" pitchFamily="34" charset="0"/>
                <a:ea typeface="Georgia" pitchFamily="34" charset="-122"/>
                <a:cs typeface="Georgia" pitchFamily="34" charset="-120"/>
              </a:rPr>
              <a:t>Human annotation</a:t>
            </a:r>
            <a:endParaRPr lang="en-US" sz="1600" dirty="0"/>
          </a:p>
        </p:txBody>
      </p:sp>
      <p:sp>
        <p:nvSpPr>
          <p:cNvPr id="28" name="Text 26"/>
          <p:cNvSpPr/>
          <p:nvPr/>
        </p:nvSpPr>
        <p:spPr>
          <a:xfrm>
            <a:off x="4951095" y="4767072"/>
            <a:ext cx="6522720" cy="0"/>
          </a:xfrm>
          <a:prstGeom prst="rect">
            <a:avLst/>
          </a:prstGeom>
          <a:noFill/>
          <a:ln/>
        </p:spPr>
        <p:txBody>
          <a:bodyPr wrap="square" rtlCol="0" anchor="t"/>
          <a:lstStyle/>
          <a:p>
            <a:r>
              <a:rPr lang="en-US" sz="1533" dirty="0">
                <a:solidFill>
                  <a:srgbClr val="404040"/>
                </a:solidFill>
                <a:latin typeface="Calibri" pitchFamily="34" charset="0"/>
                <a:ea typeface="Calibri" pitchFamily="34" charset="-122"/>
                <a:cs typeface="Calibri" pitchFamily="34" charset="-120"/>
              </a:rPr>
              <a:t>Annotate ground truth relevance with inter-annotator agreement measurement.</a:t>
            </a:r>
            <a:endParaRPr lang="en-US" sz="1533" dirty="0"/>
          </a:p>
        </p:txBody>
      </p:sp>
      <p:sp>
        <p:nvSpPr>
          <p:cNvPr id="29" name="Shape 27"/>
          <p:cNvSpPr/>
          <p:nvPr/>
        </p:nvSpPr>
        <p:spPr>
          <a:xfrm>
            <a:off x="487680" y="5462016"/>
            <a:ext cx="670560" cy="804672"/>
          </a:xfrm>
          <a:prstGeom prst="rect">
            <a:avLst/>
          </a:prstGeom>
          <a:solidFill>
            <a:srgbClr val="0D1B2A"/>
          </a:solidFill>
          <a:ln w="12700">
            <a:solidFill>
              <a:srgbClr val="0D1B2A"/>
            </a:solidFill>
            <a:prstDash val="solid"/>
          </a:ln>
        </p:spPr>
        <p:txBody>
          <a:bodyPr/>
          <a:lstStyle/>
          <a:p>
            <a:endParaRPr lang="es-MX"/>
          </a:p>
        </p:txBody>
      </p:sp>
      <p:sp>
        <p:nvSpPr>
          <p:cNvPr id="30" name="Text 28"/>
          <p:cNvSpPr/>
          <p:nvPr/>
        </p:nvSpPr>
        <p:spPr>
          <a:xfrm>
            <a:off x="487680" y="5881116"/>
            <a:ext cx="670560" cy="0"/>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06</a:t>
            </a:r>
            <a:endParaRPr lang="en-US" sz="1467" dirty="0"/>
          </a:p>
        </p:txBody>
      </p:sp>
      <p:sp>
        <p:nvSpPr>
          <p:cNvPr id="31" name="Shape 29"/>
          <p:cNvSpPr/>
          <p:nvPr/>
        </p:nvSpPr>
        <p:spPr>
          <a:xfrm>
            <a:off x="1280160" y="5462016"/>
            <a:ext cx="10424160" cy="804672"/>
          </a:xfrm>
          <a:prstGeom prst="rect">
            <a:avLst/>
          </a:prstGeom>
          <a:solidFill>
            <a:srgbClr val="EEF3FA"/>
          </a:solidFill>
          <a:ln w="12700">
            <a:solidFill>
              <a:srgbClr val="156082"/>
            </a:solidFill>
            <a:prstDash val="solid"/>
          </a:ln>
        </p:spPr>
        <p:txBody>
          <a:bodyPr/>
          <a:lstStyle/>
          <a:p>
            <a:endParaRPr lang="es-MX"/>
          </a:p>
        </p:txBody>
      </p:sp>
      <p:sp>
        <p:nvSpPr>
          <p:cNvPr id="32" name="Text 30"/>
          <p:cNvSpPr/>
          <p:nvPr/>
        </p:nvSpPr>
        <p:spPr>
          <a:xfrm>
            <a:off x="1415415" y="5737860"/>
            <a:ext cx="3413760" cy="0"/>
          </a:xfrm>
          <a:prstGeom prst="rect">
            <a:avLst/>
          </a:prstGeom>
          <a:noFill/>
          <a:ln/>
        </p:spPr>
        <p:txBody>
          <a:bodyPr wrap="square" rtlCol="0" anchor="t"/>
          <a:lstStyle/>
          <a:p>
            <a:r>
              <a:rPr lang="en-US" sz="1600" b="1" dirty="0">
                <a:solidFill>
                  <a:srgbClr val="0D1B2A"/>
                </a:solidFill>
                <a:latin typeface="Georgia" pitchFamily="34" charset="0"/>
                <a:ea typeface="Georgia" pitchFamily="34" charset="-122"/>
                <a:cs typeface="Georgia" pitchFamily="34" charset="-120"/>
              </a:rPr>
              <a:t>Write up as a paper</a:t>
            </a:r>
            <a:endParaRPr lang="en-US" sz="1600" dirty="0"/>
          </a:p>
        </p:txBody>
      </p:sp>
      <p:sp>
        <p:nvSpPr>
          <p:cNvPr id="33" name="Text 31"/>
          <p:cNvSpPr/>
          <p:nvPr/>
        </p:nvSpPr>
        <p:spPr>
          <a:xfrm>
            <a:off x="4998720" y="5547360"/>
            <a:ext cx="6522720" cy="0"/>
          </a:xfrm>
          <a:prstGeom prst="rect">
            <a:avLst/>
          </a:prstGeom>
          <a:noFill/>
          <a:ln/>
        </p:spPr>
        <p:txBody>
          <a:bodyPr wrap="square" rtlCol="0" anchor="t"/>
          <a:lstStyle/>
          <a:p>
            <a:endParaRPr lang="en-US" sz="153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JAP1">
      <a:majorFont>
        <a:latin typeface="Aptos Display"/>
        <a:ea typeface="Noto Sans JP"/>
        <a:cs typeface=""/>
      </a:majorFont>
      <a:minorFont>
        <a:latin typeface="Aptos"/>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508</TotalTime>
  <Words>5249</Words>
  <Application>Microsoft Office PowerPoint</Application>
  <PresentationFormat>Widescreen</PresentationFormat>
  <Paragraphs>365</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11</cp:revision>
  <dcterms:created xsi:type="dcterms:W3CDTF">2026-04-06T18:00:05Z</dcterms:created>
  <dcterms:modified xsi:type="dcterms:W3CDTF">2026-04-07T04:12:55Z</dcterms:modified>
</cp:coreProperties>
</file>