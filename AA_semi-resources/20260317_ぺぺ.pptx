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60" r:id="rId3"/>
    <p:sldId id="262" r:id="rId4"/>
    <p:sldId id="266" r:id="rId5"/>
    <p:sldId id="263" r:id="rId6"/>
    <p:sldId id="267" r:id="rId7"/>
    <p:sldId id="264" r:id="rId8"/>
    <p:sldId id="268" r:id="rId9"/>
    <p:sldId id="270" r:id="rId10"/>
    <p:sldId id="269" r:id="rId11"/>
    <p:sldId id="271" r:id="rId12"/>
    <p:sldId id="272" r:id="rId13"/>
    <p:sldId id="273" r:id="rId14"/>
    <p:sldId id="277" r:id="rId15"/>
    <p:sldId id="274" r:id="rId16"/>
    <p:sldId id="278" r:id="rId17"/>
    <p:sldId id="275" r:id="rId18"/>
    <p:sldId id="276" r:id="rId1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3" autoAdjust="0"/>
    <p:restoredTop sz="67837" autoAdjust="0"/>
  </p:normalViewPr>
  <p:slideViewPr>
    <p:cSldViewPr snapToGrid="0">
      <p:cViewPr>
        <p:scale>
          <a:sx n="66" d="100"/>
          <a:sy n="66" d="100"/>
        </p:scale>
        <p:origin x="1282"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83796C-6238-43F4-8975-9539248D32FF}" type="datetimeFigureOut">
              <a:rPr lang="es-MX" smtClean="0"/>
              <a:t>16/03/2026</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F6FB8B-1938-4266-AC76-FE6EFE356B7C}" type="slidenum">
              <a:rPr lang="es-MX" smtClean="0"/>
              <a:t>‹#›</a:t>
            </a:fld>
            <a:endParaRPr lang="es-MX"/>
          </a:p>
        </p:txBody>
      </p:sp>
    </p:spTree>
    <p:extLst>
      <p:ext uri="{BB962C8B-B14F-4D97-AF65-F5344CB8AC3E}">
        <p14:creationId xmlns:p14="http://schemas.microsoft.com/office/powerpoint/2010/main" val="3889000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本日は、</a:t>
            </a:r>
            <a:br>
              <a:rPr lang="en-US"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EventGround</a:t>
            </a:r>
            <a:r>
              <a:rPr lang="en-US" sz="1200" b="1" kern="1200" dirty="0">
                <a:solidFill>
                  <a:schemeClr val="tx1"/>
                </a:solidFill>
                <a:effectLst/>
                <a:latin typeface="+mn-lt"/>
                <a:ea typeface="+mn-ea"/>
                <a:cs typeface="+mn-cs"/>
              </a:rPr>
              <a:t>: Narrative Reasoning by Grounding to Eventuality-Centric Knowledge Graphs</a:t>
            </a:r>
            <a:r>
              <a:rPr lang="ja-JP" altLang="es-MX" sz="1200" b="1"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という論文について発表します。</a:t>
            </a:r>
            <a:endParaRPr lang="en-US" altLang="ja-JP" sz="1200" kern="1200" dirty="0">
              <a:solidFill>
                <a:schemeClr val="tx1"/>
              </a:solidFill>
              <a:effectLst/>
              <a:latin typeface="+mn-lt"/>
              <a:ea typeface="+mn-ea"/>
              <a:cs typeface="+mn-cs"/>
            </a:endParaRPr>
          </a:p>
          <a:p>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この研究は、機械が</a:t>
            </a:r>
            <a:r>
              <a:rPr lang="ja-JP" altLang="es-MX" sz="1200" b="1" kern="1200" dirty="0">
                <a:solidFill>
                  <a:schemeClr val="tx1"/>
                </a:solidFill>
                <a:effectLst/>
                <a:latin typeface="+mn-lt"/>
                <a:ea typeface="+mn-ea"/>
                <a:cs typeface="+mn-cs"/>
              </a:rPr>
              <a:t>（</a:t>
            </a:r>
            <a:r>
              <a:rPr lang="es-MX" sz="1200" b="1" kern="1200" dirty="0">
                <a:solidFill>
                  <a:schemeClr val="tx1"/>
                </a:solidFill>
                <a:effectLst/>
                <a:latin typeface="+mn-lt"/>
                <a:ea typeface="+mn-ea"/>
                <a:cs typeface="+mn-cs"/>
              </a:rPr>
              <a:t>narrative </a:t>
            </a:r>
            <a:r>
              <a:rPr lang="es-MX" sz="1200" b="1" kern="1200" dirty="0" err="1">
                <a:solidFill>
                  <a:schemeClr val="tx1"/>
                </a:solidFill>
                <a:effectLst/>
                <a:latin typeface="+mn-lt"/>
                <a:ea typeface="+mn-ea"/>
                <a:cs typeface="+mn-cs"/>
              </a:rPr>
              <a:t>reasoning</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つまり物語の中の出来事を理解し、次に何が起こるかを推論する能力をどのように実現できるかを扱っています。</a:t>
            </a:r>
            <a:endParaRPr lang="en-US" altLang="ja-JP" sz="1200" kern="1200" dirty="0">
              <a:solidFill>
                <a:schemeClr val="tx1"/>
              </a:solidFill>
              <a:effectLst/>
              <a:latin typeface="+mn-lt"/>
              <a:ea typeface="+mn-ea"/>
              <a:cs typeface="+mn-cs"/>
            </a:endParaRPr>
          </a:p>
          <a:p>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本発表では、まず</a:t>
            </a:r>
            <a:r>
              <a:rPr lang="es-MX" sz="1200" b="1" kern="1200" dirty="0">
                <a:solidFill>
                  <a:schemeClr val="tx1"/>
                </a:solidFill>
                <a:effectLst/>
                <a:latin typeface="+mn-lt"/>
                <a:ea typeface="+mn-ea"/>
                <a:cs typeface="+mn-cs"/>
              </a:rPr>
              <a:t>narrative </a:t>
            </a:r>
            <a:r>
              <a:rPr lang="es-MX" sz="1200" b="1" kern="1200" dirty="0" err="1">
                <a:solidFill>
                  <a:schemeClr val="tx1"/>
                </a:solidFill>
                <a:effectLst/>
                <a:latin typeface="+mn-lt"/>
                <a:ea typeface="+mn-ea"/>
                <a:cs typeface="+mn-cs"/>
              </a:rPr>
              <a:t>reasoning</a:t>
            </a:r>
            <a:r>
              <a:rPr lang="ja-JP" altLang="es-MX" sz="1200" kern="1200" dirty="0">
                <a:solidFill>
                  <a:schemeClr val="tx1"/>
                </a:solidFill>
                <a:effectLst/>
                <a:latin typeface="+mn-lt"/>
                <a:ea typeface="+mn-ea"/>
                <a:cs typeface="+mn-cs"/>
              </a:rPr>
              <a:t>の問題について説明し、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次に </a:t>
            </a:r>
            <a:r>
              <a:rPr lang="es-MX" sz="1200" b="1" kern="1200" dirty="0" err="1">
                <a:solidFill>
                  <a:schemeClr val="tx1"/>
                </a:solidFill>
                <a:effectLst/>
                <a:latin typeface="+mn-lt"/>
                <a:ea typeface="+mn-ea"/>
                <a:cs typeface="+mn-cs"/>
              </a:rPr>
              <a:t>EventGround</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フレームワーク</a:t>
            </a:r>
            <a:r>
              <a:rPr lang="ja-JP" altLang="es-MX" sz="1200" kern="1200" dirty="0">
                <a:solidFill>
                  <a:schemeClr val="tx1"/>
                </a:solidFill>
                <a:effectLst/>
                <a:latin typeface="+mn-lt"/>
                <a:ea typeface="+mn-ea"/>
                <a:cs typeface="+mn-cs"/>
              </a:rPr>
              <a:t> の仕組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みを紹介します。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最後に、実験結果と本手法</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ほんしゅほう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の限界について説明します。</a:t>
            </a:r>
            <a:endParaRPr lang="es-MX"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2B3E22B-53DC-4759-B9CE-F4DF395E544A}" type="slidenum">
              <a:rPr lang="es-MX" smtClean="0"/>
              <a:t>1</a:t>
            </a:fld>
            <a:endParaRPr lang="es-MX"/>
          </a:p>
        </p:txBody>
      </p:sp>
    </p:spTree>
    <p:extLst>
      <p:ext uri="{BB962C8B-B14F-4D97-AF65-F5344CB8AC3E}">
        <p14:creationId xmlns:p14="http://schemas.microsoft.com/office/powerpoint/2010/main" val="3261543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Narrative </a:t>
            </a:r>
            <a:r>
              <a:rPr lang="en-US" sz="1200" kern="1200" dirty="0" err="1">
                <a:solidFill>
                  <a:schemeClr val="tx1"/>
                </a:solidFill>
                <a:effectLst/>
                <a:latin typeface="+mn-lt"/>
                <a:ea typeface="+mn-ea"/>
                <a:cs typeface="+mn-cs"/>
              </a:rPr>
              <a:t>reasining</a:t>
            </a:r>
            <a:r>
              <a:rPr lang="ja-JP" altLang="es-MX" sz="1200" kern="1200" dirty="0">
                <a:solidFill>
                  <a:schemeClr val="tx1"/>
                </a:solidFill>
                <a:effectLst/>
                <a:latin typeface="+mn-lt"/>
                <a:ea typeface="+mn-ea"/>
                <a:cs typeface="+mn-cs"/>
              </a:rPr>
              <a:t>とは、物語の中で起こる出来事を理解し、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その出来事の関係をもとに次に何が起こるかを推論する能力のことです。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例えば、人間は物語を読むとき、</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出来事の原因を推測</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すいそく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したり、次に起こる可能性の高い出来事を自然に予測することができます。</a:t>
            </a:r>
            <a:endParaRPr lang="es-MX" altLang="ja-JP" sz="1200" kern="1200" dirty="0">
              <a:solidFill>
                <a:schemeClr val="tx1"/>
              </a:solidFill>
              <a:effectLst/>
              <a:latin typeface="+mn-lt"/>
              <a:ea typeface="+mn-ea"/>
              <a:cs typeface="+mn-cs"/>
            </a:endParaRPr>
          </a:p>
          <a:p>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次の例を読んでみましょう。</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Tom bought a movie ticket.</a:t>
            </a:r>
            <a:r>
              <a:rPr lang="ja-JP" altLang="es-MX" sz="120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このとき、</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「トムは次に何をする可能性が高いでしょうか？」</a:t>
            </a:r>
            <a:endParaRPr lang="es-MX" altLang="ja-JP" sz="1200" kern="1200" dirty="0">
              <a:solidFill>
                <a:schemeClr val="tx1"/>
              </a:solidFill>
              <a:effectLst/>
              <a:latin typeface="+mn-lt"/>
              <a:ea typeface="+mn-ea"/>
              <a:cs typeface="+mn-cs"/>
            </a:endParaRPr>
          </a:p>
          <a:p>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この件、</a:t>
            </a:r>
            <a:r>
              <a:rPr lang="es-MX" sz="1200" kern="1200" dirty="0" err="1">
                <a:solidFill>
                  <a:schemeClr val="tx1"/>
                </a:solidFill>
                <a:effectLst/>
                <a:latin typeface="+mn-lt"/>
                <a:ea typeface="+mn-ea"/>
                <a:cs typeface="+mn-cs"/>
              </a:rPr>
              <a:t>Plant</a:t>
            </a:r>
            <a:r>
              <a:rPr lang="es-MX" sz="1200" kern="1200" dirty="0">
                <a:solidFill>
                  <a:schemeClr val="tx1"/>
                </a:solidFill>
                <a:effectLst/>
                <a:latin typeface="+mn-lt"/>
                <a:ea typeface="+mn-ea"/>
                <a:cs typeface="+mn-cs"/>
              </a:rPr>
              <a:t> a </a:t>
            </a:r>
            <a:r>
              <a:rPr lang="es-MX" sz="1200" kern="1200" dirty="0" err="1">
                <a:solidFill>
                  <a:schemeClr val="tx1"/>
                </a:solidFill>
                <a:effectLst/>
                <a:latin typeface="+mn-lt"/>
                <a:ea typeface="+mn-ea"/>
                <a:cs typeface="+mn-cs"/>
              </a:rPr>
              <a:t>tree</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じゃなくて多くの人は </a:t>
            </a:r>
            <a:r>
              <a:rPr 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watch</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the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movie</a:t>
            </a:r>
            <a:r>
              <a:rPr lang="es-MX" sz="1200" b="1"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と答えると思います。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これは、人間が </a:t>
            </a:r>
            <a:r>
              <a:rPr lang="ja-JP" altLang="es-MX" sz="1200" b="1" kern="1200" dirty="0">
                <a:solidFill>
                  <a:schemeClr val="tx1"/>
                </a:solidFill>
                <a:effectLst/>
                <a:latin typeface="+mn-lt"/>
                <a:ea typeface="+mn-ea"/>
                <a:cs typeface="+mn-cs"/>
              </a:rPr>
              <a:t>常識的なイベント知識（</a:t>
            </a:r>
            <a:r>
              <a:rPr lang="es-MX" sz="1200" b="1" kern="1200" dirty="0" err="1">
                <a:solidFill>
                  <a:schemeClr val="tx1"/>
                </a:solidFill>
                <a:effectLst/>
                <a:latin typeface="+mn-lt"/>
                <a:ea typeface="+mn-ea"/>
                <a:cs typeface="+mn-cs"/>
              </a:rPr>
              <a:t>commonsense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knowledge</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を使って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出来事の関係を自然に理解しているからです。</a:t>
            </a:r>
            <a:endParaRPr lang="es-MX" altLang="ja-JP" sz="1200" kern="1200" dirty="0">
              <a:solidFill>
                <a:schemeClr val="tx1"/>
              </a:solidFill>
              <a:effectLst/>
              <a:latin typeface="+mn-lt"/>
              <a:ea typeface="+mn-ea"/>
              <a:cs typeface="+mn-cs"/>
            </a:endParaRPr>
          </a:p>
          <a:p>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しかし、言語モデルはこのような常識的な推論を必ずしも得意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とくい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としていません。</a:t>
            </a:r>
            <a:endParaRPr lang="es-MX" sz="1200" kern="1200" dirty="0">
              <a:solidFill>
                <a:schemeClr val="tx1"/>
              </a:solidFill>
              <a:effectLst/>
              <a:latin typeface="+mn-lt"/>
              <a:ea typeface="+mn-ea"/>
              <a:cs typeface="+mn-cs"/>
            </a:endParaRPr>
          </a:p>
          <a:p>
            <a:endParaRPr lang="es-MX" dirty="0"/>
          </a:p>
        </p:txBody>
      </p:sp>
      <p:sp>
        <p:nvSpPr>
          <p:cNvPr id="4" name="Slide Number Placeholder 3"/>
          <p:cNvSpPr>
            <a:spLocks noGrp="1"/>
          </p:cNvSpPr>
          <p:nvPr>
            <p:ph type="sldNum" sz="quarter" idx="5"/>
          </p:nvPr>
        </p:nvSpPr>
        <p:spPr/>
        <p:txBody>
          <a:bodyPr/>
          <a:lstStyle/>
          <a:p>
            <a:fld id="{27F6FB8B-1938-4266-AC76-FE6EFE356B7C}" type="slidenum">
              <a:rPr lang="es-MX" smtClean="0"/>
              <a:t>2</a:t>
            </a:fld>
            <a:endParaRPr lang="es-MX"/>
          </a:p>
        </p:txBody>
      </p:sp>
    </p:spTree>
    <p:extLst>
      <p:ext uri="{BB962C8B-B14F-4D97-AF65-F5344CB8AC3E}">
        <p14:creationId xmlns:p14="http://schemas.microsoft.com/office/powerpoint/2010/main" val="221270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ナラティブ推論を機械で実現するためには、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現在</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げんざい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、主</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おも</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 </a:t>
            </a:r>
            <a:r>
              <a:rPr lang="es-MX" sz="1200" b="1" kern="1200" dirty="0">
                <a:solidFill>
                  <a:schemeClr val="tx1"/>
                </a:solidFill>
                <a:effectLst/>
                <a:latin typeface="+mn-lt"/>
                <a:ea typeface="+mn-ea"/>
                <a:cs typeface="+mn-cs"/>
              </a:rPr>
              <a:t>2</a:t>
            </a:r>
            <a:r>
              <a:rPr lang="ja-JP" altLang="es-MX" sz="1200" b="1" kern="1200" dirty="0">
                <a:solidFill>
                  <a:schemeClr val="tx1"/>
                </a:solidFill>
                <a:effectLst/>
                <a:latin typeface="+mn-lt"/>
                <a:ea typeface="+mn-ea"/>
                <a:cs typeface="+mn-cs"/>
              </a:rPr>
              <a:t>つのアプローチ</a:t>
            </a:r>
            <a:r>
              <a:rPr lang="ja-JP" altLang="es-MX" sz="1200" kern="1200" dirty="0">
                <a:solidFill>
                  <a:schemeClr val="tx1"/>
                </a:solidFill>
                <a:effectLst/>
                <a:latin typeface="+mn-lt"/>
                <a:ea typeface="+mn-ea"/>
                <a:cs typeface="+mn-cs"/>
              </a:rPr>
              <a:t>が提案されています。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つ目は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Model</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Paradigm</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このアプローチでは、</a:t>
            </a:r>
            <a:r>
              <a:rPr lang="es-MX" sz="1200" kern="1200" dirty="0">
                <a:solidFill>
                  <a:schemeClr val="tx1"/>
                </a:solidFill>
                <a:effectLst/>
                <a:latin typeface="+mn-lt"/>
                <a:ea typeface="+mn-ea"/>
                <a:cs typeface="+mn-cs"/>
              </a:rPr>
              <a:t>BERT </a:t>
            </a:r>
            <a:r>
              <a:rPr lang="ja-JP" altLang="es-MX" sz="1200" kern="1200" dirty="0">
                <a:solidFill>
                  <a:schemeClr val="tx1"/>
                </a:solidFill>
                <a:effectLst/>
                <a:latin typeface="+mn-lt"/>
                <a:ea typeface="+mn-ea"/>
                <a:cs typeface="+mn-cs"/>
              </a:rPr>
              <a:t>や</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RoBERTa</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のような言語モデルが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大量のテキストデータから知識を学習し、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その知識を </a:t>
            </a:r>
            <a:r>
              <a:rPr lang="ja-JP" altLang="es-MX" sz="1200" b="1" kern="1200" dirty="0">
                <a:solidFill>
                  <a:schemeClr val="tx1"/>
                </a:solidFill>
                <a:effectLst/>
                <a:latin typeface="+mn-lt"/>
                <a:ea typeface="+mn-ea"/>
                <a:cs typeface="+mn-cs"/>
              </a:rPr>
              <a:t>モデル内部に保持</a:t>
            </a:r>
            <a:r>
              <a:rPr lang="ja-JP" altLang="es-MX" sz="1200" kern="1200" dirty="0">
                <a:solidFill>
                  <a:schemeClr val="tx1"/>
                </a:solidFill>
                <a:effectLst/>
                <a:latin typeface="+mn-lt"/>
                <a:ea typeface="+mn-ea"/>
                <a:cs typeface="+mn-cs"/>
              </a:rPr>
              <a:t>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この方法の利点は、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外部の知識ベースを必要としない</a:t>
            </a:r>
            <a:r>
              <a:rPr lang="ja-JP" altLang="es-MX" sz="1200" kern="1200" dirty="0">
                <a:solidFill>
                  <a:schemeClr val="tx1"/>
                </a:solidFill>
                <a:effectLst/>
                <a:latin typeface="+mn-lt"/>
                <a:ea typeface="+mn-ea"/>
                <a:cs typeface="+mn-cs"/>
              </a:rPr>
              <a:t>ことです。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しかし、知識はモデルの内部に </a:t>
            </a:r>
            <a:r>
              <a:rPr lang="ja-JP" altLang="es-MX" sz="1200" b="1" kern="1200" dirty="0">
                <a:solidFill>
                  <a:schemeClr val="tx1"/>
                </a:solidFill>
                <a:effectLst/>
                <a:latin typeface="+mn-lt"/>
                <a:ea typeface="+mn-ea"/>
                <a:cs typeface="+mn-cs"/>
              </a:rPr>
              <a:t>暗黙的</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あんもくてき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に保</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ほ</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存</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ぞん</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されるため</a:t>
            </a:r>
            <a:r>
              <a:rPr lang="ja-JP" altLang="es-MX" sz="1200" b="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どの知識が使われているのかを理解することや、</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知識を修正</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することが難しいという問題があります。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2</a:t>
            </a:r>
            <a:r>
              <a:rPr lang="ja-JP" altLang="es-MX" sz="1200" kern="1200" dirty="0">
                <a:solidFill>
                  <a:schemeClr val="tx1"/>
                </a:solidFill>
                <a:effectLst/>
                <a:latin typeface="+mn-lt"/>
                <a:ea typeface="+mn-ea"/>
                <a:cs typeface="+mn-cs"/>
              </a:rPr>
              <a:t>つ目は </a:t>
            </a:r>
            <a:r>
              <a:rPr lang="es-MX" sz="1200" b="1" kern="1200" dirty="0" err="1">
                <a:solidFill>
                  <a:schemeClr val="tx1"/>
                </a:solidFill>
                <a:effectLst/>
                <a:latin typeface="+mn-lt"/>
                <a:ea typeface="+mn-ea"/>
                <a:cs typeface="+mn-cs"/>
              </a:rPr>
              <a:t>Retrieval</a:t>
            </a:r>
            <a:r>
              <a:rPr lang="es-MX" sz="1200" b="1" kern="1200" dirty="0">
                <a:solidFill>
                  <a:schemeClr val="tx1"/>
                </a:solidFill>
                <a:effectLst/>
                <a:latin typeface="+mn-lt"/>
                <a:ea typeface="+mn-ea"/>
                <a:cs typeface="+mn-cs"/>
              </a:rPr>
              <a:t> and </a:t>
            </a:r>
            <a:r>
              <a:rPr lang="es-MX" sz="1200" b="1" kern="1200" dirty="0" err="1">
                <a:solidFill>
                  <a:schemeClr val="tx1"/>
                </a:solidFill>
                <a:effectLst/>
                <a:latin typeface="+mn-lt"/>
                <a:ea typeface="+mn-ea"/>
                <a:cs typeface="+mn-cs"/>
              </a:rPr>
              <a:t>Integration</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Paradigm</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このアプローチでは、</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などの </a:t>
            </a:r>
            <a:r>
              <a:rPr lang="ja-JP" altLang="es-MX" sz="1200" b="1" kern="1200" dirty="0">
                <a:solidFill>
                  <a:schemeClr val="tx1"/>
                </a:solidFill>
                <a:effectLst/>
                <a:latin typeface="+mn-lt"/>
                <a:ea typeface="+mn-ea"/>
                <a:cs typeface="+mn-cs"/>
              </a:rPr>
              <a:t>外部</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がいぶ</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知識源</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ちしきげん</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から知識を取得</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しゅとく</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し、</a:t>
            </a:r>
            <a:br>
              <a:rPr lang="es-MX" sz="1200" b="1"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テキストの情報と統合</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とうごう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して推論を行います。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この方法では、知識が </a:t>
            </a:r>
            <a:r>
              <a:rPr lang="ja-JP" altLang="es-MX" sz="1200" b="1" kern="1200" dirty="0">
                <a:solidFill>
                  <a:schemeClr val="tx1"/>
                </a:solidFill>
                <a:effectLst/>
                <a:latin typeface="+mn-lt"/>
                <a:ea typeface="+mn-ea"/>
                <a:cs typeface="+mn-cs"/>
              </a:rPr>
              <a:t>明示的</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めいじてき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に表現されるため</a:t>
            </a:r>
            <a:r>
              <a:rPr lang="ja-JP" altLang="es-MX" sz="1200" b="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推論</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すいろん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過程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かてい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を解釈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かいしゃく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しやすく、知識の更新も容易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ようい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になります。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しかし、このアプローチには重要な課題があります。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それは、</a:t>
            </a:r>
            <a:r>
              <a:rPr lang="ja-JP" altLang="es-MX" sz="1200" b="1" kern="1200" dirty="0">
                <a:solidFill>
                  <a:schemeClr val="tx1"/>
                </a:solidFill>
                <a:effectLst/>
                <a:latin typeface="+mn-lt"/>
                <a:ea typeface="+mn-ea"/>
                <a:cs typeface="+mn-cs"/>
              </a:rPr>
              <a:t>テキスト中のイベントを</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のイベントに</a:t>
            </a:r>
            <a:br>
              <a:rPr lang="es-MX" sz="1200" b="1"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どのように正しく対応付けるか</a:t>
            </a:r>
            <a:r>
              <a:rPr lang="ja-JP" altLang="es-MX" sz="1200" kern="1200" dirty="0">
                <a:solidFill>
                  <a:schemeClr val="tx1"/>
                </a:solidFill>
                <a:effectLst/>
                <a:latin typeface="+mn-lt"/>
                <a:ea typeface="+mn-ea"/>
                <a:cs typeface="+mn-cs"/>
              </a:rPr>
              <a:t>という問題です。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27F6FB8B-1938-4266-AC76-FE6EFE356B7C}" type="slidenum">
              <a:rPr lang="es-MX" smtClean="0"/>
              <a:t>3</a:t>
            </a:fld>
            <a:endParaRPr lang="es-MX"/>
          </a:p>
        </p:txBody>
      </p:sp>
    </p:spTree>
    <p:extLst>
      <p:ext uri="{BB962C8B-B14F-4D97-AF65-F5344CB8AC3E}">
        <p14:creationId xmlns:p14="http://schemas.microsoft.com/office/powerpoint/2010/main" val="3402353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前のスライドで説明したように、</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Retrieval</a:t>
            </a:r>
            <a:r>
              <a:rPr lang="es-MX" sz="1200" kern="1200" dirty="0">
                <a:solidFill>
                  <a:schemeClr val="tx1"/>
                </a:solidFill>
                <a:effectLst/>
                <a:latin typeface="+mn-lt"/>
                <a:ea typeface="+mn-ea"/>
                <a:cs typeface="+mn-cs"/>
              </a:rPr>
              <a:t> and </a:t>
            </a:r>
            <a:r>
              <a:rPr lang="es-MX" sz="1200" kern="1200" dirty="0" err="1">
                <a:solidFill>
                  <a:schemeClr val="tx1"/>
                </a:solidFill>
                <a:effectLst/>
                <a:latin typeface="+mn-lt"/>
                <a:ea typeface="+mn-ea"/>
                <a:cs typeface="+mn-cs"/>
              </a:rPr>
              <a:t>Integration</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Paradigm</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における大きな課題は、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テキスト中のイベントを</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のイベントに正しく対応付</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たいおうづ</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けること</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この問題を解決するために、本研究では</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EventGround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というフレームワークを提案しています。</a:t>
            </a:r>
            <a:endParaRPr lang="es-MX" sz="1200" kern="1200" dirty="0">
              <a:solidFill>
                <a:schemeClr val="tx1"/>
              </a:solidFill>
              <a:effectLst/>
              <a:latin typeface="+mn-lt"/>
              <a:ea typeface="+mn-ea"/>
              <a:cs typeface="+mn-cs"/>
            </a:endParaRPr>
          </a:p>
          <a:p>
            <a:r>
              <a:rPr lang="es-MX" sz="1200" kern="1200" dirty="0" err="1">
                <a:solidFill>
                  <a:schemeClr val="tx1"/>
                </a:solidFill>
                <a:effectLst/>
                <a:latin typeface="+mn-lt"/>
                <a:ea typeface="+mn-ea"/>
                <a:cs typeface="+mn-cs"/>
              </a:rPr>
              <a:t>EventGround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Language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Models</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ja-JP" altLang="es-MX" sz="1200" b="1" kern="1200" dirty="0">
                <a:solidFill>
                  <a:schemeClr val="tx1"/>
                </a:solidFill>
                <a:effectLst/>
                <a:latin typeface="+mn-lt"/>
                <a:ea typeface="+mn-ea"/>
                <a:cs typeface="+mn-cs"/>
              </a:rPr>
              <a:t>、そして</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Neural Networks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を組み合わせて、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テキストのイベントと構造化された知識を統合しながら推論を行うフレームワークです。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このフレームワークでは、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まずテキストから抽出</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ちゅうしゅつ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されたイベントを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のイベントに対応付け</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次にそれらをつなぐ </a:t>
            </a:r>
            <a:r>
              <a:rPr lang="ja-JP" altLang="es-MX" sz="1200" b="1" kern="1200" dirty="0">
                <a:solidFill>
                  <a:schemeClr val="tx1"/>
                </a:solidFill>
                <a:effectLst/>
                <a:latin typeface="+mn-lt"/>
                <a:ea typeface="+mn-ea"/>
                <a:cs typeface="+mn-cs"/>
              </a:rPr>
              <a:t>推論用のサブグラフ</a:t>
            </a:r>
            <a:r>
              <a:rPr lang="ja-JP" altLang="es-MX" sz="1200" kern="1200" dirty="0">
                <a:solidFill>
                  <a:schemeClr val="tx1"/>
                </a:solidFill>
                <a:effectLst/>
                <a:latin typeface="+mn-lt"/>
                <a:ea typeface="+mn-ea"/>
                <a:cs typeface="+mn-cs"/>
              </a:rPr>
              <a:t> を構築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こうちく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そして最後に、</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Neural Network</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を用いてグラフ上で推論を行います。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このフレームワークは次のようです。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詳細な流れについては、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後ほど各ステップを順番に説明します。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ここで使用されている</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 </a:t>
            </a:r>
            <a:r>
              <a:rPr lang="es-MX" sz="1200" b="1" kern="1200" dirty="0">
                <a:solidFill>
                  <a:schemeClr val="tx1"/>
                </a:solidFill>
                <a:effectLst/>
                <a:latin typeface="+mn-lt"/>
                <a:ea typeface="+mn-ea"/>
                <a:cs typeface="+mn-cs"/>
              </a:rPr>
              <a:t>ASER</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ASER </a:t>
            </a:r>
            <a:r>
              <a:rPr lang="ja-JP" altLang="es-MX" sz="1200" kern="1200" dirty="0">
                <a:solidFill>
                  <a:schemeClr val="tx1"/>
                </a:solidFill>
                <a:effectLst/>
                <a:latin typeface="+mn-lt"/>
                <a:ea typeface="+mn-ea"/>
                <a:cs typeface="+mn-cs"/>
              </a:rPr>
              <a:t>は </a:t>
            </a:r>
            <a:r>
              <a:rPr lang="es-MX" sz="1200" b="1" kern="1200" dirty="0" err="1">
                <a:solidFill>
                  <a:schemeClr val="tx1"/>
                </a:solidFill>
                <a:effectLst/>
                <a:latin typeface="+mn-lt"/>
                <a:ea typeface="+mn-ea"/>
                <a:cs typeface="+mn-cs"/>
              </a:rPr>
              <a:t>Activities</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States</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Events</a:t>
            </a:r>
            <a:r>
              <a:rPr lang="es-MX" sz="1200" b="1" kern="1200" dirty="0">
                <a:solidFill>
                  <a:schemeClr val="tx1"/>
                </a:solidFill>
                <a:effectLst/>
                <a:latin typeface="+mn-lt"/>
                <a:ea typeface="+mn-ea"/>
                <a:cs typeface="+mn-cs"/>
              </a:rPr>
              <a:t>, and </a:t>
            </a:r>
            <a:r>
              <a:rPr lang="es-MX" sz="1200" b="1" kern="1200" dirty="0" err="1">
                <a:solidFill>
                  <a:schemeClr val="tx1"/>
                </a:solidFill>
                <a:effectLst/>
                <a:latin typeface="+mn-lt"/>
                <a:ea typeface="+mn-ea"/>
                <a:cs typeface="+mn-cs"/>
              </a:rPr>
              <a:t>their</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Relations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の略で、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数百万のイベントと、それらの間の因果関係や時間関係などを含む</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大規模な常識的</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じょうしきてき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イベント知識グラフ</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このような構造化されたイベント知識を利用することで、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ナラティブ推論の性能を向上させることを目指しています。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27F6FB8B-1938-4266-AC76-FE6EFE356B7C}" type="slidenum">
              <a:rPr lang="es-MX" smtClean="0"/>
              <a:t>4</a:t>
            </a:fld>
            <a:endParaRPr lang="es-MX"/>
          </a:p>
        </p:txBody>
      </p:sp>
    </p:spTree>
    <p:extLst>
      <p:ext uri="{BB962C8B-B14F-4D97-AF65-F5344CB8AC3E}">
        <p14:creationId xmlns:p14="http://schemas.microsoft.com/office/powerpoint/2010/main" val="2370407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次に、この研究で扱う </a:t>
            </a:r>
            <a:r>
              <a:rPr lang="ja-JP" altLang="es-MX" sz="1200" b="1" kern="1200" dirty="0">
                <a:solidFill>
                  <a:schemeClr val="tx1"/>
                </a:solidFill>
                <a:effectLst/>
                <a:latin typeface="+mn-lt"/>
                <a:ea typeface="+mn-ea"/>
                <a:cs typeface="+mn-cs"/>
              </a:rPr>
              <a:t>最初の課題</a:t>
            </a:r>
            <a:r>
              <a:rPr lang="ja-JP" altLang="es-MX" sz="1200" kern="1200" dirty="0">
                <a:solidFill>
                  <a:schemeClr val="tx1"/>
                </a:solidFill>
                <a:effectLst/>
                <a:latin typeface="+mn-lt"/>
                <a:ea typeface="+mn-ea"/>
                <a:cs typeface="+mn-cs"/>
              </a:rPr>
              <a:t>について説明します。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それが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Representation</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の問題</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自然言語におけるイベントは、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独立して存在するわけではなく、文脈の中で互</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たが</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いに関連</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かんれん</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しています。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例えば、次の文を考えてみてください。</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Tom was tired and wanted to have fun.</a:t>
            </a:r>
            <a:r>
              <a:rPr lang="ja-JP" altLang="es-MX" sz="120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この文には、実際には </a:t>
            </a:r>
            <a:r>
              <a:rPr lang="es-MX" sz="1200" b="1" kern="1200" dirty="0">
                <a:solidFill>
                  <a:schemeClr val="tx1"/>
                </a:solidFill>
                <a:effectLst/>
                <a:latin typeface="+mn-lt"/>
                <a:ea typeface="+mn-ea"/>
                <a:cs typeface="+mn-cs"/>
              </a:rPr>
              <a:t>2</a:t>
            </a:r>
            <a:r>
              <a:rPr lang="ja-JP" altLang="es-MX" sz="1200" b="1" kern="1200" dirty="0">
                <a:solidFill>
                  <a:schemeClr val="tx1"/>
                </a:solidFill>
                <a:effectLst/>
                <a:latin typeface="+mn-lt"/>
                <a:ea typeface="+mn-ea"/>
                <a:cs typeface="+mn-cs"/>
              </a:rPr>
              <a:t>つのイベント</a:t>
            </a:r>
            <a:r>
              <a:rPr lang="ja-JP" altLang="es-MX" sz="1200" kern="1200" dirty="0">
                <a:solidFill>
                  <a:schemeClr val="tx1"/>
                </a:solidFill>
                <a:effectLst/>
                <a:latin typeface="+mn-lt"/>
                <a:ea typeface="+mn-ea"/>
                <a:cs typeface="+mn-cs"/>
              </a:rPr>
              <a:t>が含まれています。</a:t>
            </a:r>
            <a:endParaRPr lang="es-MX" sz="1200" kern="1200" dirty="0">
              <a:solidFill>
                <a:schemeClr val="tx1"/>
              </a:solidFill>
              <a:effectLst/>
              <a:latin typeface="+mn-lt"/>
              <a:ea typeface="+mn-ea"/>
              <a:cs typeface="+mn-cs"/>
            </a:endParaRPr>
          </a:p>
          <a:p>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つ目は</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Tom </a:t>
            </a:r>
            <a:r>
              <a:rPr lang="es-MX" sz="1200" kern="1200" dirty="0" err="1">
                <a:solidFill>
                  <a:schemeClr val="tx1"/>
                </a:solidFill>
                <a:effectLst/>
                <a:latin typeface="+mn-lt"/>
                <a:ea typeface="+mn-ea"/>
                <a:cs typeface="+mn-cs"/>
              </a:rPr>
              <a:t>was</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tired</a:t>
            </a:r>
            <a:endParaRPr lang="es-MX" sz="1200" kern="1200" dirty="0">
              <a:solidFill>
                <a:schemeClr val="tx1"/>
              </a:solidFill>
              <a:effectLst/>
              <a:latin typeface="+mn-lt"/>
              <a:ea typeface="+mn-ea"/>
              <a:cs typeface="+mn-cs"/>
            </a:endParaRPr>
          </a:p>
          <a:p>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2</a:t>
            </a:r>
            <a:r>
              <a:rPr lang="ja-JP" altLang="es-MX" sz="1200" kern="1200" dirty="0">
                <a:solidFill>
                  <a:schemeClr val="tx1"/>
                </a:solidFill>
                <a:effectLst/>
                <a:latin typeface="+mn-lt"/>
                <a:ea typeface="+mn-ea"/>
                <a:cs typeface="+mn-cs"/>
              </a:rPr>
              <a:t>つ目は</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Tom </a:t>
            </a:r>
            <a:r>
              <a:rPr lang="es-MX" sz="1200" kern="1200" dirty="0" err="1">
                <a:solidFill>
                  <a:schemeClr val="tx1"/>
                </a:solidFill>
                <a:effectLst/>
                <a:latin typeface="+mn-lt"/>
                <a:ea typeface="+mn-ea"/>
                <a:cs typeface="+mn-cs"/>
              </a:rPr>
              <a:t>wanted</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to</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have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fun</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a:t>
            </a:r>
            <a:r>
              <a:rPr lang="es-MX" sz="1200" kern="1200" dirty="0">
                <a:solidFill>
                  <a:schemeClr val="tx1"/>
                </a:solidFill>
                <a:effectLst/>
                <a:latin typeface="+mn-lt"/>
                <a:ea typeface="+mn-ea"/>
                <a:cs typeface="+mn-cs"/>
              </a:rPr>
              <a:t>2</a:t>
            </a:r>
            <a:r>
              <a:rPr lang="ja-JP" altLang="es-MX" sz="1200" kern="1200" dirty="0">
                <a:solidFill>
                  <a:schemeClr val="tx1"/>
                </a:solidFill>
                <a:effectLst/>
                <a:latin typeface="+mn-lt"/>
                <a:ea typeface="+mn-ea"/>
                <a:cs typeface="+mn-cs"/>
              </a:rPr>
              <a:t>つのイベントは </a:t>
            </a:r>
            <a:r>
              <a:rPr lang="ja-JP" altLang="es-MX" sz="1200" b="1" kern="1200" dirty="0">
                <a:solidFill>
                  <a:schemeClr val="tx1"/>
                </a:solidFill>
                <a:effectLst/>
                <a:latin typeface="+mn-lt"/>
                <a:ea typeface="+mn-ea"/>
                <a:cs typeface="+mn-cs"/>
              </a:rPr>
              <a:t>同じ主語</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しゅご</a:t>
            </a:r>
            <a:r>
              <a:rPr lang="es-MX" sz="1200" b="1" kern="1200" dirty="0">
                <a:solidFill>
                  <a:schemeClr val="tx1"/>
                </a:solidFill>
                <a:effectLst/>
                <a:latin typeface="+mn-lt"/>
                <a:ea typeface="+mn-ea"/>
                <a:cs typeface="+mn-cs"/>
              </a:rPr>
              <a:t>) Tom </a:t>
            </a:r>
            <a:r>
              <a:rPr lang="ja-JP" altLang="es-MX" sz="1200" b="1" kern="1200" dirty="0">
                <a:solidFill>
                  <a:schemeClr val="tx1"/>
                </a:solidFill>
                <a:effectLst/>
                <a:latin typeface="+mn-lt"/>
                <a:ea typeface="+mn-ea"/>
                <a:cs typeface="+mn-cs"/>
              </a:rPr>
              <a:t>を共有</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きょうゆう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しています。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しかし、イベント抽出を行うと、</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これらのイベントは </a:t>
            </a:r>
            <a:r>
              <a:rPr lang="ja-JP" altLang="es-MX" sz="1200" b="1" kern="1200" dirty="0">
                <a:solidFill>
                  <a:schemeClr val="tx1"/>
                </a:solidFill>
                <a:effectLst/>
                <a:latin typeface="+mn-lt"/>
                <a:ea typeface="+mn-ea"/>
                <a:cs typeface="+mn-cs"/>
              </a:rPr>
              <a:t>別々のイベントとして分離</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ぶんり</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されてしまうため、</a:t>
            </a:r>
            <a:br>
              <a:rPr lang="es-MX" sz="1200" b="1"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共有されている引数</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ひきすう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の情報が失われる可能性があります。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さらに、もう一つの問題が </a:t>
            </a:r>
            <a:r>
              <a:rPr lang="ja-JP" altLang="es-MX" sz="1200" b="1" kern="1200" dirty="0">
                <a:solidFill>
                  <a:schemeClr val="tx1"/>
                </a:solidFill>
                <a:effectLst/>
                <a:latin typeface="+mn-lt"/>
                <a:ea typeface="+mn-ea"/>
                <a:cs typeface="+mn-cs"/>
              </a:rPr>
              <a:t>共</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とも</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参照</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さんしょう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co-reference</a:t>
            </a:r>
            <a:r>
              <a:rPr lang="ja-JP" alt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例えば、</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The</a:t>
            </a:r>
            <a:r>
              <a:rPr lang="es-MX" sz="1200" kern="1200" dirty="0">
                <a:solidFill>
                  <a:schemeClr val="tx1"/>
                </a:solidFill>
                <a:effectLst/>
                <a:latin typeface="+mn-lt"/>
                <a:ea typeface="+mn-ea"/>
                <a:cs typeface="+mn-cs"/>
              </a:rPr>
              <a:t> general </a:t>
            </a:r>
            <a:r>
              <a:rPr lang="es-MX" sz="1200" kern="1200" dirty="0" err="1">
                <a:solidFill>
                  <a:schemeClr val="tx1"/>
                </a:solidFill>
                <a:effectLst/>
                <a:latin typeface="+mn-lt"/>
                <a:ea typeface="+mn-ea"/>
                <a:cs typeface="+mn-cs"/>
              </a:rPr>
              <a:t>had</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some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wine</a:t>
            </a:r>
            <a:r>
              <a:rPr 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He </a:t>
            </a:r>
            <a:r>
              <a:rPr lang="es-MX" sz="1200" kern="1200" dirty="0" err="1">
                <a:solidFill>
                  <a:schemeClr val="tx1"/>
                </a:solidFill>
                <a:effectLst/>
                <a:latin typeface="+mn-lt"/>
                <a:ea typeface="+mn-ea"/>
                <a:cs typeface="+mn-cs"/>
              </a:rPr>
              <a:t>felt</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sleepy</a:t>
            </a:r>
            <a:r>
              <a:rPr 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He </a:t>
            </a:r>
            <a:r>
              <a:rPr lang="es-MX" sz="1200" kern="1200" dirty="0" err="1">
                <a:solidFill>
                  <a:schemeClr val="tx1"/>
                </a:solidFill>
                <a:effectLst/>
                <a:latin typeface="+mn-lt"/>
                <a:ea typeface="+mn-ea"/>
                <a:cs typeface="+mn-cs"/>
              </a:rPr>
              <a:t>said</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goodbye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to</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them</a:t>
            </a:r>
            <a:r>
              <a:rPr lang="es-MX" sz="1200" kern="1200" dirty="0">
                <a:solidFill>
                  <a:schemeClr val="tx1"/>
                </a:solidFill>
                <a:effectLst/>
                <a:latin typeface="+mn-lt"/>
                <a:ea typeface="+mn-ea"/>
                <a:cs typeface="+mn-cs"/>
              </a:rPr>
              <a:t>."</a:t>
            </a: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人間は</a:t>
            </a:r>
            <a:r>
              <a:rPr lang="es-MX" sz="1200" kern="1200" dirty="0">
                <a:solidFill>
                  <a:schemeClr val="tx1"/>
                </a:solidFill>
                <a:effectLst/>
                <a:latin typeface="+mn-lt"/>
                <a:ea typeface="+mn-ea"/>
                <a:cs typeface="+mn-cs"/>
              </a:rPr>
              <a:t> "He" </a:t>
            </a:r>
            <a:r>
              <a:rPr lang="ja-JP" altLang="es-MX" sz="1200" kern="1200" dirty="0">
                <a:solidFill>
                  <a:schemeClr val="tx1"/>
                </a:solidFill>
                <a:effectLst/>
                <a:latin typeface="+mn-lt"/>
                <a:ea typeface="+mn-ea"/>
                <a:cs typeface="+mn-cs"/>
              </a:rPr>
              <a:t>が </a:t>
            </a:r>
            <a:r>
              <a:rPr lang="es-MX" sz="1200" b="1" kern="1200" dirty="0" err="1">
                <a:solidFill>
                  <a:schemeClr val="tx1"/>
                </a:solidFill>
                <a:effectLst/>
                <a:latin typeface="+mn-lt"/>
                <a:ea typeface="+mn-ea"/>
                <a:cs typeface="+mn-cs"/>
              </a:rPr>
              <a:t>the</a:t>
            </a:r>
            <a:r>
              <a:rPr lang="es-MX" sz="1200" b="1" kern="1200" dirty="0">
                <a:solidFill>
                  <a:schemeClr val="tx1"/>
                </a:solidFill>
                <a:effectLst/>
                <a:latin typeface="+mn-lt"/>
                <a:ea typeface="+mn-ea"/>
                <a:cs typeface="+mn-cs"/>
              </a:rPr>
              <a:t> general</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を指していることを簡単に理解できます。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しかし、イベントを個別</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こべつ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に抽出すると、</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このような関係が失われてしまう可能性があります。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27F6FB8B-1938-4266-AC76-FE6EFE356B7C}" type="slidenum">
              <a:rPr lang="es-MX" smtClean="0"/>
              <a:t>5</a:t>
            </a:fld>
            <a:endParaRPr lang="es-MX"/>
          </a:p>
        </p:txBody>
      </p:sp>
    </p:spTree>
    <p:extLst>
      <p:ext uri="{BB962C8B-B14F-4D97-AF65-F5344CB8AC3E}">
        <p14:creationId xmlns:p14="http://schemas.microsoft.com/office/powerpoint/2010/main" val="3882950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sz="1200" b="1" kern="1200" dirty="0">
                <a:solidFill>
                  <a:schemeClr val="tx1"/>
                </a:solidFill>
                <a:effectLst/>
                <a:latin typeface="+mn-lt"/>
                <a:ea typeface="+mn-ea"/>
                <a:cs typeface="+mn-cs"/>
              </a:rPr>
              <a:t>Script en japonés (para presentar)</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先ほど説明した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Representation</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の問題</a:t>
            </a:r>
            <a:r>
              <a:rPr lang="ja-JP" altLang="es-MX" sz="1200" kern="1200" dirty="0">
                <a:solidFill>
                  <a:schemeClr val="tx1"/>
                </a:solidFill>
                <a:effectLst/>
                <a:latin typeface="+mn-lt"/>
                <a:ea typeface="+mn-ea"/>
                <a:cs typeface="+mn-cs"/>
              </a:rPr>
              <a:t>に加えて、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もう一つ重要な課題があります。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それが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Sparsity</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の問題です。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自然言語では、</a:t>
            </a:r>
            <a:r>
              <a:rPr lang="ja-JP" altLang="es-MX" sz="1200" b="1" kern="1200" dirty="0">
                <a:solidFill>
                  <a:schemeClr val="tx1"/>
                </a:solidFill>
                <a:effectLst/>
                <a:latin typeface="+mn-lt"/>
                <a:ea typeface="+mn-ea"/>
                <a:cs typeface="+mn-cs"/>
              </a:rPr>
              <a:t>同じ出来事がさまざまな表現で記述</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きじゅつ</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されることがあります。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例えば、</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Tom </a:t>
            </a:r>
            <a:r>
              <a:rPr lang="es-MX" sz="1200" kern="1200" dirty="0" err="1">
                <a:solidFill>
                  <a:schemeClr val="tx1"/>
                </a:solidFill>
                <a:effectLst/>
                <a:latin typeface="+mn-lt"/>
                <a:ea typeface="+mn-ea"/>
                <a:cs typeface="+mn-cs"/>
              </a:rPr>
              <a:t>bought</a:t>
            </a:r>
            <a:r>
              <a:rPr lang="es-MX" sz="1200" kern="1200" dirty="0">
                <a:solidFill>
                  <a:schemeClr val="tx1"/>
                </a:solidFill>
                <a:effectLst/>
                <a:latin typeface="+mn-lt"/>
                <a:ea typeface="+mn-ea"/>
                <a:cs typeface="+mn-cs"/>
              </a:rPr>
              <a:t> a </a:t>
            </a:r>
            <a:r>
              <a:rPr lang="es-MX" sz="1200" kern="1200" dirty="0" err="1">
                <a:solidFill>
                  <a:schemeClr val="tx1"/>
                </a:solidFill>
                <a:effectLst/>
                <a:latin typeface="+mn-lt"/>
                <a:ea typeface="+mn-ea"/>
                <a:cs typeface="+mn-cs"/>
              </a:rPr>
              <a:t>movie</a:t>
            </a:r>
            <a:r>
              <a:rPr lang="es-MX" sz="1200" kern="1200" dirty="0">
                <a:solidFill>
                  <a:schemeClr val="tx1"/>
                </a:solidFill>
                <a:effectLst/>
                <a:latin typeface="+mn-lt"/>
                <a:ea typeface="+mn-ea"/>
                <a:cs typeface="+mn-cs"/>
              </a:rPr>
              <a:t> ticket</a:t>
            </a:r>
            <a:r>
              <a:rPr lang="ja-JP" altLang="es-MX" sz="120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というイベントは、</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の中では</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PersonX</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buys</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movie</a:t>
            </a:r>
            <a:r>
              <a:rPr lang="es-MX" sz="1200" kern="1200" dirty="0">
                <a:solidFill>
                  <a:schemeClr val="tx1"/>
                </a:solidFill>
                <a:effectLst/>
                <a:latin typeface="+mn-lt"/>
                <a:ea typeface="+mn-ea"/>
                <a:cs typeface="+mn-cs"/>
              </a:rPr>
              <a:t> ticket</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PersonX</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purchases</a:t>
            </a:r>
            <a:r>
              <a:rPr lang="es-MX" sz="1200" kern="1200" dirty="0">
                <a:solidFill>
                  <a:schemeClr val="tx1"/>
                </a:solidFill>
                <a:effectLst/>
                <a:latin typeface="+mn-lt"/>
                <a:ea typeface="+mn-ea"/>
                <a:cs typeface="+mn-cs"/>
              </a:rPr>
              <a:t> cinema ticket</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PersonX</a:t>
            </a:r>
            <a:r>
              <a:rPr lang="es-MX" sz="1200" kern="1200" dirty="0">
                <a:solidFill>
                  <a:schemeClr val="tx1"/>
                </a:solidFill>
                <a:effectLst/>
                <a:latin typeface="+mn-lt"/>
                <a:ea typeface="+mn-ea"/>
                <a:cs typeface="+mn-cs"/>
              </a:rPr>
              <a:t> gets ticket </a:t>
            </a:r>
            <a:r>
              <a:rPr lang="es-MX" sz="1200" kern="1200" dirty="0" err="1">
                <a:solidFill>
                  <a:schemeClr val="tx1"/>
                </a:solidFill>
                <a:effectLst/>
                <a:latin typeface="+mn-lt"/>
                <a:ea typeface="+mn-ea"/>
                <a:cs typeface="+mn-cs"/>
              </a:rPr>
              <a:t>for</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movie</a:t>
            </a:r>
            <a:r>
              <a:rPr lang="ja-JP" altLang="es-MX" sz="120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のように、</a:t>
            </a:r>
            <a:r>
              <a:rPr lang="ja-JP" altLang="es-MX" sz="1200" b="1" kern="1200" dirty="0">
                <a:solidFill>
                  <a:schemeClr val="tx1"/>
                </a:solidFill>
                <a:effectLst/>
                <a:latin typeface="+mn-lt"/>
                <a:ea typeface="+mn-ea"/>
                <a:cs typeface="+mn-cs"/>
              </a:rPr>
              <a:t>意味がほぼ同じでも異なるイベントとして表現されている場合があります。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このように、同じ意味のイベントが複数のノードとして存在</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そんざい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すると、</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テキストのイベントを</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のイベントに正しく対応付けることが難しくなります。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その結果、推論に必要な知識を正しく取得できない可能性があります。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27F6FB8B-1938-4266-AC76-FE6EFE356B7C}" type="slidenum">
              <a:rPr lang="es-MX" smtClean="0"/>
              <a:t>6</a:t>
            </a:fld>
            <a:endParaRPr lang="es-MX"/>
          </a:p>
        </p:txBody>
      </p:sp>
    </p:spTree>
    <p:extLst>
      <p:ext uri="{BB962C8B-B14F-4D97-AF65-F5344CB8AC3E}">
        <p14:creationId xmlns:p14="http://schemas.microsoft.com/office/powerpoint/2010/main" val="31771251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b="0" kern="1200" dirty="0">
                <a:solidFill>
                  <a:schemeClr val="tx1"/>
                </a:solidFill>
                <a:effectLst/>
                <a:latin typeface="+mn-lt"/>
                <a:ea typeface="+mn-ea"/>
                <a:cs typeface="+mn-cs"/>
              </a:rPr>
              <a:t>これらの問題を解決するために、</a:t>
            </a:r>
            <a:br>
              <a:rPr lang="es-MX" sz="1200" b="0" kern="1200" dirty="0">
                <a:solidFill>
                  <a:schemeClr val="tx1"/>
                </a:solidFill>
                <a:effectLst/>
                <a:latin typeface="+mn-lt"/>
                <a:ea typeface="+mn-ea"/>
                <a:cs typeface="+mn-cs"/>
              </a:rPr>
            </a:br>
            <a:r>
              <a:rPr lang="es-MX" sz="1200" b="0" kern="1200" dirty="0" err="1">
                <a:solidFill>
                  <a:schemeClr val="tx1"/>
                </a:solidFill>
                <a:effectLst/>
                <a:latin typeface="+mn-lt"/>
                <a:ea typeface="+mn-ea"/>
                <a:cs typeface="+mn-cs"/>
              </a:rPr>
              <a:t>EventGround</a:t>
            </a:r>
            <a:r>
              <a:rPr lang="es-MX" sz="1200" b="0" kern="1200" dirty="0">
                <a:solidFill>
                  <a:schemeClr val="tx1"/>
                </a:solidFill>
                <a:effectLst/>
                <a:latin typeface="+mn-lt"/>
                <a:ea typeface="+mn-ea"/>
                <a:cs typeface="+mn-cs"/>
              </a:rPr>
              <a:t> </a:t>
            </a:r>
            <a:r>
              <a:rPr lang="ja-JP" altLang="es-MX" sz="1200" b="0" kern="1200" dirty="0">
                <a:solidFill>
                  <a:schemeClr val="tx1"/>
                </a:solidFill>
                <a:effectLst/>
                <a:latin typeface="+mn-lt"/>
                <a:ea typeface="+mn-ea"/>
                <a:cs typeface="+mn-cs"/>
              </a:rPr>
              <a:t>フレームワークではいくつかの処理ステップを行います。</a:t>
            </a:r>
            <a:endParaRPr lang="es-MX" sz="1200" b="0" kern="1200" dirty="0">
              <a:solidFill>
                <a:schemeClr val="tx1"/>
              </a:solidFill>
              <a:effectLst/>
              <a:latin typeface="+mn-lt"/>
              <a:ea typeface="+mn-ea"/>
              <a:cs typeface="+mn-cs"/>
            </a:endParaRPr>
          </a:p>
          <a:p>
            <a:r>
              <a:rPr lang="ja-JP" altLang="es-MX" sz="1200" b="0" kern="1200" dirty="0">
                <a:solidFill>
                  <a:schemeClr val="tx1"/>
                </a:solidFill>
                <a:effectLst/>
                <a:latin typeface="+mn-lt"/>
                <a:ea typeface="+mn-ea"/>
                <a:cs typeface="+mn-cs"/>
              </a:rPr>
              <a:t>その 最初のステップが</a:t>
            </a:r>
            <a:br>
              <a:rPr lang="es-MX" sz="1200" b="0" kern="1200" dirty="0">
                <a:solidFill>
                  <a:schemeClr val="tx1"/>
                </a:solidFill>
                <a:effectLst/>
                <a:latin typeface="+mn-lt"/>
                <a:ea typeface="+mn-ea"/>
                <a:cs typeface="+mn-cs"/>
              </a:rPr>
            </a:br>
            <a:r>
              <a:rPr lang="es-MX" sz="1200" b="0" kern="1200" dirty="0">
                <a:solidFill>
                  <a:schemeClr val="tx1"/>
                </a:solidFill>
                <a:effectLst/>
                <a:latin typeface="+mn-lt"/>
                <a:ea typeface="+mn-ea"/>
                <a:cs typeface="+mn-cs"/>
              </a:rPr>
              <a:t>**</a:t>
            </a:r>
            <a:r>
              <a:rPr lang="es-MX" sz="1200" b="0" kern="1200" dirty="0" err="1">
                <a:solidFill>
                  <a:schemeClr val="tx1"/>
                </a:solidFill>
                <a:effectLst/>
                <a:latin typeface="+mn-lt"/>
                <a:ea typeface="+mn-ea"/>
                <a:cs typeface="+mn-cs"/>
              </a:rPr>
              <a:t>Event</a:t>
            </a:r>
            <a:r>
              <a:rPr lang="es-MX" sz="1200" b="0" kern="1200" dirty="0">
                <a:solidFill>
                  <a:schemeClr val="tx1"/>
                </a:solidFill>
                <a:effectLst/>
                <a:latin typeface="+mn-lt"/>
                <a:ea typeface="+mn-ea"/>
                <a:cs typeface="+mn-cs"/>
              </a:rPr>
              <a:t> </a:t>
            </a:r>
            <a:r>
              <a:rPr lang="es-MX" sz="1200" b="0" kern="1200" dirty="0" err="1">
                <a:solidFill>
                  <a:schemeClr val="tx1"/>
                </a:solidFill>
                <a:effectLst/>
                <a:latin typeface="+mn-lt"/>
                <a:ea typeface="+mn-ea"/>
                <a:cs typeface="+mn-cs"/>
              </a:rPr>
              <a:t>Extraction</a:t>
            </a:r>
            <a:r>
              <a:rPr lang="es-MX" sz="1200" b="0"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です。</a:t>
            </a:r>
            <a:endParaRPr lang="es-MX" altLang="ja-JP" sz="1200" b="0" kern="1200" dirty="0">
              <a:solidFill>
                <a:schemeClr val="tx1"/>
              </a:solidFill>
              <a:effectLst/>
              <a:latin typeface="+mn-lt"/>
              <a:ea typeface="+mn-ea"/>
              <a:cs typeface="+mn-cs"/>
            </a:endParaRPr>
          </a:p>
          <a:p>
            <a:endParaRPr lang="es-MX" sz="1200" b="0" kern="1200" dirty="0">
              <a:solidFill>
                <a:schemeClr val="tx1"/>
              </a:solidFill>
              <a:effectLst/>
              <a:latin typeface="+mn-lt"/>
              <a:ea typeface="+mn-ea"/>
              <a:cs typeface="+mn-cs"/>
            </a:endParaRPr>
          </a:p>
          <a:p>
            <a:r>
              <a:rPr lang="ja-JP" altLang="es-MX" sz="1200" b="0" kern="1200" dirty="0">
                <a:solidFill>
                  <a:schemeClr val="tx1"/>
                </a:solidFill>
                <a:effectLst/>
                <a:latin typeface="+mn-lt"/>
                <a:ea typeface="+mn-ea"/>
                <a:cs typeface="+mn-cs"/>
              </a:rPr>
              <a:t>このステップでは </a:t>
            </a:r>
            <a:r>
              <a:rPr lang="es-MX" sz="1200" b="0" kern="1200" dirty="0" err="1">
                <a:solidFill>
                  <a:schemeClr val="tx1"/>
                </a:solidFill>
                <a:effectLst/>
                <a:latin typeface="+mn-lt"/>
                <a:ea typeface="+mn-ea"/>
                <a:cs typeface="+mn-cs"/>
              </a:rPr>
              <a:t>Semantic</a:t>
            </a:r>
            <a:r>
              <a:rPr lang="es-MX" sz="1200" b="0" kern="1200" dirty="0">
                <a:solidFill>
                  <a:schemeClr val="tx1"/>
                </a:solidFill>
                <a:effectLst/>
                <a:latin typeface="+mn-lt"/>
                <a:ea typeface="+mn-ea"/>
                <a:cs typeface="+mn-cs"/>
              </a:rPr>
              <a:t> Role </a:t>
            </a:r>
            <a:r>
              <a:rPr lang="es-MX" sz="1200" b="0" kern="1200" dirty="0" err="1">
                <a:solidFill>
                  <a:schemeClr val="tx1"/>
                </a:solidFill>
                <a:effectLst/>
                <a:latin typeface="+mn-lt"/>
                <a:ea typeface="+mn-ea"/>
                <a:cs typeface="+mn-cs"/>
              </a:rPr>
              <a:t>Labeling</a:t>
            </a:r>
            <a:r>
              <a:rPr lang="es-MX" sz="1200" b="0" kern="1200" dirty="0">
                <a:solidFill>
                  <a:schemeClr val="tx1"/>
                </a:solidFill>
                <a:effectLst/>
                <a:latin typeface="+mn-lt"/>
                <a:ea typeface="+mn-ea"/>
                <a:cs typeface="+mn-cs"/>
              </a:rPr>
              <a:t> </a:t>
            </a:r>
            <a:r>
              <a:rPr lang="ja-JP" altLang="es-MX" sz="1200" b="0" kern="1200" dirty="0">
                <a:solidFill>
                  <a:schemeClr val="tx1"/>
                </a:solidFill>
                <a:effectLst/>
                <a:latin typeface="+mn-lt"/>
                <a:ea typeface="+mn-ea"/>
                <a:cs typeface="+mn-cs"/>
              </a:rPr>
              <a:t>を用いて、</a:t>
            </a:r>
            <a:br>
              <a:rPr lang="es-MX" sz="1200" b="0" kern="1200" dirty="0">
                <a:solidFill>
                  <a:schemeClr val="tx1"/>
                </a:solidFill>
                <a:effectLst/>
                <a:latin typeface="+mn-lt"/>
                <a:ea typeface="+mn-ea"/>
                <a:cs typeface="+mn-cs"/>
              </a:rPr>
            </a:br>
            <a:r>
              <a:rPr lang="ja-JP" altLang="es-MX" sz="1200" b="0" kern="1200" dirty="0">
                <a:solidFill>
                  <a:schemeClr val="tx1"/>
                </a:solidFill>
                <a:effectLst/>
                <a:latin typeface="+mn-lt"/>
                <a:ea typeface="+mn-ea"/>
                <a:cs typeface="+mn-cs"/>
              </a:rPr>
              <a:t>文の中のイベント構造を抽出します。</a:t>
            </a:r>
            <a:endParaRPr lang="es-MX" sz="1200" b="0" kern="1200" dirty="0">
              <a:solidFill>
                <a:schemeClr val="tx1"/>
              </a:solidFill>
              <a:effectLst/>
              <a:latin typeface="+mn-lt"/>
              <a:ea typeface="+mn-ea"/>
              <a:cs typeface="+mn-cs"/>
            </a:endParaRPr>
          </a:p>
          <a:p>
            <a:endParaRPr lang="es-MX" sz="1200" b="0" kern="1200" dirty="0">
              <a:solidFill>
                <a:schemeClr val="tx1"/>
              </a:solidFill>
              <a:effectLst/>
              <a:latin typeface="+mn-lt"/>
              <a:ea typeface="+mn-ea"/>
              <a:cs typeface="+mn-cs"/>
            </a:endParaRPr>
          </a:p>
          <a:p>
            <a:r>
              <a:rPr lang="es-MX" sz="1200" b="0" kern="1200" dirty="0" err="1">
                <a:solidFill>
                  <a:schemeClr val="tx1"/>
                </a:solidFill>
                <a:effectLst/>
                <a:latin typeface="+mn-lt"/>
                <a:ea typeface="+mn-ea"/>
                <a:cs typeface="+mn-cs"/>
              </a:rPr>
              <a:t>Semantic</a:t>
            </a:r>
            <a:r>
              <a:rPr lang="es-MX" sz="1200" b="0" kern="1200" dirty="0">
                <a:solidFill>
                  <a:schemeClr val="tx1"/>
                </a:solidFill>
                <a:effectLst/>
                <a:latin typeface="+mn-lt"/>
                <a:ea typeface="+mn-ea"/>
                <a:cs typeface="+mn-cs"/>
              </a:rPr>
              <a:t> Role </a:t>
            </a:r>
            <a:r>
              <a:rPr lang="es-MX" sz="1200" b="0" kern="1200" dirty="0" err="1">
                <a:solidFill>
                  <a:schemeClr val="tx1"/>
                </a:solidFill>
                <a:effectLst/>
                <a:latin typeface="+mn-lt"/>
                <a:ea typeface="+mn-ea"/>
                <a:cs typeface="+mn-cs"/>
              </a:rPr>
              <a:t>Labeling</a:t>
            </a:r>
            <a:r>
              <a:rPr lang="es-MX" sz="1200" b="0" kern="1200" dirty="0">
                <a:solidFill>
                  <a:schemeClr val="tx1"/>
                </a:solidFill>
                <a:effectLst/>
                <a:latin typeface="+mn-lt"/>
                <a:ea typeface="+mn-ea"/>
                <a:cs typeface="+mn-cs"/>
              </a:rPr>
              <a:t> </a:t>
            </a:r>
            <a:r>
              <a:rPr lang="ja-JP" altLang="es-MX" sz="1200" b="0" kern="1200" dirty="0">
                <a:solidFill>
                  <a:schemeClr val="tx1"/>
                </a:solidFill>
                <a:effectLst/>
                <a:latin typeface="+mn-lt"/>
                <a:ea typeface="+mn-ea"/>
                <a:cs typeface="+mn-cs"/>
              </a:rPr>
              <a:t>は、</a:t>
            </a:r>
            <a:br>
              <a:rPr lang="es-MX" sz="1200" b="0" kern="1200" dirty="0">
                <a:solidFill>
                  <a:schemeClr val="tx1"/>
                </a:solidFill>
                <a:effectLst/>
                <a:latin typeface="+mn-lt"/>
                <a:ea typeface="+mn-ea"/>
                <a:cs typeface="+mn-cs"/>
              </a:rPr>
            </a:br>
            <a:r>
              <a:rPr lang="ja-JP" altLang="es-MX" sz="1200" b="0" kern="1200" dirty="0">
                <a:solidFill>
                  <a:schemeClr val="tx1"/>
                </a:solidFill>
                <a:effectLst/>
                <a:latin typeface="+mn-lt"/>
                <a:ea typeface="+mn-ea"/>
                <a:cs typeface="+mn-cs"/>
              </a:rPr>
              <a:t>ある出来事について 誰が、何を、誰に、いつ、どのように行ったか を識別する技術です。</a:t>
            </a:r>
            <a:endParaRPr lang="es-MX" sz="1200" b="0" kern="1200" dirty="0">
              <a:solidFill>
                <a:schemeClr val="tx1"/>
              </a:solidFill>
              <a:effectLst/>
              <a:latin typeface="+mn-lt"/>
              <a:ea typeface="+mn-ea"/>
              <a:cs typeface="+mn-cs"/>
            </a:endParaRPr>
          </a:p>
          <a:p>
            <a:r>
              <a:rPr lang="es-MX" sz="1200" b="0" kern="1200" dirty="0">
                <a:solidFill>
                  <a:schemeClr val="tx1"/>
                </a:solidFill>
                <a:effectLst/>
                <a:latin typeface="+mn-lt"/>
                <a:ea typeface="+mn-ea"/>
                <a:cs typeface="+mn-cs"/>
              </a:rPr>
              <a:t>SRL </a:t>
            </a:r>
            <a:r>
              <a:rPr lang="ja-JP" altLang="es-MX" sz="1200" b="0" kern="1200" dirty="0">
                <a:solidFill>
                  <a:schemeClr val="tx1"/>
                </a:solidFill>
                <a:effectLst/>
                <a:latin typeface="+mn-lt"/>
                <a:ea typeface="+mn-ea"/>
                <a:cs typeface="+mn-cs"/>
              </a:rPr>
              <a:t>では、イベントの中心となる 動詞</a:t>
            </a:r>
            <a:r>
              <a:rPr lang="es-MX" sz="1200" b="0"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どうし</a:t>
            </a:r>
            <a:r>
              <a:rPr lang="es-MX" sz="1200" b="0"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a:t>
            </a:r>
            <a:r>
              <a:rPr lang="es-MX" sz="1200" b="0" kern="1200" dirty="0" err="1">
                <a:solidFill>
                  <a:schemeClr val="tx1"/>
                </a:solidFill>
                <a:effectLst/>
                <a:latin typeface="+mn-lt"/>
                <a:ea typeface="+mn-ea"/>
                <a:cs typeface="+mn-cs"/>
              </a:rPr>
              <a:t>predicate</a:t>
            </a:r>
            <a:r>
              <a:rPr lang="ja-JP" altLang="es-MX" sz="1200" b="0" kern="1200" dirty="0">
                <a:solidFill>
                  <a:schemeClr val="tx1"/>
                </a:solidFill>
                <a:effectLst/>
                <a:latin typeface="+mn-lt"/>
                <a:ea typeface="+mn-ea"/>
                <a:cs typeface="+mn-cs"/>
              </a:rPr>
              <a:t>） と、</a:t>
            </a:r>
            <a:br>
              <a:rPr lang="es-MX" sz="1200" b="0" kern="1200" dirty="0">
                <a:solidFill>
                  <a:schemeClr val="tx1"/>
                </a:solidFill>
                <a:effectLst/>
                <a:latin typeface="+mn-lt"/>
                <a:ea typeface="+mn-ea"/>
                <a:cs typeface="+mn-cs"/>
              </a:rPr>
            </a:br>
            <a:r>
              <a:rPr lang="ja-JP" altLang="es-MX" sz="1200" b="0" kern="1200" dirty="0">
                <a:solidFill>
                  <a:schemeClr val="tx1"/>
                </a:solidFill>
                <a:effectLst/>
                <a:latin typeface="+mn-lt"/>
                <a:ea typeface="+mn-ea"/>
                <a:cs typeface="+mn-cs"/>
              </a:rPr>
              <a:t>それに関係する 引数</a:t>
            </a:r>
            <a:r>
              <a:rPr lang="es-MX" sz="1200" b="0"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ひきすう</a:t>
            </a:r>
            <a:r>
              <a:rPr lang="es-MX" sz="1200" b="0"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a:t>
            </a:r>
            <a:r>
              <a:rPr lang="es-MX" sz="1200" b="0" kern="1200" dirty="0" err="1">
                <a:solidFill>
                  <a:schemeClr val="tx1"/>
                </a:solidFill>
                <a:effectLst/>
                <a:latin typeface="+mn-lt"/>
                <a:ea typeface="+mn-ea"/>
                <a:cs typeface="+mn-cs"/>
              </a:rPr>
              <a:t>arguments</a:t>
            </a:r>
            <a:r>
              <a:rPr lang="ja-JP" altLang="es-MX" sz="1200" b="0" kern="1200" dirty="0">
                <a:solidFill>
                  <a:schemeClr val="tx1"/>
                </a:solidFill>
                <a:effectLst/>
                <a:latin typeface="+mn-lt"/>
                <a:ea typeface="+mn-ea"/>
                <a:cs typeface="+mn-cs"/>
              </a:rPr>
              <a:t>） を識別します。</a:t>
            </a:r>
            <a:endParaRPr lang="es-MX" sz="1200" b="0" kern="1200" dirty="0">
              <a:solidFill>
                <a:schemeClr val="tx1"/>
              </a:solidFill>
              <a:effectLst/>
              <a:latin typeface="+mn-lt"/>
              <a:ea typeface="+mn-ea"/>
              <a:cs typeface="+mn-cs"/>
            </a:endParaRPr>
          </a:p>
          <a:p>
            <a:endParaRPr lang="es-MX" altLang="ja-JP" sz="1200" b="0" kern="1200" dirty="0">
              <a:solidFill>
                <a:schemeClr val="tx1"/>
              </a:solidFill>
              <a:effectLst/>
              <a:latin typeface="+mn-lt"/>
              <a:ea typeface="+mn-ea"/>
              <a:cs typeface="+mn-cs"/>
            </a:endParaRPr>
          </a:p>
          <a:p>
            <a:r>
              <a:rPr lang="ja-JP" altLang="es-MX" sz="1200" b="0" kern="1200" dirty="0">
                <a:solidFill>
                  <a:schemeClr val="tx1"/>
                </a:solidFill>
                <a:effectLst/>
                <a:latin typeface="+mn-lt"/>
                <a:ea typeface="+mn-ea"/>
                <a:cs typeface="+mn-cs"/>
              </a:rPr>
              <a:t>例えば、</a:t>
            </a:r>
            <a:endParaRPr lang="es-MX" sz="1200" b="0" kern="1200" dirty="0">
              <a:solidFill>
                <a:schemeClr val="tx1"/>
              </a:solidFill>
              <a:effectLst/>
              <a:latin typeface="+mn-lt"/>
              <a:ea typeface="+mn-ea"/>
              <a:cs typeface="+mn-cs"/>
            </a:endParaRPr>
          </a:p>
          <a:p>
            <a:r>
              <a:rPr lang="ja-JP" altLang="es-MX" sz="1200" b="0" kern="1200" dirty="0">
                <a:solidFill>
                  <a:schemeClr val="tx1"/>
                </a:solidFill>
                <a:effectLst/>
                <a:latin typeface="+mn-lt"/>
                <a:ea typeface="+mn-ea"/>
                <a:cs typeface="+mn-cs"/>
              </a:rPr>
              <a:t>「</a:t>
            </a:r>
            <a:r>
              <a:rPr lang="es-MX" sz="1200" b="0" kern="1200" dirty="0">
                <a:solidFill>
                  <a:schemeClr val="tx1"/>
                </a:solidFill>
                <a:effectLst/>
                <a:latin typeface="+mn-lt"/>
                <a:ea typeface="+mn-ea"/>
                <a:cs typeface="+mn-cs"/>
              </a:rPr>
              <a:t>Tom </a:t>
            </a:r>
            <a:r>
              <a:rPr lang="es-MX" sz="1200" b="0" kern="1200" dirty="0" err="1">
                <a:solidFill>
                  <a:schemeClr val="tx1"/>
                </a:solidFill>
                <a:effectLst/>
                <a:latin typeface="+mn-lt"/>
                <a:ea typeface="+mn-ea"/>
                <a:cs typeface="+mn-cs"/>
              </a:rPr>
              <a:t>bought</a:t>
            </a:r>
            <a:r>
              <a:rPr lang="es-MX" sz="1200" b="0" kern="1200" dirty="0">
                <a:solidFill>
                  <a:schemeClr val="tx1"/>
                </a:solidFill>
                <a:effectLst/>
                <a:latin typeface="+mn-lt"/>
                <a:ea typeface="+mn-ea"/>
                <a:cs typeface="+mn-cs"/>
              </a:rPr>
              <a:t> a </a:t>
            </a:r>
            <a:r>
              <a:rPr lang="es-MX" sz="1200" b="0" kern="1200" dirty="0" err="1">
                <a:solidFill>
                  <a:schemeClr val="tx1"/>
                </a:solidFill>
                <a:effectLst/>
                <a:latin typeface="+mn-lt"/>
                <a:ea typeface="+mn-ea"/>
                <a:cs typeface="+mn-cs"/>
              </a:rPr>
              <a:t>movie</a:t>
            </a:r>
            <a:r>
              <a:rPr lang="es-MX" sz="1200" b="0" kern="1200" dirty="0">
                <a:solidFill>
                  <a:schemeClr val="tx1"/>
                </a:solidFill>
                <a:effectLst/>
                <a:latin typeface="+mn-lt"/>
                <a:ea typeface="+mn-ea"/>
                <a:cs typeface="+mn-cs"/>
              </a:rPr>
              <a:t> ticket </a:t>
            </a:r>
            <a:r>
              <a:rPr lang="es-MX" sz="1200" b="0" kern="1200" dirty="0" err="1">
                <a:solidFill>
                  <a:schemeClr val="tx1"/>
                </a:solidFill>
                <a:effectLst/>
                <a:latin typeface="+mn-lt"/>
                <a:ea typeface="+mn-ea"/>
                <a:cs typeface="+mn-cs"/>
              </a:rPr>
              <a:t>for</a:t>
            </a:r>
            <a:r>
              <a:rPr lang="es-MX" sz="1200" b="0" kern="1200" dirty="0">
                <a:solidFill>
                  <a:schemeClr val="tx1"/>
                </a:solidFill>
                <a:effectLst/>
                <a:latin typeface="+mn-lt"/>
                <a:ea typeface="+mn-ea"/>
                <a:cs typeface="+mn-cs"/>
              </a:rPr>
              <a:t> Harry Potter </a:t>
            </a:r>
            <a:r>
              <a:rPr lang="es-MX" sz="1200" b="0" kern="1200" dirty="0" err="1">
                <a:solidFill>
                  <a:schemeClr val="tx1"/>
                </a:solidFill>
                <a:effectLst/>
                <a:latin typeface="+mn-lt"/>
                <a:ea typeface="+mn-ea"/>
                <a:cs typeface="+mn-cs"/>
              </a:rPr>
              <a:t>last</a:t>
            </a:r>
            <a:r>
              <a:rPr lang="es-MX" sz="1200" b="0" kern="1200" dirty="0">
                <a:solidFill>
                  <a:schemeClr val="tx1"/>
                </a:solidFill>
                <a:effectLst/>
                <a:latin typeface="+mn-lt"/>
                <a:ea typeface="+mn-ea"/>
                <a:cs typeface="+mn-cs"/>
              </a:rPr>
              <a:t> </a:t>
            </a:r>
            <a:r>
              <a:rPr lang="es-MX" sz="1200" b="0" kern="1200" dirty="0" err="1">
                <a:solidFill>
                  <a:schemeClr val="tx1"/>
                </a:solidFill>
                <a:effectLst/>
                <a:latin typeface="+mn-lt"/>
                <a:ea typeface="+mn-ea"/>
                <a:cs typeface="+mn-cs"/>
              </a:rPr>
              <a:t>night</a:t>
            </a:r>
            <a:r>
              <a:rPr lang="ja-JP" altLang="es-MX" sz="1200" b="0" kern="1200" dirty="0">
                <a:solidFill>
                  <a:schemeClr val="tx1"/>
                </a:solidFill>
                <a:effectLst/>
                <a:latin typeface="+mn-lt"/>
                <a:ea typeface="+mn-ea"/>
                <a:cs typeface="+mn-cs"/>
              </a:rPr>
              <a:t>」</a:t>
            </a:r>
            <a:endParaRPr lang="es-MX" sz="1200" b="0" kern="1200" dirty="0">
              <a:solidFill>
                <a:schemeClr val="tx1"/>
              </a:solidFill>
              <a:effectLst/>
              <a:latin typeface="+mn-lt"/>
              <a:ea typeface="+mn-ea"/>
              <a:cs typeface="+mn-cs"/>
            </a:endParaRPr>
          </a:p>
          <a:p>
            <a:r>
              <a:rPr lang="ja-JP" altLang="es-MX" sz="1200" b="0" kern="1200" dirty="0">
                <a:solidFill>
                  <a:schemeClr val="tx1"/>
                </a:solidFill>
                <a:effectLst/>
                <a:latin typeface="+mn-lt"/>
                <a:ea typeface="+mn-ea"/>
                <a:cs typeface="+mn-cs"/>
              </a:rPr>
              <a:t>という文では、</a:t>
            </a:r>
            <a:endParaRPr lang="es-MX" sz="1200" b="0" kern="1200" dirty="0">
              <a:solidFill>
                <a:schemeClr val="tx1"/>
              </a:solidFill>
              <a:effectLst/>
              <a:latin typeface="+mn-lt"/>
              <a:ea typeface="+mn-ea"/>
              <a:cs typeface="+mn-cs"/>
            </a:endParaRPr>
          </a:p>
          <a:p>
            <a:pPr lvl="0"/>
            <a:r>
              <a:rPr lang="es-MX" sz="1200" b="0" kern="1200" dirty="0" err="1">
                <a:solidFill>
                  <a:schemeClr val="tx1"/>
                </a:solidFill>
                <a:effectLst/>
                <a:latin typeface="+mn-lt"/>
                <a:ea typeface="+mn-ea"/>
                <a:cs typeface="+mn-cs"/>
              </a:rPr>
              <a:t>buy</a:t>
            </a:r>
            <a:r>
              <a:rPr lang="es-MX" sz="1200" b="0" kern="1200" dirty="0">
                <a:solidFill>
                  <a:schemeClr val="tx1"/>
                </a:solidFill>
                <a:effectLst/>
                <a:latin typeface="+mn-lt"/>
                <a:ea typeface="+mn-ea"/>
                <a:cs typeface="+mn-cs"/>
              </a:rPr>
              <a:t> </a:t>
            </a:r>
            <a:r>
              <a:rPr lang="ja-JP" altLang="es-MX" sz="1200" b="0" kern="1200" dirty="0">
                <a:solidFill>
                  <a:schemeClr val="tx1"/>
                </a:solidFill>
                <a:effectLst/>
                <a:latin typeface="+mn-lt"/>
                <a:ea typeface="+mn-ea"/>
                <a:cs typeface="+mn-cs"/>
              </a:rPr>
              <a:t>がイベント（</a:t>
            </a:r>
            <a:r>
              <a:rPr lang="es-MX" sz="1200" b="0" kern="1200" dirty="0" err="1">
                <a:solidFill>
                  <a:schemeClr val="tx1"/>
                </a:solidFill>
                <a:effectLst/>
                <a:latin typeface="+mn-lt"/>
                <a:ea typeface="+mn-ea"/>
                <a:cs typeface="+mn-cs"/>
              </a:rPr>
              <a:t>predicate</a:t>
            </a:r>
            <a:r>
              <a:rPr lang="ja-JP" altLang="es-MX" sz="1200" b="0" kern="1200" dirty="0">
                <a:solidFill>
                  <a:schemeClr val="tx1"/>
                </a:solidFill>
                <a:effectLst/>
                <a:latin typeface="+mn-lt"/>
                <a:ea typeface="+mn-ea"/>
                <a:cs typeface="+mn-cs"/>
              </a:rPr>
              <a:t>）になります。</a:t>
            </a:r>
            <a:endParaRPr lang="es-MX" sz="1200" b="0" kern="1200" dirty="0">
              <a:solidFill>
                <a:schemeClr val="tx1"/>
              </a:solidFill>
              <a:effectLst/>
              <a:latin typeface="+mn-lt"/>
              <a:ea typeface="+mn-ea"/>
              <a:cs typeface="+mn-cs"/>
            </a:endParaRPr>
          </a:p>
          <a:p>
            <a:r>
              <a:rPr lang="ja-JP" altLang="es-MX" sz="1200" b="0" kern="1200" dirty="0">
                <a:solidFill>
                  <a:schemeClr val="tx1"/>
                </a:solidFill>
                <a:effectLst/>
                <a:latin typeface="+mn-lt"/>
                <a:ea typeface="+mn-ea"/>
                <a:cs typeface="+mn-cs"/>
              </a:rPr>
              <a:t>そして、次のような引数が抽出されます：</a:t>
            </a:r>
            <a:endParaRPr lang="es-MX" sz="1200" b="0" kern="1200" dirty="0">
              <a:solidFill>
                <a:schemeClr val="tx1"/>
              </a:solidFill>
              <a:effectLst/>
              <a:latin typeface="+mn-lt"/>
              <a:ea typeface="+mn-ea"/>
              <a:cs typeface="+mn-cs"/>
            </a:endParaRPr>
          </a:p>
          <a:p>
            <a:pPr lvl="0"/>
            <a:r>
              <a:rPr lang="es-MX" sz="1200" b="0" kern="1200" dirty="0">
                <a:solidFill>
                  <a:schemeClr val="tx1"/>
                </a:solidFill>
                <a:effectLst/>
                <a:latin typeface="+mn-lt"/>
                <a:ea typeface="+mn-ea"/>
                <a:cs typeface="+mn-cs"/>
              </a:rPr>
              <a:t>ARG0 : </a:t>
            </a:r>
            <a:r>
              <a:rPr lang="ja-JP" altLang="es-MX" sz="1200" b="0" kern="1200" dirty="0">
                <a:solidFill>
                  <a:schemeClr val="tx1"/>
                </a:solidFill>
                <a:effectLst/>
                <a:latin typeface="+mn-lt"/>
                <a:ea typeface="+mn-ea"/>
                <a:cs typeface="+mn-cs"/>
              </a:rPr>
              <a:t>行動を行う主体</a:t>
            </a:r>
            <a:r>
              <a:rPr lang="es-MX" sz="1200" b="0"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しゅたい</a:t>
            </a:r>
            <a:r>
              <a:rPr lang="es-MX" sz="1200" b="0" kern="1200" dirty="0">
                <a:solidFill>
                  <a:schemeClr val="tx1"/>
                </a:solidFill>
                <a:effectLst/>
                <a:latin typeface="+mn-lt"/>
                <a:ea typeface="+mn-ea"/>
                <a:cs typeface="+mn-cs"/>
              </a:rPr>
              <a:t>) → </a:t>
            </a:r>
            <a:r>
              <a:rPr lang="es-MX" sz="1200" b="0" i="1" kern="1200" dirty="0">
                <a:solidFill>
                  <a:schemeClr val="tx1"/>
                </a:solidFill>
                <a:effectLst/>
                <a:latin typeface="+mn-lt"/>
                <a:ea typeface="+mn-ea"/>
                <a:cs typeface="+mn-cs"/>
              </a:rPr>
              <a:t>Tom</a:t>
            </a:r>
            <a:endParaRPr lang="es-MX" sz="1200" b="0" kern="1200" dirty="0">
              <a:solidFill>
                <a:schemeClr val="tx1"/>
              </a:solidFill>
              <a:effectLst/>
              <a:latin typeface="+mn-lt"/>
              <a:ea typeface="+mn-ea"/>
              <a:cs typeface="+mn-cs"/>
            </a:endParaRPr>
          </a:p>
          <a:p>
            <a:pPr lvl="0"/>
            <a:r>
              <a:rPr lang="es-MX" sz="1200" b="0" kern="1200" dirty="0">
                <a:solidFill>
                  <a:schemeClr val="tx1"/>
                </a:solidFill>
                <a:effectLst/>
                <a:latin typeface="+mn-lt"/>
                <a:ea typeface="+mn-ea"/>
                <a:cs typeface="+mn-cs"/>
              </a:rPr>
              <a:t>ARG1 : </a:t>
            </a:r>
            <a:r>
              <a:rPr lang="ja-JP" altLang="es-MX" sz="1200" b="0" kern="1200" dirty="0">
                <a:solidFill>
                  <a:schemeClr val="tx1"/>
                </a:solidFill>
                <a:effectLst/>
                <a:latin typeface="+mn-lt"/>
                <a:ea typeface="+mn-ea"/>
                <a:cs typeface="+mn-cs"/>
              </a:rPr>
              <a:t>行動の対象</a:t>
            </a:r>
            <a:r>
              <a:rPr lang="es-MX" sz="1200" b="0" kern="1200" dirty="0">
                <a:solidFill>
                  <a:schemeClr val="tx1"/>
                </a:solidFill>
                <a:effectLst/>
                <a:latin typeface="+mn-lt"/>
                <a:ea typeface="+mn-ea"/>
                <a:cs typeface="+mn-cs"/>
              </a:rPr>
              <a:t> → </a:t>
            </a:r>
            <a:r>
              <a:rPr lang="es-MX" sz="1200" b="0" i="1" kern="1200" dirty="0">
                <a:solidFill>
                  <a:schemeClr val="tx1"/>
                </a:solidFill>
                <a:effectLst/>
                <a:latin typeface="+mn-lt"/>
                <a:ea typeface="+mn-ea"/>
                <a:cs typeface="+mn-cs"/>
              </a:rPr>
              <a:t>a </a:t>
            </a:r>
            <a:r>
              <a:rPr lang="es-MX" sz="1200" b="0" i="1" kern="1200" dirty="0" err="1">
                <a:solidFill>
                  <a:schemeClr val="tx1"/>
                </a:solidFill>
                <a:effectLst/>
                <a:latin typeface="+mn-lt"/>
                <a:ea typeface="+mn-ea"/>
                <a:cs typeface="+mn-cs"/>
              </a:rPr>
              <a:t>movie</a:t>
            </a:r>
            <a:r>
              <a:rPr lang="es-MX" sz="1200" b="0" i="1" kern="1200" dirty="0">
                <a:solidFill>
                  <a:schemeClr val="tx1"/>
                </a:solidFill>
                <a:effectLst/>
                <a:latin typeface="+mn-lt"/>
                <a:ea typeface="+mn-ea"/>
                <a:cs typeface="+mn-cs"/>
              </a:rPr>
              <a:t> ticket</a:t>
            </a:r>
            <a:endParaRPr lang="es-MX" sz="1200" b="0" kern="1200" dirty="0">
              <a:solidFill>
                <a:schemeClr val="tx1"/>
              </a:solidFill>
              <a:effectLst/>
              <a:latin typeface="+mn-lt"/>
              <a:ea typeface="+mn-ea"/>
              <a:cs typeface="+mn-cs"/>
            </a:endParaRPr>
          </a:p>
          <a:p>
            <a:pPr lvl="0"/>
            <a:r>
              <a:rPr lang="es-MX" sz="1200" b="0" kern="1200" dirty="0">
                <a:solidFill>
                  <a:schemeClr val="tx1"/>
                </a:solidFill>
                <a:effectLst/>
                <a:latin typeface="+mn-lt"/>
                <a:ea typeface="+mn-ea"/>
                <a:cs typeface="+mn-cs"/>
              </a:rPr>
              <a:t>ARG2 : </a:t>
            </a:r>
            <a:r>
              <a:rPr lang="ja-JP" altLang="es-MX" sz="1200" b="0" kern="1200" dirty="0">
                <a:solidFill>
                  <a:schemeClr val="tx1"/>
                </a:solidFill>
                <a:effectLst/>
                <a:latin typeface="+mn-lt"/>
                <a:ea typeface="+mn-ea"/>
                <a:cs typeface="+mn-cs"/>
              </a:rPr>
              <a:t>関連する対象や受け手</a:t>
            </a:r>
            <a:r>
              <a:rPr lang="es-MX" sz="1200" b="0"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て</a:t>
            </a:r>
            <a:r>
              <a:rPr lang="es-MX" sz="1200" b="0" kern="1200" dirty="0">
                <a:solidFill>
                  <a:schemeClr val="tx1"/>
                </a:solidFill>
                <a:effectLst/>
                <a:latin typeface="+mn-lt"/>
                <a:ea typeface="+mn-ea"/>
                <a:cs typeface="+mn-cs"/>
              </a:rPr>
              <a:t>) → </a:t>
            </a:r>
            <a:r>
              <a:rPr lang="es-MX" sz="1200" b="0" i="1" kern="1200" dirty="0" err="1">
                <a:solidFill>
                  <a:schemeClr val="tx1"/>
                </a:solidFill>
                <a:effectLst/>
                <a:latin typeface="+mn-lt"/>
                <a:ea typeface="+mn-ea"/>
                <a:cs typeface="+mn-cs"/>
              </a:rPr>
              <a:t>for</a:t>
            </a:r>
            <a:r>
              <a:rPr lang="es-MX" sz="1200" b="0" i="1" kern="1200" dirty="0">
                <a:solidFill>
                  <a:schemeClr val="tx1"/>
                </a:solidFill>
                <a:effectLst/>
                <a:latin typeface="+mn-lt"/>
                <a:ea typeface="+mn-ea"/>
                <a:cs typeface="+mn-cs"/>
              </a:rPr>
              <a:t> Harry Potter</a:t>
            </a:r>
            <a:endParaRPr lang="es-MX" sz="1200" b="0" kern="1200" dirty="0">
              <a:solidFill>
                <a:schemeClr val="tx1"/>
              </a:solidFill>
              <a:effectLst/>
              <a:latin typeface="+mn-lt"/>
              <a:ea typeface="+mn-ea"/>
              <a:cs typeface="+mn-cs"/>
            </a:endParaRPr>
          </a:p>
          <a:p>
            <a:pPr lvl="0"/>
            <a:r>
              <a:rPr lang="en-US" sz="1200" b="0" kern="1200" dirty="0">
                <a:solidFill>
                  <a:schemeClr val="tx1"/>
                </a:solidFill>
                <a:effectLst/>
                <a:latin typeface="+mn-lt"/>
                <a:ea typeface="+mn-ea"/>
                <a:cs typeface="+mn-cs"/>
              </a:rPr>
              <a:t>ARGM-TMP : </a:t>
            </a:r>
            <a:r>
              <a:rPr lang="ja-JP" altLang="es-MX" sz="1200" b="0" kern="1200" dirty="0">
                <a:solidFill>
                  <a:schemeClr val="tx1"/>
                </a:solidFill>
                <a:effectLst/>
                <a:latin typeface="+mn-lt"/>
                <a:ea typeface="+mn-ea"/>
                <a:cs typeface="+mn-cs"/>
              </a:rPr>
              <a:t>時間情報</a:t>
            </a:r>
            <a:r>
              <a:rPr lang="en-US" sz="1200" b="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last night</a:t>
            </a:r>
            <a:endParaRPr lang="es-MX" sz="1200" b="0" kern="1200" dirty="0">
              <a:solidFill>
                <a:schemeClr val="tx1"/>
              </a:solidFill>
              <a:effectLst/>
              <a:latin typeface="+mn-lt"/>
              <a:ea typeface="+mn-ea"/>
              <a:cs typeface="+mn-cs"/>
            </a:endParaRPr>
          </a:p>
          <a:p>
            <a:endParaRPr lang="es-MX" altLang="ja-JP" sz="1200" b="0" kern="1200" dirty="0">
              <a:solidFill>
                <a:schemeClr val="tx1"/>
              </a:solidFill>
              <a:effectLst/>
              <a:latin typeface="+mn-lt"/>
              <a:ea typeface="+mn-ea"/>
              <a:cs typeface="+mn-cs"/>
            </a:endParaRPr>
          </a:p>
          <a:p>
            <a:r>
              <a:rPr lang="ja-JP" altLang="es-MX" sz="1200" b="0" kern="1200" dirty="0">
                <a:solidFill>
                  <a:schemeClr val="tx1"/>
                </a:solidFill>
                <a:effectLst/>
                <a:latin typeface="+mn-lt"/>
                <a:ea typeface="+mn-ea"/>
                <a:cs typeface="+mn-cs"/>
              </a:rPr>
              <a:t>このようにして、文から 構造化されたイベント表現を抽出します。</a:t>
            </a:r>
            <a:endParaRPr lang="es-MX" sz="1200" b="0" kern="1200" dirty="0">
              <a:solidFill>
                <a:schemeClr val="tx1"/>
              </a:solidFill>
              <a:effectLst/>
              <a:latin typeface="+mn-lt"/>
              <a:ea typeface="+mn-ea"/>
              <a:cs typeface="+mn-cs"/>
            </a:endParaRPr>
          </a:p>
          <a:p>
            <a:r>
              <a:rPr lang="ja-JP" altLang="es-MX" sz="1200" b="0" kern="1200" dirty="0">
                <a:solidFill>
                  <a:schemeClr val="tx1"/>
                </a:solidFill>
                <a:effectLst/>
                <a:latin typeface="+mn-lt"/>
                <a:ea typeface="+mn-ea"/>
                <a:cs typeface="+mn-cs"/>
              </a:rPr>
              <a:t>本研究では、このイベント抽出のために</a:t>
            </a:r>
            <a:br>
              <a:rPr lang="es-MX" sz="1200" b="0" kern="1200" dirty="0">
                <a:solidFill>
                  <a:schemeClr val="tx1"/>
                </a:solidFill>
                <a:effectLst/>
                <a:latin typeface="+mn-lt"/>
                <a:ea typeface="+mn-ea"/>
                <a:cs typeface="+mn-cs"/>
              </a:rPr>
            </a:br>
            <a:r>
              <a:rPr lang="es-MX" sz="1200" b="0" kern="1200" dirty="0" err="1">
                <a:solidFill>
                  <a:schemeClr val="tx1"/>
                </a:solidFill>
                <a:effectLst/>
                <a:latin typeface="+mn-lt"/>
                <a:ea typeface="+mn-ea"/>
                <a:cs typeface="+mn-cs"/>
              </a:rPr>
              <a:t>AllenNLP</a:t>
            </a:r>
            <a:r>
              <a:rPr lang="es-MX" sz="1200" b="0" kern="1200" dirty="0">
                <a:solidFill>
                  <a:schemeClr val="tx1"/>
                </a:solidFill>
                <a:effectLst/>
                <a:latin typeface="+mn-lt"/>
                <a:ea typeface="+mn-ea"/>
                <a:cs typeface="+mn-cs"/>
              </a:rPr>
              <a:t> </a:t>
            </a:r>
            <a:r>
              <a:rPr lang="ja-JP" altLang="es-MX" sz="1200" b="0" kern="1200" dirty="0">
                <a:solidFill>
                  <a:schemeClr val="tx1"/>
                </a:solidFill>
                <a:effectLst/>
                <a:latin typeface="+mn-lt"/>
                <a:ea typeface="+mn-ea"/>
                <a:cs typeface="+mn-cs"/>
              </a:rPr>
              <a:t>の</a:t>
            </a:r>
            <a:r>
              <a:rPr lang="es-MX" sz="1200" b="0" kern="1200" dirty="0">
                <a:solidFill>
                  <a:schemeClr val="tx1"/>
                </a:solidFill>
                <a:effectLst/>
                <a:latin typeface="+mn-lt"/>
                <a:ea typeface="+mn-ea"/>
                <a:cs typeface="+mn-cs"/>
              </a:rPr>
              <a:t> SRL </a:t>
            </a:r>
            <a:r>
              <a:rPr lang="ja-JP" altLang="es-MX" sz="1200" b="0" kern="1200" dirty="0">
                <a:solidFill>
                  <a:schemeClr val="tx1"/>
                </a:solidFill>
                <a:effectLst/>
                <a:latin typeface="+mn-lt"/>
                <a:ea typeface="+mn-ea"/>
                <a:cs typeface="+mn-cs"/>
              </a:rPr>
              <a:t>ツールを使用しています。</a:t>
            </a:r>
            <a:endParaRPr lang="es-MX" sz="1200" b="0" kern="1200" dirty="0">
              <a:solidFill>
                <a:schemeClr val="tx1"/>
              </a:solidFill>
              <a:effectLst/>
              <a:latin typeface="+mn-lt"/>
              <a:ea typeface="+mn-ea"/>
              <a:cs typeface="+mn-cs"/>
            </a:endParaRPr>
          </a:p>
          <a:p>
            <a:r>
              <a:rPr lang="es-MX" sz="1200" b="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27F6FB8B-1938-4266-AC76-FE6EFE356B7C}" type="slidenum">
              <a:rPr lang="es-MX" smtClean="0"/>
              <a:t>7</a:t>
            </a:fld>
            <a:endParaRPr lang="es-MX"/>
          </a:p>
        </p:txBody>
      </p:sp>
    </p:spTree>
    <p:extLst>
      <p:ext uri="{BB962C8B-B14F-4D97-AF65-F5344CB8AC3E}">
        <p14:creationId xmlns:p14="http://schemas.microsoft.com/office/powerpoint/2010/main" val="751180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EC474-8F11-15F5-8322-31555280A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CB71A-2228-373F-94E0-79EF9DAA87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7199BC-6794-2C2B-FF19-D1225AC06B91}"/>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次のステップは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Event</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Normalization</a:t>
            </a:r>
            <a:r>
              <a:rPr lang="ja-JP" altLang="es-MX" sz="1200" kern="1200" dirty="0">
                <a:solidFill>
                  <a:schemeClr val="tx1"/>
                </a:solidFill>
                <a:effectLst/>
                <a:latin typeface="+mn-lt"/>
                <a:ea typeface="+mn-ea"/>
                <a:cs typeface="+mn-cs"/>
              </a:rPr>
              <a:t>（イベント正規化）</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SRL </a:t>
            </a:r>
            <a:r>
              <a:rPr lang="ja-JP" altLang="es-MX" sz="1200" kern="1200" dirty="0">
                <a:solidFill>
                  <a:schemeClr val="tx1"/>
                </a:solidFill>
                <a:effectLst/>
                <a:latin typeface="+mn-lt"/>
                <a:ea typeface="+mn-ea"/>
                <a:cs typeface="+mn-cs"/>
              </a:rPr>
              <a:t>によってイベントを抽出した後、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イベントは元の文脈から切り離</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はな</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されてしまうため、</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代名詞</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だいめいし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や名前が </a:t>
            </a:r>
            <a:r>
              <a:rPr lang="ja-JP" altLang="es-MX" sz="1200" b="1" kern="1200" dirty="0">
                <a:solidFill>
                  <a:schemeClr val="tx1"/>
                </a:solidFill>
                <a:effectLst/>
                <a:latin typeface="+mn-lt"/>
                <a:ea typeface="+mn-ea"/>
                <a:cs typeface="+mn-cs"/>
              </a:rPr>
              <a:t>曖昧</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あいまい</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になる可能性があります。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例えば、</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The</a:t>
            </a:r>
            <a:r>
              <a:rPr lang="es-MX" sz="1200" kern="1200" dirty="0">
                <a:solidFill>
                  <a:schemeClr val="tx1"/>
                </a:solidFill>
                <a:effectLst/>
                <a:latin typeface="+mn-lt"/>
                <a:ea typeface="+mn-ea"/>
                <a:cs typeface="+mn-cs"/>
              </a:rPr>
              <a:t> general </a:t>
            </a:r>
            <a:r>
              <a:rPr lang="es-MX" sz="1200" kern="1200" dirty="0" err="1">
                <a:solidFill>
                  <a:schemeClr val="tx1"/>
                </a:solidFill>
                <a:effectLst/>
                <a:latin typeface="+mn-lt"/>
                <a:ea typeface="+mn-ea"/>
                <a:cs typeface="+mn-cs"/>
              </a:rPr>
              <a:t>had</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some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wine</a:t>
            </a:r>
            <a:r>
              <a:rPr 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He </a:t>
            </a:r>
            <a:r>
              <a:rPr lang="es-MX" sz="1200" kern="1200" dirty="0" err="1">
                <a:solidFill>
                  <a:schemeClr val="tx1"/>
                </a:solidFill>
                <a:effectLst/>
                <a:latin typeface="+mn-lt"/>
                <a:ea typeface="+mn-ea"/>
                <a:cs typeface="+mn-cs"/>
              </a:rPr>
              <a:t>felt</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sleepy</a:t>
            </a:r>
            <a:r>
              <a:rPr lang="es-MX" sz="1200" kern="1200" dirty="0">
                <a:solidFill>
                  <a:schemeClr val="tx1"/>
                </a:solidFill>
                <a:effectLst/>
                <a:latin typeface="+mn-lt"/>
                <a:ea typeface="+mn-ea"/>
                <a:cs typeface="+mn-cs"/>
              </a:rPr>
              <a:t>."</a:t>
            </a:r>
          </a:p>
          <a:p>
            <a:r>
              <a:rPr lang="ja-JP" altLang="es-MX" sz="1200" kern="1200" dirty="0">
                <a:solidFill>
                  <a:schemeClr val="tx1"/>
                </a:solidFill>
                <a:effectLst/>
                <a:latin typeface="+mn-lt"/>
                <a:ea typeface="+mn-ea"/>
                <a:cs typeface="+mn-cs"/>
              </a:rPr>
              <a:t>という文では、</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人間は </a:t>
            </a:r>
            <a:r>
              <a:rPr lang="es-MX" sz="1200" b="1" kern="1200" dirty="0">
                <a:solidFill>
                  <a:schemeClr val="tx1"/>
                </a:solidFill>
                <a:effectLst/>
                <a:latin typeface="+mn-lt"/>
                <a:ea typeface="+mn-ea"/>
                <a:cs typeface="+mn-cs"/>
              </a:rPr>
              <a:t>“He” </a:t>
            </a:r>
            <a:r>
              <a:rPr lang="ja-JP" altLang="es-MX" sz="1200" b="1" kern="1200" dirty="0">
                <a:solidFill>
                  <a:schemeClr val="tx1"/>
                </a:solidFill>
                <a:effectLst/>
                <a:latin typeface="+mn-lt"/>
                <a:ea typeface="+mn-ea"/>
                <a:cs typeface="+mn-cs"/>
              </a:rPr>
              <a:t>が</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the</a:t>
            </a:r>
            <a:r>
              <a:rPr lang="es-MX" sz="1200" b="1" kern="1200" dirty="0">
                <a:solidFill>
                  <a:schemeClr val="tx1"/>
                </a:solidFill>
                <a:effectLst/>
                <a:latin typeface="+mn-lt"/>
                <a:ea typeface="+mn-ea"/>
                <a:cs typeface="+mn-cs"/>
              </a:rPr>
              <a:t> general” </a:t>
            </a:r>
            <a:r>
              <a:rPr lang="ja-JP" altLang="es-MX" sz="1200" b="1" kern="1200" dirty="0">
                <a:solidFill>
                  <a:schemeClr val="tx1"/>
                </a:solidFill>
                <a:effectLst/>
                <a:latin typeface="+mn-lt"/>
                <a:ea typeface="+mn-ea"/>
                <a:cs typeface="+mn-cs"/>
              </a:rPr>
              <a:t>を指</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さ</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している</a:t>
            </a:r>
            <a:r>
              <a:rPr lang="ja-JP" altLang="es-MX" sz="1200" b="0" kern="1200" dirty="0">
                <a:solidFill>
                  <a:schemeClr val="tx1"/>
                </a:solidFill>
                <a:effectLst/>
                <a:latin typeface="+mn-lt"/>
                <a:ea typeface="+mn-ea"/>
                <a:cs typeface="+mn-cs"/>
              </a:rPr>
              <a:t>ことを簡単に理解できます。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しかし、イベントを個別に抽出すると、</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このような </a:t>
            </a:r>
            <a:r>
              <a:rPr lang="ja-JP" altLang="es-MX" sz="1200" b="1" kern="1200" dirty="0">
                <a:solidFill>
                  <a:schemeClr val="tx1"/>
                </a:solidFill>
                <a:effectLst/>
                <a:latin typeface="+mn-lt"/>
                <a:ea typeface="+mn-ea"/>
                <a:cs typeface="+mn-cs"/>
              </a:rPr>
              <a:t>共</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とも</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参照</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さんしょう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関係</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かんけい</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が失われてしまう可能性があります。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そこで、この研究では </a:t>
            </a:r>
            <a:r>
              <a:rPr lang="ja-JP" altLang="es-MX" sz="1200" b="1" kern="1200" dirty="0">
                <a:solidFill>
                  <a:schemeClr val="tx1"/>
                </a:solidFill>
                <a:effectLst/>
                <a:latin typeface="+mn-lt"/>
                <a:ea typeface="+mn-ea"/>
                <a:cs typeface="+mn-cs"/>
              </a:rPr>
              <a:t>イベント正規化</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せいきか</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を行います。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この処理では、人物を示すトークンを</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P</a:t>
            </a:r>
            <a:r>
              <a:rPr lang="ja-JP" altLang="es-MX" sz="1200" b="1" kern="1200" dirty="0">
                <a:solidFill>
                  <a:schemeClr val="tx1"/>
                </a:solidFill>
                <a:effectLst/>
                <a:latin typeface="+mn-lt"/>
                <a:ea typeface="+mn-ea"/>
                <a:cs typeface="+mn-cs"/>
              </a:rPr>
              <a:t>０、ｐ１ のような汎用的</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はんようてき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なプレースホルダー</a:t>
            </a:r>
            <a:r>
              <a:rPr lang="ja-JP" altLang="es-MX" sz="1200" b="0" kern="1200" dirty="0">
                <a:solidFill>
                  <a:schemeClr val="tx1"/>
                </a:solidFill>
                <a:effectLst/>
                <a:latin typeface="+mn-lt"/>
                <a:ea typeface="+mn-ea"/>
                <a:cs typeface="+mn-cs"/>
              </a:rPr>
              <a:t>に置き換えます。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このようにすることで、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イベントを </a:t>
            </a:r>
            <a:r>
              <a:rPr lang="ja-JP" altLang="es-MX" sz="1200" b="1" kern="1200" dirty="0">
                <a:solidFill>
                  <a:schemeClr val="tx1"/>
                </a:solidFill>
                <a:effectLst/>
                <a:latin typeface="+mn-lt"/>
                <a:ea typeface="+mn-ea"/>
                <a:cs typeface="+mn-cs"/>
              </a:rPr>
              <a:t>より一般化された一貫</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いっかん</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した形で表現</a:t>
            </a:r>
            <a:r>
              <a:rPr lang="ja-JP" altLang="es-MX" sz="1200" b="0" kern="1200" dirty="0">
                <a:solidFill>
                  <a:schemeClr val="tx1"/>
                </a:solidFill>
                <a:effectLst/>
                <a:latin typeface="+mn-lt"/>
                <a:ea typeface="+mn-ea"/>
                <a:cs typeface="+mn-cs"/>
              </a:rPr>
              <a:t>することができます。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0B82FAA0-372D-26D4-E7CA-C36643B25685}"/>
              </a:ext>
            </a:extLst>
          </p:cNvPr>
          <p:cNvSpPr>
            <a:spLocks noGrp="1"/>
          </p:cNvSpPr>
          <p:nvPr>
            <p:ph type="sldNum" sz="quarter" idx="5"/>
          </p:nvPr>
        </p:nvSpPr>
        <p:spPr/>
        <p:txBody>
          <a:bodyPr/>
          <a:lstStyle/>
          <a:p>
            <a:fld id="{27F6FB8B-1938-4266-AC76-FE6EFE356B7C}" type="slidenum">
              <a:rPr lang="es-MX" smtClean="0"/>
              <a:t>8</a:t>
            </a:fld>
            <a:endParaRPr lang="es-MX"/>
          </a:p>
        </p:txBody>
      </p:sp>
    </p:spTree>
    <p:extLst>
      <p:ext uri="{BB962C8B-B14F-4D97-AF65-F5344CB8AC3E}">
        <p14:creationId xmlns:p14="http://schemas.microsoft.com/office/powerpoint/2010/main" val="1238388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D6BB3-E0B0-1960-2FBB-9B373B279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CDC16-E276-1A0D-66F8-132B2010A9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3CAF97-E7B5-C5F9-64D0-4993F92574C4}"/>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次のステップは </a:t>
            </a:r>
            <a:r>
              <a:rPr lang="es-MX" sz="1200" b="1" kern="1200" dirty="0" err="1">
                <a:solidFill>
                  <a:schemeClr val="tx1"/>
                </a:solidFill>
                <a:effectLst/>
                <a:latin typeface="+mn-lt"/>
                <a:ea typeface="+mn-ea"/>
                <a:cs typeface="+mn-cs"/>
              </a:rPr>
              <a:t>Partial</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Information</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Extraction</a:t>
            </a:r>
            <a:r>
              <a:rPr lang="ja-JP" altLang="es-MX" sz="1200" b="1" kern="1200" dirty="0">
                <a:solidFill>
                  <a:schemeClr val="tx1"/>
                </a:solidFill>
                <a:effectLst/>
                <a:latin typeface="+mn-lt"/>
                <a:ea typeface="+mn-ea"/>
                <a:cs typeface="+mn-cs"/>
              </a:rPr>
              <a:t>（</a:t>
            </a:r>
            <a:r>
              <a:rPr lang="es-MX" sz="1200" b="1" kern="1200" dirty="0">
                <a:solidFill>
                  <a:schemeClr val="tx1"/>
                </a:solidFill>
                <a:effectLst/>
                <a:latin typeface="+mn-lt"/>
                <a:ea typeface="+mn-ea"/>
                <a:cs typeface="+mn-cs"/>
              </a:rPr>
              <a:t>PIE</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このステップは、先ほど説明した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Sparsity</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の問題</a:t>
            </a:r>
            <a:r>
              <a:rPr lang="ja-JP" altLang="es-MX" sz="1200" kern="1200" dirty="0">
                <a:solidFill>
                  <a:schemeClr val="tx1"/>
                </a:solidFill>
                <a:effectLst/>
                <a:latin typeface="+mn-lt"/>
                <a:ea typeface="+mn-ea"/>
                <a:cs typeface="+mn-cs"/>
              </a:rPr>
              <a:t>を解決するための方法です。</a:t>
            </a:r>
            <a:endParaRPr lang="es-MX" sz="1200" kern="1200" dirty="0">
              <a:solidFill>
                <a:schemeClr val="tx1"/>
              </a:solidFill>
              <a:effectLst/>
              <a:latin typeface="+mn-lt"/>
              <a:ea typeface="+mn-ea"/>
              <a:cs typeface="+mn-cs"/>
            </a:endParaRPr>
          </a:p>
          <a:p>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には通常、</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非常に具体的な出来事ではなく、より一般的なイベント</a:t>
            </a:r>
            <a:r>
              <a:rPr lang="ja-JP" altLang="es-MX" sz="1200" kern="1200" dirty="0">
                <a:solidFill>
                  <a:schemeClr val="tx1"/>
                </a:solidFill>
                <a:effectLst/>
                <a:latin typeface="+mn-lt"/>
                <a:ea typeface="+mn-ea"/>
                <a:cs typeface="+mn-cs"/>
              </a:rPr>
              <a:t>が格納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かくのう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されています。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そのため、テキストから抽出されたイベントが </a:t>
            </a:r>
            <a:r>
              <a:rPr lang="ja-JP" altLang="es-MX" sz="1200" b="1" kern="1200" dirty="0">
                <a:solidFill>
                  <a:schemeClr val="tx1"/>
                </a:solidFill>
                <a:effectLst/>
                <a:latin typeface="+mn-lt"/>
                <a:ea typeface="+mn-ea"/>
                <a:cs typeface="+mn-cs"/>
              </a:rPr>
              <a:t>具体的すぎる場合</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に一致</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いっち</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するイベントが存在しない可能性があります。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そこで</a:t>
            </a:r>
            <a:r>
              <a:rPr lang="es-MX" sz="1200" kern="1200" dirty="0">
                <a:solidFill>
                  <a:schemeClr val="tx1"/>
                </a:solidFill>
                <a:effectLst/>
                <a:latin typeface="+mn-lt"/>
                <a:ea typeface="+mn-ea"/>
                <a:cs typeface="+mn-cs"/>
              </a:rPr>
              <a:t> PIE </a:t>
            </a:r>
            <a:r>
              <a:rPr lang="ja-JP" altLang="es-MX" sz="1200" kern="1200" dirty="0">
                <a:solidFill>
                  <a:schemeClr val="tx1"/>
                </a:solidFill>
                <a:effectLst/>
                <a:latin typeface="+mn-lt"/>
                <a:ea typeface="+mn-ea"/>
                <a:cs typeface="+mn-cs"/>
              </a:rPr>
              <a:t>では、イベントの引数を </a:t>
            </a:r>
            <a:r>
              <a:rPr lang="ja-JP" altLang="es-MX" sz="1200" b="1" kern="1200" dirty="0">
                <a:solidFill>
                  <a:schemeClr val="tx1"/>
                </a:solidFill>
                <a:effectLst/>
                <a:latin typeface="+mn-lt"/>
                <a:ea typeface="+mn-ea"/>
                <a:cs typeface="+mn-cs"/>
              </a:rPr>
              <a:t>段階</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だんかい</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的に削除</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さくじょ</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することでイベントを抽象化</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ちゅうしょうか</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スライドに示</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しめ</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されている </a:t>
            </a:r>
            <a:r>
              <a:rPr lang="es-MX" sz="1200" b="1" kern="1200" dirty="0" err="1">
                <a:solidFill>
                  <a:schemeClr val="tx1"/>
                </a:solidFill>
                <a:effectLst/>
                <a:latin typeface="+mn-lt"/>
                <a:ea typeface="+mn-ea"/>
                <a:cs typeface="+mn-cs"/>
              </a:rPr>
              <a:t>Argument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Dropping</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Order</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どの引数をどの順番で削除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さくじょ</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するかを示しています。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 </a:t>
            </a:r>
            <a:r>
              <a:rPr lang="es-MX" sz="1200" b="1" kern="1200" dirty="0">
                <a:solidFill>
                  <a:schemeClr val="tx1"/>
                </a:solidFill>
                <a:effectLst/>
                <a:latin typeface="+mn-lt"/>
                <a:ea typeface="+mn-ea"/>
                <a:cs typeface="+mn-cs"/>
              </a:rPr>
              <a:t>ARGM</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が削除されます。</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ARGM </a:t>
            </a:r>
            <a:r>
              <a:rPr lang="ja-JP" altLang="es-MX" sz="1200" kern="1200" dirty="0">
                <a:solidFill>
                  <a:schemeClr val="tx1"/>
                </a:solidFill>
                <a:effectLst/>
                <a:latin typeface="+mn-lt"/>
                <a:ea typeface="+mn-ea"/>
                <a:cs typeface="+mn-cs"/>
              </a:rPr>
              <a:t>は </a:t>
            </a:r>
            <a:r>
              <a:rPr lang="ja-JP" altLang="es-MX" sz="1200" b="1" kern="1200" dirty="0">
                <a:solidFill>
                  <a:schemeClr val="tx1"/>
                </a:solidFill>
                <a:effectLst/>
                <a:latin typeface="+mn-lt"/>
                <a:ea typeface="+mn-ea"/>
                <a:cs typeface="+mn-cs"/>
              </a:rPr>
              <a:t>時間、場所、方法などの修飾</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しゅうしょく</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情報</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じょうほう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を表します。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これらの情報はイベントの </a:t>
            </a:r>
            <a:r>
              <a:rPr lang="ja-JP" altLang="es-MX" sz="1200" b="1" kern="1200" dirty="0">
                <a:solidFill>
                  <a:schemeClr val="tx1"/>
                </a:solidFill>
                <a:effectLst/>
                <a:latin typeface="+mn-lt"/>
                <a:ea typeface="+mn-ea"/>
                <a:cs typeface="+mn-cs"/>
              </a:rPr>
              <a:t>付加的</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ふかてき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な詳細情報</a:t>
            </a:r>
            <a:r>
              <a:rPr lang="ja-JP" altLang="es-MX" sz="1200" b="0" kern="1200" dirty="0">
                <a:solidFill>
                  <a:schemeClr val="tx1"/>
                </a:solidFill>
                <a:effectLst/>
                <a:latin typeface="+mn-lt"/>
                <a:ea typeface="+mn-ea"/>
                <a:cs typeface="+mn-cs"/>
              </a:rPr>
              <a:t>であり、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イベントの </a:t>
            </a:r>
            <a:r>
              <a:rPr lang="ja-JP" altLang="es-MX" sz="1200" b="1" kern="1200" dirty="0">
                <a:solidFill>
                  <a:schemeClr val="tx1"/>
                </a:solidFill>
                <a:effectLst/>
                <a:latin typeface="+mn-lt"/>
                <a:ea typeface="+mn-ea"/>
                <a:cs typeface="+mn-cs"/>
              </a:rPr>
              <a:t>基本的な意味にはあまり影響しません。</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そのため、最初に削除することで、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イベントを </a:t>
            </a:r>
            <a:r>
              <a:rPr lang="ja-JP" altLang="es-MX" sz="1200" b="1" kern="1200" dirty="0">
                <a:solidFill>
                  <a:schemeClr val="tx1"/>
                </a:solidFill>
                <a:effectLst/>
                <a:latin typeface="+mn-lt"/>
                <a:ea typeface="+mn-ea"/>
                <a:cs typeface="+mn-cs"/>
              </a:rPr>
              <a:t>より一般的な形にすることができます。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次に </a:t>
            </a:r>
            <a:r>
              <a:rPr lang="es-MX" sz="1200" b="1" kern="1200" dirty="0">
                <a:solidFill>
                  <a:schemeClr val="tx1"/>
                </a:solidFill>
                <a:effectLst/>
                <a:latin typeface="+mn-lt"/>
                <a:ea typeface="+mn-ea"/>
                <a:cs typeface="+mn-cs"/>
              </a:rPr>
              <a:t>ARG2</a:t>
            </a:r>
            <a:r>
              <a:rPr lang="ja-JP" altLang="es-MX" sz="1200" b="1" kern="1200" dirty="0">
                <a:solidFill>
                  <a:schemeClr val="tx1"/>
                </a:solidFill>
                <a:effectLst/>
                <a:latin typeface="+mn-lt"/>
                <a:ea typeface="+mn-ea"/>
                <a:cs typeface="+mn-cs"/>
              </a:rPr>
              <a:t>、</a:t>
            </a:r>
            <a:r>
              <a:rPr lang="es-MX" sz="1200" b="1" kern="1200" dirty="0">
                <a:solidFill>
                  <a:schemeClr val="tx1"/>
                </a:solidFill>
                <a:effectLst/>
                <a:latin typeface="+mn-lt"/>
                <a:ea typeface="+mn-ea"/>
                <a:cs typeface="+mn-cs"/>
              </a:rPr>
              <a:t>ARG3</a:t>
            </a:r>
            <a:r>
              <a:rPr lang="ja-JP" altLang="es-MX" sz="1200" b="1" kern="1200" dirty="0">
                <a:solidFill>
                  <a:schemeClr val="tx1"/>
                </a:solidFill>
                <a:effectLst/>
                <a:latin typeface="+mn-lt"/>
                <a:ea typeface="+mn-ea"/>
                <a:cs typeface="+mn-cs"/>
              </a:rPr>
              <a:t>、</a:t>
            </a:r>
            <a:r>
              <a:rPr lang="es-MX" sz="1200" b="1" kern="1200" dirty="0">
                <a:solidFill>
                  <a:schemeClr val="tx1"/>
                </a:solidFill>
                <a:effectLst/>
                <a:latin typeface="+mn-lt"/>
                <a:ea typeface="+mn-ea"/>
                <a:cs typeface="+mn-cs"/>
              </a:rPr>
              <a:t>ARG4</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が削除されます。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これらは </a:t>
            </a:r>
            <a:r>
              <a:rPr lang="ja-JP" altLang="es-MX" sz="1200" b="1" kern="1200" dirty="0">
                <a:solidFill>
                  <a:schemeClr val="tx1"/>
                </a:solidFill>
                <a:effectLst/>
                <a:latin typeface="+mn-lt"/>
                <a:ea typeface="+mn-ea"/>
                <a:cs typeface="+mn-cs"/>
              </a:rPr>
              <a:t>二次的</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にじてき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な引数</a:t>
            </a:r>
            <a:r>
              <a:rPr lang="ja-JP" altLang="es-MX" sz="1200" b="0" kern="1200" dirty="0">
                <a:solidFill>
                  <a:schemeClr val="tx1"/>
                </a:solidFill>
                <a:effectLst/>
                <a:latin typeface="+mn-lt"/>
                <a:ea typeface="+mn-ea"/>
                <a:cs typeface="+mn-cs"/>
              </a:rPr>
              <a:t>であり、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イベントの中心的な意味に比べて </a:t>
            </a:r>
            <a:r>
              <a:rPr lang="ja-JP" altLang="es-MX" sz="1200" b="1" kern="1200" dirty="0">
                <a:solidFill>
                  <a:schemeClr val="tx1"/>
                </a:solidFill>
                <a:effectLst/>
                <a:latin typeface="+mn-lt"/>
                <a:ea typeface="+mn-ea"/>
                <a:cs typeface="+mn-cs"/>
              </a:rPr>
              <a:t>重要度が低い場合が多い</a:t>
            </a:r>
            <a:r>
              <a:rPr lang="ja-JP" altLang="es-MX" sz="1200" kern="1200" dirty="0">
                <a:solidFill>
                  <a:schemeClr val="tx1"/>
                </a:solidFill>
                <a:effectLst/>
                <a:latin typeface="+mn-lt"/>
                <a:ea typeface="+mn-ea"/>
                <a:cs typeface="+mn-cs"/>
              </a:rPr>
              <a:t>ためです。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一方で </a:t>
            </a:r>
            <a:r>
              <a:rPr lang="es-MX" sz="1200" b="1" kern="1200" dirty="0">
                <a:solidFill>
                  <a:schemeClr val="tx1"/>
                </a:solidFill>
                <a:effectLst/>
                <a:latin typeface="+mn-lt"/>
                <a:ea typeface="+mn-ea"/>
                <a:cs typeface="+mn-cs"/>
              </a:rPr>
              <a:t>ARG0 </a:t>
            </a:r>
            <a:r>
              <a:rPr lang="ja-JP" altLang="es-MX" sz="1200" b="1" kern="1200" dirty="0">
                <a:solidFill>
                  <a:schemeClr val="tx1"/>
                </a:solidFill>
                <a:effectLst/>
                <a:latin typeface="+mn-lt"/>
                <a:ea typeface="+mn-ea"/>
                <a:cs typeface="+mn-cs"/>
              </a:rPr>
              <a:t>や</a:t>
            </a:r>
            <a:r>
              <a:rPr lang="es-MX" sz="1200" b="1" kern="1200" dirty="0">
                <a:solidFill>
                  <a:schemeClr val="tx1"/>
                </a:solidFill>
                <a:effectLst/>
                <a:latin typeface="+mn-lt"/>
                <a:ea typeface="+mn-ea"/>
                <a:cs typeface="+mn-cs"/>
              </a:rPr>
              <a:t> ARG1</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イベントの </a:t>
            </a:r>
            <a:r>
              <a:rPr lang="ja-JP" altLang="es-MX" sz="1200" b="1" kern="1200" dirty="0">
                <a:solidFill>
                  <a:schemeClr val="tx1"/>
                </a:solidFill>
                <a:effectLst/>
                <a:latin typeface="+mn-lt"/>
                <a:ea typeface="+mn-ea"/>
                <a:cs typeface="+mn-cs"/>
              </a:rPr>
              <a:t>主体</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しゅたい</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や対象を表す中心的な引数</a:t>
            </a:r>
            <a:r>
              <a:rPr lang="ja-JP" altLang="es-MX" sz="1200" b="0" kern="1200" dirty="0">
                <a:solidFill>
                  <a:schemeClr val="tx1"/>
                </a:solidFill>
                <a:effectLst/>
                <a:latin typeface="+mn-lt"/>
                <a:ea typeface="+mn-ea"/>
                <a:cs typeface="+mn-cs"/>
              </a:rPr>
              <a:t>であるため、</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最後まで保持</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ほじ</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では例を見てみましょう。</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最初のイベントは</a:t>
            </a:r>
            <a:endParaRPr lang="es-MX" sz="1200" kern="1200" dirty="0">
              <a:solidFill>
                <a:schemeClr val="tx1"/>
              </a:solidFill>
              <a:effectLst/>
              <a:latin typeface="+mn-lt"/>
              <a:ea typeface="+mn-ea"/>
              <a:cs typeface="+mn-cs"/>
            </a:endParaRPr>
          </a:p>
          <a:p>
            <a:r>
              <a:rPr lang="es-MX" sz="1200" b="1" kern="1200" dirty="0">
                <a:solidFill>
                  <a:schemeClr val="tx1"/>
                </a:solidFill>
                <a:effectLst/>
                <a:latin typeface="+mn-lt"/>
                <a:ea typeface="+mn-ea"/>
                <a:cs typeface="+mn-cs"/>
              </a:rPr>
              <a:t>Jerry </a:t>
            </a:r>
            <a:r>
              <a:rPr lang="es-MX" sz="1200" b="1" kern="1200" dirty="0" err="1">
                <a:solidFill>
                  <a:schemeClr val="tx1"/>
                </a:solidFill>
                <a:effectLst/>
                <a:latin typeface="+mn-lt"/>
                <a:ea typeface="+mn-ea"/>
                <a:cs typeface="+mn-cs"/>
              </a:rPr>
              <a:t>evacuated</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to</a:t>
            </a:r>
            <a:r>
              <a:rPr lang="es-MX" sz="1200" b="1" kern="1200" dirty="0">
                <a:solidFill>
                  <a:schemeClr val="tx1"/>
                </a:solidFill>
                <a:effectLst/>
                <a:latin typeface="+mn-lt"/>
                <a:ea typeface="+mn-ea"/>
                <a:cs typeface="+mn-cs"/>
              </a:rPr>
              <a:t> a </a:t>
            </a:r>
            <a:r>
              <a:rPr lang="es-MX" sz="1200" b="1" kern="1200" dirty="0" err="1">
                <a:solidFill>
                  <a:schemeClr val="tx1"/>
                </a:solidFill>
                <a:effectLst/>
                <a:latin typeface="+mn-lt"/>
                <a:ea typeface="+mn-ea"/>
                <a:cs typeface="+mn-cs"/>
              </a:rPr>
              <a:t>relative's</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house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last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night</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このイベントは非常に具体的です。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 </a:t>
            </a:r>
            <a:r>
              <a:rPr lang="es-MX" sz="1200" b="1" kern="1200" dirty="0">
                <a:solidFill>
                  <a:schemeClr val="tx1"/>
                </a:solidFill>
                <a:effectLst/>
                <a:latin typeface="+mn-lt"/>
                <a:ea typeface="+mn-ea"/>
                <a:cs typeface="+mn-cs"/>
              </a:rPr>
              <a:t>ARGM</a:t>
            </a:r>
            <a:r>
              <a:rPr lang="ja-JP" altLang="es-MX" sz="1200" b="1" kern="1200" dirty="0">
                <a:solidFill>
                  <a:schemeClr val="tx1"/>
                </a:solidFill>
                <a:effectLst/>
                <a:latin typeface="+mn-lt"/>
                <a:ea typeface="+mn-ea"/>
                <a:cs typeface="+mn-cs"/>
              </a:rPr>
              <a:t>（時間情報）</a:t>
            </a:r>
            <a:r>
              <a:rPr lang="ja-JP" altLang="es-MX" sz="1200" kern="1200" dirty="0">
                <a:solidFill>
                  <a:schemeClr val="tx1"/>
                </a:solidFill>
                <a:effectLst/>
                <a:latin typeface="+mn-lt"/>
                <a:ea typeface="+mn-ea"/>
                <a:cs typeface="+mn-cs"/>
              </a:rPr>
              <a:t> を削除すると、</a:t>
            </a:r>
            <a:endParaRPr lang="es-MX"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Jerry evacuated to a relative's house</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になります。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さらに </a:t>
            </a:r>
            <a:r>
              <a:rPr lang="ja-JP" altLang="es-MX" sz="1200" b="1" kern="1200" dirty="0">
                <a:solidFill>
                  <a:schemeClr val="tx1"/>
                </a:solidFill>
                <a:effectLst/>
                <a:latin typeface="+mn-lt"/>
                <a:ea typeface="+mn-ea"/>
                <a:cs typeface="+mn-cs"/>
              </a:rPr>
              <a:t>追加</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ついか</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の引数</a:t>
            </a:r>
            <a:r>
              <a:rPr lang="ja-JP" altLang="es-MX" sz="1200" b="0" kern="1200" dirty="0">
                <a:solidFill>
                  <a:schemeClr val="tx1"/>
                </a:solidFill>
                <a:effectLst/>
                <a:latin typeface="+mn-lt"/>
                <a:ea typeface="+mn-ea"/>
                <a:cs typeface="+mn-cs"/>
              </a:rPr>
              <a:t>を削除すると、</a:t>
            </a:r>
            <a:endParaRPr lang="es-MX" sz="1200" kern="1200" dirty="0">
              <a:solidFill>
                <a:schemeClr val="tx1"/>
              </a:solidFill>
              <a:effectLst/>
              <a:latin typeface="+mn-lt"/>
              <a:ea typeface="+mn-ea"/>
              <a:cs typeface="+mn-cs"/>
            </a:endParaRPr>
          </a:p>
          <a:p>
            <a:r>
              <a:rPr lang="es-MX" sz="1200" b="1" kern="1200" dirty="0">
                <a:solidFill>
                  <a:schemeClr val="tx1"/>
                </a:solidFill>
                <a:effectLst/>
                <a:latin typeface="+mn-lt"/>
                <a:ea typeface="+mn-ea"/>
                <a:cs typeface="+mn-cs"/>
              </a:rPr>
              <a:t>Jerry </a:t>
            </a:r>
            <a:r>
              <a:rPr lang="es-MX" sz="1200" b="1" kern="1200" dirty="0" err="1">
                <a:solidFill>
                  <a:schemeClr val="tx1"/>
                </a:solidFill>
                <a:effectLst/>
                <a:latin typeface="+mn-lt"/>
                <a:ea typeface="+mn-ea"/>
                <a:cs typeface="+mn-cs"/>
              </a:rPr>
              <a:t>evacuated</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という </a:t>
            </a:r>
            <a:r>
              <a:rPr lang="ja-JP" altLang="es-MX" sz="1200" b="1" kern="1200" dirty="0">
                <a:solidFill>
                  <a:schemeClr val="tx1"/>
                </a:solidFill>
                <a:effectLst/>
                <a:latin typeface="+mn-lt"/>
                <a:ea typeface="+mn-ea"/>
                <a:cs typeface="+mn-cs"/>
              </a:rPr>
              <a:t>より一般的なイベント表現</a:t>
            </a:r>
            <a:r>
              <a:rPr lang="ja-JP" altLang="es-MX" sz="1200" kern="1200" dirty="0">
                <a:solidFill>
                  <a:schemeClr val="tx1"/>
                </a:solidFill>
                <a:effectLst/>
                <a:latin typeface="+mn-lt"/>
                <a:ea typeface="+mn-ea"/>
                <a:cs typeface="+mn-cs"/>
              </a:rPr>
              <a:t>になります。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このようにイベントを段階的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だんかいてき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に抽象化</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ちゅうしょうか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することで、</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に存在するイベントと </a:t>
            </a:r>
            <a:r>
              <a:rPr lang="ja-JP" altLang="es-MX" sz="1200" b="1" kern="1200" dirty="0">
                <a:solidFill>
                  <a:schemeClr val="tx1"/>
                </a:solidFill>
                <a:effectLst/>
                <a:latin typeface="+mn-lt"/>
                <a:ea typeface="+mn-ea"/>
                <a:cs typeface="+mn-cs"/>
              </a:rPr>
              <a:t>一致</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いっち</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する可能性を高めることができます。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EE36BA8A-4695-9E24-E76D-E3E6A0CF86DF}"/>
              </a:ext>
            </a:extLst>
          </p:cNvPr>
          <p:cNvSpPr>
            <a:spLocks noGrp="1"/>
          </p:cNvSpPr>
          <p:nvPr>
            <p:ph type="sldNum" sz="quarter" idx="5"/>
          </p:nvPr>
        </p:nvSpPr>
        <p:spPr/>
        <p:txBody>
          <a:bodyPr/>
          <a:lstStyle/>
          <a:p>
            <a:fld id="{27F6FB8B-1938-4266-AC76-FE6EFE356B7C}" type="slidenum">
              <a:rPr lang="es-MX" smtClean="0"/>
              <a:t>9</a:t>
            </a:fld>
            <a:endParaRPr lang="es-MX"/>
          </a:p>
        </p:txBody>
      </p:sp>
    </p:spTree>
    <p:extLst>
      <p:ext uri="{BB962C8B-B14F-4D97-AF65-F5344CB8AC3E}">
        <p14:creationId xmlns:p14="http://schemas.microsoft.com/office/powerpoint/2010/main" val="1280138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ECD4F-4DCF-4BD5-F2A9-D02F78DF3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4EF3D-2874-B394-4779-BB5B52142E88}"/>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9D30BBC1-8A90-F8DB-912B-A073F7F216A8}"/>
                  </a:ext>
                </a:extLst>
              </p:cNvPr>
              <p:cNvSpPr>
                <a:spLocks noGrp="1"/>
              </p:cNvSpPr>
              <p:nvPr>
                <p:ph type="body" idx="1"/>
              </p:nvPr>
            </p:nvSpPr>
            <p:spPr/>
            <p:txBody>
              <a:bodyPr/>
              <a:lstStyle/>
              <a:p>
                <a:r>
                  <a:rPr lang="es-MX" sz="1200" kern="1200" dirty="0">
                    <a:solidFill>
                      <a:schemeClr val="tx1"/>
                    </a:solidFill>
                    <a:effectLst/>
                    <a:latin typeface="+mn-lt"/>
                    <a:ea typeface="+mn-ea"/>
                    <a:cs typeface="+mn-cs"/>
                  </a:rPr>
                  <a:t>PIE </a:t>
                </a:r>
                <a:r>
                  <a:rPr lang="ja-JP" altLang="es-MX" sz="1200" kern="1200" dirty="0">
                    <a:solidFill>
                      <a:schemeClr val="tx1"/>
                    </a:solidFill>
                    <a:effectLst/>
                    <a:latin typeface="+mn-lt"/>
                    <a:ea typeface="+mn-ea"/>
                    <a:cs typeface="+mn-cs"/>
                  </a:rPr>
                  <a:t>によってイベントを段階的に抽象化した後、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次のステップは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Matching</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つまり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Grounding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このステップの目的は、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テキストから抽出されたイベントを</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のイベントに対応付けること</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そのために、モデルはテキストイベントと</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のイベントを</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意味的類似度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るいじど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semantic</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similarity</a:t>
                </a:r>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を用いて比較します。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まず、テキストイベントと</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のイベントの両方を</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SBERT</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Sentence</a:t>
                </a:r>
                <a:r>
                  <a:rPr lang="es-MX" sz="1200" b="1" kern="1200" dirty="0">
                    <a:solidFill>
                      <a:schemeClr val="tx1"/>
                    </a:solidFill>
                    <a:effectLst/>
                    <a:latin typeface="+mn-lt"/>
                    <a:ea typeface="+mn-ea"/>
                    <a:cs typeface="+mn-cs"/>
                  </a:rPr>
                  <a:t>-BERT</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を用いてベクトル表現に変換</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へんかん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このベクトルは</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イベントの意味情報を表す埋め込み（</a:t>
                </a:r>
                <a:r>
                  <a:rPr lang="es-MX" sz="1200" kern="1200" dirty="0" err="1">
                    <a:solidFill>
                      <a:schemeClr val="tx1"/>
                    </a:solidFill>
                    <a:effectLst/>
                    <a:latin typeface="+mn-lt"/>
                    <a:ea typeface="+mn-ea"/>
                    <a:cs typeface="+mn-cs"/>
                  </a:rPr>
                  <a:t>embedding</a:t>
                </a:r>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その後、これらのベクトル間の距離を計算することで、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イベント同士の意味的な近さを測定します。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最初の式は、</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のノードを選択する方法を示しています。</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r>
                        <a:rPr lang="es-MX" sz="1200" i="1" kern="1200">
                          <a:solidFill>
                            <a:schemeClr val="tx1"/>
                          </a:solidFill>
                          <a:effectLst/>
                          <a:latin typeface="+mn-lt"/>
                          <a:ea typeface="+mn-ea"/>
                          <a:cs typeface="+mn-cs"/>
                        </a:rPr>
                        <m:t>𝑣</m:t>
                      </m:r>
                      <m:r>
                        <a:rPr lang="es-MX" sz="1200" i="1" kern="1200">
                          <a:solidFill>
                            <a:schemeClr val="tx1"/>
                          </a:solidFill>
                          <a:effectLst/>
                          <a:latin typeface="+mn-lt"/>
                          <a:ea typeface="+mn-ea"/>
                          <a:cs typeface="+mn-cs"/>
                        </a:rPr>
                        <m:t>=</m:t>
                      </m:r>
                      <m:r>
                        <m:rPr>
                          <m:sty m:val="p"/>
                        </m:rPr>
                        <a:rPr lang="es-MX" sz="1200" kern="1200">
                          <a:solidFill>
                            <a:schemeClr val="tx1"/>
                          </a:solidFill>
                          <a:effectLst/>
                          <a:latin typeface="+mn-lt"/>
                          <a:ea typeface="+mn-ea"/>
                          <a:cs typeface="+mn-cs"/>
                        </a:rPr>
                        <m:t>arg</m:t>
                      </m:r>
                      <m:r>
                        <a:rPr lang="es-MX" sz="1200" i="1" kern="1200">
                          <a:solidFill>
                            <a:schemeClr val="tx1"/>
                          </a:solidFill>
                          <a:effectLst/>
                          <a:latin typeface="+mn-lt"/>
                          <a:ea typeface="+mn-ea"/>
                          <a:cs typeface="+mn-cs"/>
                        </a:rPr>
                        <m:t>⁡</m:t>
                      </m:r>
                      <m:limLow>
                        <m:limLowPr>
                          <m:ctrlPr>
                            <a:rPr lang="es-MX" sz="1200" i="1" kern="1200">
                              <a:solidFill>
                                <a:schemeClr val="tx1"/>
                              </a:solidFill>
                              <a:effectLst/>
                              <a:latin typeface="+mn-lt"/>
                              <a:ea typeface="+mn-ea"/>
                              <a:cs typeface="+mn-cs"/>
                            </a:rPr>
                          </m:ctrlPr>
                        </m:limLowPr>
                        <m:e>
                          <m:r>
                            <m:rPr>
                              <m:sty m:val="p"/>
                            </m:rPr>
                            <a:rPr lang="es-MX" sz="1200" kern="1200">
                              <a:solidFill>
                                <a:schemeClr val="tx1"/>
                              </a:solidFill>
                              <a:effectLst/>
                              <a:latin typeface="+mn-lt"/>
                              <a:ea typeface="+mn-ea"/>
                              <a:cs typeface="+mn-cs"/>
                            </a:rPr>
                            <m:t>min</m:t>
                          </m:r>
                          <m:r>
                            <a:rPr lang="es-MX" sz="1200" i="1" kern="1200">
                              <a:solidFill>
                                <a:schemeClr val="tx1"/>
                              </a:solidFill>
                              <a:effectLst/>
                              <a:latin typeface="+mn-lt"/>
                              <a:ea typeface="+mn-ea"/>
                              <a:cs typeface="+mn-cs"/>
                            </a:rPr>
                            <m:t>⁡</m:t>
                          </m:r>
                        </m:e>
                        <m:lim>
                          <m:r>
                            <a:rPr lang="es-MX" sz="1200" i="1" kern="1200">
                              <a:solidFill>
                                <a:schemeClr val="tx1"/>
                              </a:solidFill>
                              <a:effectLst/>
                              <a:latin typeface="+mn-lt"/>
                              <a:ea typeface="+mn-ea"/>
                              <a:cs typeface="+mn-cs"/>
                            </a:rPr>
                            <m:t>𝑣</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𝑉</m:t>
                          </m:r>
                        </m:lim>
                      </m:limLow>
                      <m:r>
                        <a:rPr lang="es-MX" sz="1200" i="1" kern="1200">
                          <a:solidFill>
                            <a:schemeClr val="tx1"/>
                          </a:solidFill>
                          <a:effectLst/>
                          <a:latin typeface="+mn-lt"/>
                          <a:ea typeface="+mn-ea"/>
                          <a:cs typeface="+mn-cs"/>
                        </a:rPr>
                        <m:t>𝑑</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𝑝</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𝑣</m:t>
                      </m:r>
                      <m:r>
                        <a:rPr lang="es-MX" sz="1200" i="1" kern="1200">
                          <a:solidFill>
                            <a:schemeClr val="tx1"/>
                          </a:solidFill>
                          <a:effectLst/>
                          <a:latin typeface="+mn-lt"/>
                          <a:ea typeface="+mn-ea"/>
                          <a:cs typeface="+mn-cs"/>
                        </a:rPr>
                        <m:t>)</m:t>
                      </m:r>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 </a:t>
                </a:r>
                <a:r>
                  <a:rPr lang="es-MX" sz="1200" b="1" kern="1200" dirty="0">
                    <a:solidFill>
                      <a:schemeClr val="tx1"/>
                    </a:solidFill>
                    <a:effectLst/>
                    <a:latin typeface="+mn-lt"/>
                    <a:ea typeface="+mn-ea"/>
                    <a:cs typeface="+mn-cs"/>
                  </a:rPr>
                  <a:t>p</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はテキストから抽出されたイベント、</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v</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のイベントノードを表します。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また </a:t>
                </a:r>
                <a:r>
                  <a:rPr lang="es-MX" sz="1200" b="1" kern="1200" dirty="0">
                    <a:solidFill>
                      <a:schemeClr val="tx1"/>
                    </a:solidFill>
                    <a:effectLst/>
                    <a:latin typeface="+mn-lt"/>
                    <a:ea typeface="+mn-ea"/>
                    <a:cs typeface="+mn-cs"/>
                  </a:rPr>
                  <a:t>V</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に存在するすべてのイベントノードの集合です。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この式の意味は、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テキストイベントと</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のすべてのノードとの距離を計算し、</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距離が最も小さいノードを選択する</a:t>
                </a:r>
                <a:r>
                  <a:rPr lang="ja-JP" altLang="es-MX" sz="1200" kern="1200" dirty="0">
                    <a:solidFill>
                      <a:schemeClr val="tx1"/>
                    </a:solidFill>
                    <a:effectLst/>
                    <a:latin typeface="+mn-lt"/>
                    <a:ea typeface="+mn-ea"/>
                    <a:cs typeface="+mn-cs"/>
                  </a:rPr>
                  <a:t>ということです。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つまり、モデルは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テキストイベントと意味的に最も近い</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のイベント</a:t>
                </a:r>
                <a:r>
                  <a:rPr lang="ja-JP" altLang="es-MX" sz="1200" kern="1200" dirty="0">
                    <a:solidFill>
                      <a:schemeClr val="tx1"/>
                    </a:solidFill>
                    <a:effectLst/>
                    <a:latin typeface="+mn-lt"/>
                    <a:ea typeface="+mn-ea"/>
                    <a:cs typeface="+mn-cs"/>
                  </a:rPr>
                  <a:t>を選びます。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次の式は、その距離の計算方法を示しています。</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r>
                        <a:rPr lang="es-MX" sz="1200" i="1" kern="1200">
                          <a:solidFill>
                            <a:schemeClr val="tx1"/>
                          </a:solidFill>
                          <a:effectLst/>
                          <a:latin typeface="+mn-lt"/>
                          <a:ea typeface="+mn-ea"/>
                          <a:cs typeface="+mn-cs"/>
                        </a:rPr>
                        <m:t>𝑑</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𝑝</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𝑣</m:t>
                      </m:r>
                      <m:r>
                        <a:rPr lang="es-MX" sz="1200" i="1" kern="1200">
                          <a:solidFill>
                            <a:schemeClr val="tx1"/>
                          </a:solidFill>
                          <a:effectLst/>
                          <a:latin typeface="+mn-lt"/>
                          <a:ea typeface="+mn-ea"/>
                          <a:cs typeface="+mn-cs"/>
                        </a:rPr>
                        <m:t>)=</m:t>
                      </m:r>
                      <m:r>
                        <a:rPr lang="es-MX" sz="1200" kern="1200">
                          <a:solidFill>
                            <a:schemeClr val="tx1"/>
                          </a:solidFill>
                          <a:effectLst/>
                          <a:latin typeface="+mn-lt"/>
                          <a:ea typeface="+mn-ea"/>
                          <a:cs typeface="+mn-cs"/>
                        </a:rPr>
                        <m:t>∣∣</m:t>
                      </m:r>
                      <m:r>
                        <a:rPr lang="es-MX" sz="1200" i="1" kern="1200">
                          <a:solidFill>
                            <a:schemeClr val="tx1"/>
                          </a:solidFill>
                          <a:effectLst/>
                          <a:latin typeface="+mn-lt"/>
                          <a:ea typeface="+mn-ea"/>
                          <a:cs typeface="+mn-cs"/>
                        </a:rPr>
                        <m:t>𝑆𝐵𝐸𝑅𝑇</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𝑡𝑒𝑥𝑡</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𝑝</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𝑆𝐵𝐸𝑅𝑇</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𝑡𝑒𝑥𝑡</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𝑣</m:t>
                      </m:r>
                      <m:r>
                        <a:rPr lang="es-MX" sz="1200" i="1" kern="1200">
                          <a:solidFill>
                            <a:schemeClr val="tx1"/>
                          </a:solidFill>
                          <a:effectLst/>
                          <a:latin typeface="+mn-lt"/>
                          <a:ea typeface="+mn-ea"/>
                          <a:cs typeface="+mn-cs"/>
                        </a:rPr>
                        <m:t>))</m:t>
                      </m:r>
                      <m:r>
                        <a:rPr lang="es-MX" sz="1200" kern="1200">
                          <a:solidFill>
                            <a:schemeClr val="tx1"/>
                          </a:solidFill>
                          <a:effectLst/>
                          <a:latin typeface="+mn-lt"/>
                          <a:ea typeface="+mn-ea"/>
                          <a:cs typeface="+mn-cs"/>
                        </a:rPr>
                        <m:t>∣</m:t>
                      </m:r>
                      <m:sSub>
                        <m:sSubPr>
                          <m:ctrlPr>
                            <a:rPr lang="es-MX" sz="1200" i="1" kern="1200">
                              <a:solidFill>
                                <a:schemeClr val="tx1"/>
                              </a:solidFill>
                              <a:effectLst/>
                              <a:latin typeface="+mn-lt"/>
                              <a:ea typeface="+mn-ea"/>
                              <a:cs typeface="+mn-cs"/>
                            </a:rPr>
                          </m:ctrlPr>
                        </m:sSubPr>
                        <m:e>
                          <m:r>
                            <a:rPr lang="es-MX" sz="1200" kern="1200">
                              <a:solidFill>
                                <a:schemeClr val="tx1"/>
                              </a:solidFill>
                              <a:effectLst/>
                              <a:latin typeface="+mn-lt"/>
                              <a:ea typeface="+mn-ea"/>
                              <a:cs typeface="+mn-cs"/>
                            </a:rPr>
                            <m:t>∣</m:t>
                          </m:r>
                        </m:e>
                        <m:sub>
                          <m:r>
                            <a:rPr lang="es-MX" sz="1200" i="1" kern="1200">
                              <a:solidFill>
                                <a:schemeClr val="tx1"/>
                              </a:solidFill>
                              <a:effectLst/>
                              <a:latin typeface="+mn-lt"/>
                              <a:ea typeface="+mn-ea"/>
                              <a:cs typeface="+mn-cs"/>
                            </a:rPr>
                            <m:t>2</m:t>
                          </m:r>
                        </m:sub>
                      </m:sSub>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まず、テキストイベントと</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のイベントを</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SBERT </a:t>
                </a:r>
                <a:r>
                  <a:rPr lang="ja-JP" altLang="es-MX" sz="1200" kern="1200" dirty="0">
                    <a:solidFill>
                      <a:schemeClr val="tx1"/>
                    </a:solidFill>
                    <a:effectLst/>
                    <a:latin typeface="+mn-lt"/>
                    <a:ea typeface="+mn-ea"/>
                    <a:cs typeface="+mn-cs"/>
                  </a:rPr>
                  <a:t>を用いて埋め込みベクトルに変換します。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そして、これらのベクトルの </a:t>
                </a:r>
                <a:r>
                  <a:rPr lang="es-MX" sz="1200" b="1" kern="1200" dirty="0" err="1">
                    <a:solidFill>
                      <a:schemeClr val="tx1"/>
                    </a:solidFill>
                    <a:effectLst/>
                    <a:latin typeface="+mn-lt"/>
                    <a:ea typeface="+mn-ea"/>
                    <a:cs typeface="+mn-cs"/>
                  </a:rPr>
                  <a:t>euclid</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distance</a:t>
                </a:r>
                <a:r>
                  <a:rPr lang="ja-JP" altLang="es-MX" sz="1200" kern="1200" dirty="0">
                    <a:solidFill>
                      <a:schemeClr val="tx1"/>
                    </a:solidFill>
                    <a:effectLst/>
                    <a:latin typeface="+mn-lt"/>
                    <a:ea typeface="+mn-ea"/>
                    <a:cs typeface="+mn-cs"/>
                  </a:rPr>
                  <a:t>を計算します。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距離が小さいほど、</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二つのイベントの意味が近い</a:t>
                </a:r>
                <a:r>
                  <a:rPr lang="ja-JP" altLang="es-MX" sz="1200" kern="1200" dirty="0">
                    <a:solidFill>
                      <a:schemeClr val="tx1"/>
                    </a:solidFill>
                    <a:effectLst/>
                    <a:latin typeface="+mn-lt"/>
                    <a:ea typeface="+mn-ea"/>
                    <a:cs typeface="+mn-cs"/>
                  </a:rPr>
                  <a:t>ことを意味します。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右側の例を見てみましょう。</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テキストから抽出されたイベントは</a:t>
                </a:r>
                <a:endParaRPr lang="es-MX" sz="1200" kern="1200" dirty="0">
                  <a:solidFill>
                    <a:schemeClr val="tx1"/>
                  </a:solidFill>
                  <a:effectLst/>
                  <a:latin typeface="+mn-lt"/>
                  <a:ea typeface="+mn-ea"/>
                  <a:cs typeface="+mn-cs"/>
                </a:endParaRPr>
              </a:p>
              <a:p>
                <a:r>
                  <a:rPr lang="es-MX" sz="1200" b="1" kern="1200" dirty="0">
                    <a:solidFill>
                      <a:schemeClr val="tx1"/>
                    </a:solidFill>
                    <a:effectLst/>
                    <a:latin typeface="+mn-lt"/>
                    <a:ea typeface="+mn-ea"/>
                    <a:cs typeface="+mn-cs"/>
                  </a:rPr>
                  <a:t>[P0] </a:t>
                </a:r>
                <a:r>
                  <a:rPr lang="es-MX" sz="1200" b="1" kern="1200" dirty="0" err="1">
                    <a:solidFill>
                      <a:schemeClr val="tx1"/>
                    </a:solidFill>
                    <a:effectLst/>
                    <a:latin typeface="+mn-lt"/>
                    <a:ea typeface="+mn-ea"/>
                    <a:cs typeface="+mn-cs"/>
                  </a:rPr>
                  <a:t>bought</a:t>
                </a:r>
                <a:r>
                  <a:rPr lang="es-MX" sz="1200" b="1" kern="1200" dirty="0">
                    <a:solidFill>
                      <a:schemeClr val="tx1"/>
                    </a:solidFill>
                    <a:effectLst/>
                    <a:latin typeface="+mn-lt"/>
                    <a:ea typeface="+mn-ea"/>
                    <a:cs typeface="+mn-cs"/>
                  </a:rPr>
                  <a:t> a </a:t>
                </a:r>
                <a:r>
                  <a:rPr lang="es-MX" sz="1200" b="1" kern="1200" dirty="0" err="1">
                    <a:solidFill>
                      <a:schemeClr val="tx1"/>
                    </a:solidFill>
                    <a:effectLst/>
                    <a:latin typeface="+mn-lt"/>
                    <a:ea typeface="+mn-ea"/>
                    <a:cs typeface="+mn-cs"/>
                  </a:rPr>
                  <a:t>movie</a:t>
                </a:r>
                <a:r>
                  <a:rPr lang="es-MX" sz="1200" b="1" kern="1200" dirty="0">
                    <a:solidFill>
                      <a:schemeClr val="tx1"/>
                    </a:solidFill>
                    <a:effectLst/>
                    <a:latin typeface="+mn-lt"/>
                    <a:ea typeface="+mn-ea"/>
                    <a:cs typeface="+mn-cs"/>
                  </a:rPr>
                  <a:t> ticket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モデルはこのイベントを</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のイベントと比較し、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意味的に最も近いイベントを探します。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その結果、</a:t>
                </a:r>
                <a:endParaRPr lang="es-MX" sz="1200" kern="1200" dirty="0">
                  <a:solidFill>
                    <a:schemeClr val="tx1"/>
                  </a:solidFill>
                  <a:effectLst/>
                  <a:latin typeface="+mn-lt"/>
                  <a:ea typeface="+mn-ea"/>
                  <a:cs typeface="+mn-cs"/>
                </a:endParaRPr>
              </a:p>
              <a:p>
                <a:r>
                  <a:rPr lang="es-MX" sz="1200" b="1" kern="1200" dirty="0" err="1">
                    <a:solidFill>
                      <a:schemeClr val="tx1"/>
                    </a:solidFill>
                    <a:effectLst/>
                    <a:latin typeface="+mn-lt"/>
                    <a:ea typeface="+mn-ea"/>
                    <a:cs typeface="+mn-cs"/>
                  </a:rPr>
                  <a:t>PersonX</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buys</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movie</a:t>
                </a:r>
                <a:r>
                  <a:rPr lang="es-MX" sz="1200" b="1" kern="1200" dirty="0">
                    <a:solidFill>
                      <a:schemeClr val="tx1"/>
                    </a:solidFill>
                    <a:effectLst/>
                    <a:latin typeface="+mn-lt"/>
                    <a:ea typeface="+mn-ea"/>
                    <a:cs typeface="+mn-cs"/>
                  </a:rPr>
                  <a:t> ticket</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という</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のイベントと意味的に近いことが分かります。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そのため、このテキストイベントは</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のこのノードに対応付けられます。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このようにして、自然言語のイベントを</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の構造化されたイベント知識に接続することができます。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mc:Choice>
        <mc:Fallback>
          <p:sp>
            <p:nvSpPr>
              <p:cNvPr id="3" name="Notes Placeholder 2">
                <a:extLst>
                  <a:ext uri="{FF2B5EF4-FFF2-40B4-BE49-F238E27FC236}">
                    <a16:creationId xmlns:a16="http://schemas.microsoft.com/office/drawing/2014/main" id="{9D30BBC1-8A90-F8DB-912B-A073F7F216A8}"/>
                  </a:ext>
                </a:extLst>
              </p:cNvPr>
              <p:cNvSpPr>
                <a:spLocks noGrp="1"/>
              </p:cNvSpPr>
              <p:nvPr>
                <p:ph type="body" idx="1"/>
              </p:nvPr>
            </p:nvSpPr>
            <p:spPr/>
            <p:txBody>
              <a:bodyPr/>
              <a:lstStyle/>
              <a:p>
                <a:r>
                  <a:rPr lang="es-MX" sz="1200" kern="1200" dirty="0">
                    <a:solidFill>
                      <a:schemeClr val="tx1"/>
                    </a:solidFill>
                    <a:effectLst/>
                    <a:latin typeface="+mn-lt"/>
                    <a:ea typeface="+mn-ea"/>
                    <a:cs typeface="+mn-cs"/>
                  </a:rPr>
                  <a:t>PIE </a:t>
                </a:r>
                <a:r>
                  <a:rPr lang="ja-JP" altLang="es-MX" sz="1200" kern="1200" dirty="0">
                    <a:solidFill>
                      <a:schemeClr val="tx1"/>
                    </a:solidFill>
                    <a:effectLst/>
                    <a:latin typeface="+mn-lt"/>
                    <a:ea typeface="+mn-ea"/>
                    <a:cs typeface="+mn-cs"/>
                  </a:rPr>
                  <a:t>によってイベントを段階的に抽象化した後、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次のステップは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Matching</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つまり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Grounding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このステップの目的は、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テキストから抽出されたイベントを</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のイベントに対応付けること</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そのために、モデルはテキストイベントと</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のイベントを</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意味的類似度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るいじど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semantic</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similarity</a:t>
                </a:r>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を用いて比較します。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まず、テキストイベントと</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のイベントの両方を</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SBERT</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Sentence</a:t>
                </a:r>
                <a:r>
                  <a:rPr lang="es-MX" sz="1200" b="1" kern="1200" dirty="0">
                    <a:solidFill>
                      <a:schemeClr val="tx1"/>
                    </a:solidFill>
                    <a:effectLst/>
                    <a:latin typeface="+mn-lt"/>
                    <a:ea typeface="+mn-ea"/>
                    <a:cs typeface="+mn-cs"/>
                  </a:rPr>
                  <a:t>-BERT</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を用いてベクトル表現に変換</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へんかん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このベクトルは</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イベントの意味情報を表す埋め込み（</a:t>
                </a:r>
                <a:r>
                  <a:rPr lang="es-MX" sz="1200" kern="1200" dirty="0" err="1">
                    <a:solidFill>
                      <a:schemeClr val="tx1"/>
                    </a:solidFill>
                    <a:effectLst/>
                    <a:latin typeface="+mn-lt"/>
                    <a:ea typeface="+mn-ea"/>
                    <a:cs typeface="+mn-cs"/>
                  </a:rPr>
                  <a:t>embedding</a:t>
                </a:r>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その後、これらのベクトル間の距離を計算することで、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イベント同士の意味的な近さを測定します。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最初の式は、</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のノードを選択する方法を示しています。</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𝑣=arg⁡(min⁡)┬(𝑣∈𝑉) 𝑑(𝑝,𝑣)</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 </a:t>
                </a:r>
                <a:r>
                  <a:rPr lang="es-MX" sz="1200" b="1" kern="1200" dirty="0">
                    <a:solidFill>
                      <a:schemeClr val="tx1"/>
                    </a:solidFill>
                    <a:effectLst/>
                    <a:latin typeface="+mn-lt"/>
                    <a:ea typeface="+mn-ea"/>
                    <a:cs typeface="+mn-cs"/>
                  </a:rPr>
                  <a:t>p</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はテキストから抽出されたイベント、</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v</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のイベントノードを表します。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また </a:t>
                </a:r>
                <a:r>
                  <a:rPr lang="es-MX" sz="1200" b="1" kern="1200" dirty="0">
                    <a:solidFill>
                      <a:schemeClr val="tx1"/>
                    </a:solidFill>
                    <a:effectLst/>
                    <a:latin typeface="+mn-lt"/>
                    <a:ea typeface="+mn-ea"/>
                    <a:cs typeface="+mn-cs"/>
                  </a:rPr>
                  <a:t>V</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に存在するすべてのイベントノードの集合です。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この式の意味は、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テキストイベントと</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のすべてのノードとの距離を計算し、</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距離が最も小さいノードを選択する</a:t>
                </a:r>
                <a:r>
                  <a:rPr lang="ja-JP" altLang="es-MX" sz="1200" kern="1200" dirty="0">
                    <a:solidFill>
                      <a:schemeClr val="tx1"/>
                    </a:solidFill>
                    <a:effectLst/>
                    <a:latin typeface="+mn-lt"/>
                    <a:ea typeface="+mn-ea"/>
                    <a:cs typeface="+mn-cs"/>
                  </a:rPr>
                  <a:t>ということです。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つまり、モデルは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テキストイベントと意味的に最も近い</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のイベント</a:t>
                </a:r>
                <a:r>
                  <a:rPr lang="ja-JP" altLang="es-MX" sz="1200" kern="1200" dirty="0">
                    <a:solidFill>
                      <a:schemeClr val="tx1"/>
                    </a:solidFill>
                    <a:effectLst/>
                    <a:latin typeface="+mn-lt"/>
                    <a:ea typeface="+mn-ea"/>
                    <a:cs typeface="+mn-cs"/>
                  </a:rPr>
                  <a:t>を選びます。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次の式は、その距離の計算方法を示しています。</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𝑑(𝑝,𝑣)=∣∣𝑆𝐵𝐸𝑅𝑇(𝑡𝑒𝑥𝑡(𝑝)),𝑆𝐵𝐸𝑅𝑇(𝑡𝑒𝑥𝑡(𝑣))∣∣_2</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まず、テキストイベントと</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のイベントを</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SBERT </a:t>
                </a:r>
                <a:r>
                  <a:rPr lang="ja-JP" altLang="es-MX" sz="1200" kern="1200" dirty="0">
                    <a:solidFill>
                      <a:schemeClr val="tx1"/>
                    </a:solidFill>
                    <a:effectLst/>
                    <a:latin typeface="+mn-lt"/>
                    <a:ea typeface="+mn-ea"/>
                    <a:cs typeface="+mn-cs"/>
                  </a:rPr>
                  <a:t>を用いて埋め込みベクトルに変換します。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そして、これらのベクトルの </a:t>
                </a:r>
                <a:r>
                  <a:rPr lang="es-MX" sz="1200" b="1" kern="1200" dirty="0" err="1">
                    <a:solidFill>
                      <a:schemeClr val="tx1"/>
                    </a:solidFill>
                    <a:effectLst/>
                    <a:latin typeface="+mn-lt"/>
                    <a:ea typeface="+mn-ea"/>
                    <a:cs typeface="+mn-cs"/>
                  </a:rPr>
                  <a:t>euclid</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distance</a:t>
                </a:r>
                <a:r>
                  <a:rPr lang="ja-JP" altLang="es-MX" sz="1200" kern="1200" dirty="0">
                    <a:solidFill>
                      <a:schemeClr val="tx1"/>
                    </a:solidFill>
                    <a:effectLst/>
                    <a:latin typeface="+mn-lt"/>
                    <a:ea typeface="+mn-ea"/>
                    <a:cs typeface="+mn-cs"/>
                  </a:rPr>
                  <a:t>を計算します。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距離が小さいほど、</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二つのイベントの意味が近い</a:t>
                </a:r>
                <a:r>
                  <a:rPr lang="ja-JP" altLang="es-MX" sz="1200" kern="1200" dirty="0">
                    <a:solidFill>
                      <a:schemeClr val="tx1"/>
                    </a:solidFill>
                    <a:effectLst/>
                    <a:latin typeface="+mn-lt"/>
                    <a:ea typeface="+mn-ea"/>
                    <a:cs typeface="+mn-cs"/>
                  </a:rPr>
                  <a:t>ことを意味します。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右側の例を見てみましょう。</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テキストから抽出されたイベントは</a:t>
                </a:r>
                <a:endParaRPr lang="es-MX" sz="1200" kern="1200" dirty="0">
                  <a:solidFill>
                    <a:schemeClr val="tx1"/>
                  </a:solidFill>
                  <a:effectLst/>
                  <a:latin typeface="+mn-lt"/>
                  <a:ea typeface="+mn-ea"/>
                  <a:cs typeface="+mn-cs"/>
                </a:endParaRPr>
              </a:p>
              <a:p>
                <a:r>
                  <a:rPr lang="es-MX" sz="1200" b="1" kern="1200" dirty="0">
                    <a:solidFill>
                      <a:schemeClr val="tx1"/>
                    </a:solidFill>
                    <a:effectLst/>
                    <a:latin typeface="+mn-lt"/>
                    <a:ea typeface="+mn-ea"/>
                    <a:cs typeface="+mn-cs"/>
                  </a:rPr>
                  <a:t>[P0] </a:t>
                </a:r>
                <a:r>
                  <a:rPr lang="es-MX" sz="1200" b="1" kern="1200" dirty="0" err="1">
                    <a:solidFill>
                      <a:schemeClr val="tx1"/>
                    </a:solidFill>
                    <a:effectLst/>
                    <a:latin typeface="+mn-lt"/>
                    <a:ea typeface="+mn-ea"/>
                    <a:cs typeface="+mn-cs"/>
                  </a:rPr>
                  <a:t>bought</a:t>
                </a:r>
                <a:r>
                  <a:rPr lang="es-MX" sz="1200" b="1" kern="1200" dirty="0">
                    <a:solidFill>
                      <a:schemeClr val="tx1"/>
                    </a:solidFill>
                    <a:effectLst/>
                    <a:latin typeface="+mn-lt"/>
                    <a:ea typeface="+mn-ea"/>
                    <a:cs typeface="+mn-cs"/>
                  </a:rPr>
                  <a:t> a </a:t>
                </a:r>
                <a:r>
                  <a:rPr lang="es-MX" sz="1200" b="1" kern="1200" dirty="0" err="1">
                    <a:solidFill>
                      <a:schemeClr val="tx1"/>
                    </a:solidFill>
                    <a:effectLst/>
                    <a:latin typeface="+mn-lt"/>
                    <a:ea typeface="+mn-ea"/>
                    <a:cs typeface="+mn-cs"/>
                  </a:rPr>
                  <a:t>movie</a:t>
                </a:r>
                <a:r>
                  <a:rPr lang="es-MX" sz="1200" b="1" kern="1200" dirty="0">
                    <a:solidFill>
                      <a:schemeClr val="tx1"/>
                    </a:solidFill>
                    <a:effectLst/>
                    <a:latin typeface="+mn-lt"/>
                    <a:ea typeface="+mn-ea"/>
                    <a:cs typeface="+mn-cs"/>
                  </a:rPr>
                  <a:t> ticket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モデルはこのイベントを</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のイベントと比較し、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意味的に最も近いイベントを探します。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その結果、</a:t>
                </a:r>
                <a:endParaRPr lang="es-MX" sz="1200" kern="1200" dirty="0">
                  <a:solidFill>
                    <a:schemeClr val="tx1"/>
                  </a:solidFill>
                  <a:effectLst/>
                  <a:latin typeface="+mn-lt"/>
                  <a:ea typeface="+mn-ea"/>
                  <a:cs typeface="+mn-cs"/>
                </a:endParaRPr>
              </a:p>
              <a:p>
                <a:r>
                  <a:rPr lang="es-MX" sz="1200" b="1" kern="1200" dirty="0" err="1">
                    <a:solidFill>
                      <a:schemeClr val="tx1"/>
                    </a:solidFill>
                    <a:effectLst/>
                    <a:latin typeface="+mn-lt"/>
                    <a:ea typeface="+mn-ea"/>
                    <a:cs typeface="+mn-cs"/>
                  </a:rPr>
                  <a:t>PersonX</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buys</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movie</a:t>
                </a:r>
                <a:r>
                  <a:rPr lang="es-MX" sz="1200" b="1" kern="1200" dirty="0">
                    <a:solidFill>
                      <a:schemeClr val="tx1"/>
                    </a:solidFill>
                    <a:effectLst/>
                    <a:latin typeface="+mn-lt"/>
                    <a:ea typeface="+mn-ea"/>
                    <a:cs typeface="+mn-cs"/>
                  </a:rPr>
                  <a:t> ticket</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という</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のイベントと意味的に近いことが分かります。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そのため、このテキストイベントは</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のこのノードに対応付けられます。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このようにして、自然言語のイベントを</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の構造化されたイベント知識に接続することができます。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mc:Fallback>
      </mc:AlternateContent>
      <p:sp>
        <p:nvSpPr>
          <p:cNvPr id="4" name="Slide Number Placeholder 3">
            <a:extLst>
              <a:ext uri="{FF2B5EF4-FFF2-40B4-BE49-F238E27FC236}">
                <a16:creationId xmlns:a16="http://schemas.microsoft.com/office/drawing/2014/main" id="{1E1FF121-436E-C03A-0C7A-EA595E10A216}"/>
              </a:ext>
            </a:extLst>
          </p:cNvPr>
          <p:cNvSpPr>
            <a:spLocks noGrp="1"/>
          </p:cNvSpPr>
          <p:nvPr>
            <p:ph type="sldNum" sz="quarter" idx="5"/>
          </p:nvPr>
        </p:nvSpPr>
        <p:spPr/>
        <p:txBody>
          <a:bodyPr/>
          <a:lstStyle/>
          <a:p>
            <a:fld id="{27F6FB8B-1938-4266-AC76-FE6EFE356B7C}" type="slidenum">
              <a:rPr lang="es-MX" smtClean="0"/>
              <a:t>10</a:t>
            </a:fld>
            <a:endParaRPr lang="es-MX"/>
          </a:p>
        </p:txBody>
      </p:sp>
    </p:spTree>
    <p:extLst>
      <p:ext uri="{BB962C8B-B14F-4D97-AF65-F5344CB8AC3E}">
        <p14:creationId xmlns:p14="http://schemas.microsoft.com/office/powerpoint/2010/main" val="384656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870A4-52D9-EFD1-D908-4715BBE0A9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9F0A5-F0F2-B729-717E-E85886D47D5A}"/>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F9EA1D34-0AB7-A04D-B147-7D570DFA2D4F}"/>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テキストイベントを</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のノードに対応付けた後、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次のステップは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Subgraph</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Construction</a:t>
                </a:r>
                <a:r>
                  <a:rPr lang="ja-JP" altLang="es-MX" sz="1200" kern="1200" dirty="0">
                    <a:solidFill>
                      <a:schemeClr val="tx1"/>
                    </a:solidFill>
                    <a:effectLst/>
                    <a:latin typeface="+mn-lt"/>
                    <a:ea typeface="+mn-ea"/>
                    <a:cs typeface="+mn-cs"/>
                  </a:rPr>
                  <a:t>（サブグラフ構築）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この時点で、テキストから抽出されたイベントに対応する</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アンカーイベント（</a:t>
                </a:r>
                <a:r>
                  <a:rPr lang="es-MX" sz="1200" kern="1200" dirty="0">
                    <a:solidFill>
                      <a:schemeClr val="tx1"/>
                    </a:solidFill>
                    <a:effectLst/>
                    <a:latin typeface="+mn-lt"/>
                    <a:ea typeface="+mn-ea"/>
                    <a:cs typeface="+mn-cs"/>
                  </a:rPr>
                  <a:t>anchor </a:t>
                </a:r>
                <a:r>
                  <a:rPr lang="es-MX" sz="1200" kern="1200" dirty="0" err="1">
                    <a:solidFill>
                      <a:schemeClr val="tx1"/>
                    </a:solidFill>
                    <a:effectLst/>
                    <a:latin typeface="+mn-lt"/>
                    <a:ea typeface="+mn-ea"/>
                    <a:cs typeface="+mn-cs"/>
                  </a:rPr>
                  <a:t>events</a:t>
                </a:r>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がすでに得られています。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しかし、これらのアンカーイベントは</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の中で </a:t>
                </a:r>
                <a:r>
                  <a:rPr lang="ja-JP" altLang="es-MX" sz="1200" b="1" kern="1200" dirty="0">
                    <a:solidFill>
                      <a:schemeClr val="tx1"/>
                    </a:solidFill>
                    <a:effectLst/>
                    <a:latin typeface="+mn-lt"/>
                    <a:ea typeface="+mn-ea"/>
                    <a:cs typeface="+mn-cs"/>
                  </a:rPr>
                  <a:t>直接つながっていない場合が多い</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そのため、推論を行うためには、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これらのイベントを結び付けた </a:t>
                </a:r>
                <a:r>
                  <a:rPr lang="ja-JP" altLang="es-MX" sz="1200" b="1" kern="1200" dirty="0">
                    <a:solidFill>
                      <a:schemeClr val="tx1"/>
                    </a:solidFill>
                    <a:effectLst/>
                    <a:latin typeface="+mn-lt"/>
                    <a:ea typeface="+mn-ea"/>
                    <a:cs typeface="+mn-cs"/>
                  </a:rPr>
                  <a:t>推論用のグラフ</a:t>
                </a:r>
                <a:r>
                  <a:rPr lang="ja-JP" altLang="es-MX" sz="1200" kern="1200" dirty="0">
                    <a:solidFill>
                      <a:schemeClr val="tx1"/>
                    </a:solidFill>
                    <a:effectLst/>
                    <a:latin typeface="+mn-lt"/>
                    <a:ea typeface="+mn-ea"/>
                    <a:cs typeface="+mn-cs"/>
                  </a:rPr>
                  <a:t>を構築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こうちく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する必要があります。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この研究では、そのために </a:t>
                </a:r>
                <a:r>
                  <a:rPr lang="es-MX" sz="1200" b="1" kern="1200" dirty="0">
                    <a:solidFill>
                      <a:schemeClr val="tx1"/>
                    </a:solidFill>
                    <a:effectLst/>
                    <a:latin typeface="+mn-lt"/>
                    <a:ea typeface="+mn-ea"/>
                    <a:cs typeface="+mn-cs"/>
                  </a:rPr>
                  <a:t>Steiner </a:t>
                </a:r>
                <a:r>
                  <a:rPr lang="es-MX" sz="1200" b="1" kern="1200" dirty="0" err="1">
                    <a:solidFill>
                      <a:schemeClr val="tx1"/>
                    </a:solidFill>
                    <a:effectLst/>
                    <a:latin typeface="+mn-lt"/>
                    <a:ea typeface="+mn-ea"/>
                    <a:cs typeface="+mn-cs"/>
                  </a:rPr>
                  <a:t>Tree</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という方法を用いています。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Steiner </a:t>
                </a:r>
                <a:r>
                  <a:rPr lang="es-MX" sz="1200" kern="1200" dirty="0" err="1">
                    <a:solidFill>
                      <a:schemeClr val="tx1"/>
                    </a:solidFill>
                    <a:effectLst/>
                    <a:latin typeface="+mn-lt"/>
                    <a:ea typeface="+mn-ea"/>
                    <a:cs typeface="+mn-cs"/>
                  </a:rPr>
                  <a:t>Tree</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指定されたノードを最小の追加ノードで接続するグラフ</a:t>
                </a:r>
                <a:r>
                  <a:rPr lang="ja-JP" altLang="es-MX" sz="1200" kern="1200" dirty="0">
                    <a:solidFill>
                      <a:schemeClr val="tx1"/>
                    </a:solidFill>
                    <a:effectLst/>
                    <a:latin typeface="+mn-lt"/>
                    <a:ea typeface="+mn-ea"/>
                    <a:cs typeface="+mn-cs"/>
                  </a:rPr>
                  <a:t>を見つけるアルゴリズムです。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a:t>
                </a:r>
                <a:r>
                  <a:rPr lang="es-MX" sz="1200" kern="1200" dirty="0">
                    <a:solidFill>
                      <a:schemeClr val="tx1"/>
                    </a:solidFill>
                    <a:effectLst/>
                    <a:latin typeface="+mn-lt"/>
                    <a:ea typeface="+mn-ea"/>
                    <a:cs typeface="+mn-cs"/>
                  </a:rPr>
                  <a:t>anchor </a:t>
                </a:r>
                <a:r>
                  <a:rPr lang="es-MX" sz="1200" kern="1200" dirty="0" err="1">
                    <a:solidFill>
                      <a:schemeClr val="tx1"/>
                    </a:solidFill>
                    <a:effectLst/>
                    <a:latin typeface="+mn-lt"/>
                    <a:ea typeface="+mn-ea"/>
                    <a:cs typeface="+mn-cs"/>
                  </a:rPr>
                  <a:t>event</a:t>
                </a:r>
                <a:r>
                  <a:rPr lang="ja-JP" altLang="es-MX" sz="1200" kern="1200" dirty="0">
                    <a:solidFill>
                      <a:schemeClr val="tx1"/>
                    </a:solidFill>
                    <a:effectLst/>
                    <a:latin typeface="+mn-lt"/>
                    <a:ea typeface="+mn-ea"/>
                    <a:cs typeface="+mn-cs"/>
                  </a:rPr>
                  <a:t>の集合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しゅうごう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r>
                        <a:rPr lang="es-MX" sz="1200" i="1" kern="1200">
                          <a:solidFill>
                            <a:schemeClr val="tx1"/>
                          </a:solidFill>
                          <a:effectLst/>
                          <a:latin typeface="+mn-lt"/>
                          <a:ea typeface="+mn-ea"/>
                          <a:cs typeface="+mn-cs"/>
                        </a:rPr>
                        <m:t>𝐶</m:t>
                      </m:r>
                      <m:r>
                        <a:rPr lang="es-MX" sz="1200" i="1" kern="1200">
                          <a:solidFill>
                            <a:schemeClr val="tx1"/>
                          </a:solidFill>
                          <a:effectLst/>
                          <a:latin typeface="+mn-lt"/>
                          <a:ea typeface="+mn-ea"/>
                          <a:cs typeface="+mn-cs"/>
                        </a:rPr>
                        <m:t>={</m:t>
                      </m:r>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𝑐</m:t>
                          </m:r>
                        </m:e>
                        <m:sub>
                          <m:r>
                            <a:rPr lang="es-MX" sz="1200" i="1" kern="1200">
                              <a:solidFill>
                                <a:schemeClr val="tx1"/>
                              </a:solidFill>
                              <a:effectLst/>
                              <a:latin typeface="+mn-lt"/>
                              <a:ea typeface="+mn-ea"/>
                              <a:cs typeface="+mn-cs"/>
                            </a:rPr>
                            <m:t>1</m:t>
                          </m:r>
                        </m:sub>
                      </m:sSub>
                      <m:r>
                        <a:rPr lang="es-MX" sz="1200" i="1" kern="1200">
                          <a:solidFill>
                            <a:schemeClr val="tx1"/>
                          </a:solidFill>
                          <a:effectLst/>
                          <a:latin typeface="+mn-lt"/>
                          <a:ea typeface="+mn-ea"/>
                          <a:cs typeface="+mn-cs"/>
                        </a:rPr>
                        <m:t>,</m:t>
                      </m:r>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𝑐</m:t>
                          </m:r>
                        </m:e>
                        <m:sub>
                          <m:r>
                            <a:rPr lang="es-MX" sz="1200" i="1" kern="1200">
                              <a:solidFill>
                                <a:schemeClr val="tx1"/>
                              </a:solidFill>
                              <a:effectLst/>
                              <a:latin typeface="+mn-lt"/>
                              <a:ea typeface="+mn-ea"/>
                              <a:cs typeface="+mn-cs"/>
                            </a:rPr>
                            <m:t>2</m:t>
                          </m:r>
                        </m:sub>
                      </m:sSub>
                      <m:r>
                        <a:rPr lang="es-MX" sz="1200" i="1" kern="1200">
                          <a:solidFill>
                            <a:schemeClr val="tx1"/>
                          </a:solidFill>
                          <a:effectLst/>
                          <a:latin typeface="+mn-lt"/>
                          <a:ea typeface="+mn-ea"/>
                          <a:cs typeface="+mn-cs"/>
                        </a:rPr>
                        <m:t>,</m:t>
                      </m:r>
                      <m:r>
                        <a:rPr lang="es-MX" sz="1200" kern="1200">
                          <a:solidFill>
                            <a:schemeClr val="tx1"/>
                          </a:solidFill>
                          <a:effectLst/>
                          <a:latin typeface="+mn-lt"/>
                          <a:ea typeface="+mn-ea"/>
                          <a:cs typeface="+mn-cs"/>
                        </a:rPr>
                        <m:t>...</m:t>
                      </m:r>
                      <m:r>
                        <a:rPr lang="es-MX" sz="1200" i="1" kern="1200">
                          <a:solidFill>
                            <a:schemeClr val="tx1"/>
                          </a:solidFill>
                          <a:effectLst/>
                          <a:latin typeface="+mn-lt"/>
                          <a:ea typeface="+mn-ea"/>
                          <a:cs typeface="+mn-cs"/>
                        </a:rPr>
                        <m:t>,</m:t>
                      </m:r>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𝑐</m:t>
                          </m:r>
                        </m:e>
                        <m:sub>
                          <m:r>
                            <a:rPr lang="es-MX" sz="1200" i="1" kern="1200">
                              <a:solidFill>
                                <a:schemeClr val="tx1"/>
                              </a:solidFill>
                              <a:effectLst/>
                              <a:latin typeface="+mn-lt"/>
                              <a:ea typeface="+mn-ea"/>
                              <a:cs typeface="+mn-cs"/>
                            </a:rPr>
                            <m:t>𝑚</m:t>
                          </m:r>
                        </m:sub>
                      </m:sSub>
                      <m:r>
                        <a:rPr lang="es-MX" sz="1200" i="1" kern="1200">
                          <a:solidFill>
                            <a:schemeClr val="tx1"/>
                          </a:solidFill>
                          <a:effectLst/>
                          <a:latin typeface="+mn-lt"/>
                          <a:ea typeface="+mn-ea"/>
                          <a:cs typeface="+mn-cs"/>
                        </a:rPr>
                        <m:t>}</m:t>
                      </m:r>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と表します。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Steiner </a:t>
                </a:r>
                <a:r>
                  <a:rPr lang="es-MX" sz="1200" kern="1200" dirty="0" err="1">
                    <a:solidFill>
                      <a:schemeClr val="tx1"/>
                    </a:solidFill>
                    <a:effectLst/>
                    <a:latin typeface="+mn-lt"/>
                    <a:ea typeface="+mn-ea"/>
                    <a:cs typeface="+mn-cs"/>
                  </a:rPr>
                  <a:t>Tree</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の目的は、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この集合 </a:t>
                </a:r>
                <a:r>
                  <a:rPr lang="es-MX" sz="1200" b="1" kern="1200" dirty="0">
                    <a:solidFill>
                      <a:schemeClr val="tx1"/>
                    </a:solidFill>
                    <a:effectLst/>
                    <a:latin typeface="+mn-lt"/>
                    <a:ea typeface="+mn-ea"/>
                    <a:cs typeface="+mn-cs"/>
                  </a:rPr>
                  <a:t>C </a:t>
                </a:r>
                <a:r>
                  <a:rPr lang="ja-JP" altLang="es-MX" sz="1200" b="1" kern="1200" dirty="0">
                    <a:solidFill>
                      <a:schemeClr val="tx1"/>
                    </a:solidFill>
                    <a:effectLst/>
                    <a:latin typeface="+mn-lt"/>
                    <a:ea typeface="+mn-ea"/>
                    <a:cs typeface="+mn-cs"/>
                  </a:rPr>
                  <a:t>に含まれるすべてのイベントを接続するサブグラフ</a:t>
                </a:r>
                <a:r>
                  <a:rPr lang="ja-JP" altLang="es-MX" sz="1200" kern="1200" dirty="0">
                    <a:solidFill>
                      <a:schemeClr val="tx1"/>
                    </a:solidFill>
                    <a:effectLst/>
                    <a:latin typeface="+mn-lt"/>
                    <a:ea typeface="+mn-ea"/>
                    <a:cs typeface="+mn-cs"/>
                  </a:rPr>
                  <a:t>を構築することです。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このとき、アンカーイベント同士を接続するために、</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中間ノード</a:t>
                </a:r>
                <a:r>
                  <a:rPr lang="ja-JP" altLang="es-MX" sz="1200" kern="1200" dirty="0">
                    <a:solidFill>
                      <a:schemeClr val="tx1"/>
                    </a:solidFill>
                    <a:effectLst/>
                    <a:latin typeface="+mn-lt"/>
                    <a:ea typeface="+mn-ea"/>
                    <a:cs typeface="+mn-cs"/>
                  </a:rPr>
                  <a:t>が追加されることがあります。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これらのノードは </a:t>
                </a:r>
                <a:r>
                  <a:rPr lang="es-MX" sz="1200" b="1" kern="1200" dirty="0">
                    <a:solidFill>
                      <a:schemeClr val="tx1"/>
                    </a:solidFill>
                    <a:effectLst/>
                    <a:latin typeface="+mn-lt"/>
                    <a:ea typeface="+mn-ea"/>
                    <a:cs typeface="+mn-cs"/>
                  </a:rPr>
                  <a:t>Steiner </a:t>
                </a:r>
                <a:r>
                  <a:rPr lang="ja-JP" altLang="es-MX" sz="1200" b="1" kern="1200" dirty="0">
                    <a:solidFill>
                      <a:schemeClr val="tx1"/>
                    </a:solidFill>
                    <a:effectLst/>
                    <a:latin typeface="+mn-lt"/>
                    <a:ea typeface="+mn-ea"/>
                    <a:cs typeface="+mn-cs"/>
                  </a:rPr>
                  <a:t>ノード</a:t>
                </a:r>
                <a:r>
                  <a:rPr lang="ja-JP" altLang="es-MX" sz="1200" kern="1200" dirty="0">
                    <a:solidFill>
                      <a:schemeClr val="tx1"/>
                    </a:solidFill>
                    <a:effectLst/>
                    <a:latin typeface="+mn-lt"/>
                    <a:ea typeface="+mn-ea"/>
                    <a:cs typeface="+mn-cs"/>
                  </a:rPr>
                  <a:t>と呼ばれます。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Steiner </a:t>
                </a:r>
                <a:r>
                  <a:rPr lang="ja-JP" altLang="es-MX" sz="1200" kern="1200" dirty="0">
                    <a:solidFill>
                      <a:schemeClr val="tx1"/>
                    </a:solidFill>
                    <a:effectLst/>
                    <a:latin typeface="+mn-lt"/>
                    <a:ea typeface="+mn-ea"/>
                    <a:cs typeface="+mn-cs"/>
                  </a:rPr>
                  <a:t>ノードはテキストには現</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あらわ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れていませんが、</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に存在するイベントであり、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イベント間の関係をつなぐ役割を果</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たします。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例えば、テキストに次のイベントが含まれているとします。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buy movie ticket</a:t>
                </a:r>
                <a:r>
                  <a:rPr lang="ja-JP" altLang="es-MX"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feel entertained</a:t>
                </a:r>
                <a:r>
                  <a:rPr lang="ja-JP" altLang="es-MX" sz="120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この二つのイベントは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直接つながっていない場合があります。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しかし、</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には</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watch</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movie</a:t>
                </a:r>
                <a:r>
                  <a:rPr lang="ja-JP" altLang="es-MX" sz="120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というイベントが存在するかもしれません。</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その場合、次のような関係が形成</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けいせい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endParaRPr lang="es-MX"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buy movie ticket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watch movie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feel entertained</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 </a:t>
                </a:r>
                <a:r>
                  <a:rPr lang="es-MX" sz="1200" b="1" kern="1200" dirty="0" err="1">
                    <a:solidFill>
                      <a:schemeClr val="tx1"/>
                    </a:solidFill>
                    <a:effectLst/>
                    <a:latin typeface="+mn-lt"/>
                    <a:ea typeface="+mn-ea"/>
                    <a:cs typeface="+mn-cs"/>
                  </a:rPr>
                  <a:t>watch</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movie</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が </a:t>
                </a:r>
                <a:r>
                  <a:rPr lang="es-MX" sz="1200" b="1" kern="1200" dirty="0">
                    <a:solidFill>
                      <a:schemeClr val="tx1"/>
                    </a:solidFill>
                    <a:effectLst/>
                    <a:latin typeface="+mn-lt"/>
                    <a:ea typeface="+mn-ea"/>
                    <a:cs typeface="+mn-cs"/>
                  </a:rPr>
                  <a:t>Steiner </a:t>
                </a:r>
                <a:r>
                  <a:rPr lang="ja-JP" altLang="es-MX" sz="1200" b="1" kern="1200" dirty="0">
                    <a:solidFill>
                      <a:schemeClr val="tx1"/>
                    </a:solidFill>
                    <a:effectLst/>
                    <a:latin typeface="+mn-lt"/>
                    <a:ea typeface="+mn-ea"/>
                    <a:cs typeface="+mn-cs"/>
                  </a:rPr>
                  <a:t>ノード</a:t>
                </a:r>
                <a:r>
                  <a:rPr lang="ja-JP" altLang="es-MX" sz="1200" kern="1200" dirty="0">
                    <a:solidFill>
                      <a:schemeClr val="tx1"/>
                    </a:solidFill>
                    <a:effectLst/>
                    <a:latin typeface="+mn-lt"/>
                    <a:ea typeface="+mn-ea"/>
                    <a:cs typeface="+mn-cs"/>
                  </a:rPr>
                  <a:t>になります。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また、グラフが大きくなりすぎるのを防ぐために、</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探索</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たんさく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 </a:t>
                </a:r>
                <a:r>
                  <a:rPr lang="ja-JP" altLang="es-MX" sz="1200" b="1" kern="1200" dirty="0">
                    <a:solidFill>
                      <a:schemeClr val="tx1"/>
                    </a:solidFill>
                    <a:effectLst/>
                    <a:latin typeface="+mn-lt"/>
                    <a:ea typeface="+mn-ea"/>
                    <a:cs typeface="+mn-cs"/>
                  </a:rPr>
                  <a:t>最大</a:t>
                </a:r>
                <a:r>
                  <a:rPr lang="es-MX" sz="1200" b="1" kern="1200" dirty="0">
                    <a:solidFill>
                      <a:schemeClr val="tx1"/>
                    </a:solidFill>
                    <a:effectLst/>
                    <a:latin typeface="+mn-lt"/>
                    <a:ea typeface="+mn-ea"/>
                    <a:cs typeface="+mn-cs"/>
                  </a:rPr>
                  <a:t>3</a:t>
                </a:r>
                <a:r>
                  <a:rPr lang="ja-JP" altLang="es-MX" sz="1200" b="1" kern="1200" dirty="0">
                    <a:solidFill>
                      <a:schemeClr val="tx1"/>
                    </a:solidFill>
                    <a:effectLst/>
                    <a:latin typeface="+mn-lt"/>
                    <a:ea typeface="+mn-ea"/>
                    <a:cs typeface="+mn-cs"/>
                  </a:rPr>
                  <a:t>ホップ以内</a:t>
                </a:r>
                <a:r>
                  <a:rPr lang="ja-JP" altLang="es-MX" sz="1200" kern="1200" dirty="0">
                    <a:solidFill>
                      <a:schemeClr val="tx1"/>
                    </a:solidFill>
                    <a:effectLst/>
                    <a:latin typeface="+mn-lt"/>
                    <a:ea typeface="+mn-ea"/>
                    <a:cs typeface="+mn-cs"/>
                  </a:rPr>
                  <a:t>に制限されています。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このようにして構築されたサブグラフは </a:t>
                </a:r>
                <a:r>
                  <a:rPr lang="es-MX" sz="1200" b="1" kern="1200" dirty="0" err="1">
                    <a:solidFill>
                      <a:schemeClr val="tx1"/>
                    </a:solidFill>
                    <a:effectLst/>
                    <a:latin typeface="+mn-lt"/>
                    <a:ea typeface="+mn-ea"/>
                    <a:cs typeface="+mn-cs"/>
                  </a:rPr>
                  <a:t>G_joint</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と呼ばれ、</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mc:Choice>
        <mc:Fallback>
          <p:sp>
            <p:nvSpPr>
              <p:cNvPr id="3" name="Notes Placeholder 2">
                <a:extLst>
                  <a:ext uri="{FF2B5EF4-FFF2-40B4-BE49-F238E27FC236}">
                    <a16:creationId xmlns:a16="http://schemas.microsoft.com/office/drawing/2014/main" id="{F9EA1D34-0AB7-A04D-B147-7D570DFA2D4F}"/>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テキストイベントを</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のノードに対応付けた後、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次のステップは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Subgraph</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Construction</a:t>
                </a:r>
                <a:r>
                  <a:rPr lang="ja-JP" altLang="es-MX" sz="1200" kern="1200" dirty="0">
                    <a:solidFill>
                      <a:schemeClr val="tx1"/>
                    </a:solidFill>
                    <a:effectLst/>
                    <a:latin typeface="+mn-lt"/>
                    <a:ea typeface="+mn-ea"/>
                    <a:cs typeface="+mn-cs"/>
                  </a:rPr>
                  <a:t>（サブグラフ構築）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この時点で、テキストから抽出されたイベントに対応する</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アンカーイベント（</a:t>
                </a:r>
                <a:r>
                  <a:rPr lang="es-MX" sz="1200" kern="1200" dirty="0">
                    <a:solidFill>
                      <a:schemeClr val="tx1"/>
                    </a:solidFill>
                    <a:effectLst/>
                    <a:latin typeface="+mn-lt"/>
                    <a:ea typeface="+mn-ea"/>
                    <a:cs typeface="+mn-cs"/>
                  </a:rPr>
                  <a:t>anchor </a:t>
                </a:r>
                <a:r>
                  <a:rPr lang="es-MX" sz="1200" kern="1200" dirty="0" err="1">
                    <a:solidFill>
                      <a:schemeClr val="tx1"/>
                    </a:solidFill>
                    <a:effectLst/>
                    <a:latin typeface="+mn-lt"/>
                    <a:ea typeface="+mn-ea"/>
                    <a:cs typeface="+mn-cs"/>
                  </a:rPr>
                  <a:t>events</a:t>
                </a:r>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がすでに得られています。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しかし、これらのアンカーイベントは</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の中で </a:t>
                </a:r>
                <a:r>
                  <a:rPr lang="ja-JP" altLang="es-MX" sz="1200" b="1" kern="1200" dirty="0">
                    <a:solidFill>
                      <a:schemeClr val="tx1"/>
                    </a:solidFill>
                    <a:effectLst/>
                    <a:latin typeface="+mn-lt"/>
                    <a:ea typeface="+mn-ea"/>
                    <a:cs typeface="+mn-cs"/>
                  </a:rPr>
                  <a:t>直接つながっていない場合が多い</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そのため、推論を行うためには、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これらのイベントを結び付けた </a:t>
                </a:r>
                <a:r>
                  <a:rPr lang="ja-JP" altLang="es-MX" sz="1200" b="1" kern="1200" dirty="0">
                    <a:solidFill>
                      <a:schemeClr val="tx1"/>
                    </a:solidFill>
                    <a:effectLst/>
                    <a:latin typeface="+mn-lt"/>
                    <a:ea typeface="+mn-ea"/>
                    <a:cs typeface="+mn-cs"/>
                  </a:rPr>
                  <a:t>推論用のグラフ</a:t>
                </a:r>
                <a:r>
                  <a:rPr lang="ja-JP" altLang="es-MX" sz="1200" kern="1200" dirty="0">
                    <a:solidFill>
                      <a:schemeClr val="tx1"/>
                    </a:solidFill>
                    <a:effectLst/>
                    <a:latin typeface="+mn-lt"/>
                    <a:ea typeface="+mn-ea"/>
                    <a:cs typeface="+mn-cs"/>
                  </a:rPr>
                  <a:t>を構築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こうちく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する必要があります。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この研究では、そのために </a:t>
                </a:r>
                <a:r>
                  <a:rPr lang="es-MX" sz="1200" b="1" kern="1200" dirty="0">
                    <a:solidFill>
                      <a:schemeClr val="tx1"/>
                    </a:solidFill>
                    <a:effectLst/>
                    <a:latin typeface="+mn-lt"/>
                    <a:ea typeface="+mn-ea"/>
                    <a:cs typeface="+mn-cs"/>
                  </a:rPr>
                  <a:t>Steiner </a:t>
                </a:r>
                <a:r>
                  <a:rPr lang="es-MX" sz="1200" b="1" kern="1200" dirty="0" err="1">
                    <a:solidFill>
                      <a:schemeClr val="tx1"/>
                    </a:solidFill>
                    <a:effectLst/>
                    <a:latin typeface="+mn-lt"/>
                    <a:ea typeface="+mn-ea"/>
                    <a:cs typeface="+mn-cs"/>
                  </a:rPr>
                  <a:t>Tree</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という方法を用いています。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Steiner </a:t>
                </a:r>
                <a:r>
                  <a:rPr lang="es-MX" sz="1200" kern="1200" dirty="0" err="1">
                    <a:solidFill>
                      <a:schemeClr val="tx1"/>
                    </a:solidFill>
                    <a:effectLst/>
                    <a:latin typeface="+mn-lt"/>
                    <a:ea typeface="+mn-ea"/>
                    <a:cs typeface="+mn-cs"/>
                  </a:rPr>
                  <a:t>Tree</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指定されたノードを最小の追加ノードで接続するグラフ</a:t>
                </a:r>
                <a:r>
                  <a:rPr lang="ja-JP" altLang="es-MX" sz="1200" kern="1200" dirty="0">
                    <a:solidFill>
                      <a:schemeClr val="tx1"/>
                    </a:solidFill>
                    <a:effectLst/>
                    <a:latin typeface="+mn-lt"/>
                    <a:ea typeface="+mn-ea"/>
                    <a:cs typeface="+mn-cs"/>
                  </a:rPr>
                  <a:t>を見つけるアルゴリズムです。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a:t>
                </a:r>
                <a:r>
                  <a:rPr lang="es-MX" sz="1200" kern="1200" dirty="0">
                    <a:solidFill>
                      <a:schemeClr val="tx1"/>
                    </a:solidFill>
                    <a:effectLst/>
                    <a:latin typeface="+mn-lt"/>
                    <a:ea typeface="+mn-ea"/>
                    <a:cs typeface="+mn-cs"/>
                  </a:rPr>
                  <a:t>anchor </a:t>
                </a:r>
                <a:r>
                  <a:rPr lang="es-MX" sz="1200" kern="1200" dirty="0" err="1">
                    <a:solidFill>
                      <a:schemeClr val="tx1"/>
                    </a:solidFill>
                    <a:effectLst/>
                    <a:latin typeface="+mn-lt"/>
                    <a:ea typeface="+mn-ea"/>
                    <a:cs typeface="+mn-cs"/>
                  </a:rPr>
                  <a:t>event</a:t>
                </a:r>
                <a:r>
                  <a:rPr lang="ja-JP" altLang="es-MX" sz="1200" kern="1200" dirty="0">
                    <a:solidFill>
                      <a:schemeClr val="tx1"/>
                    </a:solidFill>
                    <a:effectLst/>
                    <a:latin typeface="+mn-lt"/>
                    <a:ea typeface="+mn-ea"/>
                    <a:cs typeface="+mn-cs"/>
                  </a:rPr>
                  <a:t>の集合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しゅうごう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𝐶={𝑐_1,𝑐_2,...,𝑐_𝑚}</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と表します。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Steiner </a:t>
                </a:r>
                <a:r>
                  <a:rPr lang="es-MX" sz="1200" kern="1200" dirty="0" err="1">
                    <a:solidFill>
                      <a:schemeClr val="tx1"/>
                    </a:solidFill>
                    <a:effectLst/>
                    <a:latin typeface="+mn-lt"/>
                    <a:ea typeface="+mn-ea"/>
                    <a:cs typeface="+mn-cs"/>
                  </a:rPr>
                  <a:t>Tree</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の目的は、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この集合 </a:t>
                </a:r>
                <a:r>
                  <a:rPr lang="es-MX" sz="1200" b="1" kern="1200" dirty="0">
                    <a:solidFill>
                      <a:schemeClr val="tx1"/>
                    </a:solidFill>
                    <a:effectLst/>
                    <a:latin typeface="+mn-lt"/>
                    <a:ea typeface="+mn-ea"/>
                    <a:cs typeface="+mn-cs"/>
                  </a:rPr>
                  <a:t>C </a:t>
                </a:r>
                <a:r>
                  <a:rPr lang="ja-JP" altLang="es-MX" sz="1200" b="1" kern="1200" dirty="0">
                    <a:solidFill>
                      <a:schemeClr val="tx1"/>
                    </a:solidFill>
                    <a:effectLst/>
                    <a:latin typeface="+mn-lt"/>
                    <a:ea typeface="+mn-ea"/>
                    <a:cs typeface="+mn-cs"/>
                  </a:rPr>
                  <a:t>に含まれるすべてのイベントを接続するサブグラフ</a:t>
                </a:r>
                <a:r>
                  <a:rPr lang="ja-JP" altLang="es-MX" sz="1200" kern="1200" dirty="0">
                    <a:solidFill>
                      <a:schemeClr val="tx1"/>
                    </a:solidFill>
                    <a:effectLst/>
                    <a:latin typeface="+mn-lt"/>
                    <a:ea typeface="+mn-ea"/>
                    <a:cs typeface="+mn-cs"/>
                  </a:rPr>
                  <a:t>を構築することです。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このとき、アンカーイベント同士を接続するために、</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中間ノード</a:t>
                </a:r>
                <a:r>
                  <a:rPr lang="ja-JP" altLang="es-MX" sz="1200" kern="1200" dirty="0">
                    <a:solidFill>
                      <a:schemeClr val="tx1"/>
                    </a:solidFill>
                    <a:effectLst/>
                    <a:latin typeface="+mn-lt"/>
                    <a:ea typeface="+mn-ea"/>
                    <a:cs typeface="+mn-cs"/>
                  </a:rPr>
                  <a:t>が追加されることがあります。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これらのノードは </a:t>
                </a:r>
                <a:r>
                  <a:rPr lang="es-MX" sz="1200" b="1" kern="1200" dirty="0">
                    <a:solidFill>
                      <a:schemeClr val="tx1"/>
                    </a:solidFill>
                    <a:effectLst/>
                    <a:latin typeface="+mn-lt"/>
                    <a:ea typeface="+mn-ea"/>
                    <a:cs typeface="+mn-cs"/>
                  </a:rPr>
                  <a:t>Steiner </a:t>
                </a:r>
                <a:r>
                  <a:rPr lang="ja-JP" altLang="es-MX" sz="1200" b="1" kern="1200" dirty="0">
                    <a:solidFill>
                      <a:schemeClr val="tx1"/>
                    </a:solidFill>
                    <a:effectLst/>
                    <a:latin typeface="+mn-lt"/>
                    <a:ea typeface="+mn-ea"/>
                    <a:cs typeface="+mn-cs"/>
                  </a:rPr>
                  <a:t>ノード</a:t>
                </a:r>
                <a:r>
                  <a:rPr lang="ja-JP" altLang="es-MX" sz="1200" kern="1200" dirty="0">
                    <a:solidFill>
                      <a:schemeClr val="tx1"/>
                    </a:solidFill>
                    <a:effectLst/>
                    <a:latin typeface="+mn-lt"/>
                    <a:ea typeface="+mn-ea"/>
                    <a:cs typeface="+mn-cs"/>
                  </a:rPr>
                  <a:t>と呼ばれます。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Steiner </a:t>
                </a:r>
                <a:r>
                  <a:rPr lang="ja-JP" altLang="es-MX" sz="1200" kern="1200" dirty="0">
                    <a:solidFill>
                      <a:schemeClr val="tx1"/>
                    </a:solidFill>
                    <a:effectLst/>
                    <a:latin typeface="+mn-lt"/>
                    <a:ea typeface="+mn-ea"/>
                    <a:cs typeface="+mn-cs"/>
                  </a:rPr>
                  <a:t>ノードはテキストには現</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あらわ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れていませんが、</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に存在するイベントであり、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イベント間の関係をつなぐ役割を果</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たします。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例えば、テキストに次のイベントが含まれているとします。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buy movie ticket</a:t>
                </a:r>
                <a:r>
                  <a:rPr lang="ja-JP" altLang="es-MX"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feel entertained</a:t>
                </a:r>
                <a:r>
                  <a:rPr lang="ja-JP" altLang="es-MX" sz="120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この二つのイベントは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直接つながっていない場合があります。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しかし、</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には</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watch</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movie</a:t>
                </a:r>
                <a:r>
                  <a:rPr lang="ja-JP" altLang="es-MX" sz="120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というイベントが存在するかもしれません。</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その場合、次のような関係が形成</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けいせい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endParaRPr lang="es-MX"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buy movie ticket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watch movie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feel entertained</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 </a:t>
                </a:r>
                <a:r>
                  <a:rPr lang="es-MX" sz="1200" b="1" kern="1200" dirty="0" err="1">
                    <a:solidFill>
                      <a:schemeClr val="tx1"/>
                    </a:solidFill>
                    <a:effectLst/>
                    <a:latin typeface="+mn-lt"/>
                    <a:ea typeface="+mn-ea"/>
                    <a:cs typeface="+mn-cs"/>
                  </a:rPr>
                  <a:t>watch</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movie</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が </a:t>
                </a:r>
                <a:r>
                  <a:rPr lang="es-MX" sz="1200" b="1" kern="1200" dirty="0">
                    <a:solidFill>
                      <a:schemeClr val="tx1"/>
                    </a:solidFill>
                    <a:effectLst/>
                    <a:latin typeface="+mn-lt"/>
                    <a:ea typeface="+mn-ea"/>
                    <a:cs typeface="+mn-cs"/>
                  </a:rPr>
                  <a:t>Steiner </a:t>
                </a:r>
                <a:r>
                  <a:rPr lang="ja-JP" altLang="es-MX" sz="1200" b="1" kern="1200" dirty="0">
                    <a:solidFill>
                      <a:schemeClr val="tx1"/>
                    </a:solidFill>
                    <a:effectLst/>
                    <a:latin typeface="+mn-lt"/>
                    <a:ea typeface="+mn-ea"/>
                    <a:cs typeface="+mn-cs"/>
                  </a:rPr>
                  <a:t>ノード</a:t>
                </a:r>
                <a:r>
                  <a:rPr lang="ja-JP" altLang="es-MX" sz="1200" kern="1200" dirty="0">
                    <a:solidFill>
                      <a:schemeClr val="tx1"/>
                    </a:solidFill>
                    <a:effectLst/>
                    <a:latin typeface="+mn-lt"/>
                    <a:ea typeface="+mn-ea"/>
                    <a:cs typeface="+mn-cs"/>
                  </a:rPr>
                  <a:t>になります。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また、グラフが大きくなりすぎるのを防ぐために、</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探索</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たんさく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 </a:t>
                </a:r>
                <a:r>
                  <a:rPr lang="ja-JP" altLang="es-MX" sz="1200" b="1" kern="1200" dirty="0">
                    <a:solidFill>
                      <a:schemeClr val="tx1"/>
                    </a:solidFill>
                    <a:effectLst/>
                    <a:latin typeface="+mn-lt"/>
                    <a:ea typeface="+mn-ea"/>
                    <a:cs typeface="+mn-cs"/>
                  </a:rPr>
                  <a:t>最大</a:t>
                </a:r>
                <a:r>
                  <a:rPr lang="es-MX" sz="1200" b="1" kern="1200" dirty="0">
                    <a:solidFill>
                      <a:schemeClr val="tx1"/>
                    </a:solidFill>
                    <a:effectLst/>
                    <a:latin typeface="+mn-lt"/>
                    <a:ea typeface="+mn-ea"/>
                    <a:cs typeface="+mn-cs"/>
                  </a:rPr>
                  <a:t>3</a:t>
                </a:r>
                <a:r>
                  <a:rPr lang="ja-JP" altLang="es-MX" sz="1200" b="1" kern="1200" dirty="0">
                    <a:solidFill>
                      <a:schemeClr val="tx1"/>
                    </a:solidFill>
                    <a:effectLst/>
                    <a:latin typeface="+mn-lt"/>
                    <a:ea typeface="+mn-ea"/>
                    <a:cs typeface="+mn-cs"/>
                  </a:rPr>
                  <a:t>ホップ以内</a:t>
                </a:r>
                <a:r>
                  <a:rPr lang="ja-JP" altLang="es-MX" sz="1200" kern="1200" dirty="0">
                    <a:solidFill>
                      <a:schemeClr val="tx1"/>
                    </a:solidFill>
                    <a:effectLst/>
                    <a:latin typeface="+mn-lt"/>
                    <a:ea typeface="+mn-ea"/>
                    <a:cs typeface="+mn-cs"/>
                  </a:rPr>
                  <a:t>に制限されています。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このようにして構築されたサブグラフは </a:t>
                </a:r>
                <a:r>
                  <a:rPr lang="es-MX" sz="1200" b="1" kern="1200" dirty="0" err="1">
                    <a:solidFill>
                      <a:schemeClr val="tx1"/>
                    </a:solidFill>
                    <a:effectLst/>
                    <a:latin typeface="+mn-lt"/>
                    <a:ea typeface="+mn-ea"/>
                    <a:cs typeface="+mn-cs"/>
                  </a:rPr>
                  <a:t>G_joint</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と呼ばれ、</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mc:Fallback>
      </mc:AlternateContent>
      <p:sp>
        <p:nvSpPr>
          <p:cNvPr id="4" name="Slide Number Placeholder 3">
            <a:extLst>
              <a:ext uri="{FF2B5EF4-FFF2-40B4-BE49-F238E27FC236}">
                <a16:creationId xmlns:a16="http://schemas.microsoft.com/office/drawing/2014/main" id="{FBCF6DA4-C4E1-71BB-605E-751139574F9E}"/>
              </a:ext>
            </a:extLst>
          </p:cNvPr>
          <p:cNvSpPr>
            <a:spLocks noGrp="1"/>
          </p:cNvSpPr>
          <p:nvPr>
            <p:ph type="sldNum" sz="quarter" idx="5"/>
          </p:nvPr>
        </p:nvSpPr>
        <p:spPr/>
        <p:txBody>
          <a:bodyPr/>
          <a:lstStyle/>
          <a:p>
            <a:fld id="{27F6FB8B-1938-4266-AC76-FE6EFE356B7C}" type="slidenum">
              <a:rPr lang="es-MX" smtClean="0"/>
              <a:t>11</a:t>
            </a:fld>
            <a:endParaRPr lang="es-MX"/>
          </a:p>
        </p:txBody>
      </p:sp>
    </p:spTree>
    <p:extLst>
      <p:ext uri="{BB962C8B-B14F-4D97-AF65-F5344CB8AC3E}">
        <p14:creationId xmlns:p14="http://schemas.microsoft.com/office/powerpoint/2010/main" val="17686696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DAC63-EC86-9CD1-A772-AE30F3682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F187F-C152-2B11-625C-899BB0D2D5AC}"/>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46A7C115-0552-C0CE-C422-42B2DC9C155B}"/>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次に、</a:t>
                </a:r>
                <a:r>
                  <a:rPr lang="es-MX" sz="1200" b="1" kern="1200" dirty="0">
                    <a:solidFill>
                      <a:schemeClr val="tx1"/>
                    </a:solidFill>
                    <a:effectLst/>
                    <a:latin typeface="+mn-lt"/>
                    <a:ea typeface="+mn-ea"/>
                    <a:cs typeface="+mn-cs"/>
                  </a:rPr>
                  <a:t>Step 6 </a:t>
                </a:r>
                <a:r>
                  <a:rPr lang="ja-JP" altLang="es-MX" sz="1200" b="1" kern="1200" dirty="0">
                    <a:solidFill>
                      <a:schemeClr val="tx1"/>
                    </a:solidFill>
                    <a:effectLst/>
                    <a:latin typeface="+mn-lt"/>
                    <a:ea typeface="+mn-ea"/>
                    <a:cs typeface="+mn-cs"/>
                  </a:rPr>
                  <a:t>の</a:t>
                </a:r>
                <a:r>
                  <a:rPr lang="es-MX" sz="1200" b="1" kern="1200" dirty="0">
                    <a:solidFill>
                      <a:schemeClr val="tx1"/>
                    </a:solidFill>
                    <a:effectLst/>
                    <a:latin typeface="+mn-lt"/>
                    <a:ea typeface="+mn-ea"/>
                    <a:cs typeface="+mn-cs"/>
                  </a:rPr>
                  <a:t> RGCN-</a:t>
                </a:r>
                <a:r>
                  <a:rPr lang="es-MX" sz="1200" b="1" kern="1200" dirty="0" err="1">
                    <a:solidFill>
                      <a:schemeClr val="tx1"/>
                    </a:solidFill>
                    <a:effectLst/>
                    <a:latin typeface="+mn-lt"/>
                    <a:ea typeface="+mn-ea"/>
                    <a:cs typeface="+mn-cs"/>
                  </a:rPr>
                  <a:t>Based</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Reasoning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について説明します。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前のステップでは、アンカーイベントと</a:t>
                </a:r>
                <a:r>
                  <a:rPr lang="es-MX" sz="1200" kern="1200" dirty="0">
                    <a:solidFill>
                      <a:schemeClr val="tx1"/>
                    </a:solidFill>
                    <a:effectLst/>
                    <a:latin typeface="+mn-lt"/>
                    <a:ea typeface="+mn-ea"/>
                    <a:cs typeface="+mn-cs"/>
                  </a:rPr>
                  <a:t> Steiner </a:t>
                </a:r>
                <a:r>
                  <a:rPr lang="ja-JP" altLang="es-MX" sz="1200" kern="1200" dirty="0">
                    <a:solidFill>
                      <a:schemeClr val="tx1"/>
                    </a:solidFill>
                    <a:effectLst/>
                    <a:latin typeface="+mn-lt"/>
                    <a:ea typeface="+mn-ea"/>
                    <a:cs typeface="+mn-cs"/>
                  </a:rPr>
                  <a:t>ノードを結</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むす</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び付けた</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推論用のサブグラフ</a:t>
                </a:r>
                <a:r>
                  <a:rPr lang="ja-JP" altLang="es-MX" sz="1200" kern="1200" dirty="0">
                    <a:solidFill>
                      <a:schemeClr val="tx1"/>
                    </a:solidFill>
                    <a:effectLst/>
                    <a:latin typeface="+mn-lt"/>
                    <a:ea typeface="+mn-ea"/>
                    <a:cs typeface="+mn-cs"/>
                  </a:rPr>
                  <a:t>を構築しました。</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この段階では、テキストのイベントと</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の知識が</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つのグラフ </a:t>
                </a:r>
                <a14:m>
                  <m:oMath xmlns:m="http://schemas.openxmlformats.org/officeDocument/2006/math">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𝐺</m:t>
                        </m:r>
                      </m:e>
                      <m:sub>
                        <m:r>
                          <a:rPr lang="es-MX" sz="1200" i="1" kern="1200">
                            <a:solidFill>
                              <a:schemeClr val="tx1"/>
                            </a:solidFill>
                            <a:effectLst/>
                            <a:latin typeface="+mn-lt"/>
                            <a:ea typeface="+mn-ea"/>
                            <a:cs typeface="+mn-cs"/>
                          </a:rPr>
                          <m:t>𝑗𝑜𝑖𝑛𝑡</m:t>
                        </m:r>
                      </m:sub>
                    </m:sSub>
                  </m:oMath>
                </a14:m>
                <a:r>
                  <a:rPr lang="ja-JP" altLang="es-MX" sz="1200" kern="1200" dirty="0">
                    <a:solidFill>
                      <a:schemeClr val="tx1"/>
                    </a:solidFill>
                    <a:effectLst/>
                    <a:latin typeface="+mn-lt"/>
                    <a:ea typeface="+mn-ea"/>
                    <a:cs typeface="+mn-cs"/>
                  </a:rPr>
                  <a:t>として表現されています。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このステップの目的は、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このグラフ上で </a:t>
                </a:r>
                <a:r>
                  <a:rPr lang="ja-JP" altLang="es-MX" sz="1200" b="1" kern="1200" dirty="0">
                    <a:solidFill>
                      <a:schemeClr val="tx1"/>
                    </a:solidFill>
                    <a:effectLst/>
                    <a:latin typeface="+mn-lt"/>
                    <a:ea typeface="+mn-ea"/>
                    <a:cs typeface="+mn-cs"/>
                  </a:rPr>
                  <a:t>実際に推論を行うこと</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 </a:t>
                </a:r>
                <a:r>
                  <a:rPr lang="es-MX" sz="1200" b="1" kern="1200" dirty="0" err="1">
                    <a:solidFill>
                      <a:schemeClr val="tx1"/>
                    </a:solidFill>
                    <a:effectLst/>
                    <a:latin typeface="+mn-lt"/>
                    <a:ea typeface="+mn-ea"/>
                    <a:cs typeface="+mn-cs"/>
                  </a:rPr>
                  <a:t>Phase</a:t>
                </a:r>
                <a:r>
                  <a:rPr lang="es-MX" sz="1200" b="1" kern="1200" dirty="0">
                    <a:solidFill>
                      <a:schemeClr val="tx1"/>
                    </a:solidFill>
                    <a:effectLst/>
                    <a:latin typeface="+mn-lt"/>
                    <a:ea typeface="+mn-ea"/>
                    <a:cs typeface="+mn-cs"/>
                  </a:rPr>
                  <a:t> 1</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グラフのノードと入力テキストを </a:t>
                </a:r>
                <a:r>
                  <a:rPr lang="ja-JP" altLang="es-MX" sz="1200" b="1" kern="1200" dirty="0">
                    <a:solidFill>
                      <a:schemeClr val="tx1"/>
                    </a:solidFill>
                    <a:effectLst/>
                    <a:latin typeface="+mn-lt"/>
                    <a:ea typeface="+mn-ea"/>
                    <a:cs typeface="+mn-cs"/>
                  </a:rPr>
                  <a:t>言語モデル</a:t>
                </a:r>
                <a:r>
                  <a:rPr lang="ja-JP" altLang="es-MX" sz="1200" kern="1200" dirty="0">
                    <a:solidFill>
                      <a:schemeClr val="tx1"/>
                    </a:solidFill>
                    <a:effectLst/>
                    <a:latin typeface="+mn-lt"/>
                    <a:ea typeface="+mn-ea"/>
                    <a:cs typeface="+mn-cs"/>
                  </a:rPr>
                  <a:t>でベクトル表現に変換します。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そのときに用いる式がこちらです。</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r>
                        <a:rPr lang="es-MX" sz="1200" i="1" kern="1200">
                          <a:solidFill>
                            <a:schemeClr val="tx1"/>
                          </a:solidFill>
                          <a:effectLst/>
                          <a:latin typeface="+mn-lt"/>
                          <a:ea typeface="+mn-ea"/>
                          <a:cs typeface="+mn-cs"/>
                        </a:rPr>
                        <m:t>𝑣</m:t>
                      </m:r>
                      <m:r>
                        <a:rPr lang="es-MX" sz="1200" i="1" kern="1200">
                          <a:solidFill>
                            <a:schemeClr val="tx1"/>
                          </a:solidFill>
                          <a:effectLst/>
                          <a:latin typeface="+mn-lt"/>
                          <a:ea typeface="+mn-ea"/>
                          <a:cs typeface="+mn-cs"/>
                        </a:rPr>
                        <m:t>=</m:t>
                      </m:r>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𝑓</m:t>
                          </m:r>
                        </m:e>
                        <m:sub>
                          <m:r>
                            <a:rPr lang="es-MX" sz="1200" i="1" kern="1200">
                              <a:solidFill>
                                <a:schemeClr val="tx1"/>
                              </a:solidFill>
                              <a:effectLst/>
                              <a:latin typeface="+mn-lt"/>
                              <a:ea typeface="+mn-ea"/>
                              <a:cs typeface="+mn-cs"/>
                            </a:rPr>
                            <m:t>𝐿𝑀</m:t>
                          </m:r>
                        </m:sub>
                      </m:sSub>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𝑡𝑒𝑥𝑡</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𝑣</m:t>
                      </m:r>
                      <m:r>
                        <a:rPr lang="es-MX" sz="1200" i="1" kern="1200">
                          <a:solidFill>
                            <a:schemeClr val="tx1"/>
                          </a:solidFill>
                          <a:effectLst/>
                          <a:latin typeface="+mn-lt"/>
                          <a:ea typeface="+mn-ea"/>
                          <a:cs typeface="+mn-cs"/>
                        </a:rPr>
                        <m:t>))</m:t>
                      </m:r>
                    </m:oMath>
                    <m:oMath xmlns:m="http://schemas.openxmlformats.org/officeDocument/2006/math">
                      <m:r>
                        <a:rPr lang="es-MX" sz="1200" i="1" kern="1200">
                          <a:solidFill>
                            <a:schemeClr val="tx1"/>
                          </a:solidFill>
                          <a:effectLst/>
                          <a:latin typeface="+mn-lt"/>
                          <a:ea typeface="+mn-ea"/>
                          <a:cs typeface="+mn-cs"/>
                        </a:rPr>
                        <m:t>𝑠</m:t>
                      </m:r>
                      <m:r>
                        <a:rPr lang="es-MX" sz="1200" i="1" kern="1200">
                          <a:solidFill>
                            <a:schemeClr val="tx1"/>
                          </a:solidFill>
                          <a:effectLst/>
                          <a:latin typeface="+mn-lt"/>
                          <a:ea typeface="+mn-ea"/>
                          <a:cs typeface="+mn-cs"/>
                        </a:rPr>
                        <m:t>=</m:t>
                      </m:r>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𝑓</m:t>
                          </m:r>
                        </m:e>
                        <m:sub>
                          <m:r>
                            <a:rPr lang="es-MX" sz="1200" i="1" kern="1200">
                              <a:solidFill>
                                <a:schemeClr val="tx1"/>
                              </a:solidFill>
                              <a:effectLst/>
                              <a:latin typeface="+mn-lt"/>
                              <a:ea typeface="+mn-ea"/>
                              <a:cs typeface="+mn-cs"/>
                            </a:rPr>
                            <m:t>𝐿𝑀</m:t>
                          </m:r>
                        </m:sub>
                      </m:sSub>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𝑠</m:t>
                      </m:r>
                      <m:r>
                        <a:rPr lang="es-MX" sz="1200" i="1" kern="1200">
                          <a:solidFill>
                            <a:schemeClr val="tx1"/>
                          </a:solidFill>
                          <a:effectLst/>
                          <a:latin typeface="+mn-lt"/>
                          <a:ea typeface="+mn-ea"/>
                          <a:cs typeface="+mn-cs"/>
                        </a:rPr>
                        <m:t>)</m:t>
                      </m:r>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 </a:t>
                </a:r>
                <a14:m>
                  <m:oMath xmlns:m="http://schemas.openxmlformats.org/officeDocument/2006/math">
                    <m:r>
                      <a:rPr lang="es-MX" sz="1200" i="1" kern="1200">
                        <a:solidFill>
                          <a:schemeClr val="tx1"/>
                        </a:solidFill>
                        <a:effectLst/>
                        <a:latin typeface="+mn-lt"/>
                        <a:ea typeface="+mn-ea"/>
                        <a:cs typeface="+mn-cs"/>
                      </a:rPr>
                      <m:t>𝑣</m:t>
                    </m:r>
                  </m:oMath>
                </a14:m>
                <a:r>
                  <a:rPr lang="ja-JP" altLang="es-MX" sz="1200" kern="1200" dirty="0">
                    <a:solidFill>
                      <a:schemeClr val="tx1"/>
                    </a:solidFill>
                    <a:effectLst/>
                    <a:latin typeface="+mn-lt"/>
                    <a:ea typeface="+mn-ea"/>
                    <a:cs typeface="+mn-cs"/>
                  </a:rPr>
                  <a:t>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のノード、</a:t>
                </a:r>
                <a:br>
                  <a:rPr lang="es-MX" sz="1200" kern="1200" dirty="0">
                    <a:solidFill>
                      <a:schemeClr val="tx1"/>
                    </a:solidFill>
                    <a:effectLst/>
                    <a:latin typeface="+mn-lt"/>
                    <a:ea typeface="+mn-ea"/>
                    <a:cs typeface="+mn-cs"/>
                  </a:rPr>
                </a:br>
                <a14:m>
                  <m:oMath xmlns:m="http://schemas.openxmlformats.org/officeDocument/2006/math">
                    <m:r>
                      <a:rPr lang="es-MX" sz="1200" i="1" kern="1200">
                        <a:solidFill>
                          <a:schemeClr val="tx1"/>
                        </a:solidFill>
                        <a:effectLst/>
                        <a:latin typeface="+mn-lt"/>
                        <a:ea typeface="+mn-ea"/>
                        <a:cs typeface="+mn-cs"/>
                      </a:rPr>
                      <m:t>𝑠</m:t>
                    </m:r>
                  </m:oMath>
                </a14:m>
                <a:r>
                  <a:rPr lang="ja-JP" altLang="es-MX" sz="1200" kern="1200" dirty="0">
                    <a:solidFill>
                      <a:schemeClr val="tx1"/>
                    </a:solidFill>
                    <a:effectLst/>
                    <a:latin typeface="+mn-lt"/>
                    <a:ea typeface="+mn-ea"/>
                    <a:cs typeface="+mn-cs"/>
                  </a:rPr>
                  <a:t>は入力テキストを表します。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また、</a:t>
                </a:r>
                <a14:m>
                  <m:oMath xmlns:m="http://schemas.openxmlformats.org/officeDocument/2006/math">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𝑓</m:t>
                        </m:r>
                      </m:e>
                      <m:sub>
                        <m:r>
                          <a:rPr lang="es-MX" sz="1200" i="1" kern="1200">
                            <a:solidFill>
                              <a:schemeClr val="tx1"/>
                            </a:solidFill>
                            <a:effectLst/>
                            <a:latin typeface="+mn-lt"/>
                            <a:ea typeface="+mn-ea"/>
                            <a:cs typeface="+mn-cs"/>
                          </a:rPr>
                          <m:t>𝐿𝑀</m:t>
                        </m:r>
                      </m:sub>
                    </m:sSub>
                  </m:oMath>
                </a14:m>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RoBERTa</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などの言語モデルです。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つまり、この段階では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テキストとグラフのノードの両方を</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意味ベクトル（</a:t>
                </a:r>
                <a:r>
                  <a:rPr lang="es-MX" sz="1200" b="1" kern="1200" dirty="0" err="1">
                    <a:solidFill>
                      <a:schemeClr val="tx1"/>
                    </a:solidFill>
                    <a:effectLst/>
                    <a:latin typeface="+mn-lt"/>
                    <a:ea typeface="+mn-ea"/>
                    <a:cs typeface="+mn-cs"/>
                  </a:rPr>
                  <a:t>embedding</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に変換しています。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 </a:t>
                </a:r>
                <a:r>
                  <a:rPr lang="es-MX" sz="1200" b="1" kern="1200" dirty="0" err="1">
                    <a:solidFill>
                      <a:schemeClr val="tx1"/>
                    </a:solidFill>
                    <a:effectLst/>
                    <a:latin typeface="+mn-lt"/>
                    <a:ea typeface="+mn-ea"/>
                    <a:cs typeface="+mn-cs"/>
                  </a:rPr>
                  <a:t>Phase</a:t>
                </a:r>
                <a:r>
                  <a:rPr lang="es-MX" sz="1200" b="1" kern="1200" dirty="0">
                    <a:solidFill>
                      <a:schemeClr val="tx1"/>
                    </a:solidFill>
                    <a:effectLst/>
                    <a:latin typeface="+mn-lt"/>
                    <a:ea typeface="+mn-ea"/>
                    <a:cs typeface="+mn-cs"/>
                  </a:rPr>
                  <a:t> 2</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では、</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RGCN</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Relational</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Convolutional</a:t>
                </a:r>
                <a:r>
                  <a:rPr lang="es-MX" sz="1200" b="1" kern="1200" dirty="0">
                    <a:solidFill>
                      <a:schemeClr val="tx1"/>
                    </a:solidFill>
                    <a:effectLst/>
                    <a:latin typeface="+mn-lt"/>
                    <a:ea typeface="+mn-ea"/>
                    <a:cs typeface="+mn-cs"/>
                  </a:rPr>
                  <a:t> Network</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を使って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グラフ上で推論を行います。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 </a:t>
                </a:r>
                <a:r>
                  <a:rPr lang="ja-JP" altLang="es-MX" sz="1200" b="1" kern="1200" dirty="0">
                    <a:solidFill>
                      <a:schemeClr val="tx1"/>
                    </a:solidFill>
                    <a:effectLst/>
                    <a:latin typeface="+mn-lt"/>
                    <a:ea typeface="+mn-ea"/>
                    <a:cs typeface="+mn-cs"/>
                  </a:rPr>
                  <a:t>なぜ普通の</a:t>
                </a:r>
                <a:r>
                  <a:rPr lang="es-MX" sz="1200" b="1" kern="1200" dirty="0">
                    <a:solidFill>
                      <a:schemeClr val="tx1"/>
                    </a:solidFill>
                    <a:effectLst/>
                    <a:latin typeface="+mn-lt"/>
                    <a:ea typeface="+mn-ea"/>
                    <a:cs typeface="+mn-cs"/>
                  </a:rPr>
                  <a:t> GNN </a:t>
                </a:r>
                <a:r>
                  <a:rPr lang="ja-JP" altLang="es-MX" sz="1200" b="1" kern="1200" dirty="0">
                    <a:solidFill>
                      <a:schemeClr val="tx1"/>
                    </a:solidFill>
                    <a:effectLst/>
                    <a:latin typeface="+mn-lt"/>
                    <a:ea typeface="+mn-ea"/>
                    <a:cs typeface="+mn-cs"/>
                  </a:rPr>
                  <a:t>ではなく</a:t>
                </a:r>
                <a:r>
                  <a:rPr lang="es-MX" sz="1200" b="1" kern="1200" dirty="0">
                    <a:solidFill>
                      <a:schemeClr val="tx1"/>
                    </a:solidFill>
                    <a:effectLst/>
                    <a:latin typeface="+mn-lt"/>
                    <a:ea typeface="+mn-ea"/>
                    <a:cs typeface="+mn-cs"/>
                  </a:rPr>
                  <a:t> RGCN </a:t>
                </a:r>
                <a:r>
                  <a:rPr lang="ja-JP" altLang="es-MX" sz="1200" b="1" kern="1200" dirty="0">
                    <a:solidFill>
                      <a:schemeClr val="tx1"/>
                    </a:solidFill>
                    <a:effectLst/>
                    <a:latin typeface="+mn-lt"/>
                    <a:ea typeface="+mn-ea"/>
                    <a:cs typeface="+mn-cs"/>
                  </a:rPr>
                  <a:t>を使うのか</a:t>
                </a:r>
                <a:r>
                  <a:rPr lang="ja-JP" altLang="es-MX" sz="1200" kern="1200" dirty="0">
                    <a:solidFill>
                      <a:schemeClr val="tx1"/>
                    </a:solidFill>
                    <a:effectLst/>
                    <a:latin typeface="+mn-lt"/>
                    <a:ea typeface="+mn-ea"/>
                    <a:cs typeface="+mn-cs"/>
                  </a:rPr>
                  <a:t>という点が重要です。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通常の</a:t>
                </a:r>
                <a:r>
                  <a:rPr lang="es-MX" sz="1200" kern="1200" dirty="0">
                    <a:solidFill>
                      <a:schemeClr val="tx1"/>
                    </a:solidFill>
                    <a:effectLst/>
                    <a:latin typeface="+mn-lt"/>
                    <a:ea typeface="+mn-ea"/>
                    <a:cs typeface="+mn-cs"/>
                  </a:rPr>
                  <a:t> GNN </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グラフ内のすべての</a:t>
                </a:r>
                <a:r>
                  <a:rPr lang="en-US" sz="1200" kern="1200" dirty="0">
                    <a:solidFill>
                      <a:schemeClr val="tx1"/>
                    </a:solidFill>
                    <a:effectLst/>
                    <a:latin typeface="+mn-lt"/>
                    <a:ea typeface="+mn-ea"/>
                    <a:cs typeface="+mn-cs"/>
                  </a:rPr>
                  <a:t>edge</a:t>
                </a:r>
                <a:r>
                  <a:rPr lang="ja-JP" altLang="es-MX" sz="1200" kern="1200" dirty="0">
                    <a:solidFill>
                      <a:schemeClr val="tx1"/>
                    </a:solidFill>
                    <a:effectLst/>
                    <a:latin typeface="+mn-lt"/>
                    <a:ea typeface="+mn-ea"/>
                    <a:cs typeface="+mn-cs"/>
                  </a:rPr>
                  <a:t>を同じ種類として扱います。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しかし、この研究で使用している </a:t>
                </a:r>
                <a:r>
                  <a:rPr lang="es-MX" sz="1200" b="1" kern="1200" dirty="0">
                    <a:solidFill>
                      <a:schemeClr val="tx1"/>
                    </a:solidFill>
                    <a:effectLst/>
                    <a:latin typeface="+mn-lt"/>
                    <a:ea typeface="+mn-ea"/>
                    <a:cs typeface="+mn-cs"/>
                  </a:rPr>
                  <a:t>ASER</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ノード同士の関係にさまざまなタイプがあります。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例えば、</a:t>
                </a:r>
                <a:endParaRPr lang="es-MX" sz="1200" kern="1200" dirty="0">
                  <a:solidFill>
                    <a:schemeClr val="tx1"/>
                  </a:solidFill>
                  <a:effectLst/>
                  <a:latin typeface="+mn-lt"/>
                  <a:ea typeface="+mn-ea"/>
                  <a:cs typeface="+mn-cs"/>
                </a:endParaRPr>
              </a:p>
              <a:p>
                <a:pPr lvl="0"/>
                <a:r>
                  <a:rPr lang="es-MX" sz="1200" b="1" kern="1200" dirty="0">
                    <a:solidFill>
                      <a:schemeClr val="tx1"/>
                    </a:solidFill>
                    <a:effectLst/>
                    <a:latin typeface="+mn-lt"/>
                    <a:ea typeface="+mn-ea"/>
                    <a:cs typeface="+mn-cs"/>
                  </a:rPr>
                  <a:t>Reason</a:t>
                </a:r>
                <a:endParaRPr lang="es-MX" sz="1200" kern="1200" dirty="0">
                  <a:solidFill>
                    <a:schemeClr val="tx1"/>
                  </a:solidFill>
                  <a:effectLst/>
                  <a:latin typeface="+mn-lt"/>
                  <a:ea typeface="+mn-ea"/>
                  <a:cs typeface="+mn-cs"/>
                </a:endParaRPr>
              </a:p>
              <a:p>
                <a:pPr lvl="0"/>
                <a:r>
                  <a:rPr lang="es-MX" sz="1200" b="1" kern="1200" dirty="0" err="1">
                    <a:solidFill>
                      <a:schemeClr val="tx1"/>
                    </a:solidFill>
                    <a:effectLst/>
                    <a:latin typeface="+mn-lt"/>
                    <a:ea typeface="+mn-ea"/>
                    <a:cs typeface="+mn-cs"/>
                  </a:rPr>
                  <a:t>Result</a:t>
                </a:r>
                <a:endParaRPr lang="es-MX" sz="1200" kern="1200" dirty="0">
                  <a:solidFill>
                    <a:schemeClr val="tx1"/>
                  </a:solidFill>
                  <a:effectLst/>
                  <a:latin typeface="+mn-lt"/>
                  <a:ea typeface="+mn-ea"/>
                  <a:cs typeface="+mn-cs"/>
                </a:endParaRPr>
              </a:p>
              <a:p>
                <a:pPr lvl="0"/>
                <a:r>
                  <a:rPr lang="es-MX" sz="1200" b="1" kern="1200" dirty="0" err="1">
                    <a:solidFill>
                      <a:schemeClr val="tx1"/>
                    </a:solidFill>
                    <a:effectLst/>
                    <a:latin typeface="+mn-lt"/>
                    <a:ea typeface="+mn-ea"/>
                    <a:cs typeface="+mn-cs"/>
                  </a:rPr>
                  <a:t>Condition</a:t>
                </a:r>
                <a:endParaRPr lang="es-MX" sz="1200" kern="1200" dirty="0">
                  <a:solidFill>
                    <a:schemeClr val="tx1"/>
                  </a:solidFill>
                  <a:effectLst/>
                  <a:latin typeface="+mn-lt"/>
                  <a:ea typeface="+mn-ea"/>
                  <a:cs typeface="+mn-cs"/>
                </a:endParaRPr>
              </a:p>
              <a:p>
                <a:pPr lvl="0"/>
                <a:r>
                  <a:rPr lang="es-MX" sz="1200" b="1" kern="1200" dirty="0" err="1">
                    <a:solidFill>
                      <a:schemeClr val="tx1"/>
                    </a:solidFill>
                    <a:effectLst/>
                    <a:latin typeface="+mn-lt"/>
                    <a:ea typeface="+mn-ea"/>
                    <a:cs typeface="+mn-cs"/>
                  </a:rPr>
                  <a:t>Contrast</a:t>
                </a:r>
                <a:endParaRPr lang="es-MX" sz="1200" kern="1200" dirty="0">
                  <a:solidFill>
                    <a:schemeClr val="tx1"/>
                  </a:solidFill>
                  <a:effectLst/>
                  <a:latin typeface="+mn-lt"/>
                  <a:ea typeface="+mn-ea"/>
                  <a:cs typeface="+mn-cs"/>
                </a:endParaRPr>
              </a:p>
              <a:p>
                <a:pPr lvl="0"/>
                <a:r>
                  <a:rPr lang="es-MX" sz="1200" b="1" kern="1200" dirty="0" err="1">
                    <a:solidFill>
                      <a:schemeClr val="tx1"/>
                    </a:solidFill>
                    <a:effectLst/>
                    <a:latin typeface="+mn-lt"/>
                    <a:ea typeface="+mn-ea"/>
                    <a:cs typeface="+mn-cs"/>
                  </a:rPr>
                  <a:t>Succession</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などです。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これらの関係は、それぞれ </a:t>
                </a:r>
                <a:r>
                  <a:rPr lang="ja-JP" altLang="es-MX" sz="1200" b="1" kern="1200" dirty="0">
                    <a:solidFill>
                      <a:schemeClr val="tx1"/>
                    </a:solidFill>
                    <a:effectLst/>
                    <a:latin typeface="+mn-lt"/>
                    <a:ea typeface="+mn-ea"/>
                    <a:cs typeface="+mn-cs"/>
                  </a:rPr>
                  <a:t>異なる意味</a:t>
                </a:r>
                <a:r>
                  <a:rPr lang="ja-JP" altLang="es-MX" sz="1200" kern="1200" dirty="0">
                    <a:solidFill>
                      <a:schemeClr val="tx1"/>
                    </a:solidFill>
                    <a:effectLst/>
                    <a:latin typeface="+mn-lt"/>
                    <a:ea typeface="+mn-ea"/>
                    <a:cs typeface="+mn-cs"/>
                  </a:rPr>
                  <a:t>を持っています。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そのため、</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すべての関係を同じように扱うと、意味の違いを表現できません。</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そこで、この研究では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関係タイプごとに異なる重みを学習できる</a:t>
                </a:r>
                <a:r>
                  <a:rPr lang="es-MX" sz="1200" b="1" kern="1200" dirty="0">
                    <a:solidFill>
                      <a:schemeClr val="tx1"/>
                    </a:solidFill>
                    <a:effectLst/>
                    <a:latin typeface="+mn-lt"/>
                    <a:ea typeface="+mn-ea"/>
                    <a:cs typeface="+mn-cs"/>
                  </a:rPr>
                  <a:t> RGCN</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を使っています。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ノードの更新は、次の式で表されます。</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sSubSup>
                        <m:sSubSupPr>
                          <m:ctrlPr>
                            <a:rPr lang="es-MX" sz="1200" i="1" kern="1200">
                              <a:solidFill>
                                <a:schemeClr val="tx1"/>
                              </a:solidFill>
                              <a:effectLst/>
                              <a:latin typeface="+mn-lt"/>
                              <a:ea typeface="+mn-ea"/>
                              <a:cs typeface="+mn-cs"/>
                            </a:rPr>
                          </m:ctrlPr>
                        </m:sSubSupPr>
                        <m:e>
                          <m:r>
                            <a:rPr lang="es-MX" sz="1200" i="1" kern="1200">
                              <a:solidFill>
                                <a:schemeClr val="tx1"/>
                              </a:solidFill>
                              <a:effectLst/>
                              <a:latin typeface="+mn-lt"/>
                              <a:ea typeface="+mn-ea"/>
                              <a:cs typeface="+mn-cs"/>
                            </a:rPr>
                            <m:t>h</m:t>
                          </m:r>
                        </m:e>
                        <m:sub>
                          <m:r>
                            <a:rPr lang="es-MX" sz="1200" i="1" kern="1200">
                              <a:solidFill>
                                <a:schemeClr val="tx1"/>
                              </a:solidFill>
                              <a:effectLst/>
                              <a:latin typeface="+mn-lt"/>
                              <a:ea typeface="+mn-ea"/>
                              <a:cs typeface="+mn-cs"/>
                            </a:rPr>
                            <m:t>𝑖</m:t>
                          </m:r>
                        </m:sub>
                        <m:sup>
                          <m:d>
                            <m:dPr>
                              <m:sepChr m:val="+"/>
                              <m:ctrlPr>
                                <a:rPr lang="es-MX" sz="1200" i="1" kern="1200">
                                  <a:solidFill>
                                    <a:schemeClr val="tx1"/>
                                  </a:solidFill>
                                  <a:effectLst/>
                                  <a:latin typeface="+mn-lt"/>
                                  <a:ea typeface="+mn-ea"/>
                                  <a:cs typeface="+mn-cs"/>
                                </a:rPr>
                              </m:ctrlPr>
                            </m:dPr>
                            <m:e>
                              <m:r>
                                <a:rPr lang="es-MX" sz="1200" i="1" kern="1200">
                                  <a:solidFill>
                                    <a:schemeClr val="tx1"/>
                                  </a:solidFill>
                                  <a:effectLst/>
                                  <a:latin typeface="+mn-lt"/>
                                  <a:ea typeface="+mn-ea"/>
                                  <a:cs typeface="+mn-cs"/>
                                </a:rPr>
                                <m:t>𝑙</m:t>
                              </m:r>
                            </m:e>
                            <m:e>
                              <m:r>
                                <a:rPr lang="es-MX" sz="1200" i="1" kern="1200">
                                  <a:solidFill>
                                    <a:schemeClr val="tx1"/>
                                  </a:solidFill>
                                  <a:effectLst/>
                                  <a:latin typeface="+mn-lt"/>
                                  <a:ea typeface="+mn-ea"/>
                                  <a:cs typeface="+mn-cs"/>
                                </a:rPr>
                                <m:t>1</m:t>
                              </m:r>
                            </m:e>
                          </m:d>
                        </m:sup>
                      </m:sSubSup>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𝜎</m:t>
                      </m:r>
                      <m:d>
                        <m:dPr>
                          <m:ctrlPr>
                            <a:rPr lang="es-MX" sz="1200" i="1" kern="1200">
                              <a:solidFill>
                                <a:schemeClr val="tx1"/>
                              </a:solidFill>
                              <a:effectLst/>
                              <a:latin typeface="+mn-lt"/>
                              <a:ea typeface="+mn-ea"/>
                              <a:cs typeface="+mn-cs"/>
                            </a:rPr>
                          </m:ctrlPr>
                        </m:dPr>
                        <m:e>
                          <m:nary>
                            <m:naryPr>
                              <m:chr m:val="∑"/>
                              <m:limLoc m:val="undOvr"/>
                              <m:grow m:val="on"/>
                              <m:supHide m:val="on"/>
                              <m:ctrlPr>
                                <a:rPr lang="es-MX" sz="1200" i="1" kern="1200">
                                  <a:solidFill>
                                    <a:schemeClr val="tx1"/>
                                  </a:solidFill>
                                  <a:effectLst/>
                                  <a:latin typeface="+mn-lt"/>
                                  <a:ea typeface="+mn-ea"/>
                                  <a:cs typeface="+mn-cs"/>
                                </a:rPr>
                              </m:ctrlPr>
                            </m:naryPr>
                            <m:sub>
                              <m:r>
                                <a:rPr lang="es-MX" sz="1200" i="1" kern="1200">
                                  <a:solidFill>
                                    <a:schemeClr val="tx1"/>
                                  </a:solidFill>
                                  <a:effectLst/>
                                  <a:latin typeface="+mn-lt"/>
                                  <a:ea typeface="+mn-ea"/>
                                  <a:cs typeface="+mn-cs"/>
                                </a:rPr>
                                <m:t>𝑟</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𝑅</m:t>
                              </m:r>
                            </m:sub>
                            <m:sup/>
                            <m:e>
                              <m:nary>
                                <m:naryPr>
                                  <m:chr m:val="∑"/>
                                  <m:limLoc m:val="undOvr"/>
                                  <m:grow m:val="on"/>
                                  <m:supHide m:val="on"/>
                                  <m:ctrlPr>
                                    <a:rPr lang="es-MX" sz="1200" i="1" kern="1200">
                                      <a:solidFill>
                                        <a:schemeClr val="tx1"/>
                                      </a:solidFill>
                                      <a:effectLst/>
                                      <a:latin typeface="+mn-lt"/>
                                      <a:ea typeface="+mn-ea"/>
                                      <a:cs typeface="+mn-cs"/>
                                    </a:rPr>
                                  </m:ctrlPr>
                                </m:naryPr>
                                <m:sub>
                                  <m:r>
                                    <a:rPr lang="es-MX" sz="1200" i="1" kern="1200">
                                      <a:solidFill>
                                        <a:schemeClr val="tx1"/>
                                      </a:solidFill>
                                      <a:effectLst/>
                                      <a:latin typeface="+mn-lt"/>
                                      <a:ea typeface="+mn-ea"/>
                                      <a:cs typeface="+mn-cs"/>
                                    </a:rPr>
                                    <m:t>𝑗</m:t>
                                  </m:r>
                                  <m:r>
                                    <a:rPr lang="es-MX" sz="1200" i="1" kern="1200">
                                      <a:solidFill>
                                        <a:schemeClr val="tx1"/>
                                      </a:solidFill>
                                      <a:effectLst/>
                                      <a:latin typeface="+mn-lt"/>
                                      <a:ea typeface="+mn-ea"/>
                                      <a:cs typeface="+mn-cs"/>
                                    </a:rPr>
                                    <m:t>∈</m:t>
                                  </m:r>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𝑁</m:t>
                                      </m:r>
                                    </m:e>
                                    <m:sub>
                                      <m:r>
                                        <a:rPr lang="es-MX" sz="1200" i="1" kern="1200">
                                          <a:solidFill>
                                            <a:schemeClr val="tx1"/>
                                          </a:solidFill>
                                          <a:effectLst/>
                                          <a:latin typeface="+mn-lt"/>
                                          <a:ea typeface="+mn-ea"/>
                                          <a:cs typeface="+mn-cs"/>
                                        </a:rPr>
                                        <m:t>𝑟</m:t>
                                      </m:r>
                                    </m:sub>
                                  </m:sSub>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𝑖</m:t>
                                  </m:r>
                                  <m:r>
                                    <a:rPr lang="es-MX" sz="1200" i="1" kern="1200">
                                      <a:solidFill>
                                        <a:schemeClr val="tx1"/>
                                      </a:solidFill>
                                      <a:effectLst/>
                                      <a:latin typeface="+mn-lt"/>
                                      <a:ea typeface="+mn-ea"/>
                                      <a:cs typeface="+mn-cs"/>
                                    </a:rPr>
                                    <m:t>)</m:t>
                                  </m:r>
                                </m:sub>
                                <m:sup/>
                                <m:e>
                                  <m:f>
                                    <m:fPr>
                                      <m:ctrlPr>
                                        <a:rPr lang="es-MX" sz="1200" i="1" kern="1200">
                                          <a:solidFill>
                                            <a:schemeClr val="tx1"/>
                                          </a:solidFill>
                                          <a:effectLst/>
                                          <a:latin typeface="+mn-lt"/>
                                          <a:ea typeface="+mn-ea"/>
                                          <a:cs typeface="+mn-cs"/>
                                        </a:rPr>
                                      </m:ctrlPr>
                                    </m:fPr>
                                    <m:num>
                                      <m:r>
                                        <a:rPr lang="es-MX" sz="1200" i="1" kern="1200">
                                          <a:solidFill>
                                            <a:schemeClr val="tx1"/>
                                          </a:solidFill>
                                          <a:effectLst/>
                                          <a:latin typeface="+mn-lt"/>
                                          <a:ea typeface="+mn-ea"/>
                                          <a:cs typeface="+mn-cs"/>
                                        </a:rPr>
                                        <m:t>1</m:t>
                                      </m:r>
                                    </m:num>
                                    <m:den>
                                      <m:r>
                                        <a:rPr lang="es-MX" sz="1200" kern="1200">
                                          <a:solidFill>
                                            <a:schemeClr val="tx1"/>
                                          </a:solidFill>
                                          <a:effectLst/>
                                          <a:latin typeface="+mn-lt"/>
                                          <a:ea typeface="+mn-ea"/>
                                          <a:cs typeface="+mn-cs"/>
                                        </a:rPr>
                                        <m:t>∣</m:t>
                                      </m:r>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𝑁</m:t>
                                          </m:r>
                                        </m:e>
                                        <m:sub>
                                          <m:r>
                                            <a:rPr lang="es-MX" sz="1200" i="1" kern="1200">
                                              <a:solidFill>
                                                <a:schemeClr val="tx1"/>
                                              </a:solidFill>
                                              <a:effectLst/>
                                              <a:latin typeface="+mn-lt"/>
                                              <a:ea typeface="+mn-ea"/>
                                              <a:cs typeface="+mn-cs"/>
                                            </a:rPr>
                                            <m:t>𝑟</m:t>
                                          </m:r>
                                        </m:sub>
                                      </m:sSub>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𝑖</m:t>
                                      </m:r>
                                      <m:r>
                                        <a:rPr lang="es-MX" sz="1200" i="1" kern="1200">
                                          <a:solidFill>
                                            <a:schemeClr val="tx1"/>
                                          </a:solidFill>
                                          <a:effectLst/>
                                          <a:latin typeface="+mn-lt"/>
                                          <a:ea typeface="+mn-ea"/>
                                          <a:cs typeface="+mn-cs"/>
                                        </a:rPr>
                                        <m:t>)</m:t>
                                      </m:r>
                                      <m:r>
                                        <a:rPr lang="es-MX" sz="1200" kern="1200">
                                          <a:solidFill>
                                            <a:schemeClr val="tx1"/>
                                          </a:solidFill>
                                          <a:effectLst/>
                                          <a:latin typeface="+mn-lt"/>
                                          <a:ea typeface="+mn-ea"/>
                                          <a:cs typeface="+mn-cs"/>
                                        </a:rPr>
                                        <m:t>∣</m:t>
                                      </m:r>
                                    </m:den>
                                  </m:f>
                                </m:e>
                              </m:nary>
                            </m:e>
                          </m:nary>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𝑊</m:t>
                              </m:r>
                            </m:e>
                            <m:sub>
                              <m:r>
                                <a:rPr lang="es-MX" sz="1200" i="1" kern="1200">
                                  <a:solidFill>
                                    <a:schemeClr val="tx1"/>
                                  </a:solidFill>
                                  <a:effectLst/>
                                  <a:latin typeface="+mn-lt"/>
                                  <a:ea typeface="+mn-ea"/>
                                  <a:cs typeface="+mn-cs"/>
                                </a:rPr>
                                <m:t>𝑟</m:t>
                              </m:r>
                            </m:sub>
                          </m:sSub>
                          <m:sSubSup>
                            <m:sSubSupPr>
                              <m:ctrlPr>
                                <a:rPr lang="es-MX" sz="1200" i="1" kern="1200">
                                  <a:solidFill>
                                    <a:schemeClr val="tx1"/>
                                  </a:solidFill>
                                  <a:effectLst/>
                                  <a:latin typeface="+mn-lt"/>
                                  <a:ea typeface="+mn-ea"/>
                                  <a:cs typeface="+mn-cs"/>
                                </a:rPr>
                              </m:ctrlPr>
                            </m:sSubSupPr>
                            <m:e>
                              <m:r>
                                <a:rPr lang="es-MX" sz="1200" i="1" kern="1200">
                                  <a:solidFill>
                                    <a:schemeClr val="tx1"/>
                                  </a:solidFill>
                                  <a:effectLst/>
                                  <a:latin typeface="+mn-lt"/>
                                  <a:ea typeface="+mn-ea"/>
                                  <a:cs typeface="+mn-cs"/>
                                </a:rPr>
                                <m:t>h</m:t>
                              </m:r>
                            </m:e>
                            <m:sub>
                              <m:r>
                                <a:rPr lang="es-MX" sz="1200" i="1" kern="1200">
                                  <a:solidFill>
                                    <a:schemeClr val="tx1"/>
                                  </a:solidFill>
                                  <a:effectLst/>
                                  <a:latin typeface="+mn-lt"/>
                                  <a:ea typeface="+mn-ea"/>
                                  <a:cs typeface="+mn-cs"/>
                                </a:rPr>
                                <m:t>𝑗</m:t>
                              </m:r>
                            </m:sub>
                            <m:sup>
                              <m:d>
                                <m:dPr>
                                  <m:ctrlPr>
                                    <a:rPr lang="es-MX" sz="1200" i="1" kern="1200">
                                      <a:solidFill>
                                        <a:schemeClr val="tx1"/>
                                      </a:solidFill>
                                      <a:effectLst/>
                                      <a:latin typeface="+mn-lt"/>
                                      <a:ea typeface="+mn-ea"/>
                                      <a:cs typeface="+mn-cs"/>
                                    </a:rPr>
                                  </m:ctrlPr>
                                </m:dPr>
                                <m:e>
                                  <m:r>
                                    <a:rPr lang="es-MX" sz="1200" i="1" kern="1200">
                                      <a:solidFill>
                                        <a:schemeClr val="tx1"/>
                                      </a:solidFill>
                                      <a:effectLst/>
                                      <a:latin typeface="+mn-lt"/>
                                      <a:ea typeface="+mn-ea"/>
                                      <a:cs typeface="+mn-cs"/>
                                    </a:rPr>
                                    <m:t>𝑙</m:t>
                                  </m:r>
                                </m:e>
                              </m:d>
                            </m:sup>
                          </m:sSubSup>
                        </m:e>
                      </m:d>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この式を </a:t>
                </a:r>
                <a:r>
                  <a:rPr lang="ja-JP" altLang="es-MX" sz="1200" b="1" kern="1200" dirty="0">
                    <a:solidFill>
                      <a:schemeClr val="tx1"/>
                    </a:solidFill>
                    <a:effectLst/>
                    <a:latin typeface="+mn-lt"/>
                    <a:ea typeface="+mn-ea"/>
                    <a:cs typeface="+mn-cs"/>
                  </a:rPr>
                  <a:t>左から順番に説明します。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sSubSup>
                        <m:sSubSupPr>
                          <m:ctrlPr>
                            <a:rPr lang="es-MX" sz="1200" i="1" kern="1200">
                              <a:solidFill>
                                <a:schemeClr val="tx1"/>
                              </a:solidFill>
                              <a:effectLst/>
                              <a:latin typeface="+mn-lt"/>
                              <a:ea typeface="+mn-ea"/>
                              <a:cs typeface="+mn-cs"/>
                            </a:rPr>
                          </m:ctrlPr>
                        </m:sSubSupPr>
                        <m:e>
                          <m:r>
                            <a:rPr lang="es-MX" sz="1200" i="1" kern="1200">
                              <a:solidFill>
                                <a:schemeClr val="tx1"/>
                              </a:solidFill>
                              <a:effectLst/>
                              <a:latin typeface="+mn-lt"/>
                              <a:ea typeface="+mn-ea"/>
                              <a:cs typeface="+mn-cs"/>
                            </a:rPr>
                            <m:t>h</m:t>
                          </m:r>
                        </m:e>
                        <m:sub>
                          <m:r>
                            <a:rPr lang="es-MX" sz="1200" i="1" kern="1200">
                              <a:solidFill>
                                <a:schemeClr val="tx1"/>
                              </a:solidFill>
                              <a:effectLst/>
                              <a:latin typeface="+mn-lt"/>
                              <a:ea typeface="+mn-ea"/>
                              <a:cs typeface="+mn-cs"/>
                            </a:rPr>
                            <m:t>𝑖</m:t>
                          </m:r>
                        </m:sub>
                        <m:sup>
                          <m:d>
                            <m:dPr>
                              <m:sepChr m:val="+"/>
                              <m:ctrlPr>
                                <a:rPr lang="es-MX" sz="1200" i="1" kern="1200">
                                  <a:solidFill>
                                    <a:schemeClr val="tx1"/>
                                  </a:solidFill>
                                  <a:effectLst/>
                                  <a:latin typeface="+mn-lt"/>
                                  <a:ea typeface="+mn-ea"/>
                                  <a:cs typeface="+mn-cs"/>
                                </a:rPr>
                              </m:ctrlPr>
                            </m:dPr>
                            <m:e>
                              <m:r>
                                <a:rPr lang="es-MX" sz="1200" i="1" kern="1200">
                                  <a:solidFill>
                                    <a:schemeClr val="tx1"/>
                                  </a:solidFill>
                                  <a:effectLst/>
                                  <a:latin typeface="+mn-lt"/>
                                  <a:ea typeface="+mn-ea"/>
                                  <a:cs typeface="+mn-cs"/>
                                </a:rPr>
                                <m:t>𝑙</m:t>
                              </m:r>
                            </m:e>
                            <m:e>
                              <m:r>
                                <a:rPr lang="es-MX" sz="1200" i="1" kern="1200">
                                  <a:solidFill>
                                    <a:schemeClr val="tx1"/>
                                  </a:solidFill>
                                  <a:effectLst/>
                                  <a:latin typeface="+mn-lt"/>
                                  <a:ea typeface="+mn-ea"/>
                                  <a:cs typeface="+mn-cs"/>
                                </a:rPr>
                                <m:t>1</m:t>
                              </m:r>
                            </m:e>
                          </m:d>
                        </m:sup>
                      </m:sSubSup>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 </a:t>
                </a:r>
                <a14:m>
                  <m:oMath xmlns:m="http://schemas.openxmlformats.org/officeDocument/2006/math">
                    <m:r>
                      <a:rPr lang="es-MX" sz="1200" i="1" kern="1200">
                        <a:solidFill>
                          <a:schemeClr val="tx1"/>
                        </a:solidFill>
                        <a:effectLst/>
                        <a:latin typeface="+mn-lt"/>
                        <a:ea typeface="+mn-ea"/>
                        <a:cs typeface="+mn-cs"/>
                      </a:rPr>
                      <m:t>𝑖</m:t>
                    </m:r>
                  </m:oMath>
                </a14:m>
                <a:r>
                  <a:rPr lang="ja-JP" altLang="es-MX" sz="1200" kern="1200" dirty="0">
                    <a:solidFill>
                      <a:schemeClr val="tx1"/>
                    </a:solidFill>
                    <a:effectLst/>
                    <a:latin typeface="+mn-lt"/>
                    <a:ea typeface="+mn-ea"/>
                    <a:cs typeface="+mn-cs"/>
                  </a:rPr>
                  <a:t>は、現在更新しているノードを表します。</a:t>
                </a:r>
                <a:endParaRPr lang="es-MX" sz="1200" kern="1200" dirty="0">
                  <a:solidFill>
                    <a:schemeClr val="tx1"/>
                  </a:solidFill>
                  <a:effectLst/>
                  <a:latin typeface="+mn-lt"/>
                  <a:ea typeface="+mn-ea"/>
                  <a:cs typeface="+mn-cs"/>
                </a:endParaRPr>
              </a:p>
              <a:p>
                <a14:m>
                  <m:oMath xmlns:m="http://schemas.openxmlformats.org/officeDocument/2006/math">
                    <m:r>
                      <a:rPr lang="es-MX" sz="1200" i="1" kern="1200">
                        <a:solidFill>
                          <a:schemeClr val="tx1"/>
                        </a:solidFill>
                        <a:effectLst/>
                        <a:latin typeface="+mn-lt"/>
                        <a:ea typeface="+mn-ea"/>
                        <a:cs typeface="+mn-cs"/>
                      </a:rPr>
                      <m:t>𝑙</m:t>
                    </m:r>
                  </m:oMath>
                </a14:m>
                <a:r>
                  <a:rPr lang="ja-JP" altLang="es-MX" sz="1200" kern="1200" dirty="0">
                    <a:solidFill>
                      <a:schemeClr val="tx1"/>
                    </a:solidFill>
                    <a:effectLst/>
                    <a:latin typeface="+mn-lt"/>
                    <a:ea typeface="+mn-ea"/>
                    <a:cs typeface="+mn-cs"/>
                  </a:rPr>
                  <a:t>は現在の</a:t>
                </a:r>
                <a:r>
                  <a:rPr lang="es-MX" sz="1200" kern="1200" dirty="0">
                    <a:solidFill>
                      <a:schemeClr val="tx1"/>
                    </a:solidFill>
                    <a:effectLst/>
                    <a:latin typeface="+mn-lt"/>
                    <a:ea typeface="+mn-ea"/>
                    <a:cs typeface="+mn-cs"/>
                  </a:rPr>
                  <a:t> GNN </a:t>
                </a:r>
                <a:r>
                  <a:rPr lang="ja-JP" altLang="es-MX" sz="1200" kern="1200" dirty="0">
                    <a:solidFill>
                      <a:schemeClr val="tx1"/>
                    </a:solidFill>
                    <a:effectLst/>
                    <a:latin typeface="+mn-lt"/>
                    <a:ea typeface="+mn-ea"/>
                    <a:cs typeface="+mn-cs"/>
                  </a:rPr>
                  <a:t>の層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そう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14:m>
                  <m:oMath xmlns:m="http://schemas.openxmlformats.org/officeDocument/2006/math">
                    <m:r>
                      <a:rPr lang="es-MX" sz="1200" i="1" kern="1200">
                        <a:solidFill>
                          <a:schemeClr val="tx1"/>
                        </a:solidFill>
                        <a:effectLst/>
                        <a:latin typeface="+mn-lt"/>
                        <a:ea typeface="+mn-ea"/>
                        <a:cs typeface="+mn-cs"/>
                      </a:rPr>
                      <m:t>𝑙</m:t>
                    </m:r>
                    <m:r>
                      <a:rPr lang="es-MX" sz="1200" i="1" kern="1200">
                        <a:solidFill>
                          <a:schemeClr val="tx1"/>
                        </a:solidFill>
                        <a:effectLst/>
                        <a:latin typeface="+mn-lt"/>
                        <a:ea typeface="+mn-ea"/>
                        <a:cs typeface="+mn-cs"/>
                      </a:rPr>
                      <m:t>+1</m:t>
                    </m:r>
                  </m:oMath>
                </a14:m>
                <a:r>
                  <a:rPr lang="ja-JP" altLang="es-MX" sz="1200" kern="1200" dirty="0">
                    <a:solidFill>
                      <a:schemeClr val="tx1"/>
                    </a:solidFill>
                    <a:effectLst/>
                    <a:latin typeface="+mn-lt"/>
                    <a:ea typeface="+mn-ea"/>
                    <a:cs typeface="+mn-cs"/>
                  </a:rPr>
                  <a:t>は次の層を意味します。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つまり、これは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近傍</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きんぼう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ノードの情報を取り込んだ後の、ノード </a:t>
                </a:r>
                <a14:m>
                  <m:oMath xmlns:m="http://schemas.openxmlformats.org/officeDocument/2006/math">
                    <m:r>
                      <a:rPr lang="es-MX" sz="1200" b="0" i="1" kern="1200">
                        <a:solidFill>
                          <a:schemeClr val="tx1"/>
                        </a:solidFill>
                        <a:effectLst/>
                        <a:latin typeface="+mn-lt"/>
                        <a:ea typeface="+mn-ea"/>
                        <a:cs typeface="+mn-cs"/>
                      </a:rPr>
                      <m:t>𝑖</m:t>
                    </m:r>
                  </m:oMath>
                </a14:m>
                <a:r>
                  <a:rPr lang="ja-JP" altLang="es-MX" sz="1200" b="1" kern="1200" dirty="0">
                    <a:solidFill>
                      <a:schemeClr val="tx1"/>
                    </a:solidFill>
                    <a:effectLst/>
                    <a:latin typeface="+mn-lt"/>
                    <a:ea typeface="+mn-ea"/>
                    <a:cs typeface="+mn-cs"/>
                  </a:rPr>
                  <a:t>の新しい表現</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r>
                        <a:rPr lang="es-MX" sz="1200" i="1" kern="1200">
                          <a:solidFill>
                            <a:schemeClr val="tx1"/>
                          </a:solidFill>
                          <a:effectLst/>
                          <a:latin typeface="+mn-lt"/>
                          <a:ea typeface="+mn-ea"/>
                          <a:cs typeface="+mn-cs"/>
                        </a:rPr>
                        <m:t>𝜎</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𝑠𝑖𝑔𝑚𝑎</m:t>
                      </m:r>
                      <m:r>
                        <a:rPr lang="es-MX" sz="1200" i="1" kern="1200">
                          <a:solidFill>
                            <a:schemeClr val="tx1"/>
                          </a:solidFill>
                          <a:effectLst/>
                          <a:latin typeface="+mn-lt"/>
                          <a:ea typeface="+mn-ea"/>
                          <a:cs typeface="+mn-cs"/>
                        </a:rPr>
                        <m:t>)</m:t>
                      </m:r>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 </a:t>
                </a:r>
                <a:r>
                  <a:rPr lang="ja-JP" altLang="es-MX" sz="1200" b="1" kern="1200" dirty="0">
                    <a:solidFill>
                      <a:schemeClr val="tx1"/>
                    </a:solidFill>
                    <a:effectLst/>
                    <a:latin typeface="+mn-lt"/>
                    <a:ea typeface="+mn-ea"/>
                    <a:cs typeface="+mn-cs"/>
                  </a:rPr>
                  <a:t>非線形</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ひせんけい</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活性化</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かっせいか</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関数</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かんすう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で、</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ReLU</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などが使われます。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この関数を入れることで、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モデルがより複雑なパターンを学習できるようになります。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nary>
                        <m:naryPr>
                          <m:chr m:val="∑"/>
                          <m:limLoc m:val="undOvr"/>
                          <m:grow m:val="on"/>
                          <m:supHide m:val="on"/>
                          <m:ctrlPr>
                            <a:rPr lang="es-MX" sz="1200" i="1" kern="1200">
                              <a:solidFill>
                                <a:schemeClr val="tx1"/>
                              </a:solidFill>
                              <a:effectLst/>
                              <a:latin typeface="+mn-lt"/>
                              <a:ea typeface="+mn-ea"/>
                              <a:cs typeface="+mn-cs"/>
                            </a:rPr>
                          </m:ctrlPr>
                        </m:naryPr>
                        <m:sub>
                          <m:r>
                            <a:rPr lang="es-MX" sz="1200" i="1" kern="1200">
                              <a:solidFill>
                                <a:schemeClr val="tx1"/>
                              </a:solidFill>
                              <a:effectLst/>
                              <a:latin typeface="+mn-lt"/>
                              <a:ea typeface="+mn-ea"/>
                              <a:cs typeface="+mn-cs"/>
                            </a:rPr>
                            <m:t>𝑟</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𝑅</m:t>
                          </m:r>
                        </m:sub>
                        <m:sup/>
                        <m:e/>
                      </m:nary>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 </a:t>
                </a:r>
                <a14:m>
                  <m:oMath xmlns:m="http://schemas.openxmlformats.org/officeDocument/2006/math">
                    <m:r>
                      <a:rPr lang="es-MX" sz="1200" i="1" kern="1200">
                        <a:solidFill>
                          <a:schemeClr val="tx1"/>
                        </a:solidFill>
                        <a:effectLst/>
                        <a:latin typeface="+mn-lt"/>
                        <a:ea typeface="+mn-ea"/>
                        <a:cs typeface="+mn-cs"/>
                      </a:rPr>
                      <m:t>𝑅</m:t>
                    </m:r>
                  </m:oMath>
                </a14:m>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グラフに存在する </a:t>
                </a:r>
                <a:r>
                  <a:rPr lang="ja-JP" altLang="es-MX" sz="1200" b="1" kern="1200" dirty="0">
                    <a:solidFill>
                      <a:schemeClr val="tx1"/>
                    </a:solidFill>
                    <a:effectLst/>
                    <a:latin typeface="+mn-lt"/>
                    <a:ea typeface="+mn-ea"/>
                    <a:cs typeface="+mn-cs"/>
                  </a:rPr>
                  <a:t>すべての関係タイプの集合</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つまり、モデルはまず</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関係タイプごとに</a:t>
                </a:r>
                <a:r>
                  <a:rPr lang="ja-JP" altLang="es-MX" sz="1200" kern="1200" dirty="0">
                    <a:solidFill>
                      <a:schemeClr val="tx1"/>
                    </a:solidFill>
                    <a:effectLst/>
                    <a:latin typeface="+mn-lt"/>
                    <a:ea typeface="+mn-ea"/>
                    <a:cs typeface="+mn-cs"/>
                  </a:rPr>
                  <a:t>情報を処理します。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nary>
                        <m:naryPr>
                          <m:chr m:val="∑"/>
                          <m:limLoc m:val="undOvr"/>
                          <m:grow m:val="on"/>
                          <m:supHide m:val="on"/>
                          <m:ctrlPr>
                            <a:rPr lang="es-MX" sz="1200" i="1" kern="1200">
                              <a:solidFill>
                                <a:schemeClr val="tx1"/>
                              </a:solidFill>
                              <a:effectLst/>
                              <a:latin typeface="+mn-lt"/>
                              <a:ea typeface="+mn-ea"/>
                              <a:cs typeface="+mn-cs"/>
                            </a:rPr>
                          </m:ctrlPr>
                        </m:naryPr>
                        <m:sub>
                          <m:r>
                            <a:rPr lang="es-MX" sz="1200" i="1" kern="1200">
                              <a:solidFill>
                                <a:schemeClr val="tx1"/>
                              </a:solidFill>
                              <a:effectLst/>
                              <a:latin typeface="+mn-lt"/>
                              <a:ea typeface="+mn-ea"/>
                              <a:cs typeface="+mn-cs"/>
                            </a:rPr>
                            <m:t>𝑗</m:t>
                          </m:r>
                          <m:r>
                            <a:rPr lang="es-MX" sz="1200" i="1" kern="1200">
                              <a:solidFill>
                                <a:schemeClr val="tx1"/>
                              </a:solidFill>
                              <a:effectLst/>
                              <a:latin typeface="+mn-lt"/>
                              <a:ea typeface="+mn-ea"/>
                              <a:cs typeface="+mn-cs"/>
                            </a:rPr>
                            <m:t>∈</m:t>
                          </m:r>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𝑁</m:t>
                              </m:r>
                            </m:e>
                            <m:sub>
                              <m:r>
                                <a:rPr lang="es-MX" sz="1200" i="1" kern="1200">
                                  <a:solidFill>
                                    <a:schemeClr val="tx1"/>
                                  </a:solidFill>
                                  <a:effectLst/>
                                  <a:latin typeface="+mn-lt"/>
                                  <a:ea typeface="+mn-ea"/>
                                  <a:cs typeface="+mn-cs"/>
                                </a:rPr>
                                <m:t>𝑟</m:t>
                              </m:r>
                            </m:sub>
                          </m:sSub>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𝑖</m:t>
                          </m:r>
                          <m:r>
                            <a:rPr lang="es-MX" sz="1200" i="1" kern="1200">
                              <a:solidFill>
                                <a:schemeClr val="tx1"/>
                              </a:solidFill>
                              <a:effectLst/>
                              <a:latin typeface="+mn-lt"/>
                              <a:ea typeface="+mn-ea"/>
                              <a:cs typeface="+mn-cs"/>
                            </a:rPr>
                            <m:t>)</m:t>
                          </m:r>
                        </m:sub>
                        <m:sup/>
                        <m:e/>
                      </m:nary>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 </a:t>
                </a:r>
                <a14:m>
                  <m:oMath xmlns:m="http://schemas.openxmlformats.org/officeDocument/2006/math">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𝑁</m:t>
                        </m:r>
                      </m:e>
                      <m:sub>
                        <m:r>
                          <a:rPr lang="es-MX" sz="1200" i="1" kern="1200">
                            <a:solidFill>
                              <a:schemeClr val="tx1"/>
                            </a:solidFill>
                            <a:effectLst/>
                            <a:latin typeface="+mn-lt"/>
                            <a:ea typeface="+mn-ea"/>
                            <a:cs typeface="+mn-cs"/>
                          </a:rPr>
                          <m:t>𝑟</m:t>
                        </m:r>
                      </m:sub>
                    </m:sSub>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𝑖</m:t>
                    </m:r>
                    <m:r>
                      <a:rPr lang="es-MX" sz="1200" i="1" kern="1200">
                        <a:solidFill>
                          <a:schemeClr val="tx1"/>
                        </a:solidFill>
                        <a:effectLst/>
                        <a:latin typeface="+mn-lt"/>
                        <a:ea typeface="+mn-ea"/>
                        <a:cs typeface="+mn-cs"/>
                      </a:rPr>
                      <m:t>)</m:t>
                    </m:r>
                  </m:oMath>
                </a14:m>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関係 </a:t>
                </a:r>
                <a14:m>
                  <m:oMath xmlns:m="http://schemas.openxmlformats.org/officeDocument/2006/math">
                    <m:r>
                      <a:rPr lang="es-MX" sz="1200" i="1" kern="1200">
                        <a:solidFill>
                          <a:schemeClr val="tx1"/>
                        </a:solidFill>
                        <a:effectLst/>
                        <a:latin typeface="+mn-lt"/>
                        <a:ea typeface="+mn-ea"/>
                        <a:cs typeface="+mn-cs"/>
                      </a:rPr>
                      <m:t>𝑟</m:t>
                    </m:r>
                  </m:oMath>
                </a14:m>
                <a:r>
                  <a:rPr lang="ja-JP" altLang="es-MX" sz="1200" kern="1200" dirty="0">
                    <a:solidFill>
                      <a:schemeClr val="tx1"/>
                    </a:solidFill>
                    <a:effectLst/>
                    <a:latin typeface="+mn-lt"/>
                    <a:ea typeface="+mn-ea"/>
                    <a:cs typeface="+mn-cs"/>
                  </a:rPr>
                  <a:t>を通じてノード </a:t>
                </a:r>
                <a14:m>
                  <m:oMath xmlns:m="http://schemas.openxmlformats.org/officeDocument/2006/math">
                    <m:r>
                      <a:rPr lang="es-MX" sz="1200" i="1" kern="1200">
                        <a:solidFill>
                          <a:schemeClr val="tx1"/>
                        </a:solidFill>
                        <a:effectLst/>
                        <a:latin typeface="+mn-lt"/>
                        <a:ea typeface="+mn-ea"/>
                        <a:cs typeface="+mn-cs"/>
                      </a:rPr>
                      <m:t>𝑖</m:t>
                    </m:r>
                  </m:oMath>
                </a14:m>
                <a:r>
                  <a:rPr lang="ja-JP" altLang="es-MX" sz="1200" kern="1200" dirty="0">
                    <a:solidFill>
                      <a:schemeClr val="tx1"/>
                    </a:solidFill>
                    <a:effectLst/>
                    <a:latin typeface="+mn-lt"/>
                    <a:ea typeface="+mn-ea"/>
                    <a:cs typeface="+mn-cs"/>
                  </a:rPr>
                  <a:t>に接続している</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近傍</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きんぼう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ノードの集合</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つまり、この部分では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ノード </a:t>
                </a:r>
                <a14:m>
                  <m:oMath xmlns:m="http://schemas.openxmlformats.org/officeDocument/2006/math">
                    <m:r>
                      <a:rPr lang="es-MX" sz="1200" i="1" kern="1200">
                        <a:solidFill>
                          <a:schemeClr val="tx1"/>
                        </a:solidFill>
                        <a:effectLst/>
                        <a:latin typeface="+mn-lt"/>
                        <a:ea typeface="+mn-ea"/>
                        <a:cs typeface="+mn-cs"/>
                      </a:rPr>
                      <m:t>𝑖</m:t>
                    </m:r>
                  </m:oMath>
                </a14:m>
                <a:r>
                  <a:rPr lang="ja-JP" altLang="es-MX" sz="1200" kern="1200" dirty="0">
                    <a:solidFill>
                      <a:schemeClr val="tx1"/>
                    </a:solidFill>
                    <a:effectLst/>
                    <a:latin typeface="+mn-lt"/>
                    <a:ea typeface="+mn-ea"/>
                    <a:cs typeface="+mn-cs"/>
                  </a:rPr>
                  <a:t>に接続している </a:t>
                </a:r>
                <a:r>
                  <a:rPr lang="ja-JP" altLang="es-MX" sz="1200" b="1" kern="1200" dirty="0">
                    <a:solidFill>
                      <a:schemeClr val="tx1"/>
                    </a:solidFill>
                    <a:effectLst/>
                    <a:latin typeface="+mn-lt"/>
                    <a:ea typeface="+mn-ea"/>
                    <a:cs typeface="+mn-cs"/>
                  </a:rPr>
                  <a:t>近傍</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きんぼう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ノード </a:t>
                </a:r>
                <a14:m>
                  <m:oMath xmlns:m="http://schemas.openxmlformats.org/officeDocument/2006/math">
                    <m:r>
                      <a:rPr lang="es-MX" sz="1200" b="0" i="1" kern="1200">
                        <a:solidFill>
                          <a:schemeClr val="tx1"/>
                        </a:solidFill>
                        <a:effectLst/>
                        <a:latin typeface="+mn-lt"/>
                        <a:ea typeface="+mn-ea"/>
                        <a:cs typeface="+mn-cs"/>
                      </a:rPr>
                      <m:t>𝑗</m:t>
                    </m:r>
                  </m:oMath>
                </a14:m>
                <a:r>
                  <a:rPr lang="ja-JP" altLang="es-MX" sz="1200" kern="1200" dirty="0">
                    <a:solidFill>
                      <a:schemeClr val="tx1"/>
                    </a:solidFill>
                    <a:effectLst/>
                    <a:latin typeface="+mn-lt"/>
                    <a:ea typeface="+mn-ea"/>
                    <a:cs typeface="+mn-cs"/>
                  </a:rPr>
                  <a:t>から</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情報を集めています。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f>
                        <m:fPr>
                          <m:ctrlPr>
                            <a:rPr lang="es-MX" sz="1200" i="1" kern="1200">
                              <a:solidFill>
                                <a:schemeClr val="tx1"/>
                              </a:solidFill>
                              <a:effectLst/>
                              <a:latin typeface="+mn-lt"/>
                              <a:ea typeface="+mn-ea"/>
                              <a:cs typeface="+mn-cs"/>
                            </a:rPr>
                          </m:ctrlPr>
                        </m:fPr>
                        <m:num>
                          <m:r>
                            <a:rPr lang="es-MX" sz="1200" i="1" kern="1200">
                              <a:solidFill>
                                <a:schemeClr val="tx1"/>
                              </a:solidFill>
                              <a:effectLst/>
                              <a:latin typeface="+mn-lt"/>
                              <a:ea typeface="+mn-ea"/>
                              <a:cs typeface="+mn-cs"/>
                            </a:rPr>
                            <m:t>1</m:t>
                          </m:r>
                        </m:num>
                        <m:den>
                          <m:r>
                            <a:rPr lang="es-MX" sz="1200" kern="1200">
                              <a:solidFill>
                                <a:schemeClr val="tx1"/>
                              </a:solidFill>
                              <a:effectLst/>
                              <a:latin typeface="+mn-lt"/>
                              <a:ea typeface="+mn-ea"/>
                              <a:cs typeface="+mn-cs"/>
                            </a:rPr>
                            <m:t>∣</m:t>
                          </m:r>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𝑁</m:t>
                              </m:r>
                            </m:e>
                            <m:sub>
                              <m:r>
                                <a:rPr lang="es-MX" sz="1200" i="1" kern="1200">
                                  <a:solidFill>
                                    <a:schemeClr val="tx1"/>
                                  </a:solidFill>
                                  <a:effectLst/>
                                  <a:latin typeface="+mn-lt"/>
                                  <a:ea typeface="+mn-ea"/>
                                  <a:cs typeface="+mn-cs"/>
                                </a:rPr>
                                <m:t>𝑟</m:t>
                              </m:r>
                            </m:sub>
                          </m:sSub>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𝑖</m:t>
                          </m:r>
                          <m:r>
                            <a:rPr lang="es-MX" sz="1200" i="1" kern="1200">
                              <a:solidFill>
                                <a:schemeClr val="tx1"/>
                              </a:solidFill>
                              <a:effectLst/>
                              <a:latin typeface="+mn-lt"/>
                              <a:ea typeface="+mn-ea"/>
                              <a:cs typeface="+mn-cs"/>
                            </a:rPr>
                            <m:t>)</m:t>
                          </m:r>
                          <m:r>
                            <a:rPr lang="es-MX" sz="1200" kern="1200">
                              <a:solidFill>
                                <a:schemeClr val="tx1"/>
                              </a:solidFill>
                              <a:effectLst/>
                              <a:latin typeface="+mn-lt"/>
                              <a:ea typeface="+mn-ea"/>
                              <a:cs typeface="+mn-cs"/>
                            </a:rPr>
                            <m:t>∣</m:t>
                          </m:r>
                        </m:den>
                      </m:f>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 </a:t>
                </a:r>
                <a:r>
                  <a:rPr lang="ja-JP" altLang="es-MX" sz="1200" b="1" kern="1200" dirty="0">
                    <a:solidFill>
                      <a:schemeClr val="tx1"/>
                    </a:solidFill>
                    <a:effectLst/>
                    <a:latin typeface="+mn-lt"/>
                    <a:ea typeface="+mn-ea"/>
                    <a:cs typeface="+mn-cs"/>
                  </a:rPr>
                  <a:t>正規化</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せいきか</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項</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こう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近傍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きんぼう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ノードの数で割</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近傍ノードが多い場合でも</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特定のノードの影響が大きくなりすぎないようにしています。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つまり、近傍ノードの情報を </a:t>
                </a:r>
                <a:r>
                  <a:rPr lang="ja-JP" altLang="es-MX" sz="1200" b="1" kern="1200" dirty="0">
                    <a:solidFill>
                      <a:schemeClr val="tx1"/>
                    </a:solidFill>
                    <a:effectLst/>
                    <a:latin typeface="+mn-lt"/>
                    <a:ea typeface="+mn-ea"/>
                    <a:cs typeface="+mn-cs"/>
                  </a:rPr>
                  <a:t>平均化</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へいきんか</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𝑊</m:t>
                          </m:r>
                        </m:e>
                        <m:sub>
                          <m:r>
                            <a:rPr lang="es-MX" sz="1200" i="1" kern="1200">
                              <a:solidFill>
                                <a:schemeClr val="tx1"/>
                              </a:solidFill>
                              <a:effectLst/>
                              <a:latin typeface="+mn-lt"/>
                              <a:ea typeface="+mn-ea"/>
                              <a:cs typeface="+mn-cs"/>
                            </a:rPr>
                            <m:t>𝑟</m:t>
                          </m:r>
                        </m:sub>
                      </m:sSub>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 </a:t>
                </a:r>
                <a:r>
                  <a:rPr lang="ja-JP" altLang="es-MX" sz="1200" b="1" kern="1200" dirty="0">
                    <a:solidFill>
                      <a:schemeClr val="tx1"/>
                    </a:solidFill>
                    <a:effectLst/>
                    <a:latin typeface="+mn-lt"/>
                    <a:ea typeface="+mn-ea"/>
                    <a:cs typeface="+mn-cs"/>
                  </a:rPr>
                  <a:t>関係 </a:t>
                </a:r>
                <a14:m>
                  <m:oMath xmlns:m="http://schemas.openxmlformats.org/officeDocument/2006/math">
                    <m:r>
                      <a:rPr lang="es-MX" sz="1200" i="1" kern="1200">
                        <a:solidFill>
                          <a:schemeClr val="tx1"/>
                        </a:solidFill>
                        <a:effectLst/>
                        <a:latin typeface="+mn-lt"/>
                        <a:ea typeface="+mn-ea"/>
                        <a:cs typeface="+mn-cs"/>
                      </a:rPr>
                      <m:t>𝑟</m:t>
                    </m:r>
                  </m:oMath>
                </a14:m>
                <a:r>
                  <a:rPr lang="ja-JP" altLang="es-MX" sz="1200" kern="1200" dirty="0">
                    <a:solidFill>
                      <a:schemeClr val="tx1"/>
                    </a:solidFill>
                    <a:effectLst/>
                    <a:latin typeface="+mn-lt"/>
                    <a:ea typeface="+mn-ea"/>
                    <a:cs typeface="+mn-cs"/>
                  </a:rPr>
                  <a:t>に対応する </a:t>
                </a:r>
                <a:r>
                  <a:rPr lang="ja-JP" altLang="es-MX" sz="1200" b="1" kern="1200" dirty="0">
                    <a:solidFill>
                      <a:schemeClr val="tx1"/>
                    </a:solidFill>
                    <a:effectLst/>
                    <a:latin typeface="+mn-lt"/>
                    <a:ea typeface="+mn-ea"/>
                    <a:cs typeface="+mn-cs"/>
                  </a:rPr>
                  <a:t>重み行列</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ぎょうれつ</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ここが</a:t>
                </a:r>
                <a:r>
                  <a:rPr lang="es-MX" sz="1200" kern="1200" dirty="0">
                    <a:solidFill>
                      <a:schemeClr val="tx1"/>
                    </a:solidFill>
                    <a:effectLst/>
                    <a:latin typeface="+mn-lt"/>
                    <a:ea typeface="+mn-ea"/>
                    <a:cs typeface="+mn-cs"/>
                  </a:rPr>
                  <a:t> RGCN </a:t>
                </a:r>
                <a:r>
                  <a:rPr lang="ja-JP" altLang="es-MX" sz="1200" kern="1200" dirty="0">
                    <a:solidFill>
                      <a:schemeClr val="tx1"/>
                    </a:solidFill>
                    <a:effectLst/>
                    <a:latin typeface="+mn-lt"/>
                    <a:ea typeface="+mn-ea"/>
                    <a:cs typeface="+mn-cs"/>
                  </a:rPr>
                  <a:t>の重要なポイントです。</a:t>
                </a:r>
                <a:endParaRPr lang="es-MX" sz="1200" kern="1200" dirty="0">
                  <a:solidFill>
                    <a:schemeClr val="tx1"/>
                  </a:solidFill>
                  <a:effectLst/>
                  <a:latin typeface="+mn-lt"/>
                  <a:ea typeface="+mn-ea"/>
                  <a:cs typeface="+mn-cs"/>
                </a:endParaRPr>
              </a:p>
              <a:p>
                <a:r>
                  <a:rPr lang="ja-JP" altLang="es-MX" sz="1200" b="1" kern="1200" dirty="0">
                    <a:solidFill>
                      <a:schemeClr val="tx1"/>
                    </a:solidFill>
                    <a:effectLst/>
                    <a:latin typeface="+mn-lt"/>
                    <a:ea typeface="+mn-ea"/>
                    <a:cs typeface="+mn-cs"/>
                  </a:rPr>
                  <a:t>関係タイプごとに異なる重み行列</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ぎょうれつ</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を持つ</a:t>
                </a:r>
                <a:r>
                  <a:rPr lang="ja-JP" altLang="es-MX" sz="1200" b="0" kern="1200" dirty="0">
                    <a:solidFill>
                      <a:schemeClr val="tx1"/>
                    </a:solidFill>
                    <a:effectLst/>
                    <a:latin typeface="+mn-lt"/>
                    <a:ea typeface="+mn-ea"/>
                    <a:cs typeface="+mn-cs"/>
                  </a:rPr>
                  <a:t>ため、</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たとえば </a:t>
                </a:r>
                <a:r>
                  <a:rPr lang="es-MX" sz="1200" b="1" kern="1200" dirty="0">
                    <a:solidFill>
                      <a:schemeClr val="tx1"/>
                    </a:solidFill>
                    <a:effectLst/>
                    <a:latin typeface="+mn-lt"/>
                    <a:ea typeface="+mn-ea"/>
                    <a:cs typeface="+mn-cs"/>
                  </a:rPr>
                  <a:t>Reason </a:t>
                </a:r>
                <a:r>
                  <a:rPr lang="ja-JP" altLang="es-MX" sz="1200" b="1" kern="1200" dirty="0">
                    <a:solidFill>
                      <a:schemeClr val="tx1"/>
                    </a:solidFill>
                    <a:effectLst/>
                    <a:latin typeface="+mn-lt"/>
                    <a:ea typeface="+mn-ea"/>
                    <a:cs typeface="+mn-cs"/>
                  </a:rPr>
                  <a:t>関係</a:t>
                </a:r>
                <a:r>
                  <a:rPr lang="ja-JP" altLang="es-MX" sz="1200" kern="1200" dirty="0">
                    <a:solidFill>
                      <a:schemeClr val="tx1"/>
                    </a:solidFill>
                    <a:effectLst/>
                    <a:latin typeface="+mn-lt"/>
                    <a:ea typeface="+mn-ea"/>
                    <a:cs typeface="+mn-cs"/>
                  </a:rPr>
                  <a:t>を通</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とお</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る情報と</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Contrast</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関係</a:t>
                </a:r>
                <a:r>
                  <a:rPr lang="ja-JP" altLang="es-MX" sz="1200" kern="1200" dirty="0">
                    <a:solidFill>
                      <a:schemeClr val="tx1"/>
                    </a:solidFill>
                    <a:effectLst/>
                    <a:latin typeface="+mn-lt"/>
                    <a:ea typeface="+mn-ea"/>
                    <a:cs typeface="+mn-cs"/>
                  </a:rPr>
                  <a:t>を通る情報を</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異なる方法で変換することができます。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最後に、</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sSubSup>
                        <m:sSubSupPr>
                          <m:ctrlPr>
                            <a:rPr lang="es-MX" sz="1200" i="1" kern="1200">
                              <a:solidFill>
                                <a:schemeClr val="tx1"/>
                              </a:solidFill>
                              <a:effectLst/>
                              <a:latin typeface="+mn-lt"/>
                              <a:ea typeface="+mn-ea"/>
                              <a:cs typeface="+mn-cs"/>
                            </a:rPr>
                          </m:ctrlPr>
                        </m:sSubSupPr>
                        <m:e>
                          <m:r>
                            <a:rPr lang="es-MX" sz="1200" i="1" kern="1200">
                              <a:solidFill>
                                <a:schemeClr val="tx1"/>
                              </a:solidFill>
                              <a:effectLst/>
                              <a:latin typeface="+mn-lt"/>
                              <a:ea typeface="+mn-ea"/>
                              <a:cs typeface="+mn-cs"/>
                            </a:rPr>
                            <m:t>h</m:t>
                          </m:r>
                        </m:e>
                        <m:sub>
                          <m:r>
                            <a:rPr lang="es-MX" sz="1200" i="1" kern="1200">
                              <a:solidFill>
                                <a:schemeClr val="tx1"/>
                              </a:solidFill>
                              <a:effectLst/>
                              <a:latin typeface="+mn-lt"/>
                              <a:ea typeface="+mn-ea"/>
                              <a:cs typeface="+mn-cs"/>
                            </a:rPr>
                            <m:t>𝑗</m:t>
                          </m:r>
                        </m:sub>
                        <m:sup>
                          <m:d>
                            <m:dPr>
                              <m:ctrlPr>
                                <a:rPr lang="es-MX" sz="1200" i="1" kern="1200">
                                  <a:solidFill>
                                    <a:schemeClr val="tx1"/>
                                  </a:solidFill>
                                  <a:effectLst/>
                                  <a:latin typeface="+mn-lt"/>
                                  <a:ea typeface="+mn-ea"/>
                                  <a:cs typeface="+mn-cs"/>
                                </a:rPr>
                              </m:ctrlPr>
                            </m:dPr>
                            <m:e>
                              <m:r>
                                <a:rPr lang="es-MX" sz="1200" i="1" kern="1200">
                                  <a:solidFill>
                                    <a:schemeClr val="tx1"/>
                                  </a:solidFill>
                                  <a:effectLst/>
                                  <a:latin typeface="+mn-lt"/>
                                  <a:ea typeface="+mn-ea"/>
                                  <a:cs typeface="+mn-cs"/>
                                </a:rPr>
                                <m:t>𝑙</m:t>
                              </m:r>
                            </m:e>
                          </m:d>
                        </m:sup>
                      </m:sSubSup>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 </a:t>
                </a:r>
                <a:r>
                  <a:rPr lang="ja-JP" altLang="es-MX" sz="1200" b="1" kern="1200" dirty="0">
                    <a:solidFill>
                      <a:schemeClr val="tx1"/>
                    </a:solidFill>
                    <a:effectLst/>
                    <a:latin typeface="+mn-lt"/>
                    <a:ea typeface="+mn-ea"/>
                    <a:cs typeface="+mn-cs"/>
                  </a:rPr>
                  <a:t>現在の層 </a:t>
                </a:r>
                <a14:m>
                  <m:oMath xmlns:m="http://schemas.openxmlformats.org/officeDocument/2006/math">
                    <m:r>
                      <a:rPr lang="es-MX" sz="1200" i="1" kern="1200">
                        <a:solidFill>
                          <a:schemeClr val="tx1"/>
                        </a:solidFill>
                        <a:effectLst/>
                        <a:latin typeface="+mn-lt"/>
                        <a:ea typeface="+mn-ea"/>
                        <a:cs typeface="+mn-cs"/>
                      </a:rPr>
                      <m:t>𝑙</m:t>
                    </m:r>
                  </m:oMath>
                </a14:m>
                <a:r>
                  <a:rPr lang="ja-JP" altLang="es-MX" sz="1200" kern="1200" dirty="0">
                    <a:solidFill>
                      <a:schemeClr val="tx1"/>
                    </a:solidFill>
                    <a:effectLst/>
                    <a:latin typeface="+mn-lt"/>
                    <a:ea typeface="+mn-ea"/>
                    <a:cs typeface="+mn-cs"/>
                  </a:rPr>
                  <a:t>における</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近傍</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きんぼう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ノード </a:t>
                </a:r>
                <a14:m>
                  <m:oMath xmlns:m="http://schemas.openxmlformats.org/officeDocument/2006/math">
                    <m:r>
                      <a:rPr lang="es-MX" sz="1200" b="0" i="1" kern="1200">
                        <a:solidFill>
                          <a:schemeClr val="tx1"/>
                        </a:solidFill>
                        <a:effectLst/>
                        <a:latin typeface="+mn-lt"/>
                        <a:ea typeface="+mn-ea"/>
                        <a:cs typeface="+mn-cs"/>
                      </a:rPr>
                      <m:t>𝑗</m:t>
                    </m:r>
                  </m:oMath>
                </a14:m>
                <a:r>
                  <a:rPr lang="ja-JP" altLang="es-MX" sz="1200" kern="1200" dirty="0">
                    <a:solidFill>
                      <a:schemeClr val="tx1"/>
                    </a:solidFill>
                    <a:effectLst/>
                    <a:latin typeface="+mn-lt"/>
                    <a:ea typeface="+mn-ea"/>
                    <a:cs typeface="+mn-cs"/>
                  </a:rPr>
                  <a:t>の表現です。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つまり、モデルは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近傍ノードのベクトルを取り出し、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関係タイプに応じた重み行列で変換し、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それを集約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しゅうやく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ノード </a:t>
                </a:r>
                <a14:m>
                  <m:oMath xmlns:m="http://schemas.openxmlformats.org/officeDocument/2006/math">
                    <m:r>
                      <a:rPr lang="es-MX" sz="1200" i="1" kern="1200">
                        <a:solidFill>
                          <a:schemeClr val="tx1"/>
                        </a:solidFill>
                        <a:effectLst/>
                        <a:latin typeface="+mn-lt"/>
                        <a:ea typeface="+mn-ea"/>
                        <a:cs typeface="+mn-cs"/>
                      </a:rPr>
                      <m:t>𝑖</m:t>
                    </m:r>
                  </m:oMath>
                </a14:m>
                <a:r>
                  <a:rPr lang="ja-JP" altLang="es-MX" sz="1200" kern="1200" dirty="0">
                    <a:solidFill>
                      <a:schemeClr val="tx1"/>
                    </a:solidFill>
                    <a:effectLst/>
                    <a:latin typeface="+mn-lt"/>
                    <a:ea typeface="+mn-ea"/>
                    <a:cs typeface="+mn-cs"/>
                  </a:rPr>
                  <a:t>の新しい表現を作っています。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mc:Choice>
        <mc:Fallback>
          <p:sp>
            <p:nvSpPr>
              <p:cNvPr id="3" name="Notes Placeholder 2">
                <a:extLst>
                  <a:ext uri="{FF2B5EF4-FFF2-40B4-BE49-F238E27FC236}">
                    <a16:creationId xmlns:a16="http://schemas.microsoft.com/office/drawing/2014/main" id="{46A7C115-0552-C0CE-C422-42B2DC9C155B}"/>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次に、</a:t>
                </a:r>
                <a:r>
                  <a:rPr lang="es-MX" sz="1200" b="1" kern="1200" dirty="0">
                    <a:solidFill>
                      <a:schemeClr val="tx1"/>
                    </a:solidFill>
                    <a:effectLst/>
                    <a:latin typeface="+mn-lt"/>
                    <a:ea typeface="+mn-ea"/>
                    <a:cs typeface="+mn-cs"/>
                  </a:rPr>
                  <a:t>Step 6 </a:t>
                </a:r>
                <a:r>
                  <a:rPr lang="ja-JP" altLang="es-MX" sz="1200" b="1" kern="1200" dirty="0">
                    <a:solidFill>
                      <a:schemeClr val="tx1"/>
                    </a:solidFill>
                    <a:effectLst/>
                    <a:latin typeface="+mn-lt"/>
                    <a:ea typeface="+mn-ea"/>
                    <a:cs typeface="+mn-cs"/>
                  </a:rPr>
                  <a:t>の</a:t>
                </a:r>
                <a:r>
                  <a:rPr lang="es-MX" sz="1200" b="1" kern="1200" dirty="0">
                    <a:solidFill>
                      <a:schemeClr val="tx1"/>
                    </a:solidFill>
                    <a:effectLst/>
                    <a:latin typeface="+mn-lt"/>
                    <a:ea typeface="+mn-ea"/>
                    <a:cs typeface="+mn-cs"/>
                  </a:rPr>
                  <a:t> RGCN-</a:t>
                </a:r>
                <a:r>
                  <a:rPr lang="es-MX" sz="1200" b="1" kern="1200" dirty="0" err="1">
                    <a:solidFill>
                      <a:schemeClr val="tx1"/>
                    </a:solidFill>
                    <a:effectLst/>
                    <a:latin typeface="+mn-lt"/>
                    <a:ea typeface="+mn-ea"/>
                    <a:cs typeface="+mn-cs"/>
                  </a:rPr>
                  <a:t>Based</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Reasoning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について説明します。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前のステップでは、アンカーイベントと</a:t>
                </a:r>
                <a:r>
                  <a:rPr lang="es-MX" sz="1200" kern="1200" dirty="0">
                    <a:solidFill>
                      <a:schemeClr val="tx1"/>
                    </a:solidFill>
                    <a:effectLst/>
                    <a:latin typeface="+mn-lt"/>
                    <a:ea typeface="+mn-ea"/>
                    <a:cs typeface="+mn-cs"/>
                  </a:rPr>
                  <a:t> Steiner </a:t>
                </a:r>
                <a:r>
                  <a:rPr lang="ja-JP" altLang="es-MX" sz="1200" kern="1200" dirty="0">
                    <a:solidFill>
                      <a:schemeClr val="tx1"/>
                    </a:solidFill>
                    <a:effectLst/>
                    <a:latin typeface="+mn-lt"/>
                    <a:ea typeface="+mn-ea"/>
                    <a:cs typeface="+mn-cs"/>
                  </a:rPr>
                  <a:t>ノードを結</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むす</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び付けた</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推論用のサブグラフ</a:t>
                </a:r>
                <a:r>
                  <a:rPr lang="ja-JP" altLang="es-MX" sz="1200" kern="1200" dirty="0">
                    <a:solidFill>
                      <a:schemeClr val="tx1"/>
                    </a:solidFill>
                    <a:effectLst/>
                    <a:latin typeface="+mn-lt"/>
                    <a:ea typeface="+mn-ea"/>
                    <a:cs typeface="+mn-cs"/>
                  </a:rPr>
                  <a:t>を構築しました。</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この段階では、テキストのイベントと</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の知識が</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つのグラフ </a:t>
                </a:r>
                <a:r>
                  <a:rPr lang="es-MX" sz="1200" i="0" kern="1200">
                    <a:solidFill>
                      <a:schemeClr val="tx1"/>
                    </a:solidFill>
                    <a:effectLst/>
                    <a:latin typeface="+mn-lt"/>
                    <a:ea typeface="+mn-ea"/>
                    <a:cs typeface="+mn-cs"/>
                  </a:rPr>
                  <a:t>𝐺_𝑗𝑜𝑖𝑛𝑡</a:t>
                </a:r>
                <a:r>
                  <a:rPr lang="ja-JP" altLang="es-MX" sz="1200" kern="1200" dirty="0">
                    <a:solidFill>
                      <a:schemeClr val="tx1"/>
                    </a:solidFill>
                    <a:effectLst/>
                    <a:latin typeface="+mn-lt"/>
                    <a:ea typeface="+mn-ea"/>
                    <a:cs typeface="+mn-cs"/>
                  </a:rPr>
                  <a:t>として表現されています。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このステップの目的は、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このグラフ上で </a:t>
                </a:r>
                <a:r>
                  <a:rPr lang="ja-JP" altLang="es-MX" sz="1200" b="1" kern="1200" dirty="0">
                    <a:solidFill>
                      <a:schemeClr val="tx1"/>
                    </a:solidFill>
                    <a:effectLst/>
                    <a:latin typeface="+mn-lt"/>
                    <a:ea typeface="+mn-ea"/>
                    <a:cs typeface="+mn-cs"/>
                  </a:rPr>
                  <a:t>実際に推論を行うこと</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 </a:t>
                </a:r>
                <a:r>
                  <a:rPr lang="es-MX" sz="1200" b="1" kern="1200" dirty="0" err="1">
                    <a:solidFill>
                      <a:schemeClr val="tx1"/>
                    </a:solidFill>
                    <a:effectLst/>
                    <a:latin typeface="+mn-lt"/>
                    <a:ea typeface="+mn-ea"/>
                    <a:cs typeface="+mn-cs"/>
                  </a:rPr>
                  <a:t>Phase</a:t>
                </a:r>
                <a:r>
                  <a:rPr lang="es-MX" sz="1200" b="1" kern="1200" dirty="0">
                    <a:solidFill>
                      <a:schemeClr val="tx1"/>
                    </a:solidFill>
                    <a:effectLst/>
                    <a:latin typeface="+mn-lt"/>
                    <a:ea typeface="+mn-ea"/>
                    <a:cs typeface="+mn-cs"/>
                  </a:rPr>
                  <a:t> 1</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グラフのノードと入力テキストを </a:t>
                </a:r>
                <a:r>
                  <a:rPr lang="ja-JP" altLang="es-MX" sz="1200" b="1" kern="1200" dirty="0">
                    <a:solidFill>
                      <a:schemeClr val="tx1"/>
                    </a:solidFill>
                    <a:effectLst/>
                    <a:latin typeface="+mn-lt"/>
                    <a:ea typeface="+mn-ea"/>
                    <a:cs typeface="+mn-cs"/>
                  </a:rPr>
                  <a:t>言語モデル</a:t>
                </a:r>
                <a:r>
                  <a:rPr lang="ja-JP" altLang="es-MX" sz="1200" kern="1200" dirty="0">
                    <a:solidFill>
                      <a:schemeClr val="tx1"/>
                    </a:solidFill>
                    <a:effectLst/>
                    <a:latin typeface="+mn-lt"/>
                    <a:ea typeface="+mn-ea"/>
                    <a:cs typeface="+mn-cs"/>
                  </a:rPr>
                  <a:t>でベクトル表現に変換します。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そのときに用いる式がこちらです。</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𝑣=𝑓_𝐿𝑀 (𝑡𝑒𝑥𝑡(𝑣))</a:t>
                </a:r>
                <a:br>
                  <a:rPr lang="es-MX" sz="1200" kern="1200" dirty="0">
                    <a:solidFill>
                      <a:schemeClr val="tx1"/>
                    </a:solidFill>
                    <a:effectLst/>
                    <a:latin typeface="+mn-lt"/>
                    <a:ea typeface="+mn-ea"/>
                    <a:cs typeface="+mn-cs"/>
                  </a:rPr>
                </a:br>
                <a:r>
                  <a:rPr lang="es-MX" sz="1200" i="0" kern="1200">
                    <a:solidFill>
                      <a:schemeClr val="tx1"/>
                    </a:solidFill>
                    <a:effectLst/>
                    <a:latin typeface="+mn-lt"/>
                    <a:ea typeface="+mn-ea"/>
                    <a:cs typeface="+mn-cs"/>
                  </a:rPr>
                  <a:t>𝑠=𝑓_𝐿𝑀 (𝑠)</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 </a:t>
                </a:r>
                <a:r>
                  <a:rPr lang="es-MX" sz="1200" i="0" kern="1200">
                    <a:solidFill>
                      <a:schemeClr val="tx1"/>
                    </a:solidFill>
                    <a:effectLst/>
                    <a:latin typeface="+mn-lt"/>
                    <a:ea typeface="+mn-ea"/>
                    <a:cs typeface="+mn-cs"/>
                  </a:rPr>
                  <a:t>𝑣</a:t>
                </a:r>
                <a:r>
                  <a:rPr lang="ja-JP" altLang="es-MX" sz="1200" kern="1200" dirty="0">
                    <a:solidFill>
                      <a:schemeClr val="tx1"/>
                    </a:solidFill>
                    <a:effectLst/>
                    <a:latin typeface="+mn-lt"/>
                    <a:ea typeface="+mn-ea"/>
                    <a:cs typeface="+mn-cs"/>
                  </a:rPr>
                  <a:t>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のノード、</a:t>
                </a:r>
                <a:br>
                  <a:rPr lang="es-MX" sz="1200" kern="1200" dirty="0">
                    <a:solidFill>
                      <a:schemeClr val="tx1"/>
                    </a:solidFill>
                    <a:effectLst/>
                    <a:latin typeface="+mn-lt"/>
                    <a:ea typeface="+mn-ea"/>
                    <a:cs typeface="+mn-cs"/>
                  </a:rPr>
                </a:br>
                <a:r>
                  <a:rPr lang="es-MX" sz="1200" i="0" kern="1200">
                    <a:solidFill>
                      <a:schemeClr val="tx1"/>
                    </a:solidFill>
                    <a:effectLst/>
                    <a:latin typeface="+mn-lt"/>
                    <a:ea typeface="+mn-ea"/>
                    <a:cs typeface="+mn-cs"/>
                  </a:rPr>
                  <a:t>𝑠</a:t>
                </a:r>
                <a:r>
                  <a:rPr lang="ja-JP" altLang="es-MX" sz="1200" kern="1200" dirty="0">
                    <a:solidFill>
                      <a:schemeClr val="tx1"/>
                    </a:solidFill>
                    <a:effectLst/>
                    <a:latin typeface="+mn-lt"/>
                    <a:ea typeface="+mn-ea"/>
                    <a:cs typeface="+mn-cs"/>
                  </a:rPr>
                  <a:t>は入力テキストを表します。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また、</a:t>
                </a:r>
                <a:r>
                  <a:rPr lang="es-MX" sz="1200" i="0" kern="1200">
                    <a:solidFill>
                      <a:schemeClr val="tx1"/>
                    </a:solidFill>
                    <a:effectLst/>
                    <a:latin typeface="+mn-lt"/>
                    <a:ea typeface="+mn-ea"/>
                    <a:cs typeface="+mn-cs"/>
                  </a:rPr>
                  <a:t>𝑓_𝐿𝑀</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RoBERTa</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などの言語モデルです。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つまり、この段階では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テキストとグラフのノードの両方を</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意味ベクトル（</a:t>
                </a:r>
                <a:r>
                  <a:rPr lang="es-MX" sz="1200" b="1" kern="1200" dirty="0" err="1">
                    <a:solidFill>
                      <a:schemeClr val="tx1"/>
                    </a:solidFill>
                    <a:effectLst/>
                    <a:latin typeface="+mn-lt"/>
                    <a:ea typeface="+mn-ea"/>
                    <a:cs typeface="+mn-cs"/>
                  </a:rPr>
                  <a:t>embedding</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に変換しています。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 </a:t>
                </a:r>
                <a:r>
                  <a:rPr lang="es-MX" sz="1200" b="1" kern="1200" dirty="0" err="1">
                    <a:solidFill>
                      <a:schemeClr val="tx1"/>
                    </a:solidFill>
                    <a:effectLst/>
                    <a:latin typeface="+mn-lt"/>
                    <a:ea typeface="+mn-ea"/>
                    <a:cs typeface="+mn-cs"/>
                  </a:rPr>
                  <a:t>Phase</a:t>
                </a:r>
                <a:r>
                  <a:rPr lang="es-MX" sz="1200" b="1" kern="1200" dirty="0">
                    <a:solidFill>
                      <a:schemeClr val="tx1"/>
                    </a:solidFill>
                    <a:effectLst/>
                    <a:latin typeface="+mn-lt"/>
                    <a:ea typeface="+mn-ea"/>
                    <a:cs typeface="+mn-cs"/>
                  </a:rPr>
                  <a:t> 2</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では、</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RGCN</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Relational</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Convolutional</a:t>
                </a:r>
                <a:r>
                  <a:rPr lang="es-MX" sz="1200" b="1" kern="1200" dirty="0">
                    <a:solidFill>
                      <a:schemeClr val="tx1"/>
                    </a:solidFill>
                    <a:effectLst/>
                    <a:latin typeface="+mn-lt"/>
                    <a:ea typeface="+mn-ea"/>
                    <a:cs typeface="+mn-cs"/>
                  </a:rPr>
                  <a:t> Network</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を使って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グラフ上で推論を行います。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 </a:t>
                </a:r>
                <a:r>
                  <a:rPr lang="ja-JP" altLang="es-MX" sz="1200" b="1" kern="1200" dirty="0">
                    <a:solidFill>
                      <a:schemeClr val="tx1"/>
                    </a:solidFill>
                    <a:effectLst/>
                    <a:latin typeface="+mn-lt"/>
                    <a:ea typeface="+mn-ea"/>
                    <a:cs typeface="+mn-cs"/>
                  </a:rPr>
                  <a:t>なぜ普通の</a:t>
                </a:r>
                <a:r>
                  <a:rPr lang="es-MX" sz="1200" b="1" kern="1200" dirty="0">
                    <a:solidFill>
                      <a:schemeClr val="tx1"/>
                    </a:solidFill>
                    <a:effectLst/>
                    <a:latin typeface="+mn-lt"/>
                    <a:ea typeface="+mn-ea"/>
                    <a:cs typeface="+mn-cs"/>
                  </a:rPr>
                  <a:t> GNN </a:t>
                </a:r>
                <a:r>
                  <a:rPr lang="ja-JP" altLang="es-MX" sz="1200" b="1" kern="1200" dirty="0">
                    <a:solidFill>
                      <a:schemeClr val="tx1"/>
                    </a:solidFill>
                    <a:effectLst/>
                    <a:latin typeface="+mn-lt"/>
                    <a:ea typeface="+mn-ea"/>
                    <a:cs typeface="+mn-cs"/>
                  </a:rPr>
                  <a:t>ではなく</a:t>
                </a:r>
                <a:r>
                  <a:rPr lang="es-MX" sz="1200" b="1" kern="1200" dirty="0">
                    <a:solidFill>
                      <a:schemeClr val="tx1"/>
                    </a:solidFill>
                    <a:effectLst/>
                    <a:latin typeface="+mn-lt"/>
                    <a:ea typeface="+mn-ea"/>
                    <a:cs typeface="+mn-cs"/>
                  </a:rPr>
                  <a:t> RGCN </a:t>
                </a:r>
                <a:r>
                  <a:rPr lang="ja-JP" altLang="es-MX" sz="1200" b="1" kern="1200" dirty="0">
                    <a:solidFill>
                      <a:schemeClr val="tx1"/>
                    </a:solidFill>
                    <a:effectLst/>
                    <a:latin typeface="+mn-lt"/>
                    <a:ea typeface="+mn-ea"/>
                    <a:cs typeface="+mn-cs"/>
                  </a:rPr>
                  <a:t>を使うのか</a:t>
                </a:r>
                <a:r>
                  <a:rPr lang="ja-JP" altLang="es-MX" sz="1200" kern="1200" dirty="0">
                    <a:solidFill>
                      <a:schemeClr val="tx1"/>
                    </a:solidFill>
                    <a:effectLst/>
                    <a:latin typeface="+mn-lt"/>
                    <a:ea typeface="+mn-ea"/>
                    <a:cs typeface="+mn-cs"/>
                  </a:rPr>
                  <a:t>という点が重要です。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通常の</a:t>
                </a:r>
                <a:r>
                  <a:rPr lang="es-MX" sz="1200" kern="1200" dirty="0">
                    <a:solidFill>
                      <a:schemeClr val="tx1"/>
                    </a:solidFill>
                    <a:effectLst/>
                    <a:latin typeface="+mn-lt"/>
                    <a:ea typeface="+mn-ea"/>
                    <a:cs typeface="+mn-cs"/>
                  </a:rPr>
                  <a:t> GNN </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グラフ内のすべての</a:t>
                </a:r>
                <a:r>
                  <a:rPr lang="en-US" sz="1200" kern="1200" dirty="0">
                    <a:solidFill>
                      <a:schemeClr val="tx1"/>
                    </a:solidFill>
                    <a:effectLst/>
                    <a:latin typeface="+mn-lt"/>
                    <a:ea typeface="+mn-ea"/>
                    <a:cs typeface="+mn-cs"/>
                  </a:rPr>
                  <a:t>edge</a:t>
                </a:r>
                <a:r>
                  <a:rPr lang="ja-JP" altLang="es-MX" sz="1200" kern="1200" dirty="0">
                    <a:solidFill>
                      <a:schemeClr val="tx1"/>
                    </a:solidFill>
                    <a:effectLst/>
                    <a:latin typeface="+mn-lt"/>
                    <a:ea typeface="+mn-ea"/>
                    <a:cs typeface="+mn-cs"/>
                  </a:rPr>
                  <a:t>を同じ種類として扱います。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しかし、この研究で使用している </a:t>
                </a:r>
                <a:r>
                  <a:rPr lang="es-MX" sz="1200" b="1" kern="1200" dirty="0">
                    <a:solidFill>
                      <a:schemeClr val="tx1"/>
                    </a:solidFill>
                    <a:effectLst/>
                    <a:latin typeface="+mn-lt"/>
                    <a:ea typeface="+mn-ea"/>
                    <a:cs typeface="+mn-cs"/>
                  </a:rPr>
                  <a:t>ASER</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ノード同士の関係にさまざまなタイプがあります。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例えば、</a:t>
                </a:r>
                <a:endParaRPr lang="es-MX" sz="1200" kern="1200" dirty="0">
                  <a:solidFill>
                    <a:schemeClr val="tx1"/>
                  </a:solidFill>
                  <a:effectLst/>
                  <a:latin typeface="+mn-lt"/>
                  <a:ea typeface="+mn-ea"/>
                  <a:cs typeface="+mn-cs"/>
                </a:endParaRPr>
              </a:p>
              <a:p>
                <a:pPr lvl="0"/>
                <a:r>
                  <a:rPr lang="es-MX" sz="1200" b="1" kern="1200" dirty="0">
                    <a:solidFill>
                      <a:schemeClr val="tx1"/>
                    </a:solidFill>
                    <a:effectLst/>
                    <a:latin typeface="+mn-lt"/>
                    <a:ea typeface="+mn-ea"/>
                    <a:cs typeface="+mn-cs"/>
                  </a:rPr>
                  <a:t>Reason</a:t>
                </a:r>
                <a:endParaRPr lang="es-MX" sz="1200" kern="1200" dirty="0">
                  <a:solidFill>
                    <a:schemeClr val="tx1"/>
                  </a:solidFill>
                  <a:effectLst/>
                  <a:latin typeface="+mn-lt"/>
                  <a:ea typeface="+mn-ea"/>
                  <a:cs typeface="+mn-cs"/>
                </a:endParaRPr>
              </a:p>
              <a:p>
                <a:pPr lvl="0"/>
                <a:r>
                  <a:rPr lang="es-MX" sz="1200" b="1" kern="1200" dirty="0" err="1">
                    <a:solidFill>
                      <a:schemeClr val="tx1"/>
                    </a:solidFill>
                    <a:effectLst/>
                    <a:latin typeface="+mn-lt"/>
                    <a:ea typeface="+mn-ea"/>
                    <a:cs typeface="+mn-cs"/>
                  </a:rPr>
                  <a:t>Result</a:t>
                </a:r>
                <a:endParaRPr lang="es-MX" sz="1200" kern="1200" dirty="0">
                  <a:solidFill>
                    <a:schemeClr val="tx1"/>
                  </a:solidFill>
                  <a:effectLst/>
                  <a:latin typeface="+mn-lt"/>
                  <a:ea typeface="+mn-ea"/>
                  <a:cs typeface="+mn-cs"/>
                </a:endParaRPr>
              </a:p>
              <a:p>
                <a:pPr lvl="0"/>
                <a:r>
                  <a:rPr lang="es-MX" sz="1200" b="1" kern="1200" dirty="0" err="1">
                    <a:solidFill>
                      <a:schemeClr val="tx1"/>
                    </a:solidFill>
                    <a:effectLst/>
                    <a:latin typeface="+mn-lt"/>
                    <a:ea typeface="+mn-ea"/>
                    <a:cs typeface="+mn-cs"/>
                  </a:rPr>
                  <a:t>Condition</a:t>
                </a:r>
                <a:endParaRPr lang="es-MX" sz="1200" kern="1200" dirty="0">
                  <a:solidFill>
                    <a:schemeClr val="tx1"/>
                  </a:solidFill>
                  <a:effectLst/>
                  <a:latin typeface="+mn-lt"/>
                  <a:ea typeface="+mn-ea"/>
                  <a:cs typeface="+mn-cs"/>
                </a:endParaRPr>
              </a:p>
              <a:p>
                <a:pPr lvl="0"/>
                <a:r>
                  <a:rPr lang="es-MX" sz="1200" b="1" kern="1200" dirty="0" err="1">
                    <a:solidFill>
                      <a:schemeClr val="tx1"/>
                    </a:solidFill>
                    <a:effectLst/>
                    <a:latin typeface="+mn-lt"/>
                    <a:ea typeface="+mn-ea"/>
                    <a:cs typeface="+mn-cs"/>
                  </a:rPr>
                  <a:t>Contrast</a:t>
                </a:r>
                <a:endParaRPr lang="es-MX" sz="1200" kern="1200" dirty="0">
                  <a:solidFill>
                    <a:schemeClr val="tx1"/>
                  </a:solidFill>
                  <a:effectLst/>
                  <a:latin typeface="+mn-lt"/>
                  <a:ea typeface="+mn-ea"/>
                  <a:cs typeface="+mn-cs"/>
                </a:endParaRPr>
              </a:p>
              <a:p>
                <a:pPr lvl="0"/>
                <a:r>
                  <a:rPr lang="es-MX" sz="1200" b="1" kern="1200" dirty="0" err="1">
                    <a:solidFill>
                      <a:schemeClr val="tx1"/>
                    </a:solidFill>
                    <a:effectLst/>
                    <a:latin typeface="+mn-lt"/>
                    <a:ea typeface="+mn-ea"/>
                    <a:cs typeface="+mn-cs"/>
                  </a:rPr>
                  <a:t>Succession</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などです。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これらの関係は、それぞれ </a:t>
                </a:r>
                <a:r>
                  <a:rPr lang="ja-JP" altLang="es-MX" sz="1200" b="1" kern="1200" dirty="0">
                    <a:solidFill>
                      <a:schemeClr val="tx1"/>
                    </a:solidFill>
                    <a:effectLst/>
                    <a:latin typeface="+mn-lt"/>
                    <a:ea typeface="+mn-ea"/>
                    <a:cs typeface="+mn-cs"/>
                  </a:rPr>
                  <a:t>異なる意味</a:t>
                </a:r>
                <a:r>
                  <a:rPr lang="ja-JP" altLang="es-MX" sz="1200" kern="1200" dirty="0">
                    <a:solidFill>
                      <a:schemeClr val="tx1"/>
                    </a:solidFill>
                    <a:effectLst/>
                    <a:latin typeface="+mn-lt"/>
                    <a:ea typeface="+mn-ea"/>
                    <a:cs typeface="+mn-cs"/>
                  </a:rPr>
                  <a:t>を持っています。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そのため、</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すべての関係を同じように扱うと、意味の違いを表現できません。</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そこで、この研究では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関係タイプごとに異なる重みを学習できる</a:t>
                </a:r>
                <a:r>
                  <a:rPr lang="es-MX" sz="1200" b="1" kern="1200" dirty="0">
                    <a:solidFill>
                      <a:schemeClr val="tx1"/>
                    </a:solidFill>
                    <a:effectLst/>
                    <a:latin typeface="+mn-lt"/>
                    <a:ea typeface="+mn-ea"/>
                    <a:cs typeface="+mn-cs"/>
                  </a:rPr>
                  <a:t> RGCN</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を使っています。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ノードの更新は、次の式で表されます。</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ℎ_𝑖^(𝑙ⓜ+1) =𝜎(∑129_(𝑟∈𝑅)▒∑129_(𝑗∈𝑁_𝑟 (𝑖))▒1/(∣𝑁_𝑟 (𝑖)∣) 𝑊_𝑟 ℎ_𝑗^((𝑙) ) )</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この式を </a:t>
                </a:r>
                <a:r>
                  <a:rPr lang="ja-JP" altLang="es-MX" sz="1200" b="1" kern="1200" dirty="0">
                    <a:solidFill>
                      <a:schemeClr val="tx1"/>
                    </a:solidFill>
                    <a:effectLst/>
                    <a:latin typeface="+mn-lt"/>
                    <a:ea typeface="+mn-ea"/>
                    <a:cs typeface="+mn-cs"/>
                  </a:rPr>
                  <a:t>左から順番に説明します。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ℎ_𝑖^(𝑙ⓜ+1) </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 </a:t>
                </a:r>
                <a:r>
                  <a:rPr lang="es-MX" sz="1200" i="0" kern="1200">
                    <a:solidFill>
                      <a:schemeClr val="tx1"/>
                    </a:solidFill>
                    <a:effectLst/>
                    <a:latin typeface="+mn-lt"/>
                    <a:ea typeface="+mn-ea"/>
                    <a:cs typeface="+mn-cs"/>
                  </a:rPr>
                  <a:t>𝑖</a:t>
                </a:r>
                <a:r>
                  <a:rPr lang="ja-JP" altLang="es-MX" sz="1200" kern="1200" dirty="0">
                    <a:solidFill>
                      <a:schemeClr val="tx1"/>
                    </a:solidFill>
                    <a:effectLst/>
                    <a:latin typeface="+mn-lt"/>
                    <a:ea typeface="+mn-ea"/>
                    <a:cs typeface="+mn-cs"/>
                  </a:rPr>
                  <a:t>は、現在更新しているノードを表します。</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𝑙</a:t>
                </a:r>
                <a:r>
                  <a:rPr lang="ja-JP" altLang="es-MX" sz="1200" kern="1200" dirty="0">
                    <a:solidFill>
                      <a:schemeClr val="tx1"/>
                    </a:solidFill>
                    <a:effectLst/>
                    <a:latin typeface="+mn-lt"/>
                    <a:ea typeface="+mn-ea"/>
                    <a:cs typeface="+mn-cs"/>
                  </a:rPr>
                  <a:t>は現在の</a:t>
                </a:r>
                <a:r>
                  <a:rPr lang="es-MX" sz="1200" kern="1200" dirty="0">
                    <a:solidFill>
                      <a:schemeClr val="tx1"/>
                    </a:solidFill>
                    <a:effectLst/>
                    <a:latin typeface="+mn-lt"/>
                    <a:ea typeface="+mn-ea"/>
                    <a:cs typeface="+mn-cs"/>
                  </a:rPr>
                  <a:t> GNN </a:t>
                </a:r>
                <a:r>
                  <a:rPr lang="ja-JP" altLang="es-MX" sz="1200" kern="1200" dirty="0">
                    <a:solidFill>
                      <a:schemeClr val="tx1"/>
                    </a:solidFill>
                    <a:effectLst/>
                    <a:latin typeface="+mn-lt"/>
                    <a:ea typeface="+mn-ea"/>
                    <a:cs typeface="+mn-cs"/>
                  </a:rPr>
                  <a:t>の層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そう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es-MX" sz="1200" i="0" kern="1200">
                    <a:solidFill>
                      <a:schemeClr val="tx1"/>
                    </a:solidFill>
                    <a:effectLst/>
                    <a:latin typeface="+mn-lt"/>
                    <a:ea typeface="+mn-ea"/>
                    <a:cs typeface="+mn-cs"/>
                  </a:rPr>
                  <a:t>𝑙+1</a:t>
                </a:r>
                <a:r>
                  <a:rPr lang="ja-JP" altLang="es-MX" sz="1200" kern="1200" dirty="0">
                    <a:solidFill>
                      <a:schemeClr val="tx1"/>
                    </a:solidFill>
                    <a:effectLst/>
                    <a:latin typeface="+mn-lt"/>
                    <a:ea typeface="+mn-ea"/>
                    <a:cs typeface="+mn-cs"/>
                  </a:rPr>
                  <a:t>は次の層を意味します。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つまり、これは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近傍</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きんぼう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ノードの情報を取り込んだ後の、ノード </a:t>
                </a:r>
                <a:r>
                  <a:rPr lang="es-MX" sz="1200" b="0" i="0" kern="1200">
                    <a:solidFill>
                      <a:schemeClr val="tx1"/>
                    </a:solidFill>
                    <a:effectLst/>
                    <a:latin typeface="+mn-lt"/>
                    <a:ea typeface="+mn-ea"/>
                    <a:cs typeface="+mn-cs"/>
                  </a:rPr>
                  <a:t>𝑖</a:t>
                </a:r>
                <a:r>
                  <a:rPr lang="ja-JP" altLang="es-MX" sz="1200" b="1" kern="1200" dirty="0">
                    <a:solidFill>
                      <a:schemeClr val="tx1"/>
                    </a:solidFill>
                    <a:effectLst/>
                    <a:latin typeface="+mn-lt"/>
                    <a:ea typeface="+mn-ea"/>
                    <a:cs typeface="+mn-cs"/>
                  </a:rPr>
                  <a:t>の新しい表現</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𝜎(𝑠𝑖𝑔𝑚𝑎)</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 </a:t>
                </a:r>
                <a:r>
                  <a:rPr lang="ja-JP" altLang="es-MX" sz="1200" b="1" kern="1200" dirty="0">
                    <a:solidFill>
                      <a:schemeClr val="tx1"/>
                    </a:solidFill>
                    <a:effectLst/>
                    <a:latin typeface="+mn-lt"/>
                    <a:ea typeface="+mn-ea"/>
                    <a:cs typeface="+mn-cs"/>
                  </a:rPr>
                  <a:t>非線形</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ひせんけい</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活性化</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かっせいか</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関数</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かんすう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で、</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ReLU</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などが使われます。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この関数を入れることで、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モデルがより複雑なパターンを学習できるようになります。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∑129_(𝑟∈𝑅)</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 </a:t>
                </a:r>
                <a:r>
                  <a:rPr lang="es-MX" sz="1200" i="0" kern="1200">
                    <a:solidFill>
                      <a:schemeClr val="tx1"/>
                    </a:solidFill>
                    <a:effectLst/>
                    <a:latin typeface="+mn-lt"/>
                    <a:ea typeface="+mn-ea"/>
                    <a:cs typeface="+mn-cs"/>
                  </a:rPr>
                  <a:t>𝑅</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グラフに存在する </a:t>
                </a:r>
                <a:r>
                  <a:rPr lang="ja-JP" altLang="es-MX" sz="1200" b="1" kern="1200" dirty="0">
                    <a:solidFill>
                      <a:schemeClr val="tx1"/>
                    </a:solidFill>
                    <a:effectLst/>
                    <a:latin typeface="+mn-lt"/>
                    <a:ea typeface="+mn-ea"/>
                    <a:cs typeface="+mn-cs"/>
                  </a:rPr>
                  <a:t>すべての関係タイプの集合</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つまり、モデルはまず</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関係タイプごとに</a:t>
                </a:r>
                <a:r>
                  <a:rPr lang="ja-JP" altLang="es-MX" sz="1200" kern="1200" dirty="0">
                    <a:solidFill>
                      <a:schemeClr val="tx1"/>
                    </a:solidFill>
                    <a:effectLst/>
                    <a:latin typeface="+mn-lt"/>
                    <a:ea typeface="+mn-ea"/>
                    <a:cs typeface="+mn-cs"/>
                  </a:rPr>
                  <a:t>情報を処理します。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∑129_(𝑗∈𝑁_𝑟 (𝑖))</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 </a:t>
                </a:r>
                <a:r>
                  <a:rPr lang="es-MX" sz="1200" i="0" kern="1200">
                    <a:solidFill>
                      <a:schemeClr val="tx1"/>
                    </a:solidFill>
                    <a:effectLst/>
                    <a:latin typeface="+mn-lt"/>
                    <a:ea typeface="+mn-ea"/>
                    <a:cs typeface="+mn-cs"/>
                  </a:rPr>
                  <a:t>𝑁_𝑟 (𝑖)</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関係 </a:t>
                </a:r>
                <a:r>
                  <a:rPr lang="es-MX" sz="1200" i="0" kern="1200">
                    <a:solidFill>
                      <a:schemeClr val="tx1"/>
                    </a:solidFill>
                    <a:effectLst/>
                    <a:latin typeface="+mn-lt"/>
                    <a:ea typeface="+mn-ea"/>
                    <a:cs typeface="+mn-cs"/>
                  </a:rPr>
                  <a:t>𝑟</a:t>
                </a:r>
                <a:r>
                  <a:rPr lang="ja-JP" altLang="es-MX" sz="1200" kern="1200" dirty="0">
                    <a:solidFill>
                      <a:schemeClr val="tx1"/>
                    </a:solidFill>
                    <a:effectLst/>
                    <a:latin typeface="+mn-lt"/>
                    <a:ea typeface="+mn-ea"/>
                    <a:cs typeface="+mn-cs"/>
                  </a:rPr>
                  <a:t>を通じてノード </a:t>
                </a:r>
                <a:r>
                  <a:rPr lang="es-MX" sz="1200" i="0" kern="1200">
                    <a:solidFill>
                      <a:schemeClr val="tx1"/>
                    </a:solidFill>
                    <a:effectLst/>
                    <a:latin typeface="+mn-lt"/>
                    <a:ea typeface="+mn-ea"/>
                    <a:cs typeface="+mn-cs"/>
                  </a:rPr>
                  <a:t>𝑖</a:t>
                </a:r>
                <a:r>
                  <a:rPr lang="ja-JP" altLang="es-MX" sz="1200" kern="1200" dirty="0">
                    <a:solidFill>
                      <a:schemeClr val="tx1"/>
                    </a:solidFill>
                    <a:effectLst/>
                    <a:latin typeface="+mn-lt"/>
                    <a:ea typeface="+mn-ea"/>
                    <a:cs typeface="+mn-cs"/>
                  </a:rPr>
                  <a:t>に接続している</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近傍</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きんぼう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ノードの集合</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つまり、この部分では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ノード </a:t>
                </a:r>
                <a:r>
                  <a:rPr lang="es-MX" sz="1200" i="0" kern="1200">
                    <a:solidFill>
                      <a:schemeClr val="tx1"/>
                    </a:solidFill>
                    <a:effectLst/>
                    <a:latin typeface="+mn-lt"/>
                    <a:ea typeface="+mn-ea"/>
                    <a:cs typeface="+mn-cs"/>
                  </a:rPr>
                  <a:t>𝑖</a:t>
                </a:r>
                <a:r>
                  <a:rPr lang="ja-JP" altLang="es-MX" sz="1200" kern="1200" dirty="0">
                    <a:solidFill>
                      <a:schemeClr val="tx1"/>
                    </a:solidFill>
                    <a:effectLst/>
                    <a:latin typeface="+mn-lt"/>
                    <a:ea typeface="+mn-ea"/>
                    <a:cs typeface="+mn-cs"/>
                  </a:rPr>
                  <a:t>に接続している </a:t>
                </a:r>
                <a:r>
                  <a:rPr lang="ja-JP" altLang="es-MX" sz="1200" b="1" kern="1200" dirty="0">
                    <a:solidFill>
                      <a:schemeClr val="tx1"/>
                    </a:solidFill>
                    <a:effectLst/>
                    <a:latin typeface="+mn-lt"/>
                    <a:ea typeface="+mn-ea"/>
                    <a:cs typeface="+mn-cs"/>
                  </a:rPr>
                  <a:t>近傍</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きんぼう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ノード </a:t>
                </a:r>
                <a:r>
                  <a:rPr lang="es-MX" sz="1200" b="0" i="0" kern="1200">
                    <a:solidFill>
                      <a:schemeClr val="tx1"/>
                    </a:solidFill>
                    <a:effectLst/>
                    <a:latin typeface="+mn-lt"/>
                    <a:ea typeface="+mn-ea"/>
                    <a:cs typeface="+mn-cs"/>
                  </a:rPr>
                  <a:t>𝑗</a:t>
                </a:r>
                <a:r>
                  <a:rPr lang="ja-JP" altLang="es-MX" sz="1200" kern="1200" dirty="0">
                    <a:solidFill>
                      <a:schemeClr val="tx1"/>
                    </a:solidFill>
                    <a:effectLst/>
                    <a:latin typeface="+mn-lt"/>
                    <a:ea typeface="+mn-ea"/>
                    <a:cs typeface="+mn-cs"/>
                  </a:rPr>
                  <a:t>から</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情報を集めています。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1/(∣𝑁_𝑟 (𝑖)∣)</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 </a:t>
                </a:r>
                <a:r>
                  <a:rPr lang="ja-JP" altLang="es-MX" sz="1200" b="1" kern="1200" dirty="0">
                    <a:solidFill>
                      <a:schemeClr val="tx1"/>
                    </a:solidFill>
                    <a:effectLst/>
                    <a:latin typeface="+mn-lt"/>
                    <a:ea typeface="+mn-ea"/>
                    <a:cs typeface="+mn-cs"/>
                  </a:rPr>
                  <a:t>正規化</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せいきか</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項</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こう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近傍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きんぼう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ノードの数で割</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近傍ノードが多い場合でも</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特定のノードの影響が大きくなりすぎないようにしています。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つまり、近傍ノードの情報を </a:t>
                </a:r>
                <a:r>
                  <a:rPr lang="ja-JP" altLang="es-MX" sz="1200" b="1" kern="1200" dirty="0">
                    <a:solidFill>
                      <a:schemeClr val="tx1"/>
                    </a:solidFill>
                    <a:effectLst/>
                    <a:latin typeface="+mn-lt"/>
                    <a:ea typeface="+mn-ea"/>
                    <a:cs typeface="+mn-cs"/>
                  </a:rPr>
                  <a:t>平均化</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へいきんか</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𝑊_𝑟</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 </a:t>
                </a:r>
                <a:r>
                  <a:rPr lang="ja-JP" altLang="es-MX" sz="1200" b="1" kern="1200" dirty="0">
                    <a:solidFill>
                      <a:schemeClr val="tx1"/>
                    </a:solidFill>
                    <a:effectLst/>
                    <a:latin typeface="+mn-lt"/>
                    <a:ea typeface="+mn-ea"/>
                    <a:cs typeface="+mn-cs"/>
                  </a:rPr>
                  <a:t>関係 </a:t>
                </a:r>
                <a:r>
                  <a:rPr lang="es-MX" sz="1200" i="0" kern="1200">
                    <a:solidFill>
                      <a:schemeClr val="tx1"/>
                    </a:solidFill>
                    <a:effectLst/>
                    <a:latin typeface="+mn-lt"/>
                    <a:ea typeface="+mn-ea"/>
                    <a:cs typeface="+mn-cs"/>
                  </a:rPr>
                  <a:t>𝑟</a:t>
                </a:r>
                <a:r>
                  <a:rPr lang="ja-JP" altLang="es-MX" sz="1200" kern="1200" dirty="0">
                    <a:solidFill>
                      <a:schemeClr val="tx1"/>
                    </a:solidFill>
                    <a:effectLst/>
                    <a:latin typeface="+mn-lt"/>
                    <a:ea typeface="+mn-ea"/>
                    <a:cs typeface="+mn-cs"/>
                  </a:rPr>
                  <a:t>に対応する </a:t>
                </a:r>
                <a:r>
                  <a:rPr lang="ja-JP" altLang="es-MX" sz="1200" b="1" kern="1200" dirty="0">
                    <a:solidFill>
                      <a:schemeClr val="tx1"/>
                    </a:solidFill>
                    <a:effectLst/>
                    <a:latin typeface="+mn-lt"/>
                    <a:ea typeface="+mn-ea"/>
                    <a:cs typeface="+mn-cs"/>
                  </a:rPr>
                  <a:t>重み行列</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ぎょうれつ</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ここが</a:t>
                </a:r>
                <a:r>
                  <a:rPr lang="es-MX" sz="1200" kern="1200" dirty="0">
                    <a:solidFill>
                      <a:schemeClr val="tx1"/>
                    </a:solidFill>
                    <a:effectLst/>
                    <a:latin typeface="+mn-lt"/>
                    <a:ea typeface="+mn-ea"/>
                    <a:cs typeface="+mn-cs"/>
                  </a:rPr>
                  <a:t> RGCN </a:t>
                </a:r>
                <a:r>
                  <a:rPr lang="ja-JP" altLang="es-MX" sz="1200" kern="1200" dirty="0">
                    <a:solidFill>
                      <a:schemeClr val="tx1"/>
                    </a:solidFill>
                    <a:effectLst/>
                    <a:latin typeface="+mn-lt"/>
                    <a:ea typeface="+mn-ea"/>
                    <a:cs typeface="+mn-cs"/>
                  </a:rPr>
                  <a:t>の重要なポイントです。</a:t>
                </a:r>
                <a:endParaRPr lang="es-MX" sz="1200" kern="1200" dirty="0">
                  <a:solidFill>
                    <a:schemeClr val="tx1"/>
                  </a:solidFill>
                  <a:effectLst/>
                  <a:latin typeface="+mn-lt"/>
                  <a:ea typeface="+mn-ea"/>
                  <a:cs typeface="+mn-cs"/>
                </a:endParaRPr>
              </a:p>
              <a:p>
                <a:r>
                  <a:rPr lang="ja-JP" altLang="es-MX" sz="1200" b="1" kern="1200" dirty="0">
                    <a:solidFill>
                      <a:schemeClr val="tx1"/>
                    </a:solidFill>
                    <a:effectLst/>
                    <a:latin typeface="+mn-lt"/>
                    <a:ea typeface="+mn-ea"/>
                    <a:cs typeface="+mn-cs"/>
                  </a:rPr>
                  <a:t>関係タイプごとに異なる重み行列</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ぎょうれつ</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を持つ</a:t>
                </a:r>
                <a:r>
                  <a:rPr lang="ja-JP" altLang="es-MX" sz="1200" b="0" kern="1200" dirty="0">
                    <a:solidFill>
                      <a:schemeClr val="tx1"/>
                    </a:solidFill>
                    <a:effectLst/>
                    <a:latin typeface="+mn-lt"/>
                    <a:ea typeface="+mn-ea"/>
                    <a:cs typeface="+mn-cs"/>
                  </a:rPr>
                  <a:t>ため、</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たとえば </a:t>
                </a:r>
                <a:r>
                  <a:rPr lang="es-MX" sz="1200" b="1" kern="1200" dirty="0">
                    <a:solidFill>
                      <a:schemeClr val="tx1"/>
                    </a:solidFill>
                    <a:effectLst/>
                    <a:latin typeface="+mn-lt"/>
                    <a:ea typeface="+mn-ea"/>
                    <a:cs typeface="+mn-cs"/>
                  </a:rPr>
                  <a:t>Reason </a:t>
                </a:r>
                <a:r>
                  <a:rPr lang="ja-JP" altLang="es-MX" sz="1200" b="1" kern="1200" dirty="0">
                    <a:solidFill>
                      <a:schemeClr val="tx1"/>
                    </a:solidFill>
                    <a:effectLst/>
                    <a:latin typeface="+mn-lt"/>
                    <a:ea typeface="+mn-ea"/>
                    <a:cs typeface="+mn-cs"/>
                  </a:rPr>
                  <a:t>関係</a:t>
                </a:r>
                <a:r>
                  <a:rPr lang="ja-JP" altLang="es-MX" sz="1200" kern="1200" dirty="0">
                    <a:solidFill>
                      <a:schemeClr val="tx1"/>
                    </a:solidFill>
                    <a:effectLst/>
                    <a:latin typeface="+mn-lt"/>
                    <a:ea typeface="+mn-ea"/>
                    <a:cs typeface="+mn-cs"/>
                  </a:rPr>
                  <a:t>を通</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とお</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る情報と</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Contrast</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関係</a:t>
                </a:r>
                <a:r>
                  <a:rPr lang="ja-JP" altLang="es-MX" sz="1200" kern="1200" dirty="0">
                    <a:solidFill>
                      <a:schemeClr val="tx1"/>
                    </a:solidFill>
                    <a:effectLst/>
                    <a:latin typeface="+mn-lt"/>
                    <a:ea typeface="+mn-ea"/>
                    <a:cs typeface="+mn-cs"/>
                  </a:rPr>
                  <a:t>を通る情報を</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異なる方法で変換することができます。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最後に、</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ℎ_𝑗^((𝑙) )</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 </a:t>
                </a:r>
                <a:r>
                  <a:rPr lang="ja-JP" altLang="es-MX" sz="1200" b="1" kern="1200" dirty="0">
                    <a:solidFill>
                      <a:schemeClr val="tx1"/>
                    </a:solidFill>
                    <a:effectLst/>
                    <a:latin typeface="+mn-lt"/>
                    <a:ea typeface="+mn-ea"/>
                    <a:cs typeface="+mn-cs"/>
                  </a:rPr>
                  <a:t>現在の層 </a:t>
                </a:r>
                <a:r>
                  <a:rPr lang="es-MX" sz="1200" i="0" kern="1200">
                    <a:solidFill>
                      <a:schemeClr val="tx1"/>
                    </a:solidFill>
                    <a:effectLst/>
                    <a:latin typeface="+mn-lt"/>
                    <a:ea typeface="+mn-ea"/>
                    <a:cs typeface="+mn-cs"/>
                  </a:rPr>
                  <a:t>𝑙</a:t>
                </a:r>
                <a:r>
                  <a:rPr lang="ja-JP" altLang="es-MX" sz="1200" kern="1200" dirty="0">
                    <a:solidFill>
                      <a:schemeClr val="tx1"/>
                    </a:solidFill>
                    <a:effectLst/>
                    <a:latin typeface="+mn-lt"/>
                    <a:ea typeface="+mn-ea"/>
                    <a:cs typeface="+mn-cs"/>
                  </a:rPr>
                  <a:t>における</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近傍</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きんぼう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ノード </a:t>
                </a:r>
                <a:r>
                  <a:rPr lang="es-MX" sz="1200" b="0" i="0" kern="1200">
                    <a:solidFill>
                      <a:schemeClr val="tx1"/>
                    </a:solidFill>
                    <a:effectLst/>
                    <a:latin typeface="+mn-lt"/>
                    <a:ea typeface="+mn-ea"/>
                    <a:cs typeface="+mn-cs"/>
                  </a:rPr>
                  <a:t>𝑗</a:t>
                </a:r>
                <a:r>
                  <a:rPr lang="ja-JP" altLang="es-MX" sz="1200" kern="1200" dirty="0">
                    <a:solidFill>
                      <a:schemeClr val="tx1"/>
                    </a:solidFill>
                    <a:effectLst/>
                    <a:latin typeface="+mn-lt"/>
                    <a:ea typeface="+mn-ea"/>
                    <a:cs typeface="+mn-cs"/>
                  </a:rPr>
                  <a:t>の表現です。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つまり、モデルは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近傍ノードのベクトルを取り出し、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関係タイプに応じた重み行列で変換し、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それを集約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しゅうやく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ノード </a:t>
                </a:r>
                <a:r>
                  <a:rPr lang="es-MX" sz="1200" i="0" kern="1200">
                    <a:solidFill>
                      <a:schemeClr val="tx1"/>
                    </a:solidFill>
                    <a:effectLst/>
                    <a:latin typeface="+mn-lt"/>
                    <a:ea typeface="+mn-ea"/>
                    <a:cs typeface="+mn-cs"/>
                  </a:rPr>
                  <a:t>𝑖</a:t>
                </a:r>
                <a:r>
                  <a:rPr lang="ja-JP" altLang="es-MX" sz="1200" kern="1200" dirty="0">
                    <a:solidFill>
                      <a:schemeClr val="tx1"/>
                    </a:solidFill>
                    <a:effectLst/>
                    <a:latin typeface="+mn-lt"/>
                    <a:ea typeface="+mn-ea"/>
                    <a:cs typeface="+mn-cs"/>
                  </a:rPr>
                  <a:t>の新しい表現を作っています。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mc:Fallback>
      </mc:AlternateContent>
      <p:sp>
        <p:nvSpPr>
          <p:cNvPr id="4" name="Slide Number Placeholder 3">
            <a:extLst>
              <a:ext uri="{FF2B5EF4-FFF2-40B4-BE49-F238E27FC236}">
                <a16:creationId xmlns:a16="http://schemas.microsoft.com/office/drawing/2014/main" id="{E56DFB73-7384-809A-6DB7-AC74FCD15AD9}"/>
              </a:ext>
            </a:extLst>
          </p:cNvPr>
          <p:cNvSpPr>
            <a:spLocks noGrp="1"/>
          </p:cNvSpPr>
          <p:nvPr>
            <p:ph type="sldNum" sz="quarter" idx="5"/>
          </p:nvPr>
        </p:nvSpPr>
        <p:spPr/>
        <p:txBody>
          <a:bodyPr/>
          <a:lstStyle/>
          <a:p>
            <a:fld id="{27F6FB8B-1938-4266-AC76-FE6EFE356B7C}" type="slidenum">
              <a:rPr lang="es-MX" smtClean="0"/>
              <a:t>12</a:t>
            </a:fld>
            <a:endParaRPr lang="es-MX"/>
          </a:p>
        </p:txBody>
      </p:sp>
    </p:spTree>
    <p:extLst>
      <p:ext uri="{BB962C8B-B14F-4D97-AF65-F5344CB8AC3E}">
        <p14:creationId xmlns:p14="http://schemas.microsoft.com/office/powerpoint/2010/main" val="4084380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1952B-3281-20F6-BC4E-C141B558E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8D81B-572D-4D60-212F-2034F1436216}"/>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491A7607-122B-F709-E5CE-2D4D553A7FA8}"/>
                  </a:ext>
                </a:extLst>
              </p:cNvPr>
              <p:cNvSpPr>
                <a:spLocks noGrp="1"/>
              </p:cNvSpPr>
              <p:nvPr>
                <p:ph type="body" idx="1"/>
              </p:nvPr>
            </p:nvSpPr>
            <p:spPr/>
            <p:txBody>
              <a:bodyPr/>
              <a:lstStyle/>
              <a:p>
                <a:r>
                  <a:rPr lang="es-MX" altLang="ja-JP" dirty="0"/>
                  <a:t>RGCN </a:t>
                </a:r>
                <a:r>
                  <a:rPr lang="ja-JP" altLang="es-MX" dirty="0"/>
                  <a:t>によってノード表現が更新された後、</a:t>
                </a:r>
                <a:br>
                  <a:rPr lang="ja-JP" altLang="es-MX" dirty="0"/>
                </a:br>
                <a:r>
                  <a:rPr lang="ja-JP" altLang="es-MX" dirty="0"/>
                  <a:t>各ノードは </a:t>
                </a:r>
                <a:r>
                  <a:rPr lang="ja-JP" altLang="es-MX" b="1" dirty="0"/>
                  <a:t>近傍</a:t>
                </a:r>
                <a:r>
                  <a:rPr lang="es-MX" altLang="ja-JP" b="1" dirty="0"/>
                  <a:t>(</a:t>
                </a:r>
                <a:r>
                  <a:rPr lang="ja-JP" altLang="es-MX" b="1" dirty="0"/>
                  <a:t>きんぼう</a:t>
                </a:r>
                <a:r>
                  <a:rPr lang="es-MX" altLang="ja-JP" b="1" dirty="0"/>
                  <a:t>)</a:t>
                </a:r>
                <a:r>
                  <a:rPr lang="ja-JP" altLang="es-MX" b="1" dirty="0"/>
                  <a:t>ノードから集約</a:t>
                </a:r>
                <a:r>
                  <a:rPr lang="es-MX" altLang="ja-JP" b="1" dirty="0"/>
                  <a:t>(</a:t>
                </a:r>
                <a:r>
                  <a:rPr lang="ja-JP" altLang="es-MX" b="1" dirty="0"/>
                  <a:t>しゅうやく</a:t>
                </a:r>
                <a:r>
                  <a:rPr lang="es-MX" altLang="ja-JP" b="1" dirty="0"/>
                  <a:t>)</a:t>
                </a:r>
                <a:r>
                  <a:rPr lang="ja-JP" altLang="es-MX" b="1" dirty="0"/>
                  <a:t>された情報</a:t>
                </a:r>
                <a:r>
                  <a:rPr lang="ja-JP" altLang="es-MX" dirty="0"/>
                  <a:t>を含むようになります。</a:t>
                </a:r>
              </a:p>
              <a:p>
                <a:r>
                  <a:rPr lang="ja-JP" altLang="es-MX" dirty="0"/>
                  <a:t>しかし、この時点では</a:t>
                </a:r>
                <a:br>
                  <a:rPr lang="ja-JP" altLang="es-MX" dirty="0"/>
                </a:br>
                <a:r>
                  <a:rPr lang="ja-JP" altLang="es-MX" dirty="0"/>
                  <a:t>推論グラフの中に </a:t>
                </a:r>
                <a:r>
                  <a:rPr lang="ja-JP" altLang="es-MX" b="1" dirty="0"/>
                  <a:t>複数のノードベクトル</a:t>
                </a:r>
                <a:r>
                  <a:rPr lang="ja-JP" altLang="es-MX" dirty="0"/>
                  <a:t>が存在しています。</a:t>
                </a:r>
              </a:p>
              <a:p>
                <a:r>
                  <a:rPr lang="ja-JP" altLang="es-MX" dirty="0"/>
                  <a:t>最終的な予測を行うためには、</a:t>
                </a:r>
                <a:br>
                  <a:rPr lang="ja-JP" altLang="es-MX" dirty="0"/>
                </a:br>
                <a:r>
                  <a:rPr lang="ja-JP" altLang="es-MX" b="1" dirty="0"/>
                  <a:t>グラフ全体を表す</a:t>
                </a:r>
                <a:r>
                  <a:rPr lang="es-MX" altLang="ja-JP" b="1" dirty="0"/>
                  <a:t>1</a:t>
                </a:r>
                <a:r>
                  <a:rPr lang="ja-JP" altLang="es-MX" b="1" dirty="0"/>
                  <a:t>つのベクトル</a:t>
                </a:r>
                <a:r>
                  <a:rPr lang="ja-JP" altLang="es-MX" dirty="0"/>
                  <a:t>を作る必要があります。</a:t>
                </a:r>
              </a:p>
              <a:p>
                <a:r>
                  <a:rPr lang="ja-JP" altLang="es-MX" dirty="0"/>
                  <a:t>そこで使用されるのが </a:t>
                </a:r>
                <a:r>
                  <a:rPr lang="es-MX" altLang="ja-JP" b="1" dirty="0" err="1"/>
                  <a:t>Pooling</a:t>
                </a:r>
                <a:r>
                  <a:rPr lang="ja-JP" altLang="es-MX" dirty="0"/>
                  <a:t> です。</a:t>
                </a:r>
              </a:p>
              <a:p>
                <a:r>
                  <a:rPr lang="es-MX" altLang="ja-JP" dirty="0" err="1"/>
                  <a:t>Pooling</a:t>
                </a:r>
                <a:r>
                  <a:rPr lang="es-MX" altLang="ja-JP" dirty="0"/>
                  <a:t> </a:t>
                </a:r>
                <a:r>
                  <a:rPr lang="ja-JP" altLang="es-MX" dirty="0"/>
                  <a:t>は、グラフ内のすべてのノードの表現を集約し、</a:t>
                </a:r>
                <a:br>
                  <a:rPr lang="ja-JP" altLang="es-MX" dirty="0"/>
                </a:br>
                <a:r>
                  <a:rPr lang="ja-JP" altLang="es-MX" b="1" dirty="0"/>
                  <a:t>グラフ全体を表す</a:t>
                </a:r>
                <a:r>
                  <a:rPr lang="es-MX" altLang="ja-JP" b="1" dirty="0"/>
                  <a:t>1</a:t>
                </a:r>
                <a:r>
                  <a:rPr lang="ja-JP" altLang="es-MX" b="1" dirty="0"/>
                  <a:t>つのベクトル</a:t>
                </a:r>
                <a:r>
                  <a:rPr lang="ja-JP" altLang="es-MX" dirty="0"/>
                  <a:t>を作る操作</a:t>
                </a:r>
                <a:r>
                  <a:rPr lang="es-MX" altLang="ja-JP" dirty="0"/>
                  <a:t>(</a:t>
                </a:r>
                <a:r>
                  <a:rPr lang="ja-JP" altLang="es-MX" dirty="0"/>
                  <a:t>そうさ</a:t>
                </a:r>
                <a:r>
                  <a:rPr lang="es-MX" altLang="ja-JP" dirty="0"/>
                  <a:t>)</a:t>
                </a:r>
                <a:r>
                  <a:rPr lang="ja-JP" altLang="es-MX" dirty="0"/>
                  <a:t>です。</a:t>
                </a:r>
              </a:p>
              <a:p>
                <a:r>
                  <a:rPr lang="ja-JP" altLang="es-MX" dirty="0"/>
                  <a:t>これは次の式で表されます。</a:t>
                </a:r>
              </a:p>
              <a:p>
                <a14:m>
                  <m:oMathPara xmlns:m="http://schemas.openxmlformats.org/officeDocument/2006/math">
                    <m:oMathParaPr>
                      <m:jc m:val="centerGroup"/>
                    </m:oMathParaPr>
                    <m:oMath xmlns:m="http://schemas.openxmlformats.org/officeDocument/2006/math">
                      <m:r>
                        <a:rPr lang="ja-JP" altLang="es-MX" sz="1200" i="1" kern="1200">
                          <a:solidFill>
                            <a:schemeClr val="tx1"/>
                          </a:solidFill>
                          <a:latin typeface="+mn-lt"/>
                          <a:ea typeface="+mn-ea"/>
                          <a:cs typeface="+mn-cs"/>
                        </a:rPr>
                        <m:t>𝑔</m:t>
                      </m:r>
                      <m:r>
                        <a:rPr lang="es-MX" altLang="ja-JP" sz="1200" i="0" kern="1200">
                          <a:solidFill>
                            <a:schemeClr val="tx1"/>
                          </a:solidFill>
                          <a:latin typeface="+mn-lt"/>
                          <a:ea typeface="+mn-ea"/>
                          <a:cs typeface="+mn-cs"/>
                        </a:rPr>
                        <m:t>=</m:t>
                      </m:r>
                      <m:r>
                        <a:rPr lang="ja-JP" altLang="es-MX" sz="1200" i="1" kern="1200">
                          <a:solidFill>
                            <a:schemeClr val="tx1"/>
                          </a:solidFill>
                          <a:latin typeface="+mn-lt"/>
                          <a:ea typeface="+mn-ea"/>
                          <a:cs typeface="+mn-cs"/>
                        </a:rPr>
                        <m:t>𝑃𝑜𝑜𝑙𝑖𝑛𝑔</m:t>
                      </m:r>
                      <m:d>
                        <m:dPr>
                          <m:ctrlPr>
                            <a:rPr lang="ja-JP" altLang="es-MX" sz="1200" i="1" kern="1200">
                              <a:solidFill>
                                <a:schemeClr val="tx1"/>
                              </a:solidFill>
                              <a:latin typeface="+mn-lt"/>
                              <a:ea typeface="+mn-ea"/>
                              <a:cs typeface="+mn-cs"/>
                            </a:rPr>
                          </m:ctrlPr>
                        </m:dPr>
                        <m:e>
                          <m:d>
                            <m:dPr>
                              <m:begChr m:val="{"/>
                              <m:endChr m:val="}"/>
                              <m:ctrlPr>
                                <a:rPr lang="ja-JP" altLang="es-MX" sz="1200" i="1" kern="1200">
                                  <a:solidFill>
                                    <a:schemeClr val="tx1"/>
                                  </a:solidFill>
                                  <a:latin typeface="+mn-lt"/>
                                  <a:ea typeface="+mn-ea"/>
                                  <a:cs typeface="+mn-cs"/>
                                </a:rPr>
                              </m:ctrlPr>
                            </m:dPr>
                            <m:e>
                              <m:sSubSup>
                                <m:sSubSupPr>
                                  <m:ctrlPr>
                                    <a:rPr lang="ja-JP" altLang="es-MX" sz="1200" i="1" kern="1200">
                                      <a:solidFill>
                                        <a:schemeClr val="tx1"/>
                                      </a:solidFill>
                                      <a:latin typeface="+mn-lt"/>
                                      <a:ea typeface="+mn-ea"/>
                                      <a:cs typeface="+mn-cs"/>
                                    </a:rPr>
                                  </m:ctrlPr>
                                </m:sSubSupPr>
                                <m:e>
                                  <m:r>
                                    <a:rPr lang="es-MX" altLang="ja-JP" sz="1200" i="1" kern="1200">
                                      <a:solidFill>
                                        <a:schemeClr val="tx1"/>
                                      </a:solidFill>
                                      <a:latin typeface="+mn-lt"/>
                                      <a:ea typeface="+mn-ea"/>
                                      <a:cs typeface="+mn-cs"/>
                                    </a:rPr>
                                    <m:t>h</m:t>
                                  </m:r>
                                </m:e>
                                <m:sub>
                                  <m:r>
                                    <a:rPr lang="ja-JP" altLang="es-MX" sz="1200" i="1" kern="1200">
                                      <a:solidFill>
                                        <a:schemeClr val="tx1"/>
                                      </a:solidFill>
                                      <a:latin typeface="+mn-lt"/>
                                      <a:ea typeface="+mn-ea"/>
                                      <a:cs typeface="+mn-cs"/>
                                    </a:rPr>
                                    <m:t>𝑖</m:t>
                                  </m:r>
                                </m:sub>
                                <m:sup>
                                  <m:r>
                                    <a:rPr lang="ja-JP" altLang="es-MX" sz="1200" i="1" kern="1200">
                                      <a:solidFill>
                                        <a:schemeClr val="tx1"/>
                                      </a:solidFill>
                                      <a:latin typeface="+mn-lt"/>
                                      <a:ea typeface="+mn-ea"/>
                                      <a:cs typeface="+mn-cs"/>
                                    </a:rPr>
                                    <m:t>𝐿</m:t>
                                  </m:r>
                                </m:sup>
                              </m:sSubSup>
                              <m:r>
                                <a:rPr lang="es-MX" altLang="ja-JP" sz="1200" i="0" kern="1200">
                                  <a:solidFill>
                                    <a:schemeClr val="tx1"/>
                                  </a:solidFill>
                                  <a:latin typeface="+mn-lt"/>
                                  <a:ea typeface="+mn-ea"/>
                                  <a:cs typeface="+mn-cs"/>
                                </a:rPr>
                                <m:t>:</m:t>
                              </m:r>
                              <m:r>
                                <a:rPr lang="ja-JP" altLang="es-MX" sz="1200" i="1" kern="1200">
                                  <a:solidFill>
                                    <a:schemeClr val="tx1"/>
                                  </a:solidFill>
                                  <a:latin typeface="+mn-lt"/>
                                  <a:ea typeface="+mn-ea"/>
                                  <a:cs typeface="+mn-cs"/>
                                </a:rPr>
                                <m:t>𝑖</m:t>
                              </m:r>
                              <m:r>
                                <a:rPr lang="ja-JP" altLang="es-MX" sz="1200" i="0" kern="1200">
                                  <a:solidFill>
                                    <a:schemeClr val="tx1"/>
                                  </a:solidFill>
                                  <a:latin typeface="+mn-lt"/>
                                  <a:ea typeface="+mn-ea"/>
                                  <a:cs typeface="+mn-cs"/>
                                </a:rPr>
                                <m:t>∈</m:t>
                              </m:r>
                              <m:sSub>
                                <m:sSubPr>
                                  <m:ctrlPr>
                                    <a:rPr lang="ja-JP" altLang="es-MX" sz="1200" i="1" kern="1200">
                                      <a:solidFill>
                                        <a:schemeClr val="tx1"/>
                                      </a:solidFill>
                                      <a:latin typeface="+mn-lt"/>
                                      <a:ea typeface="+mn-ea"/>
                                      <a:cs typeface="+mn-cs"/>
                                    </a:rPr>
                                  </m:ctrlPr>
                                </m:sSubPr>
                                <m:e>
                                  <m:r>
                                    <a:rPr lang="ja-JP" altLang="es-MX" sz="1200" i="1" kern="1200">
                                      <a:solidFill>
                                        <a:schemeClr val="tx1"/>
                                      </a:solidFill>
                                      <a:latin typeface="+mn-lt"/>
                                      <a:ea typeface="+mn-ea"/>
                                      <a:cs typeface="+mn-cs"/>
                                    </a:rPr>
                                    <m:t>𝑉</m:t>
                                  </m:r>
                                </m:e>
                                <m:sub>
                                  <m:r>
                                    <a:rPr lang="ja-JP" altLang="es-MX" sz="1200" i="1" kern="1200">
                                      <a:solidFill>
                                        <a:schemeClr val="tx1"/>
                                      </a:solidFill>
                                      <a:latin typeface="+mn-lt"/>
                                      <a:ea typeface="+mn-ea"/>
                                      <a:cs typeface="+mn-cs"/>
                                    </a:rPr>
                                    <m:t>𝑗𝑜𝑖𝑛𝑡</m:t>
                                  </m:r>
                                </m:sub>
                              </m:sSub>
                            </m:e>
                          </m:d>
                        </m:e>
                      </m:d>
                    </m:oMath>
                  </m:oMathPara>
                </a14:m>
                <a:endParaRPr lang="ja-JP" altLang="es-MX" dirty="0"/>
              </a:p>
              <a:p>
                <a:r>
                  <a:rPr lang="ja-JP" altLang="es-MX" dirty="0"/>
                  <a:t>ここで、</a:t>
                </a:r>
              </a:p>
              <a:p>
                <a14:m>
                  <m:oMath xmlns:m="http://schemas.openxmlformats.org/officeDocument/2006/math">
                    <m:sSubSup>
                      <m:sSubSupPr>
                        <m:ctrlPr>
                          <a:rPr lang="ja-JP" altLang="es-MX" sz="1200" kern="1200">
                            <a:solidFill>
                              <a:schemeClr val="tx1"/>
                            </a:solidFill>
                            <a:latin typeface="+mn-lt"/>
                            <a:ea typeface="+mn-ea"/>
                            <a:cs typeface="+mn-cs"/>
                          </a:rPr>
                        </m:ctrlPr>
                      </m:sSubSupPr>
                      <m:e>
                        <m:r>
                          <a:rPr lang="es-MX" altLang="ja-JP" sz="1200" i="1" kern="1200">
                            <a:solidFill>
                              <a:schemeClr val="tx1"/>
                            </a:solidFill>
                            <a:latin typeface="+mn-lt"/>
                            <a:ea typeface="+mn-ea"/>
                            <a:cs typeface="+mn-cs"/>
                          </a:rPr>
                          <m:t>h</m:t>
                        </m:r>
                      </m:e>
                      <m:sub>
                        <m:r>
                          <a:rPr lang="ja-JP" altLang="es-MX" sz="1200" i="1" kern="1200">
                            <a:solidFill>
                              <a:schemeClr val="tx1"/>
                            </a:solidFill>
                            <a:latin typeface="+mn-lt"/>
                            <a:ea typeface="+mn-ea"/>
                            <a:cs typeface="+mn-cs"/>
                          </a:rPr>
                          <m:t>𝑖</m:t>
                        </m:r>
                      </m:sub>
                      <m:sup>
                        <m:r>
                          <a:rPr lang="ja-JP" altLang="es-MX" sz="1200" i="1" kern="1200">
                            <a:solidFill>
                              <a:schemeClr val="tx1"/>
                            </a:solidFill>
                            <a:latin typeface="+mn-lt"/>
                            <a:ea typeface="+mn-ea"/>
                            <a:cs typeface="+mn-cs"/>
                          </a:rPr>
                          <m:t>𝐿</m:t>
                        </m:r>
                      </m:sup>
                    </m:sSubSup>
                  </m:oMath>
                </a14:m>
                <a:r>
                  <a:rPr lang="ja-JP" altLang="es-MX" dirty="0"/>
                  <a:t>は </a:t>
                </a:r>
                <a:r>
                  <a:rPr lang="es-MX" altLang="ja-JP" dirty="0"/>
                  <a:t>GNN </a:t>
                </a:r>
                <a:r>
                  <a:rPr lang="ja-JP" altLang="es-MX" dirty="0"/>
                  <a:t>の最終層におけるノード </a:t>
                </a:r>
                <a14:m>
                  <m:oMath xmlns:m="http://schemas.openxmlformats.org/officeDocument/2006/math">
                    <m:r>
                      <a:rPr lang="ja-JP" altLang="es-MX" sz="1200" i="1" kern="1200">
                        <a:solidFill>
                          <a:schemeClr val="tx1"/>
                        </a:solidFill>
                        <a:latin typeface="+mn-lt"/>
                        <a:ea typeface="+mn-ea"/>
                        <a:cs typeface="+mn-cs"/>
                      </a:rPr>
                      <m:t>𝑖</m:t>
                    </m:r>
                  </m:oMath>
                </a14:m>
                <a:r>
                  <a:rPr lang="ja-JP" altLang="es-MX" dirty="0"/>
                  <a:t>の埋め込み</a:t>
                </a:r>
              </a:p>
              <a:p>
                <a14:m>
                  <m:oMath xmlns:m="http://schemas.openxmlformats.org/officeDocument/2006/math">
                    <m:sSub>
                      <m:sSubPr>
                        <m:ctrlPr>
                          <a:rPr lang="ja-JP" altLang="es-MX" sz="1200" kern="1200">
                            <a:solidFill>
                              <a:schemeClr val="tx1"/>
                            </a:solidFill>
                            <a:latin typeface="+mn-lt"/>
                            <a:ea typeface="+mn-ea"/>
                            <a:cs typeface="+mn-cs"/>
                          </a:rPr>
                        </m:ctrlPr>
                      </m:sSubPr>
                      <m:e>
                        <m:r>
                          <a:rPr lang="ja-JP" altLang="es-MX" sz="1200" i="1" kern="1200">
                            <a:solidFill>
                              <a:schemeClr val="tx1"/>
                            </a:solidFill>
                            <a:latin typeface="+mn-lt"/>
                            <a:ea typeface="+mn-ea"/>
                            <a:cs typeface="+mn-cs"/>
                          </a:rPr>
                          <m:t>𝑉</m:t>
                        </m:r>
                      </m:e>
                      <m:sub>
                        <m:r>
                          <a:rPr lang="ja-JP" altLang="es-MX" sz="1200" i="1" kern="1200">
                            <a:solidFill>
                              <a:schemeClr val="tx1"/>
                            </a:solidFill>
                            <a:latin typeface="+mn-lt"/>
                            <a:ea typeface="+mn-ea"/>
                            <a:cs typeface="+mn-cs"/>
                          </a:rPr>
                          <m:t>𝑗𝑜𝑖𝑛𝑡</m:t>
                        </m:r>
                      </m:sub>
                    </m:sSub>
                  </m:oMath>
                </a14:m>
                <a:r>
                  <a:rPr lang="ja-JP" altLang="es-MX" dirty="0"/>
                  <a:t>は推論サブグラフに含まれるノード集合</a:t>
                </a:r>
              </a:p>
              <a:p>
                <a:r>
                  <a:rPr lang="ja-JP" altLang="es-MX" dirty="0"/>
                  <a:t>を表します。</a:t>
                </a:r>
              </a:p>
              <a:p>
                <a:r>
                  <a:rPr lang="es-MX" altLang="ja-JP" dirty="0" err="1"/>
                  <a:t>Pooling</a:t>
                </a:r>
                <a:r>
                  <a:rPr lang="es-MX" altLang="ja-JP" dirty="0"/>
                  <a:t> </a:t>
                </a:r>
                <a:r>
                  <a:rPr lang="ja-JP" altLang="es-MX" dirty="0"/>
                  <a:t>によって、すべてのノードの情報がまとめられ、</a:t>
                </a:r>
                <a:br>
                  <a:rPr lang="ja-JP" altLang="es-MX" dirty="0"/>
                </a:br>
                <a:r>
                  <a:rPr lang="ja-JP" altLang="es-MX" b="1" dirty="0"/>
                  <a:t>グラフ全体を表すベクトル </a:t>
                </a:r>
                <a14:m>
                  <m:oMath xmlns:m="http://schemas.openxmlformats.org/officeDocument/2006/math">
                    <m:r>
                      <a:rPr lang="ja-JP" altLang="es-MX" sz="1200" i="1" kern="1200">
                        <a:solidFill>
                          <a:schemeClr val="tx1"/>
                        </a:solidFill>
                        <a:latin typeface="+mn-lt"/>
                        <a:ea typeface="+mn-ea"/>
                        <a:cs typeface="+mn-cs"/>
                      </a:rPr>
                      <m:t>𝑔</m:t>
                    </m:r>
                  </m:oMath>
                </a14:m>
                <a:r>
                  <a:rPr lang="ja-JP" altLang="es-MX" dirty="0"/>
                  <a:t>が得られます。</a:t>
                </a:r>
              </a:p>
              <a:p>
                <a:br>
                  <a:rPr lang="ja-JP" altLang="es-MX" dirty="0"/>
                </a:br>
                <a:endParaRPr lang="ja-JP" altLang="es-MX" dirty="0"/>
              </a:p>
              <a:p>
                <a:r>
                  <a:rPr lang="ja-JP" altLang="es-MX" dirty="0"/>
                  <a:t>次に </a:t>
                </a:r>
                <a:r>
                  <a:rPr lang="ja-JP" altLang="es-MX" b="1" dirty="0"/>
                  <a:t>最終予測</a:t>
                </a:r>
                <a:r>
                  <a:rPr lang="ja-JP" altLang="es-MX" dirty="0"/>
                  <a:t>を行います。</a:t>
                </a:r>
              </a:p>
              <a:p>
                <a:r>
                  <a:rPr lang="ja-JP" altLang="es-MX" dirty="0"/>
                  <a:t>このモデルでは、</a:t>
                </a:r>
                <a:br>
                  <a:rPr lang="ja-JP" altLang="es-MX" dirty="0"/>
                </a:br>
                <a:r>
                  <a:rPr lang="es-MX" altLang="ja-JP" b="1" dirty="0"/>
                  <a:t>2</a:t>
                </a:r>
                <a:r>
                  <a:rPr lang="ja-JP" altLang="es-MX" b="1" dirty="0"/>
                  <a:t>つの情報源</a:t>
                </a:r>
                <a:r>
                  <a:rPr lang="ja-JP" altLang="es-MX" dirty="0"/>
                  <a:t>を組み合わせて推論を行います。</a:t>
                </a:r>
              </a:p>
              <a:p>
                <a:r>
                  <a:rPr lang="es-MX" altLang="ja-JP" dirty="0"/>
                  <a:t>1</a:t>
                </a:r>
                <a:r>
                  <a:rPr lang="ja-JP" altLang="es-MX" dirty="0"/>
                  <a:t>つ目は </a:t>
                </a:r>
                <a:r>
                  <a:rPr lang="ja-JP" altLang="es-MX" b="1" dirty="0"/>
                  <a:t>入力テキストの表現</a:t>
                </a:r>
                <a:br>
                  <a:rPr lang="ja-JP" altLang="es-MX" dirty="0"/>
                </a:br>
                <a:r>
                  <a:rPr lang="es-MX" altLang="ja-JP" dirty="0"/>
                  <a:t>2</a:t>
                </a:r>
                <a:r>
                  <a:rPr lang="ja-JP" altLang="es-MX" dirty="0"/>
                  <a:t>つ目は </a:t>
                </a:r>
                <a:r>
                  <a:rPr lang="es-MX" altLang="ja-JP" b="1" dirty="0" err="1"/>
                  <a:t>Knowledge</a:t>
                </a:r>
                <a:r>
                  <a:rPr lang="es-MX" altLang="ja-JP" b="1" dirty="0"/>
                  <a:t> </a:t>
                </a:r>
                <a:r>
                  <a:rPr lang="es-MX" altLang="ja-JP" b="1" dirty="0" err="1"/>
                  <a:t>Graph</a:t>
                </a:r>
                <a:r>
                  <a:rPr lang="es-MX" altLang="ja-JP" b="1" dirty="0"/>
                  <a:t> </a:t>
                </a:r>
                <a:r>
                  <a:rPr lang="ja-JP" altLang="es-MX" b="1" dirty="0"/>
                  <a:t>から得られたグラフ表現</a:t>
                </a:r>
                <a:r>
                  <a:rPr lang="ja-JP" altLang="es-MX" dirty="0"/>
                  <a:t>です。</a:t>
                </a:r>
              </a:p>
              <a:p>
                <a:r>
                  <a:rPr lang="ja-JP" altLang="es-MX" dirty="0"/>
                  <a:t>これは次の式で表されます。</a:t>
                </a:r>
              </a:p>
              <a:p>
                <a14:m>
                  <m:oMathPara xmlns:m="http://schemas.openxmlformats.org/officeDocument/2006/math">
                    <m:oMathParaPr>
                      <m:jc m:val="centerGroup"/>
                    </m:oMathParaPr>
                    <m:oMath xmlns:m="http://schemas.openxmlformats.org/officeDocument/2006/math">
                      <m:r>
                        <a:rPr lang="ja-JP" altLang="es-MX" sz="1200" i="1" kern="1200">
                          <a:solidFill>
                            <a:schemeClr val="tx1"/>
                          </a:solidFill>
                          <a:latin typeface="+mn-lt"/>
                          <a:ea typeface="+mn-ea"/>
                          <a:cs typeface="+mn-cs"/>
                        </a:rPr>
                        <m:t>𝑝</m:t>
                      </m:r>
                      <m:d>
                        <m:dPr>
                          <m:ctrlPr>
                            <a:rPr lang="ja-JP" altLang="es-MX" sz="1200" i="1" kern="1200">
                              <a:solidFill>
                                <a:schemeClr val="tx1"/>
                              </a:solidFill>
                              <a:latin typeface="+mn-lt"/>
                              <a:ea typeface="+mn-ea"/>
                              <a:cs typeface="+mn-cs"/>
                            </a:rPr>
                          </m:ctrlPr>
                        </m:dPr>
                        <m:e>
                          <m:r>
                            <a:rPr lang="ja-JP" altLang="es-MX" sz="1200" i="1" kern="1200">
                              <a:solidFill>
                                <a:schemeClr val="tx1"/>
                              </a:solidFill>
                              <a:latin typeface="+mn-lt"/>
                              <a:ea typeface="+mn-ea"/>
                              <a:cs typeface="+mn-cs"/>
                            </a:rPr>
                            <m:t>𝑠</m:t>
                          </m:r>
                        </m:e>
                      </m:d>
                      <m:r>
                        <a:rPr lang="ja-JP" altLang="es-MX" sz="1200" i="0" kern="1200">
                          <a:solidFill>
                            <a:schemeClr val="tx1"/>
                          </a:solidFill>
                          <a:latin typeface="+mn-lt"/>
                          <a:ea typeface="+mn-ea"/>
                          <a:cs typeface="+mn-cs"/>
                        </a:rPr>
                        <m:t>∝</m:t>
                      </m:r>
                      <m:r>
                        <a:rPr lang="ja-JP" altLang="es-MX" sz="1200" i="1" kern="1200">
                          <a:solidFill>
                            <a:schemeClr val="tx1"/>
                          </a:solidFill>
                          <a:latin typeface="+mn-lt"/>
                          <a:ea typeface="+mn-ea"/>
                          <a:cs typeface="+mn-cs"/>
                        </a:rPr>
                        <m:t>𝑀𝐿𝑃</m:t>
                      </m:r>
                      <m:d>
                        <m:dPr>
                          <m:ctrlPr>
                            <a:rPr lang="ja-JP" altLang="es-MX" sz="1200" i="1" kern="1200">
                              <a:solidFill>
                                <a:schemeClr val="tx1"/>
                              </a:solidFill>
                              <a:latin typeface="+mn-lt"/>
                              <a:ea typeface="+mn-ea"/>
                              <a:cs typeface="+mn-cs"/>
                            </a:rPr>
                          </m:ctrlPr>
                        </m:dPr>
                        <m:e>
                          <m:r>
                            <a:rPr lang="ja-JP" altLang="es-MX" sz="1200" i="1" kern="1200">
                              <a:solidFill>
                                <a:schemeClr val="tx1"/>
                              </a:solidFill>
                              <a:latin typeface="+mn-lt"/>
                              <a:ea typeface="+mn-ea"/>
                              <a:cs typeface="+mn-cs"/>
                            </a:rPr>
                            <m:t>𝑠</m:t>
                          </m:r>
                          <m:r>
                            <a:rPr lang="es-MX" altLang="ja-JP" sz="1200" i="0" kern="1200">
                              <a:solidFill>
                                <a:schemeClr val="tx1"/>
                              </a:solidFill>
                              <a:latin typeface="+mn-lt"/>
                              <a:ea typeface="+mn-ea"/>
                              <a:cs typeface="+mn-cs"/>
                            </a:rPr>
                            <m:t>+</m:t>
                          </m:r>
                          <m:r>
                            <a:rPr lang="ja-JP" altLang="es-MX" sz="1200" i="1" kern="1200">
                              <a:solidFill>
                                <a:schemeClr val="tx1"/>
                              </a:solidFill>
                              <a:latin typeface="+mn-lt"/>
                              <a:ea typeface="+mn-ea"/>
                              <a:cs typeface="+mn-cs"/>
                            </a:rPr>
                            <m:t>𝑔</m:t>
                          </m:r>
                        </m:e>
                      </m:d>
                    </m:oMath>
                  </m:oMathPara>
                </a14:m>
                <a:endParaRPr lang="ja-JP" altLang="es-MX" dirty="0"/>
              </a:p>
              <a:p>
                <a:r>
                  <a:rPr lang="ja-JP" altLang="es-MX" dirty="0"/>
                  <a:t>ここで </a:t>
                </a:r>
                <a:r>
                  <a:rPr lang="ja-JP" altLang="es-MX" b="1" dirty="0"/>
                  <a:t>∝</a:t>
                </a:r>
                <a:r>
                  <a:rPr lang="ja-JP" altLang="es-MX" dirty="0"/>
                  <a:t> は **「比例する」**という意味です。</a:t>
                </a:r>
              </a:p>
              <a:p>
                <a:r>
                  <a:rPr lang="ja-JP" altLang="es-MX" dirty="0"/>
                  <a:t>つまり、まずモデルは </a:t>
                </a:r>
                <a:r>
                  <a:rPr lang="es-MX" altLang="ja-JP" b="1" dirty="0"/>
                  <a:t>MLP(</a:t>
                </a:r>
                <a:r>
                  <a:rPr lang="es-MX" altLang="ja-JP" b="1" dirty="0" err="1"/>
                  <a:t>s+g</a:t>
                </a:r>
                <a:r>
                  <a:rPr lang="es-MX" altLang="ja-JP" b="1" dirty="0"/>
                  <a:t>)</a:t>
                </a:r>
                <a:r>
                  <a:rPr lang="ja-JP" altLang="es-MX" dirty="0"/>
                  <a:t> を計算してスコアを出し、</a:t>
                </a:r>
                <a:br>
                  <a:rPr lang="ja-JP" altLang="es-MX" dirty="0"/>
                </a:br>
                <a:r>
                  <a:rPr lang="ja-JP" altLang="es-MX" dirty="0"/>
                  <a:t>その後 </a:t>
                </a:r>
                <a:r>
                  <a:rPr lang="es-MX" altLang="ja-JP" b="1" dirty="0" err="1"/>
                  <a:t>softmax</a:t>
                </a:r>
                <a:r>
                  <a:rPr lang="ja-JP" altLang="es-MX" dirty="0"/>
                  <a:t> などの関数を使って</a:t>
                </a:r>
                <a:br>
                  <a:rPr lang="ja-JP" altLang="es-MX" dirty="0"/>
                </a:br>
                <a:r>
                  <a:rPr lang="ja-JP" altLang="es-MX" dirty="0"/>
                  <a:t>それを </a:t>
                </a:r>
                <a:r>
                  <a:rPr lang="ja-JP" altLang="es-MX" b="1" dirty="0"/>
                  <a:t>確率に変換します。</a:t>
                </a:r>
                <a:endParaRPr lang="ja-JP" altLang="es-MX" dirty="0"/>
              </a:p>
              <a:p>
                <a:r>
                  <a:rPr lang="ja-JP" altLang="es-MX" dirty="0"/>
                  <a:t>ここで、</a:t>
                </a:r>
              </a:p>
              <a:p>
                <a14:m>
                  <m:oMath xmlns:m="http://schemas.openxmlformats.org/officeDocument/2006/math">
                    <m:r>
                      <a:rPr lang="ja-JP" altLang="es-MX" sz="1200" i="1" kern="1200">
                        <a:solidFill>
                          <a:schemeClr val="tx1"/>
                        </a:solidFill>
                        <a:latin typeface="+mn-lt"/>
                        <a:ea typeface="+mn-ea"/>
                        <a:cs typeface="+mn-cs"/>
                      </a:rPr>
                      <m:t>𝑠</m:t>
                    </m:r>
                  </m:oMath>
                </a14:m>
                <a:r>
                  <a:rPr lang="ja-JP" altLang="es-MX" dirty="0"/>
                  <a:t>は入力テキストの埋め込み</a:t>
                </a:r>
              </a:p>
              <a:p>
                <a14:m>
                  <m:oMath xmlns:m="http://schemas.openxmlformats.org/officeDocument/2006/math">
                    <m:r>
                      <a:rPr lang="ja-JP" altLang="es-MX" sz="1200" i="1" kern="1200">
                        <a:solidFill>
                          <a:schemeClr val="tx1"/>
                        </a:solidFill>
                        <a:latin typeface="+mn-lt"/>
                        <a:ea typeface="+mn-ea"/>
                        <a:cs typeface="+mn-cs"/>
                      </a:rPr>
                      <m:t>𝑔</m:t>
                    </m:r>
                  </m:oMath>
                </a14:m>
                <a:r>
                  <a:rPr lang="ja-JP" altLang="es-MX" dirty="0"/>
                  <a:t>はグラフ全体の表現</a:t>
                </a:r>
              </a:p>
              <a:p>
                <a:r>
                  <a:rPr lang="es-MX" altLang="ja-JP" b="1" dirty="0"/>
                  <a:t>MLP</a:t>
                </a:r>
                <a:r>
                  <a:rPr lang="ja-JP" altLang="es-MX" dirty="0"/>
                  <a:t> は最終的な分類を行うニューラルネットワークです。</a:t>
                </a:r>
              </a:p>
              <a:p>
                <a:r>
                  <a:rPr lang="ja-JP" altLang="es-MX" dirty="0"/>
                  <a:t>モデルはまず</a:t>
                </a:r>
                <a:br>
                  <a:rPr lang="ja-JP" altLang="es-MX" dirty="0"/>
                </a:br>
                <a:r>
                  <a:rPr lang="ja-JP" altLang="es-MX" b="1" dirty="0"/>
                  <a:t>テキストベクトル </a:t>
                </a:r>
                <a14:m>
                  <m:oMath xmlns:m="http://schemas.openxmlformats.org/officeDocument/2006/math">
                    <m:r>
                      <a:rPr lang="ja-JP" altLang="es-MX" sz="1200" i="1" kern="1200">
                        <a:solidFill>
                          <a:schemeClr val="tx1"/>
                        </a:solidFill>
                        <a:latin typeface="+mn-lt"/>
                        <a:ea typeface="+mn-ea"/>
                        <a:cs typeface="+mn-cs"/>
                      </a:rPr>
                      <m:t>𝑠</m:t>
                    </m:r>
                  </m:oMath>
                </a14:m>
                <a:r>
                  <a:rPr lang="ja-JP" altLang="es-MX" dirty="0"/>
                  <a:t>と </a:t>
                </a:r>
                <a:r>
                  <a:rPr lang="ja-JP" altLang="es-MX" b="1" dirty="0"/>
                  <a:t>グラフベクトル </a:t>
                </a:r>
                <a14:m>
                  <m:oMath xmlns:m="http://schemas.openxmlformats.org/officeDocument/2006/math">
                    <m:r>
                      <a:rPr lang="ja-JP" altLang="es-MX" sz="1200" i="1" kern="1200">
                        <a:solidFill>
                          <a:schemeClr val="tx1"/>
                        </a:solidFill>
                        <a:latin typeface="+mn-lt"/>
                        <a:ea typeface="+mn-ea"/>
                        <a:cs typeface="+mn-cs"/>
                      </a:rPr>
                      <m:t>𝑔</m:t>
                    </m:r>
                  </m:oMath>
                </a14:m>
                <a:r>
                  <a:rPr lang="ja-JP" altLang="es-MX" dirty="0"/>
                  <a:t>を足し合わせます。</a:t>
                </a:r>
              </a:p>
              <a:p>
                <a:endParaRPr lang="en-US" altLang="ja-JP" dirty="0"/>
              </a:p>
              <a:p>
                <a:r>
                  <a:rPr lang="ja-JP" altLang="es-MX" dirty="0"/>
                  <a:t>これにより、</a:t>
                </a:r>
                <a:br>
                  <a:rPr lang="ja-JP" altLang="es-MX" dirty="0"/>
                </a:br>
                <a:r>
                  <a:rPr lang="ja-JP" altLang="es-MX" b="1" dirty="0"/>
                  <a:t>テキスト理解と </a:t>
                </a:r>
                <a:r>
                  <a:rPr lang="es-MX" altLang="ja-JP" b="1" dirty="0" err="1"/>
                  <a:t>Knowledge</a:t>
                </a:r>
                <a:r>
                  <a:rPr lang="es-MX" altLang="ja-JP" b="1" dirty="0"/>
                  <a:t> </a:t>
                </a:r>
                <a:r>
                  <a:rPr lang="es-MX" altLang="ja-JP" b="1" dirty="0" err="1"/>
                  <a:t>Graph</a:t>
                </a:r>
                <a:r>
                  <a:rPr lang="es-MX" altLang="ja-JP" b="1" dirty="0"/>
                  <a:t> </a:t>
                </a:r>
                <a:r>
                  <a:rPr lang="ja-JP" altLang="es-MX" b="1" dirty="0"/>
                  <a:t>推論の情報が統合</a:t>
                </a:r>
                <a:r>
                  <a:rPr lang="es-MX" altLang="ja-JP" b="1" dirty="0"/>
                  <a:t>(</a:t>
                </a:r>
                <a:r>
                  <a:rPr lang="ja-JP" altLang="es-MX" b="1" dirty="0"/>
                  <a:t>とうごう</a:t>
                </a:r>
                <a:r>
                  <a:rPr lang="es-MX" altLang="ja-JP" b="1" dirty="0"/>
                  <a:t>)</a:t>
                </a:r>
                <a:r>
                  <a:rPr lang="ja-JP" altLang="es-MX" dirty="0"/>
                  <a:t> されます。</a:t>
                </a:r>
              </a:p>
              <a:p>
                <a:r>
                  <a:rPr lang="ja-JP" altLang="es-MX" dirty="0"/>
                  <a:t>そして、この統合されたベクトルを </a:t>
                </a:r>
                <a:r>
                  <a:rPr lang="es-MX" altLang="ja-JP" b="1" dirty="0"/>
                  <a:t>MLP</a:t>
                </a:r>
                <a:r>
                  <a:rPr lang="ja-JP" altLang="es-MX" dirty="0"/>
                  <a:t> に入力することで、</a:t>
                </a:r>
                <a:br>
                  <a:rPr lang="ja-JP" altLang="es-MX" dirty="0"/>
                </a:br>
                <a:r>
                  <a:rPr lang="ja-JP" altLang="es-MX" b="1" dirty="0"/>
                  <a:t>各候補</a:t>
                </a:r>
                <a:r>
                  <a:rPr lang="es-MX" altLang="ja-JP" b="1" dirty="0"/>
                  <a:t>(</a:t>
                </a:r>
                <a:r>
                  <a:rPr lang="ja-JP" altLang="es-MX" b="1" dirty="0"/>
                  <a:t>かくこうほ</a:t>
                </a:r>
                <a:r>
                  <a:rPr lang="es-MX" altLang="ja-JP" b="1" dirty="0"/>
                  <a:t>)</a:t>
                </a:r>
                <a:r>
                  <a:rPr lang="ja-JP" altLang="es-MX" b="1" dirty="0"/>
                  <a:t>回答</a:t>
                </a:r>
                <a:r>
                  <a:rPr lang="es-MX" altLang="ja-JP" b="1" dirty="0"/>
                  <a:t>(</a:t>
                </a:r>
                <a:r>
                  <a:rPr lang="ja-JP" altLang="es-MX" b="1" dirty="0"/>
                  <a:t>かいとう</a:t>
                </a:r>
                <a:r>
                  <a:rPr lang="es-MX" altLang="ja-JP" b="1" dirty="0"/>
                  <a:t>)</a:t>
                </a:r>
                <a:r>
                  <a:rPr lang="ja-JP" altLang="es-MX" b="1" dirty="0"/>
                  <a:t>の確率</a:t>
                </a:r>
                <a:r>
                  <a:rPr lang="ja-JP" altLang="es-MX" dirty="0"/>
                  <a:t>を予測します。</a:t>
                </a:r>
              </a:p>
              <a:p>
                <a:r>
                  <a:rPr lang="ja-JP" altLang="es-MX" dirty="0"/>
                  <a:t>ここでの確率 </a:t>
                </a:r>
                <a14:m>
                  <m:oMath xmlns:m="http://schemas.openxmlformats.org/officeDocument/2006/math">
                    <m:r>
                      <a:rPr lang="ja-JP" altLang="es-MX" sz="1200" i="1" kern="1200">
                        <a:solidFill>
                          <a:schemeClr val="tx1"/>
                        </a:solidFill>
                        <a:latin typeface="+mn-lt"/>
                        <a:ea typeface="+mn-ea"/>
                        <a:cs typeface="+mn-cs"/>
                      </a:rPr>
                      <m:t>𝑝</m:t>
                    </m:r>
                    <m:d>
                      <m:dPr>
                        <m:ctrlPr>
                          <a:rPr lang="ja-JP" altLang="es-MX" sz="1200" i="1" kern="1200">
                            <a:solidFill>
                              <a:schemeClr val="tx1"/>
                            </a:solidFill>
                            <a:latin typeface="+mn-lt"/>
                            <a:ea typeface="+mn-ea"/>
                            <a:cs typeface="+mn-cs"/>
                          </a:rPr>
                        </m:ctrlPr>
                      </m:dPr>
                      <m:e>
                        <m:r>
                          <a:rPr lang="ja-JP" altLang="es-MX" sz="1200" i="1" kern="1200">
                            <a:solidFill>
                              <a:schemeClr val="tx1"/>
                            </a:solidFill>
                            <a:latin typeface="+mn-lt"/>
                            <a:ea typeface="+mn-ea"/>
                            <a:cs typeface="+mn-cs"/>
                          </a:rPr>
                          <m:t>𝑠</m:t>
                        </m:r>
                      </m:e>
                    </m:d>
                  </m:oMath>
                </a14:m>
                <a:r>
                  <a:rPr lang="ja-JP" altLang="es-MX" dirty="0"/>
                  <a:t>は、</a:t>
                </a:r>
                <a:br>
                  <a:rPr lang="ja-JP" altLang="es-MX" dirty="0"/>
                </a:br>
                <a:r>
                  <a:rPr lang="ja-JP" altLang="es-MX" dirty="0"/>
                  <a:t>テキストそのものの確率ではなく、</a:t>
                </a:r>
              </a:p>
              <a:p>
                <a:r>
                  <a:rPr lang="ja-JP" altLang="es-MX" b="1" dirty="0"/>
                  <a:t>与えられたストーリーに対して、</a:t>
                </a:r>
                <a:br>
                  <a:rPr lang="ja-JP" altLang="es-MX" b="1" dirty="0"/>
                </a:br>
                <a:r>
                  <a:rPr lang="ja-JP" altLang="es-MX" b="1" dirty="0"/>
                  <a:t>候補となる回答が正しい確率</a:t>
                </a:r>
                <a:r>
                  <a:rPr lang="ja-JP" altLang="es-MX" dirty="0"/>
                  <a:t>を表します。</a:t>
                </a:r>
              </a:p>
              <a:p>
                <a:endParaRPr lang="en-US" altLang="ja-JP" dirty="0"/>
              </a:p>
              <a:p>
                <a:r>
                  <a:rPr lang="ja-JP" altLang="es-MX" dirty="0"/>
                  <a:t>このようにしてモデルは、</a:t>
                </a:r>
                <a:br>
                  <a:rPr lang="ja-JP" altLang="es-MX" dirty="0"/>
                </a:br>
                <a:r>
                  <a:rPr lang="ja-JP" altLang="es-MX" b="1" dirty="0"/>
                  <a:t>ストーリーの文脈</a:t>
                </a:r>
                <a:r>
                  <a:rPr lang="ja-JP" altLang="es-MX" dirty="0"/>
                  <a:t>と</a:t>
                </a:r>
                <a:br>
                  <a:rPr lang="ja-JP" altLang="es-MX" dirty="0"/>
                </a:br>
                <a:r>
                  <a:rPr lang="es-MX" altLang="ja-JP" b="1" dirty="0" err="1"/>
                  <a:t>Knowledge</a:t>
                </a:r>
                <a:r>
                  <a:rPr lang="es-MX" altLang="ja-JP" b="1" dirty="0"/>
                  <a:t> </a:t>
                </a:r>
                <a:r>
                  <a:rPr lang="es-MX" altLang="ja-JP" b="1" dirty="0" err="1"/>
                  <a:t>Graph</a:t>
                </a:r>
                <a:r>
                  <a:rPr lang="es-MX" altLang="ja-JP" b="1" dirty="0"/>
                  <a:t> </a:t>
                </a:r>
                <a:r>
                  <a:rPr lang="ja-JP" altLang="es-MX" b="1" dirty="0"/>
                  <a:t>の常識</a:t>
                </a:r>
                <a:r>
                  <a:rPr lang="es-MX" altLang="ja-JP" b="1" dirty="0"/>
                  <a:t>(</a:t>
                </a:r>
                <a:r>
                  <a:rPr lang="ja-JP" altLang="es-MX" b="1" dirty="0"/>
                  <a:t>じょうしき</a:t>
                </a:r>
                <a:r>
                  <a:rPr lang="es-MX" altLang="ja-JP" b="1" dirty="0"/>
                  <a:t>)</a:t>
                </a:r>
                <a:r>
                  <a:rPr lang="ja-JP" altLang="es-MX" b="1" dirty="0"/>
                  <a:t>知識</a:t>
                </a:r>
                <a:r>
                  <a:rPr lang="ja-JP" altLang="es-MX" dirty="0"/>
                  <a:t>の両方を利用して</a:t>
                </a:r>
                <a:br>
                  <a:rPr lang="ja-JP" altLang="es-MX" dirty="0"/>
                </a:br>
                <a:r>
                  <a:rPr lang="ja-JP" altLang="es-MX" b="1" dirty="0"/>
                  <a:t>ナラティブ推論</a:t>
                </a:r>
                <a:r>
                  <a:rPr lang="ja-JP" altLang="es-MX" dirty="0"/>
                  <a:t>を行います。</a:t>
                </a:r>
              </a:p>
            </p:txBody>
          </p:sp>
        </mc:Choice>
        <mc:Fallback>
          <p:sp>
            <p:nvSpPr>
              <p:cNvPr id="3" name="Notes Placeholder 2">
                <a:extLst>
                  <a:ext uri="{FF2B5EF4-FFF2-40B4-BE49-F238E27FC236}">
                    <a16:creationId xmlns:a16="http://schemas.microsoft.com/office/drawing/2014/main" id="{491A7607-122B-F709-E5CE-2D4D553A7FA8}"/>
                  </a:ext>
                </a:extLst>
              </p:cNvPr>
              <p:cNvSpPr>
                <a:spLocks noGrp="1"/>
              </p:cNvSpPr>
              <p:nvPr>
                <p:ph type="body" idx="1"/>
              </p:nvPr>
            </p:nvSpPr>
            <p:spPr/>
            <p:txBody>
              <a:bodyPr/>
              <a:lstStyle/>
              <a:p>
                <a:r>
                  <a:rPr lang="es-MX" altLang="ja-JP" dirty="0"/>
                  <a:t>RGCN </a:t>
                </a:r>
                <a:r>
                  <a:rPr lang="ja-JP" altLang="es-MX" dirty="0"/>
                  <a:t>によってノード表現が更新された後、</a:t>
                </a:r>
                <a:br>
                  <a:rPr lang="ja-JP" altLang="es-MX" dirty="0"/>
                </a:br>
                <a:r>
                  <a:rPr lang="ja-JP" altLang="es-MX" dirty="0"/>
                  <a:t>各ノードは </a:t>
                </a:r>
                <a:r>
                  <a:rPr lang="ja-JP" altLang="es-MX" b="1" dirty="0"/>
                  <a:t>近傍</a:t>
                </a:r>
                <a:r>
                  <a:rPr lang="es-MX" altLang="ja-JP" b="1" dirty="0"/>
                  <a:t>(</a:t>
                </a:r>
                <a:r>
                  <a:rPr lang="ja-JP" altLang="es-MX" b="1" dirty="0"/>
                  <a:t>きんぼう</a:t>
                </a:r>
                <a:r>
                  <a:rPr lang="es-MX" altLang="ja-JP" b="1" dirty="0"/>
                  <a:t>)</a:t>
                </a:r>
                <a:r>
                  <a:rPr lang="ja-JP" altLang="es-MX" b="1" dirty="0"/>
                  <a:t>ノードから集約</a:t>
                </a:r>
                <a:r>
                  <a:rPr lang="es-MX" altLang="ja-JP" b="1" dirty="0"/>
                  <a:t>(</a:t>
                </a:r>
                <a:r>
                  <a:rPr lang="ja-JP" altLang="es-MX" b="1" dirty="0"/>
                  <a:t>しゅうやく</a:t>
                </a:r>
                <a:r>
                  <a:rPr lang="es-MX" altLang="ja-JP" b="1" dirty="0"/>
                  <a:t>)</a:t>
                </a:r>
                <a:r>
                  <a:rPr lang="ja-JP" altLang="es-MX" b="1" dirty="0"/>
                  <a:t>された情報</a:t>
                </a:r>
                <a:r>
                  <a:rPr lang="ja-JP" altLang="es-MX" dirty="0"/>
                  <a:t>を含むようになります。</a:t>
                </a:r>
              </a:p>
              <a:p>
                <a:r>
                  <a:rPr lang="ja-JP" altLang="es-MX" dirty="0"/>
                  <a:t>しかし、この時点では</a:t>
                </a:r>
                <a:br>
                  <a:rPr lang="ja-JP" altLang="es-MX" dirty="0"/>
                </a:br>
                <a:r>
                  <a:rPr lang="ja-JP" altLang="es-MX" dirty="0"/>
                  <a:t>推論グラフの中に </a:t>
                </a:r>
                <a:r>
                  <a:rPr lang="ja-JP" altLang="es-MX" b="1" dirty="0"/>
                  <a:t>複数のノードベクトル</a:t>
                </a:r>
                <a:r>
                  <a:rPr lang="ja-JP" altLang="es-MX" dirty="0"/>
                  <a:t>が存在しています。</a:t>
                </a:r>
              </a:p>
              <a:p>
                <a:r>
                  <a:rPr lang="ja-JP" altLang="es-MX" dirty="0"/>
                  <a:t>最終的な予測を行うためには、</a:t>
                </a:r>
                <a:br>
                  <a:rPr lang="ja-JP" altLang="es-MX" dirty="0"/>
                </a:br>
                <a:r>
                  <a:rPr lang="ja-JP" altLang="es-MX" b="1" dirty="0"/>
                  <a:t>グラフ全体を表す</a:t>
                </a:r>
                <a:r>
                  <a:rPr lang="es-MX" altLang="ja-JP" b="1" dirty="0"/>
                  <a:t>1</a:t>
                </a:r>
                <a:r>
                  <a:rPr lang="ja-JP" altLang="es-MX" b="1" dirty="0"/>
                  <a:t>つのベクトル</a:t>
                </a:r>
                <a:r>
                  <a:rPr lang="ja-JP" altLang="es-MX" dirty="0"/>
                  <a:t>を作る必要があります。</a:t>
                </a:r>
              </a:p>
              <a:p>
                <a:r>
                  <a:rPr lang="ja-JP" altLang="es-MX" dirty="0"/>
                  <a:t>そこで使用されるのが </a:t>
                </a:r>
                <a:r>
                  <a:rPr lang="es-MX" altLang="ja-JP" b="1" dirty="0" err="1"/>
                  <a:t>Pooling</a:t>
                </a:r>
                <a:r>
                  <a:rPr lang="ja-JP" altLang="es-MX" dirty="0"/>
                  <a:t> です。</a:t>
                </a:r>
              </a:p>
              <a:p>
                <a:r>
                  <a:rPr lang="es-MX" altLang="ja-JP" dirty="0" err="1"/>
                  <a:t>Pooling</a:t>
                </a:r>
                <a:r>
                  <a:rPr lang="es-MX" altLang="ja-JP" dirty="0"/>
                  <a:t> </a:t>
                </a:r>
                <a:r>
                  <a:rPr lang="ja-JP" altLang="es-MX" dirty="0"/>
                  <a:t>は、グラフ内のすべてのノードの表現を集約し、</a:t>
                </a:r>
                <a:br>
                  <a:rPr lang="ja-JP" altLang="es-MX" dirty="0"/>
                </a:br>
                <a:r>
                  <a:rPr lang="ja-JP" altLang="es-MX" b="1" dirty="0"/>
                  <a:t>グラフ全体を表す</a:t>
                </a:r>
                <a:r>
                  <a:rPr lang="es-MX" altLang="ja-JP" b="1" dirty="0"/>
                  <a:t>1</a:t>
                </a:r>
                <a:r>
                  <a:rPr lang="ja-JP" altLang="es-MX" b="1" dirty="0"/>
                  <a:t>つのベクトル</a:t>
                </a:r>
                <a:r>
                  <a:rPr lang="ja-JP" altLang="es-MX" dirty="0"/>
                  <a:t>を作る操作</a:t>
                </a:r>
                <a:r>
                  <a:rPr lang="es-MX" altLang="ja-JP" dirty="0"/>
                  <a:t>(</a:t>
                </a:r>
                <a:r>
                  <a:rPr lang="ja-JP" altLang="es-MX" dirty="0"/>
                  <a:t>そうさ</a:t>
                </a:r>
                <a:r>
                  <a:rPr lang="es-MX" altLang="ja-JP" dirty="0"/>
                  <a:t>)</a:t>
                </a:r>
                <a:r>
                  <a:rPr lang="ja-JP" altLang="es-MX" dirty="0"/>
                  <a:t>です。</a:t>
                </a:r>
              </a:p>
              <a:p>
                <a:r>
                  <a:rPr lang="ja-JP" altLang="es-MX" dirty="0"/>
                  <a:t>これは次の式で表されます。</a:t>
                </a:r>
              </a:p>
              <a:p>
                <a:r>
                  <a:rPr lang="ja-JP" altLang="es-MX" sz="1200" i="0" kern="1200">
                    <a:solidFill>
                      <a:schemeClr val="tx1"/>
                    </a:solidFill>
                    <a:latin typeface="+mn-lt"/>
                    <a:ea typeface="+mn-ea"/>
                    <a:cs typeface="+mn-cs"/>
                  </a:rPr>
                  <a:t>𝑔</a:t>
                </a:r>
                <a:r>
                  <a:rPr lang="es-MX" altLang="ja-JP" sz="1200" i="0" kern="1200">
                    <a:solidFill>
                      <a:schemeClr val="tx1"/>
                    </a:solidFill>
                    <a:latin typeface="+mn-lt"/>
                    <a:ea typeface="+mn-ea"/>
                    <a:cs typeface="+mn-cs"/>
                  </a:rPr>
                  <a:t>=</a:t>
                </a:r>
                <a:r>
                  <a:rPr lang="ja-JP" altLang="es-MX" sz="1200" i="0" kern="1200">
                    <a:solidFill>
                      <a:schemeClr val="tx1"/>
                    </a:solidFill>
                    <a:latin typeface="+mn-lt"/>
                    <a:ea typeface="+mn-ea"/>
                    <a:cs typeface="+mn-cs"/>
                  </a:rPr>
                  <a:t>𝑃𝑜𝑜𝑙𝑖𝑛𝑔({</a:t>
                </a:r>
                <a:r>
                  <a:rPr lang="es-MX" altLang="ja-JP" sz="1200" i="0" kern="1200">
                    <a:solidFill>
                      <a:schemeClr val="tx1"/>
                    </a:solidFill>
                    <a:latin typeface="+mn-lt"/>
                    <a:ea typeface="+mn-ea"/>
                    <a:cs typeface="+mn-cs"/>
                  </a:rPr>
                  <a:t>ℎ</a:t>
                </a:r>
                <a:r>
                  <a:rPr lang="ja-JP" altLang="es-MX" sz="1200" i="0" kern="1200">
                    <a:solidFill>
                      <a:schemeClr val="tx1"/>
                    </a:solidFill>
                    <a:latin typeface="+mn-lt"/>
                    <a:ea typeface="+mn-ea"/>
                    <a:cs typeface="+mn-cs"/>
                  </a:rPr>
                  <a:t>_𝑖^𝐿</a:t>
                </a:r>
                <a:r>
                  <a:rPr lang="es-MX" altLang="ja-JP" sz="1200" i="0" kern="1200">
                    <a:solidFill>
                      <a:schemeClr val="tx1"/>
                    </a:solidFill>
                    <a:latin typeface="+mn-lt"/>
                    <a:ea typeface="+mn-ea"/>
                    <a:cs typeface="+mn-cs"/>
                  </a:rPr>
                  <a:t>:</a:t>
                </a:r>
                <a:r>
                  <a:rPr lang="ja-JP" altLang="es-MX" sz="1200" i="0" kern="1200">
                    <a:solidFill>
                      <a:schemeClr val="tx1"/>
                    </a:solidFill>
                    <a:latin typeface="+mn-lt"/>
                    <a:ea typeface="+mn-ea"/>
                    <a:cs typeface="+mn-cs"/>
                  </a:rPr>
                  <a:t>𝑖∈𝑉_𝑗𝑜𝑖𝑛𝑡 })</a:t>
                </a:r>
                <a:endParaRPr lang="ja-JP" altLang="es-MX" dirty="0"/>
              </a:p>
              <a:p>
                <a:r>
                  <a:rPr lang="ja-JP" altLang="es-MX" dirty="0"/>
                  <a:t>ここで、</a:t>
                </a:r>
              </a:p>
              <a:p>
                <a:r>
                  <a:rPr lang="es-MX" altLang="ja-JP" sz="1200" i="0" kern="1200">
                    <a:solidFill>
                      <a:schemeClr val="tx1"/>
                    </a:solidFill>
                    <a:latin typeface="+mn-lt"/>
                    <a:ea typeface="+mn-ea"/>
                    <a:cs typeface="+mn-cs"/>
                  </a:rPr>
                  <a:t>ℎ</a:t>
                </a:r>
                <a:r>
                  <a:rPr lang="ja-JP" altLang="es-MX" sz="1200" i="0" kern="1200">
                    <a:solidFill>
                      <a:schemeClr val="tx1"/>
                    </a:solidFill>
                    <a:latin typeface="+mn-lt"/>
                    <a:ea typeface="+mn-ea"/>
                    <a:cs typeface="+mn-cs"/>
                  </a:rPr>
                  <a:t>_𝑖^𝐿</a:t>
                </a:r>
                <a:r>
                  <a:rPr lang="ja-JP" altLang="es-MX" dirty="0"/>
                  <a:t>は </a:t>
                </a:r>
                <a:r>
                  <a:rPr lang="es-MX" altLang="ja-JP" dirty="0"/>
                  <a:t>GNN </a:t>
                </a:r>
                <a:r>
                  <a:rPr lang="ja-JP" altLang="es-MX" dirty="0"/>
                  <a:t>の最終層におけるノード </a:t>
                </a:r>
                <a:r>
                  <a:rPr lang="ja-JP" altLang="es-MX" sz="1200" i="0" kern="1200">
                    <a:solidFill>
                      <a:schemeClr val="tx1"/>
                    </a:solidFill>
                    <a:latin typeface="+mn-lt"/>
                    <a:ea typeface="+mn-ea"/>
                    <a:cs typeface="+mn-cs"/>
                  </a:rPr>
                  <a:t>𝑖</a:t>
                </a:r>
                <a:r>
                  <a:rPr lang="ja-JP" altLang="es-MX" dirty="0"/>
                  <a:t>の埋め込み</a:t>
                </a:r>
              </a:p>
              <a:p>
                <a:r>
                  <a:rPr lang="ja-JP" altLang="es-MX" sz="1200" i="0" kern="1200">
                    <a:solidFill>
                      <a:schemeClr val="tx1"/>
                    </a:solidFill>
                    <a:latin typeface="+mn-lt"/>
                    <a:ea typeface="+mn-ea"/>
                    <a:cs typeface="+mn-cs"/>
                  </a:rPr>
                  <a:t>𝑉_𝑗𝑜𝑖𝑛𝑡</a:t>
                </a:r>
                <a:r>
                  <a:rPr lang="ja-JP" altLang="es-MX" dirty="0"/>
                  <a:t>は推論サブグラフに含まれるノード集合</a:t>
                </a:r>
              </a:p>
              <a:p>
                <a:r>
                  <a:rPr lang="ja-JP" altLang="es-MX" dirty="0"/>
                  <a:t>を表します。</a:t>
                </a:r>
              </a:p>
              <a:p>
                <a:r>
                  <a:rPr lang="es-MX" altLang="ja-JP" dirty="0" err="1"/>
                  <a:t>Pooling</a:t>
                </a:r>
                <a:r>
                  <a:rPr lang="es-MX" altLang="ja-JP" dirty="0"/>
                  <a:t> </a:t>
                </a:r>
                <a:r>
                  <a:rPr lang="ja-JP" altLang="es-MX" dirty="0"/>
                  <a:t>によって、すべてのノードの情報がまとめられ、</a:t>
                </a:r>
                <a:br>
                  <a:rPr lang="ja-JP" altLang="es-MX" dirty="0"/>
                </a:br>
                <a:r>
                  <a:rPr lang="ja-JP" altLang="es-MX" b="1" dirty="0"/>
                  <a:t>グラフ全体を表すベクトル </a:t>
                </a:r>
                <a:r>
                  <a:rPr lang="ja-JP" altLang="es-MX" sz="1200" i="0" kern="1200">
                    <a:solidFill>
                      <a:schemeClr val="tx1"/>
                    </a:solidFill>
                    <a:latin typeface="+mn-lt"/>
                    <a:ea typeface="+mn-ea"/>
                    <a:cs typeface="+mn-cs"/>
                  </a:rPr>
                  <a:t>𝑔</a:t>
                </a:r>
                <a:r>
                  <a:rPr lang="ja-JP" altLang="es-MX" dirty="0"/>
                  <a:t>が得られます。</a:t>
                </a:r>
              </a:p>
              <a:p>
                <a:br>
                  <a:rPr lang="ja-JP" altLang="es-MX" dirty="0"/>
                </a:br>
                <a:endParaRPr lang="ja-JP" altLang="es-MX" dirty="0"/>
              </a:p>
              <a:p>
                <a:r>
                  <a:rPr lang="ja-JP" altLang="es-MX" dirty="0"/>
                  <a:t>次に </a:t>
                </a:r>
                <a:r>
                  <a:rPr lang="ja-JP" altLang="es-MX" b="1" dirty="0"/>
                  <a:t>最終予測</a:t>
                </a:r>
                <a:r>
                  <a:rPr lang="ja-JP" altLang="es-MX" dirty="0"/>
                  <a:t>を行います。</a:t>
                </a:r>
              </a:p>
              <a:p>
                <a:r>
                  <a:rPr lang="ja-JP" altLang="es-MX" dirty="0"/>
                  <a:t>このモデルでは、</a:t>
                </a:r>
                <a:br>
                  <a:rPr lang="ja-JP" altLang="es-MX" dirty="0"/>
                </a:br>
                <a:r>
                  <a:rPr lang="es-MX" altLang="ja-JP" b="1" dirty="0"/>
                  <a:t>2</a:t>
                </a:r>
                <a:r>
                  <a:rPr lang="ja-JP" altLang="es-MX" b="1" dirty="0"/>
                  <a:t>つの情報源</a:t>
                </a:r>
                <a:r>
                  <a:rPr lang="ja-JP" altLang="es-MX" dirty="0"/>
                  <a:t>を組み合わせて推論を行います。</a:t>
                </a:r>
              </a:p>
              <a:p>
                <a:r>
                  <a:rPr lang="es-MX" altLang="ja-JP" dirty="0"/>
                  <a:t>1</a:t>
                </a:r>
                <a:r>
                  <a:rPr lang="ja-JP" altLang="es-MX" dirty="0"/>
                  <a:t>つ目は </a:t>
                </a:r>
                <a:r>
                  <a:rPr lang="ja-JP" altLang="es-MX" b="1" dirty="0"/>
                  <a:t>入力テキストの表現</a:t>
                </a:r>
                <a:br>
                  <a:rPr lang="ja-JP" altLang="es-MX" dirty="0"/>
                </a:br>
                <a:r>
                  <a:rPr lang="es-MX" altLang="ja-JP" dirty="0"/>
                  <a:t>2</a:t>
                </a:r>
                <a:r>
                  <a:rPr lang="ja-JP" altLang="es-MX" dirty="0"/>
                  <a:t>つ目は </a:t>
                </a:r>
                <a:r>
                  <a:rPr lang="es-MX" altLang="ja-JP" b="1" dirty="0" err="1"/>
                  <a:t>Knowledge</a:t>
                </a:r>
                <a:r>
                  <a:rPr lang="es-MX" altLang="ja-JP" b="1" dirty="0"/>
                  <a:t> </a:t>
                </a:r>
                <a:r>
                  <a:rPr lang="es-MX" altLang="ja-JP" b="1" dirty="0" err="1"/>
                  <a:t>Graph</a:t>
                </a:r>
                <a:r>
                  <a:rPr lang="es-MX" altLang="ja-JP" b="1" dirty="0"/>
                  <a:t> </a:t>
                </a:r>
                <a:r>
                  <a:rPr lang="ja-JP" altLang="es-MX" b="1" dirty="0"/>
                  <a:t>から得られたグラフ表現</a:t>
                </a:r>
                <a:r>
                  <a:rPr lang="ja-JP" altLang="es-MX" dirty="0"/>
                  <a:t>です。</a:t>
                </a:r>
              </a:p>
              <a:p>
                <a:r>
                  <a:rPr lang="ja-JP" altLang="es-MX" dirty="0"/>
                  <a:t>これは次の式で表されます。</a:t>
                </a:r>
              </a:p>
              <a:p>
                <a:r>
                  <a:rPr lang="ja-JP" altLang="es-MX" sz="1200" i="0" kern="1200">
                    <a:solidFill>
                      <a:schemeClr val="tx1"/>
                    </a:solidFill>
                    <a:latin typeface="+mn-lt"/>
                    <a:ea typeface="+mn-ea"/>
                    <a:cs typeface="+mn-cs"/>
                  </a:rPr>
                  <a:t>𝑝(𝑠)∝𝑀𝐿𝑃(𝑠</a:t>
                </a:r>
                <a:r>
                  <a:rPr lang="es-MX" altLang="ja-JP" sz="1200" i="0" kern="1200">
                    <a:solidFill>
                      <a:schemeClr val="tx1"/>
                    </a:solidFill>
                    <a:latin typeface="+mn-lt"/>
                    <a:ea typeface="+mn-ea"/>
                    <a:cs typeface="+mn-cs"/>
                  </a:rPr>
                  <a:t>+</a:t>
                </a:r>
                <a:r>
                  <a:rPr lang="ja-JP" altLang="es-MX" sz="1200" i="0" kern="1200">
                    <a:solidFill>
                      <a:schemeClr val="tx1"/>
                    </a:solidFill>
                    <a:latin typeface="+mn-lt"/>
                    <a:ea typeface="+mn-ea"/>
                    <a:cs typeface="+mn-cs"/>
                  </a:rPr>
                  <a:t>𝑔)</a:t>
                </a:r>
                <a:endParaRPr lang="ja-JP" altLang="es-MX" dirty="0"/>
              </a:p>
              <a:p>
                <a:r>
                  <a:rPr lang="ja-JP" altLang="es-MX" dirty="0"/>
                  <a:t>ここで </a:t>
                </a:r>
                <a:r>
                  <a:rPr lang="ja-JP" altLang="es-MX" b="1" dirty="0"/>
                  <a:t>∝</a:t>
                </a:r>
                <a:r>
                  <a:rPr lang="ja-JP" altLang="es-MX" dirty="0"/>
                  <a:t> は **「比例する」**という意味です。</a:t>
                </a:r>
              </a:p>
              <a:p>
                <a:r>
                  <a:rPr lang="ja-JP" altLang="es-MX" dirty="0"/>
                  <a:t>つまり、まずモデルは </a:t>
                </a:r>
                <a:r>
                  <a:rPr lang="es-MX" altLang="ja-JP" b="1" dirty="0"/>
                  <a:t>MLP(</a:t>
                </a:r>
                <a:r>
                  <a:rPr lang="es-MX" altLang="ja-JP" b="1" dirty="0" err="1"/>
                  <a:t>s+g</a:t>
                </a:r>
                <a:r>
                  <a:rPr lang="es-MX" altLang="ja-JP" b="1" dirty="0"/>
                  <a:t>)</a:t>
                </a:r>
                <a:r>
                  <a:rPr lang="ja-JP" altLang="es-MX" dirty="0"/>
                  <a:t> を計算してスコアを出し、</a:t>
                </a:r>
                <a:br>
                  <a:rPr lang="ja-JP" altLang="es-MX" dirty="0"/>
                </a:br>
                <a:r>
                  <a:rPr lang="ja-JP" altLang="es-MX" dirty="0"/>
                  <a:t>その後 </a:t>
                </a:r>
                <a:r>
                  <a:rPr lang="es-MX" altLang="ja-JP" b="1" dirty="0" err="1"/>
                  <a:t>softmax</a:t>
                </a:r>
                <a:r>
                  <a:rPr lang="ja-JP" altLang="es-MX" dirty="0"/>
                  <a:t> などの関数を使って</a:t>
                </a:r>
                <a:br>
                  <a:rPr lang="ja-JP" altLang="es-MX" dirty="0"/>
                </a:br>
                <a:r>
                  <a:rPr lang="ja-JP" altLang="es-MX" dirty="0"/>
                  <a:t>それを </a:t>
                </a:r>
                <a:r>
                  <a:rPr lang="ja-JP" altLang="es-MX" b="1" dirty="0"/>
                  <a:t>確率に変換します。</a:t>
                </a:r>
                <a:endParaRPr lang="ja-JP" altLang="es-MX" dirty="0"/>
              </a:p>
              <a:p>
                <a:r>
                  <a:rPr lang="ja-JP" altLang="es-MX" dirty="0"/>
                  <a:t>ここで、</a:t>
                </a:r>
              </a:p>
              <a:p>
                <a:r>
                  <a:rPr lang="ja-JP" altLang="es-MX" sz="1200" i="0" kern="1200">
                    <a:solidFill>
                      <a:schemeClr val="tx1"/>
                    </a:solidFill>
                    <a:latin typeface="+mn-lt"/>
                    <a:ea typeface="+mn-ea"/>
                    <a:cs typeface="+mn-cs"/>
                  </a:rPr>
                  <a:t>𝑠</a:t>
                </a:r>
                <a:r>
                  <a:rPr lang="ja-JP" altLang="es-MX" dirty="0"/>
                  <a:t>は入力テキストの埋め込み</a:t>
                </a:r>
              </a:p>
              <a:p>
                <a:r>
                  <a:rPr lang="ja-JP" altLang="es-MX" sz="1200" i="0" kern="1200">
                    <a:solidFill>
                      <a:schemeClr val="tx1"/>
                    </a:solidFill>
                    <a:latin typeface="+mn-lt"/>
                    <a:ea typeface="+mn-ea"/>
                    <a:cs typeface="+mn-cs"/>
                  </a:rPr>
                  <a:t>𝑔</a:t>
                </a:r>
                <a:r>
                  <a:rPr lang="ja-JP" altLang="es-MX" dirty="0"/>
                  <a:t>はグラフ全体の表現</a:t>
                </a:r>
              </a:p>
              <a:p>
                <a:r>
                  <a:rPr lang="es-MX" altLang="ja-JP" b="1" dirty="0"/>
                  <a:t>MLP</a:t>
                </a:r>
                <a:r>
                  <a:rPr lang="ja-JP" altLang="es-MX" dirty="0"/>
                  <a:t> は最終的な分類を行うニューラルネットワークです。</a:t>
                </a:r>
              </a:p>
              <a:p>
                <a:r>
                  <a:rPr lang="ja-JP" altLang="es-MX" dirty="0"/>
                  <a:t>モデルはまず</a:t>
                </a:r>
                <a:br>
                  <a:rPr lang="ja-JP" altLang="es-MX" dirty="0"/>
                </a:br>
                <a:r>
                  <a:rPr lang="ja-JP" altLang="es-MX" b="1" dirty="0"/>
                  <a:t>テキストベクトル </a:t>
                </a:r>
                <a:r>
                  <a:rPr lang="ja-JP" altLang="es-MX" sz="1200" i="0" kern="1200">
                    <a:solidFill>
                      <a:schemeClr val="tx1"/>
                    </a:solidFill>
                    <a:latin typeface="+mn-lt"/>
                    <a:ea typeface="+mn-ea"/>
                    <a:cs typeface="+mn-cs"/>
                  </a:rPr>
                  <a:t>𝑠</a:t>
                </a:r>
                <a:r>
                  <a:rPr lang="ja-JP" altLang="es-MX" dirty="0"/>
                  <a:t>と </a:t>
                </a:r>
                <a:r>
                  <a:rPr lang="ja-JP" altLang="es-MX" b="1" dirty="0"/>
                  <a:t>グラフベクトル </a:t>
                </a:r>
                <a:r>
                  <a:rPr lang="ja-JP" altLang="es-MX" sz="1200" i="0" kern="1200">
                    <a:solidFill>
                      <a:schemeClr val="tx1"/>
                    </a:solidFill>
                    <a:latin typeface="+mn-lt"/>
                    <a:ea typeface="+mn-ea"/>
                    <a:cs typeface="+mn-cs"/>
                  </a:rPr>
                  <a:t>𝑔</a:t>
                </a:r>
                <a:r>
                  <a:rPr lang="ja-JP" altLang="es-MX" dirty="0"/>
                  <a:t>を足し合わせます。</a:t>
                </a:r>
              </a:p>
              <a:p>
                <a:endParaRPr lang="en-US" altLang="ja-JP" dirty="0"/>
              </a:p>
              <a:p>
                <a:r>
                  <a:rPr lang="ja-JP" altLang="es-MX" dirty="0"/>
                  <a:t>これにより、</a:t>
                </a:r>
                <a:br>
                  <a:rPr lang="ja-JP" altLang="es-MX" dirty="0"/>
                </a:br>
                <a:r>
                  <a:rPr lang="ja-JP" altLang="es-MX" b="1" dirty="0"/>
                  <a:t>テキスト理解と </a:t>
                </a:r>
                <a:r>
                  <a:rPr lang="es-MX" altLang="ja-JP" b="1" dirty="0" err="1"/>
                  <a:t>Knowledge</a:t>
                </a:r>
                <a:r>
                  <a:rPr lang="es-MX" altLang="ja-JP" b="1" dirty="0"/>
                  <a:t> </a:t>
                </a:r>
                <a:r>
                  <a:rPr lang="es-MX" altLang="ja-JP" b="1" dirty="0" err="1"/>
                  <a:t>Graph</a:t>
                </a:r>
                <a:r>
                  <a:rPr lang="es-MX" altLang="ja-JP" b="1" dirty="0"/>
                  <a:t> </a:t>
                </a:r>
                <a:r>
                  <a:rPr lang="ja-JP" altLang="es-MX" b="1" dirty="0"/>
                  <a:t>推論の情報が統合</a:t>
                </a:r>
                <a:r>
                  <a:rPr lang="es-MX" altLang="ja-JP" b="1" dirty="0"/>
                  <a:t>(</a:t>
                </a:r>
                <a:r>
                  <a:rPr lang="ja-JP" altLang="es-MX" b="1" dirty="0"/>
                  <a:t>とうごう</a:t>
                </a:r>
                <a:r>
                  <a:rPr lang="es-MX" altLang="ja-JP" b="1" dirty="0"/>
                  <a:t>)</a:t>
                </a:r>
                <a:r>
                  <a:rPr lang="ja-JP" altLang="es-MX" dirty="0"/>
                  <a:t> されます。</a:t>
                </a:r>
              </a:p>
              <a:p>
                <a:r>
                  <a:rPr lang="ja-JP" altLang="es-MX" dirty="0"/>
                  <a:t>そして、この統合されたベクトルを </a:t>
                </a:r>
                <a:r>
                  <a:rPr lang="es-MX" altLang="ja-JP" b="1" dirty="0"/>
                  <a:t>MLP</a:t>
                </a:r>
                <a:r>
                  <a:rPr lang="ja-JP" altLang="es-MX" dirty="0"/>
                  <a:t> に入力することで、</a:t>
                </a:r>
                <a:br>
                  <a:rPr lang="ja-JP" altLang="es-MX" dirty="0"/>
                </a:br>
                <a:r>
                  <a:rPr lang="ja-JP" altLang="es-MX" b="1" dirty="0"/>
                  <a:t>各候補</a:t>
                </a:r>
                <a:r>
                  <a:rPr lang="es-MX" altLang="ja-JP" b="1" dirty="0"/>
                  <a:t>(</a:t>
                </a:r>
                <a:r>
                  <a:rPr lang="ja-JP" altLang="es-MX" b="1" dirty="0"/>
                  <a:t>かくこうほ</a:t>
                </a:r>
                <a:r>
                  <a:rPr lang="es-MX" altLang="ja-JP" b="1" dirty="0"/>
                  <a:t>)</a:t>
                </a:r>
                <a:r>
                  <a:rPr lang="ja-JP" altLang="es-MX" b="1" dirty="0"/>
                  <a:t>回答</a:t>
                </a:r>
                <a:r>
                  <a:rPr lang="es-MX" altLang="ja-JP" b="1" dirty="0"/>
                  <a:t>(</a:t>
                </a:r>
                <a:r>
                  <a:rPr lang="ja-JP" altLang="es-MX" b="1" dirty="0"/>
                  <a:t>かいとう</a:t>
                </a:r>
                <a:r>
                  <a:rPr lang="es-MX" altLang="ja-JP" b="1" dirty="0"/>
                  <a:t>)</a:t>
                </a:r>
                <a:r>
                  <a:rPr lang="ja-JP" altLang="es-MX" b="1" dirty="0"/>
                  <a:t>の確率</a:t>
                </a:r>
                <a:r>
                  <a:rPr lang="ja-JP" altLang="es-MX" dirty="0"/>
                  <a:t>を予測します。</a:t>
                </a:r>
              </a:p>
              <a:p>
                <a:r>
                  <a:rPr lang="ja-JP" altLang="es-MX" dirty="0"/>
                  <a:t>ここでの確率 </a:t>
                </a:r>
                <a:r>
                  <a:rPr lang="ja-JP" altLang="es-MX" sz="1200" i="0" kern="1200">
                    <a:solidFill>
                      <a:schemeClr val="tx1"/>
                    </a:solidFill>
                    <a:latin typeface="+mn-lt"/>
                    <a:ea typeface="+mn-ea"/>
                    <a:cs typeface="+mn-cs"/>
                  </a:rPr>
                  <a:t>𝑝(𝑠)</a:t>
                </a:r>
                <a:r>
                  <a:rPr lang="ja-JP" altLang="es-MX" dirty="0"/>
                  <a:t>は、</a:t>
                </a:r>
                <a:br>
                  <a:rPr lang="ja-JP" altLang="es-MX" dirty="0"/>
                </a:br>
                <a:r>
                  <a:rPr lang="ja-JP" altLang="es-MX" dirty="0"/>
                  <a:t>テキストそのものの確率ではなく、</a:t>
                </a:r>
              </a:p>
              <a:p>
                <a:r>
                  <a:rPr lang="ja-JP" altLang="es-MX" b="1" dirty="0"/>
                  <a:t>与えられたストーリーに対して、</a:t>
                </a:r>
                <a:br>
                  <a:rPr lang="ja-JP" altLang="es-MX" b="1" dirty="0"/>
                </a:br>
                <a:r>
                  <a:rPr lang="ja-JP" altLang="es-MX" b="1" dirty="0"/>
                  <a:t>候補となる回答が正しい確率</a:t>
                </a:r>
                <a:r>
                  <a:rPr lang="ja-JP" altLang="es-MX" dirty="0"/>
                  <a:t>を表します。</a:t>
                </a:r>
              </a:p>
              <a:p>
                <a:endParaRPr lang="en-US" altLang="ja-JP" dirty="0"/>
              </a:p>
              <a:p>
                <a:r>
                  <a:rPr lang="ja-JP" altLang="es-MX" dirty="0"/>
                  <a:t>このようにしてモデルは、</a:t>
                </a:r>
                <a:br>
                  <a:rPr lang="ja-JP" altLang="es-MX" dirty="0"/>
                </a:br>
                <a:r>
                  <a:rPr lang="ja-JP" altLang="es-MX" b="1" dirty="0"/>
                  <a:t>ストーリーの文脈</a:t>
                </a:r>
                <a:r>
                  <a:rPr lang="ja-JP" altLang="es-MX" dirty="0"/>
                  <a:t>と</a:t>
                </a:r>
                <a:br>
                  <a:rPr lang="ja-JP" altLang="es-MX" dirty="0"/>
                </a:br>
                <a:r>
                  <a:rPr lang="es-MX" altLang="ja-JP" b="1" dirty="0" err="1"/>
                  <a:t>Knowledge</a:t>
                </a:r>
                <a:r>
                  <a:rPr lang="es-MX" altLang="ja-JP" b="1" dirty="0"/>
                  <a:t> </a:t>
                </a:r>
                <a:r>
                  <a:rPr lang="es-MX" altLang="ja-JP" b="1" dirty="0" err="1"/>
                  <a:t>Graph</a:t>
                </a:r>
                <a:r>
                  <a:rPr lang="es-MX" altLang="ja-JP" b="1" dirty="0"/>
                  <a:t> </a:t>
                </a:r>
                <a:r>
                  <a:rPr lang="ja-JP" altLang="es-MX" b="1" dirty="0"/>
                  <a:t>の常識</a:t>
                </a:r>
                <a:r>
                  <a:rPr lang="es-MX" altLang="ja-JP" b="1" dirty="0"/>
                  <a:t>(</a:t>
                </a:r>
                <a:r>
                  <a:rPr lang="ja-JP" altLang="es-MX" b="1" dirty="0"/>
                  <a:t>じょうしき</a:t>
                </a:r>
                <a:r>
                  <a:rPr lang="es-MX" altLang="ja-JP" b="1" dirty="0"/>
                  <a:t>)</a:t>
                </a:r>
                <a:r>
                  <a:rPr lang="ja-JP" altLang="es-MX" b="1" dirty="0"/>
                  <a:t>知識</a:t>
                </a:r>
                <a:r>
                  <a:rPr lang="ja-JP" altLang="es-MX" dirty="0"/>
                  <a:t>の両方を利用して</a:t>
                </a:r>
                <a:br>
                  <a:rPr lang="ja-JP" altLang="es-MX" dirty="0"/>
                </a:br>
                <a:r>
                  <a:rPr lang="ja-JP" altLang="es-MX" b="1" dirty="0"/>
                  <a:t>ナラティブ推論</a:t>
                </a:r>
                <a:r>
                  <a:rPr lang="ja-JP" altLang="es-MX" dirty="0"/>
                  <a:t>を行います。</a:t>
                </a:r>
              </a:p>
            </p:txBody>
          </p:sp>
        </mc:Fallback>
      </mc:AlternateContent>
      <p:sp>
        <p:nvSpPr>
          <p:cNvPr id="4" name="Slide Number Placeholder 3">
            <a:extLst>
              <a:ext uri="{FF2B5EF4-FFF2-40B4-BE49-F238E27FC236}">
                <a16:creationId xmlns:a16="http://schemas.microsoft.com/office/drawing/2014/main" id="{5DC88948-0590-CD86-E474-D18630F1D176}"/>
              </a:ext>
            </a:extLst>
          </p:cNvPr>
          <p:cNvSpPr>
            <a:spLocks noGrp="1"/>
          </p:cNvSpPr>
          <p:nvPr>
            <p:ph type="sldNum" sz="quarter" idx="5"/>
          </p:nvPr>
        </p:nvSpPr>
        <p:spPr/>
        <p:txBody>
          <a:bodyPr/>
          <a:lstStyle/>
          <a:p>
            <a:fld id="{27F6FB8B-1938-4266-AC76-FE6EFE356B7C}" type="slidenum">
              <a:rPr lang="es-MX" smtClean="0"/>
              <a:t>13</a:t>
            </a:fld>
            <a:endParaRPr lang="es-MX"/>
          </a:p>
        </p:txBody>
      </p:sp>
    </p:spTree>
    <p:extLst>
      <p:ext uri="{BB962C8B-B14F-4D97-AF65-F5344CB8AC3E}">
        <p14:creationId xmlns:p14="http://schemas.microsoft.com/office/powerpoint/2010/main" val="1997661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8FAF-D7AB-60BD-D5E7-77836C7DF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AC833-67E5-4B7D-813E-F364A0223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07FA9E-8D29-BBAB-19A7-21EFFD1DB124}"/>
              </a:ext>
            </a:extLst>
          </p:cNvPr>
          <p:cNvSpPr>
            <a:spLocks noGrp="1"/>
          </p:cNvSpPr>
          <p:nvPr>
            <p:ph type="body" idx="1"/>
          </p:nvPr>
        </p:nvSpPr>
        <p:spPr/>
        <p:txBody>
          <a:bodyPr/>
          <a:lstStyle/>
          <a:p>
            <a:r>
              <a:rPr lang="ja-JP" altLang="es-MX" dirty="0"/>
              <a:t>次に、この </a:t>
            </a:r>
            <a:r>
              <a:rPr lang="es-MX" altLang="ja-JP" b="1" dirty="0"/>
              <a:t>case </a:t>
            </a:r>
            <a:r>
              <a:rPr lang="es-MX" altLang="ja-JP" b="1" dirty="0" err="1"/>
              <a:t>study</a:t>
            </a:r>
            <a:r>
              <a:rPr lang="ja-JP" altLang="es-MX" dirty="0"/>
              <a:t> を使って、</a:t>
            </a:r>
            <a:br>
              <a:rPr lang="ja-JP" altLang="es-MX" dirty="0"/>
            </a:br>
            <a:r>
              <a:rPr lang="es-MX" altLang="ja-JP" dirty="0" err="1"/>
              <a:t>EventGround</a:t>
            </a:r>
            <a:r>
              <a:rPr lang="es-MX" altLang="ja-JP" dirty="0"/>
              <a:t> </a:t>
            </a:r>
            <a:r>
              <a:rPr lang="ja-JP" altLang="es-MX" dirty="0"/>
              <a:t>が実際にどのように推論を行うのかを説明します。</a:t>
            </a:r>
          </a:p>
          <a:p>
            <a:r>
              <a:rPr lang="ja-JP" altLang="es-MX" dirty="0"/>
              <a:t>まず、モデルには次のようなストーリーが入力されます。</a:t>
            </a:r>
          </a:p>
          <a:p>
            <a:r>
              <a:rPr lang="es-MX" altLang="ja-JP" dirty="0"/>
              <a:t>Caroline </a:t>
            </a:r>
            <a:r>
              <a:rPr lang="ja-JP" altLang="es-MX" dirty="0"/>
              <a:t>は医学生で、良い成績を取るために一生懸命勉強していました。</a:t>
            </a:r>
            <a:br>
              <a:rPr lang="ja-JP" altLang="es-MX" dirty="0"/>
            </a:br>
            <a:r>
              <a:rPr lang="ja-JP" altLang="es-MX" dirty="0"/>
              <a:t>しかし、ある日テストに</a:t>
            </a:r>
            <a:r>
              <a:rPr lang="es-MX" altLang="ja-JP" dirty="0"/>
              <a:t>1</a:t>
            </a:r>
            <a:r>
              <a:rPr lang="ja-JP" altLang="es-MX" dirty="0"/>
              <a:t>点差で落ちてしまいます。</a:t>
            </a:r>
            <a:br>
              <a:rPr lang="ja-JP" altLang="es-MX" dirty="0"/>
            </a:br>
            <a:r>
              <a:rPr lang="ja-JP" altLang="es-MX" dirty="0"/>
              <a:t>彼女はとても悔しいと感じましたが、それでも勉強を続けました。</a:t>
            </a:r>
          </a:p>
          <a:p>
            <a:r>
              <a:rPr lang="ja-JP" altLang="es-MX" dirty="0"/>
              <a:t>そのあと、モデルは</a:t>
            </a:r>
            <a:r>
              <a:rPr lang="es-MX" altLang="ja-JP" dirty="0"/>
              <a:t>2</a:t>
            </a:r>
            <a:r>
              <a:rPr lang="ja-JP" altLang="es-MX" dirty="0"/>
              <a:t>つの候補の中から</a:t>
            </a:r>
            <a:br>
              <a:rPr lang="ja-JP" altLang="es-MX" dirty="0"/>
            </a:br>
            <a:r>
              <a:rPr lang="ja-JP" altLang="es-MX" dirty="0"/>
              <a:t>最も自然な結末を選ばなければなりません。</a:t>
            </a:r>
          </a:p>
          <a:p>
            <a:r>
              <a:rPr lang="es-MX" altLang="ja-JP" dirty="0"/>
              <a:t>1</a:t>
            </a:r>
            <a:r>
              <a:rPr lang="ja-JP" altLang="es-MX" dirty="0"/>
              <a:t>つ目は</a:t>
            </a:r>
            <a:br>
              <a:rPr lang="ja-JP" altLang="es-MX" dirty="0"/>
            </a:br>
            <a:r>
              <a:rPr lang="es-MX" altLang="ja-JP" b="1" dirty="0" err="1"/>
              <a:t>But</a:t>
            </a:r>
            <a:r>
              <a:rPr lang="es-MX" altLang="ja-JP" b="1" dirty="0"/>
              <a:t> </a:t>
            </a:r>
            <a:r>
              <a:rPr lang="es-MX" altLang="ja-JP" b="1" dirty="0" err="1"/>
              <a:t>she</a:t>
            </a:r>
            <a:r>
              <a:rPr lang="es-MX" altLang="ja-JP" b="1" dirty="0"/>
              <a:t> </a:t>
            </a:r>
            <a:r>
              <a:rPr lang="es-MX" altLang="ja-JP" b="1" dirty="0" err="1"/>
              <a:t>gave</a:t>
            </a:r>
            <a:r>
              <a:rPr lang="es-MX" altLang="ja-JP" b="1" dirty="0"/>
              <a:t> up</a:t>
            </a:r>
            <a:endParaRPr lang="ja-JP" altLang="es-MX" dirty="0"/>
          </a:p>
          <a:p>
            <a:r>
              <a:rPr lang="es-MX" altLang="ja-JP" dirty="0"/>
              <a:t>2</a:t>
            </a:r>
            <a:r>
              <a:rPr lang="ja-JP" altLang="es-MX" dirty="0"/>
              <a:t>つ目は</a:t>
            </a:r>
            <a:br>
              <a:rPr lang="ja-JP" altLang="es-MX" dirty="0"/>
            </a:br>
            <a:r>
              <a:rPr lang="es-MX" altLang="ja-JP" b="1" dirty="0" err="1"/>
              <a:t>Later</a:t>
            </a:r>
            <a:r>
              <a:rPr lang="es-MX" altLang="ja-JP" b="1" dirty="0"/>
              <a:t>, </a:t>
            </a:r>
            <a:r>
              <a:rPr lang="es-MX" altLang="ja-JP" b="1" dirty="0" err="1"/>
              <a:t>she</a:t>
            </a:r>
            <a:r>
              <a:rPr lang="es-MX" altLang="ja-JP" b="1" dirty="0"/>
              <a:t> </a:t>
            </a:r>
            <a:r>
              <a:rPr lang="es-MX" altLang="ja-JP" b="1" dirty="0" err="1"/>
              <a:t>passed</a:t>
            </a:r>
            <a:r>
              <a:rPr lang="es-MX" altLang="ja-JP" b="1" dirty="0"/>
              <a:t> </a:t>
            </a:r>
            <a:r>
              <a:rPr lang="es-MX" altLang="ja-JP" b="1" dirty="0" err="1"/>
              <a:t>the</a:t>
            </a:r>
            <a:r>
              <a:rPr lang="es-MX" altLang="ja-JP" b="1" dirty="0"/>
              <a:t> test</a:t>
            </a:r>
            <a:endParaRPr lang="ja-JP" altLang="es-MX" dirty="0"/>
          </a:p>
          <a:p>
            <a:r>
              <a:rPr lang="ja-JP" altLang="es-MX" dirty="0"/>
              <a:t>人間にとっては、</a:t>
            </a:r>
            <a:r>
              <a:rPr lang="es-MX" altLang="ja-JP" dirty="0"/>
              <a:t>2</a:t>
            </a:r>
            <a:r>
              <a:rPr lang="ja-JP" altLang="es-MX" dirty="0"/>
              <a:t>つ目の方が自然に見えます。</a:t>
            </a:r>
            <a:br>
              <a:rPr lang="ja-JP" altLang="es-MX" dirty="0"/>
            </a:br>
            <a:r>
              <a:rPr lang="ja-JP" altLang="es-MX" dirty="0"/>
              <a:t>この </a:t>
            </a:r>
            <a:r>
              <a:rPr lang="es-MX" altLang="ja-JP" dirty="0"/>
              <a:t>case </a:t>
            </a:r>
            <a:r>
              <a:rPr lang="es-MX" altLang="ja-JP" dirty="0" err="1"/>
              <a:t>study</a:t>
            </a:r>
            <a:r>
              <a:rPr lang="es-MX" altLang="ja-JP" dirty="0"/>
              <a:t> </a:t>
            </a:r>
            <a:r>
              <a:rPr lang="ja-JP" altLang="es-MX" dirty="0"/>
              <a:t>は、モデルが </a:t>
            </a:r>
            <a:r>
              <a:rPr lang="es-MX" altLang="ja-JP" b="1" dirty="0" err="1"/>
              <a:t>Knowledge</a:t>
            </a:r>
            <a:r>
              <a:rPr lang="es-MX" altLang="ja-JP" b="1" dirty="0"/>
              <a:t> </a:t>
            </a:r>
            <a:r>
              <a:rPr lang="es-MX" altLang="ja-JP" b="1" dirty="0" err="1"/>
              <a:t>Graph</a:t>
            </a:r>
            <a:r>
              <a:rPr lang="es-MX" altLang="ja-JP" b="1" dirty="0"/>
              <a:t> </a:t>
            </a:r>
            <a:r>
              <a:rPr lang="ja-JP" altLang="es-MX" b="1" dirty="0"/>
              <a:t>を使ってどのようにその結論に到達するか</a:t>
            </a:r>
            <a:r>
              <a:rPr lang="ja-JP" altLang="es-MX" dirty="0"/>
              <a:t> を示しています。</a:t>
            </a:r>
          </a:p>
          <a:p>
            <a:br>
              <a:rPr lang="ja-JP" altLang="es-MX" dirty="0"/>
            </a:br>
            <a:endParaRPr lang="ja-JP" altLang="es-MX" dirty="0"/>
          </a:p>
          <a:p>
            <a:r>
              <a:rPr lang="es-MX" altLang="ja-JP" b="1" dirty="0"/>
              <a:t>Step 1 — </a:t>
            </a:r>
            <a:r>
              <a:rPr lang="es-MX" altLang="ja-JP" b="1" dirty="0" err="1"/>
              <a:t>Event</a:t>
            </a:r>
            <a:r>
              <a:rPr lang="es-MX" altLang="ja-JP" b="1" dirty="0"/>
              <a:t> </a:t>
            </a:r>
            <a:r>
              <a:rPr lang="es-MX" altLang="ja-JP" b="1" dirty="0" err="1"/>
              <a:t>Extraction</a:t>
            </a:r>
            <a:endParaRPr lang="es-MX" altLang="ja-JP" b="1" dirty="0"/>
          </a:p>
          <a:p>
            <a:r>
              <a:rPr lang="ja-JP" altLang="es-MX" dirty="0"/>
              <a:t>まず最初に、モデルはテキストから </a:t>
            </a:r>
            <a:r>
              <a:rPr lang="ja-JP" altLang="es-MX" b="1" dirty="0"/>
              <a:t>イベント</a:t>
            </a:r>
            <a:r>
              <a:rPr lang="ja-JP" altLang="es-MX" dirty="0"/>
              <a:t> を抽出します。</a:t>
            </a:r>
          </a:p>
          <a:p>
            <a:r>
              <a:rPr lang="ja-JP" altLang="es-MX" dirty="0"/>
              <a:t>例えば、図の左側にあるように、</a:t>
            </a:r>
          </a:p>
          <a:p>
            <a:r>
              <a:rPr lang="es-MX" altLang="ja-JP" dirty="0"/>
              <a:t>be a </a:t>
            </a:r>
            <a:r>
              <a:rPr lang="es-MX" altLang="ja-JP" dirty="0" err="1"/>
              <a:t>student</a:t>
            </a:r>
            <a:r>
              <a:rPr lang="es-MX" altLang="ja-JP" dirty="0"/>
              <a:t> in medical </a:t>
            </a:r>
            <a:r>
              <a:rPr lang="es-MX" altLang="ja-JP" dirty="0" err="1"/>
              <a:t>school</a:t>
            </a:r>
            <a:endParaRPr lang="es-MX" altLang="ja-JP" dirty="0"/>
          </a:p>
          <a:p>
            <a:r>
              <a:rPr lang="es-MX" altLang="ja-JP" dirty="0" err="1"/>
              <a:t>work</a:t>
            </a:r>
            <a:r>
              <a:rPr lang="es-MX" altLang="ja-JP" dirty="0"/>
              <a:t> </a:t>
            </a:r>
            <a:r>
              <a:rPr lang="es-MX" altLang="ja-JP" dirty="0" err="1"/>
              <a:t>very</a:t>
            </a:r>
            <a:r>
              <a:rPr lang="es-MX" altLang="ja-JP" dirty="0"/>
              <a:t> </a:t>
            </a:r>
            <a:r>
              <a:rPr lang="es-MX" altLang="ja-JP" dirty="0" err="1"/>
              <a:t>hard</a:t>
            </a:r>
            <a:r>
              <a:rPr lang="es-MX" altLang="ja-JP" dirty="0"/>
              <a:t> </a:t>
            </a:r>
            <a:r>
              <a:rPr lang="es-MX" altLang="ja-JP" dirty="0" err="1"/>
              <a:t>to</a:t>
            </a:r>
            <a:r>
              <a:rPr lang="es-MX" altLang="ja-JP" dirty="0"/>
              <a:t> </a:t>
            </a:r>
            <a:r>
              <a:rPr lang="es-MX" altLang="ja-JP" dirty="0" err="1"/>
              <a:t>get</a:t>
            </a:r>
            <a:r>
              <a:rPr lang="es-MX" altLang="ja-JP" dirty="0"/>
              <a:t> </a:t>
            </a:r>
            <a:r>
              <a:rPr lang="es-MX" altLang="ja-JP" dirty="0" err="1"/>
              <a:t>good</a:t>
            </a:r>
            <a:r>
              <a:rPr lang="es-MX" altLang="ja-JP" dirty="0"/>
              <a:t> grade</a:t>
            </a:r>
          </a:p>
          <a:p>
            <a:r>
              <a:rPr lang="es-MX" altLang="ja-JP" dirty="0" err="1"/>
              <a:t>fail</a:t>
            </a:r>
            <a:r>
              <a:rPr lang="es-MX" altLang="ja-JP" dirty="0"/>
              <a:t> a test</a:t>
            </a:r>
          </a:p>
          <a:p>
            <a:r>
              <a:rPr lang="es-MX" altLang="ja-JP" dirty="0"/>
              <a:t>be </a:t>
            </a:r>
            <a:r>
              <a:rPr lang="es-MX" altLang="ja-JP" dirty="0" err="1"/>
              <a:t>very</a:t>
            </a:r>
            <a:r>
              <a:rPr lang="es-MX" altLang="ja-JP" dirty="0"/>
              <a:t> </a:t>
            </a:r>
            <a:r>
              <a:rPr lang="es-MX" altLang="ja-JP" dirty="0" err="1"/>
              <a:t>frustrated</a:t>
            </a:r>
            <a:endParaRPr lang="es-MX" altLang="ja-JP" dirty="0"/>
          </a:p>
          <a:p>
            <a:r>
              <a:rPr lang="es-MX" altLang="ja-JP" dirty="0"/>
              <a:t>continue </a:t>
            </a:r>
            <a:r>
              <a:rPr lang="es-MX" altLang="ja-JP" dirty="0" err="1"/>
              <a:t>to</a:t>
            </a:r>
            <a:r>
              <a:rPr lang="es-MX" altLang="ja-JP" dirty="0"/>
              <a:t> </a:t>
            </a:r>
            <a:r>
              <a:rPr lang="es-MX" altLang="ja-JP" dirty="0" err="1"/>
              <a:t>study</a:t>
            </a:r>
            <a:r>
              <a:rPr lang="es-MX" altLang="ja-JP" dirty="0"/>
              <a:t> </a:t>
            </a:r>
            <a:r>
              <a:rPr lang="es-MX" altLang="ja-JP" dirty="0" err="1"/>
              <a:t>hard</a:t>
            </a:r>
            <a:endParaRPr lang="es-MX" altLang="ja-JP" dirty="0"/>
          </a:p>
          <a:p>
            <a:r>
              <a:rPr lang="es-MX" altLang="ja-JP" dirty="0" err="1"/>
              <a:t>study</a:t>
            </a:r>
            <a:r>
              <a:rPr lang="es-MX" altLang="ja-JP" dirty="0"/>
              <a:t> </a:t>
            </a:r>
            <a:r>
              <a:rPr lang="es-MX" altLang="ja-JP" dirty="0" err="1"/>
              <a:t>hard</a:t>
            </a:r>
            <a:endParaRPr lang="es-MX" altLang="ja-JP" dirty="0"/>
          </a:p>
          <a:p>
            <a:r>
              <a:rPr lang="ja-JP" altLang="es-MX" dirty="0"/>
              <a:t>といったイベントが取り出されます。</a:t>
            </a:r>
          </a:p>
          <a:p>
            <a:r>
              <a:rPr lang="ja-JP" altLang="es-MX" dirty="0"/>
              <a:t>これらが </a:t>
            </a:r>
            <a:r>
              <a:rPr lang="es-MX" altLang="ja-JP" b="1" dirty="0" err="1"/>
              <a:t>context</a:t>
            </a:r>
            <a:r>
              <a:rPr lang="es-MX" altLang="ja-JP" b="1" dirty="0"/>
              <a:t> </a:t>
            </a:r>
            <a:r>
              <a:rPr lang="es-MX" altLang="ja-JP" b="1" dirty="0" err="1"/>
              <a:t>events</a:t>
            </a:r>
            <a:r>
              <a:rPr lang="ja-JP" altLang="es-MX" dirty="0"/>
              <a:t> です。</a:t>
            </a:r>
          </a:p>
          <a:p>
            <a:br>
              <a:rPr lang="ja-JP" altLang="es-MX" dirty="0"/>
            </a:br>
            <a:endParaRPr lang="ja-JP" altLang="es-MX" dirty="0"/>
          </a:p>
          <a:p>
            <a:r>
              <a:rPr lang="es-MX" altLang="ja-JP" b="1" dirty="0"/>
              <a:t>Step 2 — </a:t>
            </a:r>
            <a:r>
              <a:rPr lang="es-MX" altLang="ja-JP" b="1" dirty="0" err="1"/>
              <a:t>Normalization</a:t>
            </a:r>
            <a:endParaRPr lang="es-MX" altLang="ja-JP" b="1" dirty="0"/>
          </a:p>
          <a:p>
            <a:r>
              <a:rPr lang="ja-JP" altLang="es-MX" dirty="0"/>
              <a:t>次に、イベントの </a:t>
            </a:r>
            <a:r>
              <a:rPr lang="ja-JP" altLang="es-MX" b="1" dirty="0"/>
              <a:t>正規化</a:t>
            </a:r>
            <a:r>
              <a:rPr lang="ja-JP" altLang="es-MX" dirty="0"/>
              <a:t> を行います。</a:t>
            </a:r>
          </a:p>
          <a:p>
            <a:r>
              <a:rPr lang="ja-JP" altLang="es-MX" dirty="0"/>
              <a:t>ここでは、</a:t>
            </a:r>
            <a:r>
              <a:rPr lang="es-MX" altLang="ja-JP" dirty="0"/>
              <a:t>Caroline </a:t>
            </a:r>
            <a:r>
              <a:rPr lang="ja-JP" altLang="es-MX" dirty="0"/>
              <a:t>のような固有名詞を</a:t>
            </a:r>
            <a:br>
              <a:rPr lang="ja-JP" altLang="es-MX" dirty="0"/>
            </a:br>
            <a:r>
              <a:rPr lang="es-MX" altLang="ja-JP" b="1" dirty="0"/>
              <a:t>[P0]</a:t>
            </a:r>
            <a:r>
              <a:rPr lang="ja-JP" altLang="es-MX" dirty="0"/>
              <a:t> のようなプレースホルダーに置き換えます。</a:t>
            </a:r>
          </a:p>
          <a:p>
            <a:r>
              <a:rPr lang="ja-JP" altLang="es-MX" dirty="0"/>
              <a:t>例えば、</a:t>
            </a:r>
          </a:p>
          <a:p>
            <a:r>
              <a:rPr lang="es-MX" altLang="ja-JP" dirty="0"/>
              <a:t>Caroline </a:t>
            </a:r>
            <a:r>
              <a:rPr lang="es-MX" altLang="ja-JP" dirty="0" err="1"/>
              <a:t>studied</a:t>
            </a:r>
            <a:r>
              <a:rPr lang="es-MX" altLang="ja-JP" dirty="0"/>
              <a:t> </a:t>
            </a:r>
            <a:r>
              <a:rPr lang="es-MX" altLang="ja-JP" dirty="0" err="1"/>
              <a:t>hard</a:t>
            </a:r>
            <a:endParaRPr lang="es-MX" altLang="ja-JP" dirty="0"/>
          </a:p>
          <a:p>
            <a:r>
              <a:rPr lang="ja-JP" altLang="es-MX" dirty="0"/>
              <a:t>という表現は、</a:t>
            </a:r>
          </a:p>
          <a:p>
            <a:r>
              <a:rPr lang="es-MX" altLang="ja-JP" b="1" dirty="0"/>
              <a:t>[P0] </a:t>
            </a:r>
            <a:r>
              <a:rPr lang="es-MX" altLang="ja-JP" b="1" dirty="0" err="1"/>
              <a:t>study</a:t>
            </a:r>
            <a:r>
              <a:rPr lang="es-MX" altLang="ja-JP" b="1" dirty="0"/>
              <a:t> </a:t>
            </a:r>
            <a:r>
              <a:rPr lang="es-MX" altLang="ja-JP" b="1" dirty="0" err="1"/>
              <a:t>hard</a:t>
            </a:r>
            <a:endParaRPr lang="ja-JP" altLang="es-MX" dirty="0"/>
          </a:p>
          <a:p>
            <a:r>
              <a:rPr lang="ja-JP" altLang="es-MX" dirty="0"/>
              <a:t>のように一般化されます。</a:t>
            </a:r>
          </a:p>
          <a:p>
            <a:r>
              <a:rPr lang="ja-JP" altLang="es-MX" dirty="0"/>
              <a:t>こうすることで、テキスト中のイベントを</a:t>
            </a:r>
            <a:br>
              <a:rPr lang="ja-JP" altLang="es-MX" dirty="0"/>
            </a:br>
            <a:r>
              <a:rPr lang="es-MX" altLang="ja-JP" dirty="0" err="1"/>
              <a:t>Knowledge</a:t>
            </a:r>
            <a:r>
              <a:rPr lang="es-MX" altLang="ja-JP" dirty="0"/>
              <a:t> </a:t>
            </a:r>
            <a:r>
              <a:rPr lang="es-MX" altLang="ja-JP" dirty="0" err="1"/>
              <a:t>Graph</a:t>
            </a:r>
            <a:r>
              <a:rPr lang="es-MX" altLang="ja-JP" dirty="0"/>
              <a:t> </a:t>
            </a:r>
            <a:r>
              <a:rPr lang="ja-JP" altLang="es-MX" dirty="0"/>
              <a:t>にある </a:t>
            </a:r>
            <a:r>
              <a:rPr lang="ja-JP" altLang="es-MX" b="1" dirty="0"/>
              <a:t>一般的なイベント表現</a:t>
            </a:r>
            <a:r>
              <a:rPr lang="ja-JP" altLang="es-MX" dirty="0"/>
              <a:t> に近づけることができます。</a:t>
            </a:r>
          </a:p>
          <a:p>
            <a:br>
              <a:rPr lang="ja-JP" altLang="es-MX" dirty="0"/>
            </a:br>
            <a:endParaRPr lang="ja-JP" altLang="es-MX" dirty="0"/>
          </a:p>
          <a:p>
            <a:r>
              <a:rPr lang="es-MX" altLang="ja-JP" b="1" dirty="0"/>
              <a:t>Step 3 — PIE</a:t>
            </a:r>
          </a:p>
          <a:p>
            <a:r>
              <a:rPr lang="ja-JP" altLang="es-MX" dirty="0"/>
              <a:t>次に、</a:t>
            </a:r>
            <a:r>
              <a:rPr lang="es-MX" altLang="ja-JP" b="1" dirty="0"/>
              <a:t>PIE</a:t>
            </a:r>
            <a:r>
              <a:rPr lang="ja-JP" altLang="es-MX" b="1" dirty="0"/>
              <a:t>（</a:t>
            </a:r>
            <a:r>
              <a:rPr lang="es-MX" altLang="ja-JP" b="1" dirty="0" err="1"/>
              <a:t>Progressive</a:t>
            </a:r>
            <a:r>
              <a:rPr lang="es-MX" altLang="ja-JP" b="1" dirty="0"/>
              <a:t> </a:t>
            </a:r>
            <a:r>
              <a:rPr lang="es-MX" altLang="ja-JP" b="1" dirty="0" err="1"/>
              <a:t>Event</a:t>
            </a:r>
            <a:r>
              <a:rPr lang="es-MX" altLang="ja-JP" b="1" dirty="0"/>
              <a:t> </a:t>
            </a:r>
            <a:r>
              <a:rPr lang="es-MX" altLang="ja-JP" b="1" dirty="0" err="1"/>
              <a:t>Abstraction</a:t>
            </a:r>
            <a:r>
              <a:rPr lang="ja-JP" altLang="es-MX" b="1" dirty="0"/>
              <a:t>）</a:t>
            </a:r>
            <a:r>
              <a:rPr lang="ja-JP" altLang="es-MX" dirty="0"/>
              <a:t> を行います。</a:t>
            </a:r>
          </a:p>
          <a:p>
            <a:r>
              <a:rPr lang="ja-JP" altLang="es-MX" dirty="0"/>
              <a:t>これは、イベントを </a:t>
            </a:r>
            <a:r>
              <a:rPr lang="ja-JP" altLang="es-MX" b="1" dirty="0"/>
              <a:t>段階的に抽象化する処理</a:t>
            </a:r>
            <a:r>
              <a:rPr lang="ja-JP" altLang="es-MX" dirty="0"/>
              <a:t>です。</a:t>
            </a:r>
          </a:p>
          <a:p>
            <a:r>
              <a:rPr lang="ja-JP" altLang="es-MX" dirty="0"/>
              <a:t>例えば、具体的なイベントから</a:t>
            </a:r>
            <a:br>
              <a:rPr lang="ja-JP" altLang="es-MX" dirty="0"/>
            </a:br>
            <a:r>
              <a:rPr lang="ja-JP" altLang="es-MX" dirty="0"/>
              <a:t>修飾情報や二次的な引数を少しずつ削除して、</a:t>
            </a:r>
            <a:br>
              <a:rPr lang="ja-JP" altLang="es-MX" dirty="0"/>
            </a:br>
            <a:r>
              <a:rPr lang="ja-JP" altLang="es-MX" dirty="0"/>
              <a:t>より一般的な形を作ります。</a:t>
            </a:r>
          </a:p>
          <a:p>
            <a:r>
              <a:rPr lang="ja-JP" altLang="es-MX" dirty="0"/>
              <a:t>この </a:t>
            </a:r>
            <a:r>
              <a:rPr lang="es-MX" altLang="ja-JP" dirty="0"/>
              <a:t>case </a:t>
            </a:r>
            <a:r>
              <a:rPr lang="es-MX" altLang="ja-JP" dirty="0" err="1"/>
              <a:t>study</a:t>
            </a:r>
            <a:r>
              <a:rPr lang="es-MX" altLang="ja-JP" dirty="0"/>
              <a:t> </a:t>
            </a:r>
            <a:r>
              <a:rPr lang="ja-JP" altLang="es-MX" dirty="0"/>
              <a:t>では、</a:t>
            </a:r>
          </a:p>
          <a:p>
            <a:r>
              <a:rPr lang="es-MX" altLang="ja-JP" dirty="0" err="1"/>
              <a:t>work</a:t>
            </a:r>
            <a:r>
              <a:rPr lang="es-MX" altLang="ja-JP" dirty="0"/>
              <a:t> </a:t>
            </a:r>
            <a:r>
              <a:rPr lang="es-MX" altLang="ja-JP" dirty="0" err="1"/>
              <a:t>very</a:t>
            </a:r>
            <a:r>
              <a:rPr lang="es-MX" altLang="ja-JP" dirty="0"/>
              <a:t> </a:t>
            </a:r>
            <a:r>
              <a:rPr lang="es-MX" altLang="ja-JP" dirty="0" err="1"/>
              <a:t>hard</a:t>
            </a:r>
            <a:r>
              <a:rPr lang="es-MX" altLang="ja-JP" dirty="0"/>
              <a:t> </a:t>
            </a:r>
            <a:r>
              <a:rPr lang="es-MX" altLang="ja-JP" dirty="0" err="1"/>
              <a:t>to</a:t>
            </a:r>
            <a:r>
              <a:rPr lang="es-MX" altLang="ja-JP" dirty="0"/>
              <a:t> </a:t>
            </a:r>
            <a:r>
              <a:rPr lang="es-MX" altLang="ja-JP" dirty="0" err="1"/>
              <a:t>get</a:t>
            </a:r>
            <a:r>
              <a:rPr lang="es-MX" altLang="ja-JP" dirty="0"/>
              <a:t> </a:t>
            </a:r>
            <a:r>
              <a:rPr lang="es-MX" altLang="ja-JP" dirty="0" err="1"/>
              <a:t>good</a:t>
            </a:r>
            <a:r>
              <a:rPr lang="es-MX" altLang="ja-JP" dirty="0"/>
              <a:t> grade</a:t>
            </a:r>
          </a:p>
          <a:p>
            <a:r>
              <a:rPr lang="ja-JP" altLang="es-MX" dirty="0"/>
              <a:t>のような具体的なイベントから、</a:t>
            </a:r>
          </a:p>
          <a:p>
            <a:r>
              <a:rPr lang="es-MX" altLang="ja-JP" dirty="0" err="1"/>
              <a:t>work</a:t>
            </a:r>
            <a:endParaRPr lang="es-MX" altLang="ja-JP" dirty="0"/>
          </a:p>
          <a:p>
            <a:r>
              <a:rPr lang="es-MX" altLang="ja-JP" dirty="0" err="1"/>
              <a:t>get</a:t>
            </a:r>
            <a:r>
              <a:rPr lang="es-MX" altLang="ja-JP" dirty="0"/>
              <a:t> </a:t>
            </a:r>
            <a:r>
              <a:rPr lang="es-MX" altLang="ja-JP" dirty="0" err="1"/>
              <a:t>good</a:t>
            </a:r>
            <a:r>
              <a:rPr lang="es-MX" altLang="ja-JP" dirty="0"/>
              <a:t> grade</a:t>
            </a:r>
          </a:p>
          <a:p>
            <a:r>
              <a:rPr lang="ja-JP" altLang="es-MX" dirty="0"/>
              <a:t>のような、</a:t>
            </a:r>
            <a:r>
              <a:rPr lang="es-MX" altLang="ja-JP" dirty="0" err="1"/>
              <a:t>Knowledge</a:t>
            </a:r>
            <a:r>
              <a:rPr lang="es-MX" altLang="ja-JP" dirty="0"/>
              <a:t> </a:t>
            </a:r>
            <a:r>
              <a:rPr lang="es-MX" altLang="ja-JP" dirty="0" err="1"/>
              <a:t>Graph</a:t>
            </a:r>
            <a:r>
              <a:rPr lang="es-MX" altLang="ja-JP" dirty="0"/>
              <a:t> </a:t>
            </a:r>
            <a:r>
              <a:rPr lang="ja-JP" altLang="es-MX" dirty="0"/>
              <a:t>と一致しやすい</a:t>
            </a:r>
            <a:br>
              <a:rPr lang="ja-JP" altLang="es-MX" dirty="0"/>
            </a:br>
            <a:r>
              <a:rPr lang="ja-JP" altLang="es-MX" dirty="0"/>
              <a:t>より一般的なイベント表現が得られます。</a:t>
            </a:r>
          </a:p>
          <a:p>
            <a:r>
              <a:rPr lang="ja-JP" altLang="es-MX" dirty="0"/>
              <a:t>つまり </a:t>
            </a:r>
            <a:r>
              <a:rPr lang="es-MX" altLang="ja-JP" dirty="0"/>
              <a:t>PIE </a:t>
            </a:r>
            <a:r>
              <a:rPr lang="ja-JP" altLang="es-MX" dirty="0"/>
              <a:t>によって、</a:t>
            </a:r>
            <a:br>
              <a:rPr lang="ja-JP" altLang="es-MX" dirty="0"/>
            </a:br>
            <a:r>
              <a:rPr lang="ja-JP" altLang="es-MX" b="1" dirty="0"/>
              <a:t>テキストイベントが </a:t>
            </a:r>
            <a:r>
              <a:rPr lang="es-MX" altLang="ja-JP" b="1" dirty="0"/>
              <a:t>ASER </a:t>
            </a:r>
            <a:r>
              <a:rPr lang="ja-JP" altLang="es-MX" b="1" dirty="0"/>
              <a:t>に存在する可能性を高めている</a:t>
            </a:r>
            <a:r>
              <a:rPr lang="ja-JP" altLang="es-MX" dirty="0"/>
              <a:t>わけです。</a:t>
            </a:r>
          </a:p>
          <a:p>
            <a:br>
              <a:rPr lang="ja-JP" altLang="es-MX" dirty="0"/>
            </a:br>
            <a:endParaRPr lang="ja-JP" altLang="es-MX" dirty="0"/>
          </a:p>
          <a:p>
            <a:r>
              <a:rPr lang="es-MX" altLang="ja-JP" b="1" dirty="0"/>
              <a:t>Step 4 — </a:t>
            </a:r>
            <a:r>
              <a:rPr lang="es-MX" altLang="ja-JP" b="1" dirty="0" err="1"/>
              <a:t>Event</a:t>
            </a:r>
            <a:r>
              <a:rPr lang="es-MX" altLang="ja-JP" b="1" dirty="0"/>
              <a:t> </a:t>
            </a:r>
            <a:r>
              <a:rPr lang="es-MX" altLang="ja-JP" b="1" dirty="0" err="1"/>
              <a:t>Grounding</a:t>
            </a:r>
            <a:endParaRPr lang="es-MX" altLang="ja-JP" b="1" dirty="0"/>
          </a:p>
          <a:p>
            <a:r>
              <a:rPr lang="ja-JP" altLang="es-MX" dirty="0"/>
              <a:t>その後、各イベントを </a:t>
            </a:r>
            <a:r>
              <a:rPr lang="es-MX" altLang="ja-JP" b="1" dirty="0"/>
              <a:t>ASER </a:t>
            </a:r>
            <a:r>
              <a:rPr lang="ja-JP" altLang="es-MX" b="1" dirty="0"/>
              <a:t>のノードに対応付け</a:t>
            </a:r>
            <a:r>
              <a:rPr lang="ja-JP" altLang="es-MX" dirty="0"/>
              <a:t>ます。</a:t>
            </a:r>
          </a:p>
          <a:p>
            <a:r>
              <a:rPr lang="ja-JP" altLang="es-MX" dirty="0"/>
              <a:t>図の青い線がそれを表しています。</a:t>
            </a:r>
          </a:p>
          <a:p>
            <a:r>
              <a:rPr lang="ja-JP" altLang="es-MX" dirty="0"/>
              <a:t>例えば、</a:t>
            </a:r>
          </a:p>
          <a:p>
            <a:r>
              <a:rPr lang="es-MX" altLang="ja-JP" dirty="0" err="1"/>
              <a:t>work</a:t>
            </a:r>
            <a:r>
              <a:rPr lang="es-MX" altLang="ja-JP" dirty="0"/>
              <a:t> </a:t>
            </a:r>
            <a:r>
              <a:rPr lang="es-MX" altLang="ja-JP" dirty="0" err="1"/>
              <a:t>very</a:t>
            </a:r>
            <a:r>
              <a:rPr lang="es-MX" altLang="ja-JP" dirty="0"/>
              <a:t> </a:t>
            </a:r>
            <a:r>
              <a:rPr lang="es-MX" altLang="ja-JP" dirty="0" err="1"/>
              <a:t>hard</a:t>
            </a:r>
            <a:r>
              <a:rPr lang="es-MX" altLang="ja-JP" dirty="0"/>
              <a:t> </a:t>
            </a:r>
            <a:r>
              <a:rPr lang="es-MX" altLang="ja-JP" dirty="0" err="1"/>
              <a:t>to</a:t>
            </a:r>
            <a:r>
              <a:rPr lang="es-MX" altLang="ja-JP" dirty="0"/>
              <a:t> </a:t>
            </a:r>
            <a:r>
              <a:rPr lang="es-MX" altLang="ja-JP" dirty="0" err="1"/>
              <a:t>get</a:t>
            </a:r>
            <a:r>
              <a:rPr lang="es-MX" altLang="ja-JP" dirty="0"/>
              <a:t> </a:t>
            </a:r>
            <a:r>
              <a:rPr lang="es-MX" altLang="ja-JP" dirty="0" err="1"/>
              <a:t>good</a:t>
            </a:r>
            <a:r>
              <a:rPr lang="es-MX" altLang="ja-JP" dirty="0"/>
              <a:t> grade</a:t>
            </a:r>
            <a:br>
              <a:rPr lang="es-MX" altLang="ja-JP" dirty="0"/>
            </a:br>
            <a:r>
              <a:rPr lang="ja-JP" altLang="es-MX" dirty="0"/>
              <a:t>は</a:t>
            </a:r>
          </a:p>
          <a:p>
            <a:r>
              <a:rPr lang="es-MX" altLang="ja-JP" b="1" dirty="0"/>
              <a:t>[P0] </a:t>
            </a:r>
            <a:r>
              <a:rPr lang="es-MX" altLang="ja-JP" b="1" dirty="0" err="1"/>
              <a:t>work</a:t>
            </a:r>
            <a:br>
              <a:rPr lang="ja-JP" altLang="es-MX" dirty="0"/>
            </a:br>
            <a:r>
              <a:rPr lang="ja-JP" altLang="es-MX" dirty="0"/>
              <a:t>や</a:t>
            </a:r>
          </a:p>
          <a:p>
            <a:r>
              <a:rPr lang="es-MX" altLang="ja-JP" b="1" dirty="0"/>
              <a:t>[P0] </a:t>
            </a:r>
            <a:r>
              <a:rPr lang="es-MX" altLang="ja-JP" b="1" dirty="0" err="1"/>
              <a:t>get</a:t>
            </a:r>
            <a:r>
              <a:rPr lang="es-MX" altLang="ja-JP" b="1" dirty="0"/>
              <a:t> </a:t>
            </a:r>
            <a:r>
              <a:rPr lang="es-MX" altLang="ja-JP" b="1" dirty="0" err="1"/>
              <a:t>good</a:t>
            </a:r>
            <a:r>
              <a:rPr lang="es-MX" altLang="ja-JP" b="1" dirty="0"/>
              <a:t> grade</a:t>
            </a:r>
            <a:endParaRPr lang="ja-JP" altLang="es-MX" dirty="0"/>
          </a:p>
          <a:p>
            <a:r>
              <a:rPr lang="ja-JP" altLang="es-MX" dirty="0"/>
              <a:t>に対応付けられます。</a:t>
            </a:r>
          </a:p>
          <a:p>
            <a:r>
              <a:rPr lang="ja-JP" altLang="es-MX" dirty="0"/>
              <a:t>同様に、</a:t>
            </a:r>
          </a:p>
          <a:p>
            <a:r>
              <a:rPr lang="es-MX" altLang="ja-JP" dirty="0" err="1"/>
              <a:t>fail</a:t>
            </a:r>
            <a:r>
              <a:rPr lang="es-MX" altLang="ja-JP" dirty="0"/>
              <a:t> a test</a:t>
            </a:r>
            <a:br>
              <a:rPr lang="es-MX" altLang="ja-JP" dirty="0"/>
            </a:br>
            <a:r>
              <a:rPr lang="ja-JP" altLang="es-MX" dirty="0"/>
              <a:t>は</a:t>
            </a:r>
          </a:p>
          <a:p>
            <a:r>
              <a:rPr lang="es-MX" altLang="ja-JP" b="1" dirty="0"/>
              <a:t>[P0] </a:t>
            </a:r>
            <a:r>
              <a:rPr lang="es-MX" altLang="ja-JP" b="1" dirty="0" err="1"/>
              <a:t>fail</a:t>
            </a:r>
            <a:r>
              <a:rPr lang="es-MX" altLang="ja-JP" b="1" dirty="0"/>
              <a:t> </a:t>
            </a:r>
            <a:r>
              <a:rPr lang="es-MX" altLang="ja-JP" b="1" dirty="0" err="1"/>
              <a:t>the</a:t>
            </a:r>
            <a:r>
              <a:rPr lang="es-MX" altLang="ja-JP" b="1" dirty="0"/>
              <a:t> test</a:t>
            </a:r>
            <a:endParaRPr lang="ja-JP" altLang="es-MX" dirty="0"/>
          </a:p>
          <a:p>
            <a:r>
              <a:rPr lang="ja-JP" altLang="es-MX" dirty="0"/>
              <a:t>に対応付けられます。</a:t>
            </a:r>
          </a:p>
          <a:p>
            <a:r>
              <a:rPr lang="ja-JP" altLang="es-MX" dirty="0"/>
              <a:t>このステップによって、</a:t>
            </a:r>
            <a:br>
              <a:rPr lang="ja-JP" altLang="es-MX" dirty="0"/>
            </a:br>
            <a:r>
              <a:rPr lang="ja-JP" altLang="es-MX" dirty="0"/>
              <a:t>自然言語のイベントが </a:t>
            </a:r>
            <a:r>
              <a:rPr lang="es-MX" altLang="ja-JP" b="1" dirty="0" err="1"/>
              <a:t>Knowledge</a:t>
            </a:r>
            <a:r>
              <a:rPr lang="es-MX" altLang="ja-JP" b="1" dirty="0"/>
              <a:t> </a:t>
            </a:r>
            <a:r>
              <a:rPr lang="es-MX" altLang="ja-JP" b="1" dirty="0" err="1"/>
              <a:t>Graph</a:t>
            </a:r>
            <a:r>
              <a:rPr lang="es-MX" altLang="ja-JP" b="1" dirty="0"/>
              <a:t> </a:t>
            </a:r>
            <a:r>
              <a:rPr lang="ja-JP" altLang="es-MX" b="1" dirty="0"/>
              <a:t>のイベントノード</a:t>
            </a:r>
            <a:r>
              <a:rPr lang="ja-JP" altLang="es-MX" dirty="0"/>
              <a:t>に接続されます。</a:t>
            </a:r>
          </a:p>
          <a:p>
            <a:br>
              <a:rPr lang="ja-JP" altLang="es-MX" dirty="0"/>
            </a:br>
            <a:endParaRPr lang="ja-JP" altLang="es-MX" dirty="0"/>
          </a:p>
          <a:p>
            <a:r>
              <a:rPr lang="es-MX" altLang="ja-JP" b="1" dirty="0"/>
              <a:t>Step 5 — </a:t>
            </a:r>
            <a:r>
              <a:rPr lang="es-MX" altLang="ja-JP" b="1" dirty="0" err="1"/>
              <a:t>Subgraph</a:t>
            </a:r>
            <a:r>
              <a:rPr lang="es-MX" altLang="ja-JP" b="1" dirty="0"/>
              <a:t> </a:t>
            </a:r>
            <a:r>
              <a:rPr lang="es-MX" altLang="ja-JP" b="1" dirty="0" err="1"/>
              <a:t>Construction</a:t>
            </a:r>
            <a:endParaRPr lang="es-MX" altLang="ja-JP" b="1" dirty="0"/>
          </a:p>
          <a:p>
            <a:endParaRPr lang="es-MX" altLang="ja-JP" b="1" dirty="0"/>
          </a:p>
          <a:p>
            <a:r>
              <a:rPr lang="es-MX" altLang="ja-JP" b="1" dirty="0"/>
              <a:t>Step 6 – </a:t>
            </a:r>
            <a:r>
              <a:rPr lang="es-MX" altLang="ja-JP" b="1" dirty="0" err="1"/>
              <a:t>Relational</a:t>
            </a:r>
            <a:r>
              <a:rPr lang="es-MX" altLang="ja-JP" b="1" dirty="0"/>
              <a:t> </a:t>
            </a:r>
            <a:r>
              <a:rPr lang="es-MX" altLang="ja-JP" b="1" dirty="0" err="1"/>
              <a:t>Graph</a:t>
            </a:r>
            <a:r>
              <a:rPr lang="es-MX" altLang="ja-JP" b="1" dirty="0"/>
              <a:t> </a:t>
            </a:r>
            <a:r>
              <a:rPr lang="es-MX" altLang="ja-JP" b="1" dirty="0" err="1"/>
              <a:t>Convolutional</a:t>
            </a:r>
            <a:r>
              <a:rPr lang="es-MX" altLang="ja-JP" b="1" dirty="0"/>
              <a:t> Network</a:t>
            </a:r>
          </a:p>
          <a:p>
            <a:endParaRPr lang="en-US" altLang="ja-JP" dirty="0"/>
          </a:p>
          <a:p>
            <a:endParaRPr lang="en-US" altLang="ja-JP" dirty="0"/>
          </a:p>
          <a:p>
            <a:endParaRPr lang="ja-JP" altLang="es-MX" dirty="0"/>
          </a:p>
        </p:txBody>
      </p:sp>
      <p:sp>
        <p:nvSpPr>
          <p:cNvPr id="4" name="Slide Number Placeholder 3">
            <a:extLst>
              <a:ext uri="{FF2B5EF4-FFF2-40B4-BE49-F238E27FC236}">
                <a16:creationId xmlns:a16="http://schemas.microsoft.com/office/drawing/2014/main" id="{55CAEFCD-AF5B-0B0D-111D-FA3918BAFBD3}"/>
              </a:ext>
            </a:extLst>
          </p:cNvPr>
          <p:cNvSpPr>
            <a:spLocks noGrp="1"/>
          </p:cNvSpPr>
          <p:nvPr>
            <p:ph type="sldNum" sz="quarter" idx="5"/>
          </p:nvPr>
        </p:nvSpPr>
        <p:spPr/>
        <p:txBody>
          <a:bodyPr/>
          <a:lstStyle/>
          <a:p>
            <a:fld id="{27F6FB8B-1938-4266-AC76-FE6EFE356B7C}" type="slidenum">
              <a:rPr lang="es-MX" smtClean="0"/>
              <a:t>14</a:t>
            </a:fld>
            <a:endParaRPr lang="es-MX"/>
          </a:p>
        </p:txBody>
      </p:sp>
    </p:spTree>
    <p:extLst>
      <p:ext uri="{BB962C8B-B14F-4D97-AF65-F5344CB8AC3E}">
        <p14:creationId xmlns:p14="http://schemas.microsoft.com/office/powerpoint/2010/main" val="3535445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22494-76E2-5639-E700-E945C3C7C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9C8E3-577F-E463-9832-A8E1B029EC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11690-C873-563B-AB72-7542A07D092D}"/>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次に、このフレームワークの </a:t>
            </a:r>
            <a:r>
              <a:rPr lang="ja-JP" altLang="es-MX" sz="1200" b="1" kern="1200" dirty="0">
                <a:solidFill>
                  <a:schemeClr val="tx1"/>
                </a:solidFill>
                <a:effectLst/>
                <a:latin typeface="+mn-lt"/>
                <a:ea typeface="+mn-ea"/>
                <a:cs typeface="+mn-cs"/>
              </a:rPr>
              <a:t>実験結果</a:t>
            </a:r>
            <a:r>
              <a:rPr lang="ja-JP" altLang="es-MX" sz="1200" kern="1200" dirty="0">
                <a:solidFill>
                  <a:schemeClr val="tx1"/>
                </a:solidFill>
                <a:effectLst/>
                <a:latin typeface="+mn-lt"/>
                <a:ea typeface="+mn-ea"/>
                <a:cs typeface="+mn-cs"/>
              </a:rPr>
              <a:t>について説明します。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この論文では、</a:t>
            </a:r>
            <a:r>
              <a:rPr lang="es-MX" sz="1200" kern="1200" dirty="0" err="1">
                <a:solidFill>
                  <a:schemeClr val="tx1"/>
                </a:solidFill>
                <a:effectLst/>
                <a:latin typeface="+mn-lt"/>
                <a:ea typeface="+mn-ea"/>
                <a:cs typeface="+mn-cs"/>
              </a:rPr>
              <a:t>EventGround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を</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3</a:t>
            </a:r>
            <a:r>
              <a:rPr lang="ja-JP" altLang="es-MX" sz="1200" b="1" kern="1200" dirty="0">
                <a:solidFill>
                  <a:schemeClr val="tx1"/>
                </a:solidFill>
                <a:effectLst/>
                <a:latin typeface="+mn-lt"/>
                <a:ea typeface="+mn-ea"/>
                <a:cs typeface="+mn-cs"/>
              </a:rPr>
              <a:t>つのナラティブ推論ベンチマーク</a:t>
            </a:r>
            <a:r>
              <a:rPr lang="ja-JP" altLang="es-MX" sz="1200" kern="1200" dirty="0">
                <a:solidFill>
                  <a:schemeClr val="tx1"/>
                </a:solidFill>
                <a:effectLst/>
                <a:latin typeface="+mn-lt"/>
                <a:ea typeface="+mn-ea"/>
                <a:cs typeface="+mn-cs"/>
              </a:rPr>
              <a:t>で評価しています。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それは</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SCT-v1.0</a:t>
            </a:r>
            <a:r>
              <a:rPr lang="ja-JP" altLang="es-MX" sz="1200" b="1" kern="1200" dirty="0">
                <a:solidFill>
                  <a:schemeClr val="tx1"/>
                </a:solidFill>
                <a:effectLst/>
                <a:latin typeface="+mn-lt"/>
                <a:ea typeface="+mn-ea"/>
                <a:cs typeface="+mn-cs"/>
              </a:rPr>
              <a:t>、</a:t>
            </a:r>
            <a:r>
              <a:rPr lang="es-MX" sz="1200" b="1" kern="1200" dirty="0">
                <a:solidFill>
                  <a:schemeClr val="tx1"/>
                </a:solidFill>
                <a:effectLst/>
                <a:latin typeface="+mn-lt"/>
                <a:ea typeface="+mn-ea"/>
                <a:cs typeface="+mn-cs"/>
              </a:rPr>
              <a:t>SCT-v1.5</a:t>
            </a:r>
            <a:r>
              <a:rPr lang="ja-JP" altLang="es-MX" sz="1200" b="1" kern="1200" dirty="0">
                <a:solidFill>
                  <a:schemeClr val="tx1"/>
                </a:solidFill>
                <a:effectLst/>
                <a:latin typeface="+mn-lt"/>
                <a:ea typeface="+mn-ea"/>
                <a:cs typeface="+mn-cs"/>
              </a:rPr>
              <a:t>、そして</a:t>
            </a:r>
            <a:r>
              <a:rPr lang="es-MX" sz="1200" b="1" kern="1200" dirty="0">
                <a:solidFill>
                  <a:schemeClr val="tx1"/>
                </a:solidFill>
                <a:effectLst/>
                <a:latin typeface="+mn-lt"/>
                <a:ea typeface="+mn-ea"/>
                <a:cs typeface="+mn-cs"/>
              </a:rPr>
              <a:t> MCNC</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これらのデータセットは、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ストーリー内のイベントの流れを理解し、次に起こる出来事を推論できるか</a:t>
            </a:r>
            <a:r>
              <a:rPr lang="ja-JP" altLang="es-MX" sz="1200" kern="1200" dirty="0">
                <a:solidFill>
                  <a:schemeClr val="tx1"/>
                </a:solidFill>
                <a:effectLst/>
                <a:latin typeface="+mn-lt"/>
                <a:ea typeface="+mn-ea"/>
                <a:cs typeface="+mn-cs"/>
              </a:rPr>
              <a:t>を評価するためのタスクです。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 </a:t>
            </a:r>
            <a:r>
              <a:rPr lang="es-MX" sz="1200" b="1" kern="1200" dirty="0" err="1">
                <a:solidFill>
                  <a:schemeClr val="tx1"/>
                </a:solidFill>
                <a:effectLst/>
                <a:latin typeface="+mn-lt"/>
                <a:ea typeface="+mn-ea"/>
                <a:cs typeface="+mn-cs"/>
              </a:rPr>
              <a:t>Story</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Cloze</a:t>
            </a:r>
            <a:r>
              <a:rPr lang="es-MX" sz="1200" b="1" kern="1200" dirty="0">
                <a:solidFill>
                  <a:schemeClr val="tx1"/>
                </a:solidFill>
                <a:effectLst/>
                <a:latin typeface="+mn-lt"/>
                <a:ea typeface="+mn-ea"/>
                <a:cs typeface="+mn-cs"/>
              </a:rPr>
              <a:t> Test</a:t>
            </a:r>
            <a:r>
              <a:rPr lang="ja-JP" altLang="es-MX" sz="1200" b="1" kern="1200" dirty="0">
                <a:solidFill>
                  <a:schemeClr val="tx1"/>
                </a:solidFill>
                <a:effectLst/>
                <a:latin typeface="+mn-lt"/>
                <a:ea typeface="+mn-ea"/>
                <a:cs typeface="+mn-cs"/>
              </a:rPr>
              <a:t>（</a:t>
            </a:r>
            <a:r>
              <a:rPr lang="es-MX" sz="1200" b="1" kern="1200" dirty="0">
                <a:solidFill>
                  <a:schemeClr val="tx1"/>
                </a:solidFill>
                <a:effectLst/>
                <a:latin typeface="+mn-lt"/>
                <a:ea typeface="+mn-ea"/>
                <a:cs typeface="+mn-cs"/>
              </a:rPr>
              <a:t>SCT</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について説明します。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このタスクでは、モデルに</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4</a:t>
            </a:r>
            <a:r>
              <a:rPr lang="ja-JP" altLang="es-MX" sz="1200" b="1" kern="1200" dirty="0">
                <a:solidFill>
                  <a:schemeClr val="tx1"/>
                </a:solidFill>
                <a:effectLst/>
                <a:latin typeface="+mn-lt"/>
                <a:ea typeface="+mn-ea"/>
                <a:cs typeface="+mn-cs"/>
              </a:rPr>
              <a:t>文からなる短いストーリー</a:t>
            </a:r>
            <a:r>
              <a:rPr lang="ja-JP" altLang="es-MX" sz="1200" kern="1200" dirty="0">
                <a:solidFill>
                  <a:schemeClr val="tx1"/>
                </a:solidFill>
                <a:effectLst/>
                <a:latin typeface="+mn-lt"/>
                <a:ea typeface="+mn-ea"/>
                <a:cs typeface="+mn-cs"/>
              </a:rPr>
              <a:t>が与えられます。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その後、モデルは</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2</a:t>
            </a:r>
            <a:r>
              <a:rPr lang="ja-JP" altLang="es-MX" sz="1200" b="1" kern="1200" dirty="0">
                <a:solidFill>
                  <a:schemeClr val="tx1"/>
                </a:solidFill>
                <a:effectLst/>
                <a:latin typeface="+mn-lt"/>
                <a:ea typeface="+mn-ea"/>
                <a:cs typeface="+mn-cs"/>
              </a:rPr>
              <a:t>つの候補</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こうほ</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となる</a:t>
            </a:r>
            <a:r>
              <a:rPr lang="es-MX" sz="1200" b="1" kern="1200" dirty="0">
                <a:solidFill>
                  <a:schemeClr val="tx1"/>
                </a:solidFill>
                <a:effectLst/>
                <a:latin typeface="+mn-lt"/>
                <a:ea typeface="+mn-ea"/>
                <a:cs typeface="+mn-cs"/>
              </a:rPr>
              <a:t>5</a:t>
            </a:r>
            <a:r>
              <a:rPr lang="ja-JP" altLang="es-MX" sz="1200" b="1" kern="1200" dirty="0">
                <a:solidFill>
                  <a:schemeClr val="tx1"/>
                </a:solidFill>
                <a:effectLst/>
                <a:latin typeface="+mn-lt"/>
                <a:ea typeface="+mn-ea"/>
                <a:cs typeface="+mn-cs"/>
              </a:rPr>
              <a:t>文目</a:t>
            </a:r>
            <a:r>
              <a:rPr lang="ja-JP" altLang="es-MX" sz="1200" b="0" kern="1200" dirty="0">
                <a:solidFill>
                  <a:schemeClr val="tx1"/>
                </a:solidFill>
                <a:effectLst/>
                <a:latin typeface="+mn-lt"/>
                <a:ea typeface="+mn-ea"/>
                <a:cs typeface="+mn-cs"/>
              </a:rPr>
              <a:t>の中から</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最も自然で論理的な結末</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けつまつ</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を選ぶ必要があります。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SCT-v1.0 </a:t>
            </a:r>
            <a:r>
              <a:rPr lang="ja-JP" altLang="es-MX" sz="1200" kern="1200" dirty="0">
                <a:solidFill>
                  <a:schemeClr val="tx1"/>
                </a:solidFill>
                <a:effectLst/>
                <a:latin typeface="+mn-lt"/>
                <a:ea typeface="+mn-ea"/>
                <a:cs typeface="+mn-cs"/>
              </a:rPr>
              <a:t>と</a:t>
            </a:r>
            <a:r>
              <a:rPr lang="es-MX" sz="1200" kern="1200" dirty="0">
                <a:solidFill>
                  <a:schemeClr val="tx1"/>
                </a:solidFill>
                <a:effectLst/>
                <a:latin typeface="+mn-lt"/>
                <a:ea typeface="+mn-ea"/>
                <a:cs typeface="+mn-cs"/>
              </a:rPr>
              <a:t> SCT-v1.5 </a:t>
            </a:r>
            <a:r>
              <a:rPr lang="ja-JP" altLang="es-MX" sz="1200" kern="1200" dirty="0">
                <a:solidFill>
                  <a:schemeClr val="tx1"/>
                </a:solidFill>
                <a:effectLst/>
                <a:latin typeface="+mn-lt"/>
                <a:ea typeface="+mn-ea"/>
                <a:cs typeface="+mn-cs"/>
              </a:rPr>
              <a:t>の違いは主に</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データの収集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しゅうしゅう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方法</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ほうほう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やフィルタリング方法</a:t>
            </a:r>
            <a:r>
              <a:rPr lang="ja-JP" altLang="es-MX" sz="1200" b="0" kern="1200" dirty="0">
                <a:solidFill>
                  <a:schemeClr val="tx1"/>
                </a:solidFill>
                <a:effectLst/>
                <a:latin typeface="+mn-lt"/>
                <a:ea typeface="+mn-ea"/>
                <a:cs typeface="+mn-cs"/>
              </a:rPr>
              <a:t>ですが、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どちらも </a:t>
            </a:r>
            <a:r>
              <a:rPr lang="ja-JP" altLang="es-MX" sz="1200" b="1" kern="1200" dirty="0">
                <a:solidFill>
                  <a:schemeClr val="tx1"/>
                </a:solidFill>
                <a:effectLst/>
                <a:latin typeface="+mn-lt"/>
                <a:ea typeface="+mn-ea"/>
                <a:cs typeface="+mn-cs"/>
              </a:rPr>
              <a:t>ストーリーの整合性</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せいごうせい</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を理解できるか</a:t>
            </a:r>
            <a:r>
              <a:rPr lang="ja-JP" altLang="es-MX" sz="1200" b="0" kern="1200" dirty="0">
                <a:solidFill>
                  <a:schemeClr val="tx1"/>
                </a:solidFill>
                <a:effectLst/>
                <a:latin typeface="+mn-lt"/>
                <a:ea typeface="+mn-ea"/>
                <a:cs typeface="+mn-cs"/>
              </a:rPr>
              <a:t>を評価するタスクです。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 </a:t>
            </a:r>
            <a:r>
              <a:rPr lang="es-MX" sz="1200" b="1" kern="1200" dirty="0">
                <a:solidFill>
                  <a:schemeClr val="tx1"/>
                </a:solidFill>
                <a:effectLst/>
                <a:latin typeface="+mn-lt"/>
                <a:ea typeface="+mn-ea"/>
                <a:cs typeface="+mn-cs"/>
              </a:rPr>
              <a:t>MCNC</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Multiple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Choice</a:t>
            </a:r>
            <a:r>
              <a:rPr lang="es-MX" sz="1200" b="1" kern="1200" dirty="0">
                <a:solidFill>
                  <a:schemeClr val="tx1"/>
                </a:solidFill>
                <a:effectLst/>
                <a:latin typeface="+mn-lt"/>
                <a:ea typeface="+mn-ea"/>
                <a:cs typeface="+mn-cs"/>
              </a:rPr>
              <a:t> Narrative </a:t>
            </a:r>
            <a:r>
              <a:rPr lang="es-MX" sz="1200" b="1" kern="1200" dirty="0" err="1">
                <a:solidFill>
                  <a:schemeClr val="tx1"/>
                </a:solidFill>
                <a:effectLst/>
                <a:latin typeface="+mn-lt"/>
                <a:ea typeface="+mn-ea"/>
                <a:cs typeface="+mn-cs"/>
              </a:rPr>
              <a:t>Completion</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このタスクでは、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ストーリーの文脈が与えられ、</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複数の候補イベントの中から次に起こる最も適切なイベント</a:t>
            </a:r>
            <a:r>
              <a:rPr lang="ja-JP" altLang="es-MX" sz="1200" kern="1200" dirty="0">
                <a:solidFill>
                  <a:schemeClr val="tx1"/>
                </a:solidFill>
                <a:effectLst/>
                <a:latin typeface="+mn-lt"/>
                <a:ea typeface="+mn-ea"/>
                <a:cs typeface="+mn-cs"/>
              </a:rPr>
              <a:t>を選択します。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つまりこのタスクでは、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イベントの因果関係や常識</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じょうしき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知識</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ちしき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を用いて次の出来事を予測できるか</a:t>
            </a:r>
            <a:r>
              <a:rPr lang="ja-JP" altLang="es-MX" sz="1200" b="0" kern="1200" dirty="0">
                <a:solidFill>
                  <a:schemeClr val="tx1"/>
                </a:solidFill>
                <a:effectLst/>
                <a:latin typeface="+mn-lt"/>
                <a:ea typeface="+mn-ea"/>
                <a:cs typeface="+mn-cs"/>
              </a:rPr>
              <a:t>が評価されます。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それでは、この表の結果を見てみます。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この表では、</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RoBERTa</a:t>
            </a:r>
            <a:r>
              <a:rPr lang="es-MX" sz="1200" b="1" kern="1200" dirty="0">
                <a:solidFill>
                  <a:schemeClr val="tx1"/>
                </a:solidFill>
                <a:effectLst/>
                <a:latin typeface="+mn-lt"/>
                <a:ea typeface="+mn-ea"/>
                <a:cs typeface="+mn-cs"/>
              </a:rPr>
              <a:t>-base</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RoBERTa-large</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DeBERTa-large</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といったバックボーンモデルに</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EventGround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を追加した場合の性能を比較しています。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ここで注目すべき点は、</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EventGround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 </a:t>
            </a:r>
            <a:r>
              <a:rPr lang="ja-JP" altLang="es-MX" sz="1200" b="1" kern="1200" dirty="0">
                <a:solidFill>
                  <a:schemeClr val="tx1"/>
                </a:solidFill>
                <a:effectLst/>
                <a:latin typeface="+mn-lt"/>
                <a:ea typeface="+mn-ea"/>
                <a:cs typeface="+mn-cs"/>
              </a:rPr>
              <a:t>約</a:t>
            </a:r>
            <a:r>
              <a:rPr lang="es-MX" sz="1200" b="1" kern="1200" dirty="0">
                <a:solidFill>
                  <a:schemeClr val="tx1"/>
                </a:solidFill>
                <a:effectLst/>
                <a:latin typeface="+mn-lt"/>
                <a:ea typeface="+mn-ea"/>
                <a:cs typeface="+mn-cs"/>
              </a:rPr>
              <a:t>300</a:t>
            </a:r>
            <a:r>
              <a:rPr lang="ja-JP" altLang="es-MX" sz="1200" b="1" kern="1200" dirty="0">
                <a:solidFill>
                  <a:schemeClr val="tx1"/>
                </a:solidFill>
                <a:effectLst/>
                <a:latin typeface="+mn-lt"/>
                <a:ea typeface="+mn-ea"/>
                <a:cs typeface="+mn-cs"/>
              </a:rPr>
              <a:t>万個</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こ</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程度</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ていど</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の追加パラメータ</a:t>
            </a:r>
            <a:r>
              <a:rPr lang="ja-JP" altLang="es-MX" sz="1200" b="0" kern="1200" dirty="0">
                <a:solidFill>
                  <a:schemeClr val="tx1"/>
                </a:solidFill>
                <a:effectLst/>
                <a:latin typeface="+mn-lt"/>
                <a:ea typeface="+mn-ea"/>
                <a:cs typeface="+mn-cs"/>
              </a:rPr>
              <a:t>しか増やしていないことです。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つまり、モデルサイズはほとんど変わりません。</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それにもかかわらず、</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すべてのタスクで性能が向上しています。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例えば </a:t>
            </a:r>
            <a:r>
              <a:rPr lang="es-MX" sz="1200" b="1" kern="1200" dirty="0" err="1">
                <a:solidFill>
                  <a:schemeClr val="tx1"/>
                </a:solidFill>
                <a:effectLst/>
                <a:latin typeface="+mn-lt"/>
                <a:ea typeface="+mn-ea"/>
                <a:cs typeface="+mn-cs"/>
              </a:rPr>
              <a:t>RoBERTa</a:t>
            </a:r>
            <a:r>
              <a:rPr lang="es-MX" sz="1200" b="1" kern="1200" dirty="0">
                <a:solidFill>
                  <a:schemeClr val="tx1"/>
                </a:solidFill>
                <a:effectLst/>
                <a:latin typeface="+mn-lt"/>
                <a:ea typeface="+mn-ea"/>
                <a:cs typeface="+mn-cs"/>
              </a:rPr>
              <a:t>-base</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の場合、</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SCT-v1.0 </a:t>
            </a:r>
            <a:r>
              <a:rPr lang="ja-JP" altLang="es-MX" sz="1200" kern="1200" dirty="0">
                <a:solidFill>
                  <a:schemeClr val="tx1"/>
                </a:solidFill>
                <a:effectLst/>
                <a:latin typeface="+mn-lt"/>
                <a:ea typeface="+mn-ea"/>
                <a:cs typeface="+mn-cs"/>
              </a:rPr>
              <a:t>では</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92.75% → 93.30%</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SCT-v1.5 </a:t>
            </a:r>
            <a:r>
              <a:rPr lang="ja-JP" altLang="es-MX" sz="1200" kern="1200" dirty="0">
                <a:solidFill>
                  <a:schemeClr val="tx1"/>
                </a:solidFill>
                <a:effectLst/>
                <a:latin typeface="+mn-lt"/>
                <a:ea typeface="+mn-ea"/>
                <a:cs typeface="+mn-cs"/>
              </a:rPr>
              <a:t>では</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87.14% → 87.65%</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MCNC </a:t>
            </a:r>
            <a:r>
              <a:rPr lang="ja-JP" altLang="es-MX" sz="1200" kern="1200" dirty="0">
                <a:solidFill>
                  <a:schemeClr val="tx1"/>
                </a:solidFill>
                <a:effectLst/>
                <a:latin typeface="+mn-lt"/>
                <a:ea typeface="+mn-ea"/>
                <a:cs typeface="+mn-cs"/>
              </a:rPr>
              <a:t>では</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61.28% → 62.11%</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といった改善が見られます。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全体として、</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EventGround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 </a:t>
            </a:r>
            <a:r>
              <a:rPr lang="ja-JP" altLang="es-MX" sz="1200" b="1" kern="1200" dirty="0">
                <a:solidFill>
                  <a:schemeClr val="tx1"/>
                </a:solidFill>
                <a:effectLst/>
                <a:latin typeface="+mn-lt"/>
                <a:ea typeface="+mn-ea"/>
                <a:cs typeface="+mn-cs"/>
              </a:rPr>
              <a:t>約</a:t>
            </a:r>
            <a:r>
              <a:rPr lang="es-MX" sz="1200" b="1" kern="1200" dirty="0">
                <a:solidFill>
                  <a:schemeClr val="tx1"/>
                </a:solidFill>
                <a:effectLst/>
                <a:latin typeface="+mn-lt"/>
                <a:ea typeface="+mn-ea"/>
                <a:cs typeface="+mn-cs"/>
              </a:rPr>
              <a:t>0.3%</a:t>
            </a:r>
            <a:r>
              <a:rPr lang="ja-JP" altLang="es-MX" sz="1200" b="1" kern="1200" dirty="0">
                <a:solidFill>
                  <a:schemeClr val="tx1"/>
                </a:solidFill>
                <a:effectLst/>
                <a:latin typeface="+mn-lt"/>
                <a:ea typeface="+mn-ea"/>
                <a:cs typeface="+mn-cs"/>
              </a:rPr>
              <a:t>から</a:t>
            </a:r>
            <a:r>
              <a:rPr lang="es-MX" sz="1200" b="1" kern="1200" dirty="0">
                <a:solidFill>
                  <a:schemeClr val="tx1"/>
                </a:solidFill>
                <a:effectLst/>
                <a:latin typeface="+mn-lt"/>
                <a:ea typeface="+mn-ea"/>
                <a:cs typeface="+mn-cs"/>
              </a:rPr>
              <a:t>2.2%</a:t>
            </a:r>
            <a:r>
              <a:rPr lang="ja-JP" altLang="es-MX" sz="1200" b="1" kern="1200" dirty="0">
                <a:solidFill>
                  <a:schemeClr val="tx1"/>
                </a:solidFill>
                <a:effectLst/>
                <a:latin typeface="+mn-lt"/>
                <a:ea typeface="+mn-ea"/>
                <a:cs typeface="+mn-cs"/>
              </a:rPr>
              <a:t>程度の性能向上</a:t>
            </a:r>
            <a:r>
              <a:rPr lang="ja-JP" altLang="es-MX" sz="1200" kern="1200" dirty="0">
                <a:solidFill>
                  <a:schemeClr val="tx1"/>
                </a:solidFill>
                <a:effectLst/>
                <a:latin typeface="+mn-lt"/>
                <a:ea typeface="+mn-ea"/>
                <a:cs typeface="+mn-cs"/>
              </a:rPr>
              <a:t>を達成しています。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この結果から分かることは、</a:t>
            </a:r>
            <a:endParaRPr lang="es-MX" sz="1200" kern="1200" dirty="0">
              <a:solidFill>
                <a:schemeClr val="tx1"/>
              </a:solidFill>
              <a:effectLst/>
              <a:latin typeface="+mn-lt"/>
              <a:ea typeface="+mn-ea"/>
              <a:cs typeface="+mn-cs"/>
            </a:endParaRPr>
          </a:p>
          <a:p>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を用いたイベント推論を言語モデルに統合することで、</a:t>
            </a:r>
            <a:br>
              <a:rPr lang="es-MX" sz="1200" b="1"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ナラティブ推論能力を一貫して向上させることができる</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という点です。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p:txBody>
      </p:sp>
      <p:sp>
        <p:nvSpPr>
          <p:cNvPr id="4" name="Slide Number Placeholder 3">
            <a:extLst>
              <a:ext uri="{FF2B5EF4-FFF2-40B4-BE49-F238E27FC236}">
                <a16:creationId xmlns:a16="http://schemas.microsoft.com/office/drawing/2014/main" id="{72641D0F-3383-5F33-391E-17011B5E0A7B}"/>
              </a:ext>
            </a:extLst>
          </p:cNvPr>
          <p:cNvSpPr>
            <a:spLocks noGrp="1"/>
          </p:cNvSpPr>
          <p:nvPr>
            <p:ph type="sldNum" sz="quarter" idx="5"/>
          </p:nvPr>
        </p:nvSpPr>
        <p:spPr/>
        <p:txBody>
          <a:bodyPr/>
          <a:lstStyle/>
          <a:p>
            <a:fld id="{27F6FB8B-1938-4266-AC76-FE6EFE356B7C}" type="slidenum">
              <a:rPr lang="es-MX" smtClean="0"/>
              <a:t>15</a:t>
            </a:fld>
            <a:endParaRPr lang="es-MX"/>
          </a:p>
        </p:txBody>
      </p:sp>
    </p:spTree>
    <p:extLst>
      <p:ext uri="{BB962C8B-B14F-4D97-AF65-F5344CB8AC3E}">
        <p14:creationId xmlns:p14="http://schemas.microsoft.com/office/powerpoint/2010/main" val="3441217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C6D78-3F7C-6698-BA5B-1D3D517A15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AC72C-EF04-B7C9-4A30-2698B3FBE6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0E37A-3A89-29C1-AA1B-7B8BE250DE57}"/>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次に、</a:t>
            </a:r>
            <a:r>
              <a:rPr lang="es-MX" sz="1200" b="1" kern="1200" dirty="0" err="1">
                <a:solidFill>
                  <a:schemeClr val="tx1"/>
                </a:solidFill>
                <a:effectLst/>
                <a:latin typeface="+mn-lt"/>
                <a:ea typeface="+mn-ea"/>
                <a:cs typeface="+mn-cs"/>
              </a:rPr>
              <a:t>Ablation</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Study</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の結果について説明します。</a:t>
            </a:r>
            <a:endParaRPr lang="es-MX" sz="1200" kern="1200" dirty="0">
              <a:solidFill>
                <a:schemeClr val="tx1"/>
              </a:solidFill>
              <a:effectLst/>
              <a:latin typeface="+mn-lt"/>
              <a:ea typeface="+mn-ea"/>
              <a:cs typeface="+mn-cs"/>
            </a:endParaRPr>
          </a:p>
          <a:p>
            <a:r>
              <a:rPr lang="es-MX" sz="1200" kern="1200" dirty="0" err="1">
                <a:solidFill>
                  <a:schemeClr val="tx1"/>
                </a:solidFill>
                <a:effectLst/>
                <a:latin typeface="+mn-lt"/>
                <a:ea typeface="+mn-ea"/>
                <a:cs typeface="+mn-cs"/>
              </a:rPr>
              <a:t>Ablation</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Study</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モデルの各コンポーネントを </a:t>
            </a:r>
            <a:r>
              <a:rPr lang="es-MX" sz="1200" b="1" kern="1200" dirty="0">
                <a:solidFill>
                  <a:schemeClr val="tx1"/>
                </a:solidFill>
                <a:effectLst/>
                <a:latin typeface="+mn-lt"/>
                <a:ea typeface="+mn-ea"/>
                <a:cs typeface="+mn-cs"/>
              </a:rPr>
              <a:t>1</a:t>
            </a:r>
            <a:r>
              <a:rPr lang="ja-JP" altLang="es-MX" sz="1200" b="1" kern="1200" dirty="0">
                <a:solidFill>
                  <a:schemeClr val="tx1"/>
                </a:solidFill>
                <a:effectLst/>
                <a:latin typeface="+mn-lt"/>
                <a:ea typeface="+mn-ea"/>
                <a:cs typeface="+mn-cs"/>
              </a:rPr>
              <a:t>つずつ取り除くことで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それぞれの要素</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ようそ</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 </a:t>
            </a:r>
            <a:r>
              <a:rPr lang="ja-JP" altLang="es-MX" sz="1200" b="1" kern="1200" dirty="0">
                <a:solidFill>
                  <a:schemeClr val="tx1"/>
                </a:solidFill>
                <a:effectLst/>
                <a:latin typeface="+mn-lt"/>
                <a:ea typeface="+mn-ea"/>
                <a:cs typeface="+mn-cs"/>
              </a:rPr>
              <a:t>どれだけ性能</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せいのう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に貢献</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こうけん</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しているか</a:t>
            </a:r>
            <a:r>
              <a:rPr lang="ja-JP" altLang="es-MX" sz="1200" b="0" kern="1200" dirty="0">
                <a:solidFill>
                  <a:schemeClr val="tx1"/>
                </a:solidFill>
                <a:effectLst/>
                <a:latin typeface="+mn-lt"/>
                <a:ea typeface="+mn-ea"/>
                <a:cs typeface="+mn-cs"/>
              </a:rPr>
              <a:t>を</a:t>
            </a:r>
            <a:r>
              <a:rPr lang="ja-JP" altLang="es-MX" sz="1200" kern="1200" dirty="0">
                <a:solidFill>
                  <a:schemeClr val="tx1"/>
                </a:solidFill>
                <a:effectLst/>
                <a:latin typeface="+mn-lt"/>
                <a:ea typeface="+mn-ea"/>
                <a:cs typeface="+mn-cs"/>
              </a:rPr>
              <a:t>分析</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ぶんせき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する実験です。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この実験では </a:t>
            </a:r>
            <a:r>
              <a:rPr lang="es-MX" sz="1200" b="1" kern="1200" dirty="0" err="1">
                <a:solidFill>
                  <a:schemeClr val="tx1"/>
                </a:solidFill>
                <a:effectLst/>
                <a:latin typeface="+mn-lt"/>
                <a:ea typeface="+mn-ea"/>
                <a:cs typeface="+mn-cs"/>
              </a:rPr>
              <a:t>RoBERTa</a:t>
            </a:r>
            <a:r>
              <a:rPr lang="es-MX" sz="1200" b="1" kern="1200" dirty="0">
                <a:solidFill>
                  <a:schemeClr val="tx1"/>
                </a:solidFill>
                <a:effectLst/>
                <a:latin typeface="+mn-lt"/>
                <a:ea typeface="+mn-ea"/>
                <a:cs typeface="+mn-cs"/>
              </a:rPr>
              <a:t>-base </a:t>
            </a:r>
            <a:r>
              <a:rPr lang="ja-JP" altLang="es-MX" sz="1200" b="1" kern="1200" dirty="0">
                <a:solidFill>
                  <a:schemeClr val="tx1"/>
                </a:solidFill>
                <a:effectLst/>
                <a:latin typeface="+mn-lt"/>
                <a:ea typeface="+mn-ea"/>
                <a:cs typeface="+mn-cs"/>
              </a:rPr>
              <a:t>を</a:t>
            </a:r>
            <a:r>
              <a:rPr lang="ja-JP" altLang="es-MX" sz="1200" kern="1200" dirty="0">
                <a:solidFill>
                  <a:schemeClr val="tx1"/>
                </a:solidFill>
                <a:effectLst/>
                <a:latin typeface="+mn-lt"/>
                <a:ea typeface="+mn-ea"/>
                <a:cs typeface="+mn-cs"/>
              </a:rPr>
              <a:t>使用しています。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まず一番上の行は </a:t>
            </a:r>
            <a:r>
              <a:rPr lang="es-MX" sz="1200" b="1" kern="1200" dirty="0" err="1">
                <a:solidFill>
                  <a:schemeClr val="tx1"/>
                </a:solidFill>
                <a:effectLst/>
                <a:latin typeface="+mn-lt"/>
                <a:ea typeface="+mn-ea"/>
                <a:cs typeface="+mn-cs"/>
              </a:rPr>
              <a:t>baseline</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を使用しない通常の言語モデル</a:t>
            </a:r>
            <a:r>
              <a:rPr lang="ja-JP" altLang="es-MX" sz="1200" kern="1200" dirty="0">
                <a:solidFill>
                  <a:schemeClr val="tx1"/>
                </a:solidFill>
                <a:effectLst/>
                <a:latin typeface="+mn-lt"/>
                <a:ea typeface="+mn-ea"/>
                <a:cs typeface="+mn-cs"/>
              </a:rPr>
              <a:t>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精度は </a:t>
            </a:r>
            <a:r>
              <a:rPr lang="es-MX" sz="1200" b="1" kern="1200" dirty="0">
                <a:solidFill>
                  <a:schemeClr val="tx1"/>
                </a:solidFill>
                <a:effectLst/>
                <a:latin typeface="+mn-lt"/>
                <a:ea typeface="+mn-ea"/>
                <a:cs typeface="+mn-cs"/>
              </a:rPr>
              <a:t>92.75%</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となっています。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 </a:t>
            </a:r>
            <a:r>
              <a:rPr lang="es-MX" sz="1200" b="1" kern="1200" dirty="0">
                <a:solidFill>
                  <a:schemeClr val="tx1"/>
                </a:solidFill>
                <a:effectLst/>
                <a:latin typeface="+mn-lt"/>
                <a:ea typeface="+mn-ea"/>
                <a:cs typeface="+mn-cs"/>
              </a:rPr>
              <a:t>w/o </a:t>
            </a:r>
            <a:r>
              <a:rPr lang="es-MX" sz="1200" b="1" kern="1200" dirty="0" err="1">
                <a:solidFill>
                  <a:schemeClr val="tx1"/>
                </a:solidFill>
                <a:effectLst/>
                <a:latin typeface="+mn-lt"/>
                <a:ea typeface="+mn-ea"/>
                <a:cs typeface="+mn-cs"/>
              </a:rPr>
              <a:t>extraction</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 </a:t>
            </a:r>
            <a:r>
              <a:rPr lang="ja-JP" altLang="es-MX" sz="1200" b="1" kern="1200" dirty="0">
                <a:solidFill>
                  <a:schemeClr val="tx1"/>
                </a:solidFill>
                <a:effectLst/>
                <a:latin typeface="+mn-lt"/>
                <a:ea typeface="+mn-ea"/>
                <a:cs typeface="+mn-cs"/>
              </a:rPr>
              <a:t>イベント抽出を行わない場合</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この場合、精度は </a:t>
            </a:r>
            <a:r>
              <a:rPr lang="es-MX" sz="1200" b="1" kern="1200" dirty="0">
                <a:solidFill>
                  <a:schemeClr val="tx1"/>
                </a:solidFill>
                <a:effectLst/>
                <a:latin typeface="+mn-lt"/>
                <a:ea typeface="+mn-ea"/>
                <a:cs typeface="+mn-cs"/>
              </a:rPr>
              <a:t>0.89%</a:t>
            </a:r>
            <a:r>
              <a:rPr lang="ja-JP" altLang="es-MX" sz="1200" b="1" kern="1200" dirty="0">
                <a:solidFill>
                  <a:schemeClr val="tx1"/>
                </a:solidFill>
                <a:effectLst/>
                <a:latin typeface="+mn-lt"/>
                <a:ea typeface="+mn-ea"/>
                <a:cs typeface="+mn-cs"/>
              </a:rPr>
              <a:t>低下</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ていか</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テキストからイベントを抽出する処理は非常に重要</a:t>
            </a:r>
            <a:r>
              <a:rPr lang="ja-JP" altLang="es-MX" sz="1200" kern="1200" dirty="0">
                <a:solidFill>
                  <a:schemeClr val="tx1"/>
                </a:solidFill>
                <a:effectLst/>
                <a:latin typeface="+mn-lt"/>
                <a:ea typeface="+mn-ea"/>
                <a:cs typeface="+mn-cs"/>
              </a:rPr>
              <a:t>であることが分かります。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 </a:t>
            </a:r>
            <a:r>
              <a:rPr lang="es-MX" sz="1200" b="1" kern="1200" dirty="0">
                <a:solidFill>
                  <a:schemeClr val="tx1"/>
                </a:solidFill>
                <a:effectLst/>
                <a:latin typeface="+mn-lt"/>
                <a:ea typeface="+mn-ea"/>
                <a:cs typeface="+mn-cs"/>
              </a:rPr>
              <a:t>w/o </a:t>
            </a:r>
            <a:r>
              <a:rPr lang="es-MX" sz="1200" b="1" kern="1200" dirty="0" err="1">
                <a:solidFill>
                  <a:schemeClr val="tx1"/>
                </a:solidFill>
                <a:effectLst/>
                <a:latin typeface="+mn-lt"/>
                <a:ea typeface="+mn-ea"/>
                <a:cs typeface="+mn-cs"/>
              </a:rPr>
              <a:t>normalization</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 </a:t>
            </a:r>
            <a:r>
              <a:rPr lang="ja-JP" altLang="es-MX" sz="1200" b="1" kern="1200" dirty="0">
                <a:solidFill>
                  <a:schemeClr val="tx1"/>
                </a:solidFill>
                <a:effectLst/>
                <a:latin typeface="+mn-lt"/>
                <a:ea typeface="+mn-ea"/>
                <a:cs typeface="+mn-cs"/>
              </a:rPr>
              <a:t>イベントの正規化を行わない場合</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つまり、イベント内の </a:t>
            </a:r>
            <a:r>
              <a:rPr lang="en-US" sz="1200" b="1" kern="1200" dirty="0" err="1">
                <a:solidFill>
                  <a:schemeClr val="tx1"/>
                </a:solidFill>
                <a:effectLst/>
                <a:latin typeface="+mn-lt"/>
                <a:ea typeface="+mn-ea"/>
                <a:cs typeface="+mn-cs"/>
              </a:rPr>
              <a:t>placeholedr</a:t>
            </a:r>
            <a:r>
              <a:rPr lang="ja-JP" altLang="es-MX" sz="1200" b="1" kern="1200" dirty="0">
                <a:solidFill>
                  <a:schemeClr val="tx1"/>
                </a:solidFill>
                <a:effectLst/>
                <a:latin typeface="+mn-lt"/>
                <a:ea typeface="+mn-ea"/>
                <a:cs typeface="+mn-cs"/>
              </a:rPr>
              <a:t>（例：</a:t>
            </a:r>
            <a:r>
              <a:rPr lang="es-MX" sz="1200" b="1" kern="1200" dirty="0">
                <a:solidFill>
                  <a:schemeClr val="tx1"/>
                </a:solidFill>
                <a:effectLst/>
                <a:latin typeface="+mn-lt"/>
                <a:ea typeface="+mn-ea"/>
                <a:cs typeface="+mn-cs"/>
              </a:rPr>
              <a:t>[P0]</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を使わず、</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より具体的な表現のまま</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に接続しようとします。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この場合も </a:t>
            </a:r>
            <a:r>
              <a:rPr lang="ja-JP" altLang="es-MX" sz="1200" b="1" kern="1200" dirty="0">
                <a:solidFill>
                  <a:schemeClr val="tx1"/>
                </a:solidFill>
                <a:effectLst/>
                <a:latin typeface="+mn-lt"/>
                <a:ea typeface="+mn-ea"/>
                <a:cs typeface="+mn-cs"/>
              </a:rPr>
              <a:t>性能が</a:t>
            </a:r>
            <a:r>
              <a:rPr lang="es-MX" sz="1200" b="1" kern="1200" dirty="0">
                <a:solidFill>
                  <a:schemeClr val="tx1"/>
                </a:solidFill>
                <a:effectLst/>
                <a:latin typeface="+mn-lt"/>
                <a:ea typeface="+mn-ea"/>
                <a:cs typeface="+mn-cs"/>
              </a:rPr>
              <a:t>0.32%</a:t>
            </a:r>
            <a:r>
              <a:rPr lang="ja-JP" altLang="es-MX" sz="1200" b="1" kern="1200" dirty="0">
                <a:solidFill>
                  <a:schemeClr val="tx1"/>
                </a:solidFill>
                <a:effectLst/>
                <a:latin typeface="+mn-lt"/>
                <a:ea typeface="+mn-ea"/>
                <a:cs typeface="+mn-cs"/>
              </a:rPr>
              <a:t>低下</a:t>
            </a:r>
            <a:r>
              <a:rPr lang="ja-JP" altLang="es-MX" sz="1200" kern="1200" dirty="0">
                <a:solidFill>
                  <a:schemeClr val="tx1"/>
                </a:solidFill>
                <a:effectLst/>
                <a:latin typeface="+mn-lt"/>
                <a:ea typeface="+mn-ea"/>
                <a:cs typeface="+mn-cs"/>
              </a:rPr>
              <a:t>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これは </a:t>
            </a:r>
            <a:r>
              <a:rPr lang="ja-JP" altLang="es-MX" sz="1200" b="1" kern="1200" dirty="0">
                <a:solidFill>
                  <a:schemeClr val="tx1"/>
                </a:solidFill>
                <a:effectLst/>
                <a:latin typeface="+mn-lt"/>
                <a:ea typeface="+mn-ea"/>
                <a:cs typeface="+mn-cs"/>
              </a:rPr>
              <a:t>イベントの一般化が重要であること</a:t>
            </a:r>
            <a:r>
              <a:rPr lang="ja-JP" altLang="es-MX" sz="1200" kern="1200" dirty="0">
                <a:solidFill>
                  <a:schemeClr val="tx1"/>
                </a:solidFill>
                <a:effectLst/>
                <a:latin typeface="+mn-lt"/>
                <a:ea typeface="+mn-ea"/>
                <a:cs typeface="+mn-cs"/>
              </a:rPr>
              <a:t>を示しています。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 </a:t>
            </a:r>
            <a:r>
              <a:rPr lang="es-MX" sz="1200" b="1" kern="1200" dirty="0">
                <a:solidFill>
                  <a:schemeClr val="tx1"/>
                </a:solidFill>
                <a:effectLst/>
                <a:latin typeface="+mn-lt"/>
                <a:ea typeface="+mn-ea"/>
                <a:cs typeface="+mn-cs"/>
              </a:rPr>
              <a:t>w/o PIE</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normalized</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only</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ここでは </a:t>
            </a:r>
            <a:r>
              <a:rPr lang="es-MX" sz="1200" b="1" kern="1200" dirty="0" err="1">
                <a:solidFill>
                  <a:schemeClr val="tx1"/>
                </a:solidFill>
                <a:effectLst/>
                <a:latin typeface="+mn-lt"/>
                <a:ea typeface="+mn-ea"/>
                <a:cs typeface="+mn-cs"/>
              </a:rPr>
              <a:t>Progressive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Abstraction</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を使わず、</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単純な正規化だけを行っています。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この場合、性能向上は </a:t>
            </a:r>
            <a:r>
              <a:rPr lang="es-MX" sz="1200" b="1" kern="1200" dirty="0">
                <a:solidFill>
                  <a:schemeClr val="tx1"/>
                </a:solidFill>
                <a:effectLst/>
                <a:latin typeface="+mn-lt"/>
                <a:ea typeface="+mn-ea"/>
                <a:cs typeface="+mn-cs"/>
              </a:rPr>
              <a:t>+0.06%</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と非常に小さいです。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 </a:t>
            </a:r>
            <a:r>
              <a:rPr lang="es-MX" sz="1200" b="1" kern="1200" dirty="0">
                <a:solidFill>
                  <a:schemeClr val="tx1"/>
                </a:solidFill>
                <a:effectLst/>
                <a:latin typeface="+mn-lt"/>
                <a:ea typeface="+mn-ea"/>
                <a:cs typeface="+mn-cs"/>
              </a:rPr>
              <a:t>PIE-ARGM</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ここではまず </a:t>
            </a:r>
            <a:r>
              <a:rPr lang="ja-JP" altLang="es-MX" sz="1200" b="1" kern="1200" dirty="0">
                <a:solidFill>
                  <a:schemeClr val="tx1"/>
                </a:solidFill>
                <a:effectLst/>
                <a:latin typeface="+mn-lt"/>
                <a:ea typeface="+mn-ea"/>
                <a:cs typeface="+mn-cs"/>
              </a:rPr>
              <a:t>修飾語</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しゅうしょくご</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a:t>
            </a:r>
            <a:r>
              <a:rPr lang="es-MX" sz="1200" b="1" kern="1200" dirty="0">
                <a:solidFill>
                  <a:schemeClr val="tx1"/>
                </a:solidFill>
                <a:effectLst/>
                <a:latin typeface="+mn-lt"/>
                <a:ea typeface="+mn-ea"/>
                <a:cs typeface="+mn-cs"/>
              </a:rPr>
              <a:t>ARGM</a:t>
            </a:r>
            <a:r>
              <a:rPr lang="ja-JP" altLang="es-MX" sz="1200" b="1" kern="1200" dirty="0">
                <a:solidFill>
                  <a:schemeClr val="tx1"/>
                </a:solidFill>
                <a:effectLst/>
                <a:latin typeface="+mn-lt"/>
                <a:ea typeface="+mn-ea"/>
                <a:cs typeface="+mn-cs"/>
              </a:rPr>
              <a:t>）を削除</a:t>
            </a:r>
            <a:r>
              <a:rPr lang="ja-JP" altLang="es-MX" sz="1200" b="0" kern="1200" dirty="0">
                <a:solidFill>
                  <a:schemeClr val="tx1"/>
                </a:solidFill>
                <a:effectLst/>
                <a:latin typeface="+mn-lt"/>
                <a:ea typeface="+mn-ea"/>
                <a:cs typeface="+mn-cs"/>
              </a:rPr>
              <a:t>して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イベントをより一般化しています。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これにより </a:t>
            </a:r>
            <a:r>
              <a:rPr lang="es-MX" sz="1200" b="1" kern="1200" dirty="0">
                <a:solidFill>
                  <a:schemeClr val="tx1"/>
                </a:solidFill>
                <a:effectLst/>
                <a:latin typeface="+mn-lt"/>
                <a:ea typeface="+mn-ea"/>
                <a:cs typeface="+mn-cs"/>
              </a:rPr>
              <a:t>+0.42% </a:t>
            </a:r>
            <a:r>
              <a:rPr lang="ja-JP" altLang="es-MX" sz="1200" b="1" kern="1200" dirty="0">
                <a:solidFill>
                  <a:schemeClr val="tx1"/>
                </a:solidFill>
                <a:effectLst/>
                <a:latin typeface="+mn-lt"/>
                <a:ea typeface="+mn-ea"/>
                <a:cs typeface="+mn-cs"/>
              </a:rPr>
              <a:t>の改善</a:t>
            </a:r>
            <a:r>
              <a:rPr lang="ja-JP" altLang="es-MX" sz="1200" kern="1200" dirty="0">
                <a:solidFill>
                  <a:schemeClr val="tx1"/>
                </a:solidFill>
                <a:effectLst/>
                <a:latin typeface="+mn-lt"/>
                <a:ea typeface="+mn-ea"/>
                <a:cs typeface="+mn-cs"/>
              </a:rPr>
              <a:t>が得られます。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さらに </a:t>
            </a:r>
            <a:r>
              <a:rPr lang="es-MX" sz="1200" b="1" kern="1200" dirty="0">
                <a:solidFill>
                  <a:schemeClr val="tx1"/>
                </a:solidFill>
                <a:effectLst/>
                <a:latin typeface="+mn-lt"/>
                <a:ea typeface="+mn-ea"/>
                <a:cs typeface="+mn-cs"/>
              </a:rPr>
              <a:t>PIE-ARG2,3,4</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二次的</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にじてき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な引数</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ひきすう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を削除します。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この段階でも </a:t>
            </a:r>
            <a:r>
              <a:rPr lang="es-MX" sz="1200" b="1" kern="1200" dirty="0">
                <a:solidFill>
                  <a:schemeClr val="tx1"/>
                </a:solidFill>
                <a:effectLst/>
                <a:latin typeface="+mn-lt"/>
                <a:ea typeface="+mn-ea"/>
                <a:cs typeface="+mn-cs"/>
              </a:rPr>
              <a:t>+0.28% </a:t>
            </a:r>
            <a:r>
              <a:rPr lang="ja-JP" altLang="es-MX" sz="1200" b="1" kern="1200" dirty="0">
                <a:solidFill>
                  <a:schemeClr val="tx1"/>
                </a:solidFill>
                <a:effectLst/>
                <a:latin typeface="+mn-lt"/>
                <a:ea typeface="+mn-ea"/>
                <a:cs typeface="+mn-cs"/>
              </a:rPr>
              <a:t>の改善</a:t>
            </a:r>
            <a:r>
              <a:rPr lang="ja-JP" altLang="es-MX" sz="1200" kern="1200" dirty="0">
                <a:solidFill>
                  <a:schemeClr val="tx1"/>
                </a:solidFill>
                <a:effectLst/>
                <a:latin typeface="+mn-lt"/>
                <a:ea typeface="+mn-ea"/>
                <a:cs typeface="+mn-cs"/>
              </a:rPr>
              <a:t>が見られます。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そして最後の </a:t>
            </a:r>
            <a:r>
              <a:rPr lang="es-MX" sz="1200" b="1" kern="1200" dirty="0">
                <a:solidFill>
                  <a:schemeClr val="tx1"/>
                </a:solidFill>
                <a:effectLst/>
                <a:latin typeface="+mn-lt"/>
                <a:ea typeface="+mn-ea"/>
                <a:cs typeface="+mn-cs"/>
              </a:rPr>
              <a:t>PIE-ARG1</a:t>
            </a:r>
            <a:r>
              <a:rPr lang="ja-JP" altLang="es-MX" sz="1200" b="1" kern="1200" dirty="0">
                <a:solidFill>
                  <a:schemeClr val="tx1"/>
                </a:solidFill>
                <a:effectLst/>
                <a:latin typeface="+mn-lt"/>
                <a:ea typeface="+mn-ea"/>
                <a:cs typeface="+mn-cs"/>
              </a:rPr>
              <a:t>（</a:t>
            </a:r>
            <a:r>
              <a:rPr lang="es-MX" sz="1200" b="1" kern="1200" dirty="0">
                <a:solidFill>
                  <a:schemeClr val="tx1"/>
                </a:solidFill>
                <a:effectLst/>
                <a:latin typeface="+mn-lt"/>
                <a:ea typeface="+mn-ea"/>
                <a:cs typeface="+mn-cs"/>
              </a:rPr>
              <a:t>full</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が</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完全な</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Progressive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Abstraction</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この設定では </a:t>
            </a:r>
            <a:r>
              <a:rPr lang="es-MX" sz="1200" b="1" kern="1200" dirty="0">
                <a:solidFill>
                  <a:schemeClr val="tx1"/>
                </a:solidFill>
                <a:effectLst/>
                <a:latin typeface="+mn-lt"/>
                <a:ea typeface="+mn-ea"/>
                <a:cs typeface="+mn-cs"/>
              </a:rPr>
              <a:t>+0.55% </a:t>
            </a:r>
            <a:r>
              <a:rPr lang="ja-JP" altLang="es-MX" sz="1200" b="1" kern="1200" dirty="0">
                <a:solidFill>
                  <a:schemeClr val="tx1"/>
                </a:solidFill>
                <a:effectLst/>
                <a:latin typeface="+mn-lt"/>
                <a:ea typeface="+mn-ea"/>
                <a:cs typeface="+mn-cs"/>
              </a:rPr>
              <a:t>の性能向上</a:t>
            </a:r>
            <a:r>
              <a:rPr lang="ja-JP" altLang="es-MX" sz="1200" kern="1200" dirty="0">
                <a:solidFill>
                  <a:schemeClr val="tx1"/>
                </a:solidFill>
                <a:effectLst/>
                <a:latin typeface="+mn-lt"/>
                <a:ea typeface="+mn-ea"/>
                <a:cs typeface="+mn-cs"/>
              </a:rPr>
              <a:t>が得られ、</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最も良い結果</a:t>
            </a:r>
            <a:r>
              <a:rPr lang="ja-JP" altLang="es-MX" sz="1200" kern="1200" dirty="0">
                <a:solidFill>
                  <a:schemeClr val="tx1"/>
                </a:solidFill>
                <a:effectLst/>
                <a:latin typeface="+mn-lt"/>
                <a:ea typeface="+mn-ea"/>
                <a:cs typeface="+mn-cs"/>
              </a:rPr>
              <a:t>になっています。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この結果から分かる重要なポイントは</a:t>
            </a:r>
            <a:r>
              <a:rPr lang="es-MX" sz="1200" kern="1200" dirty="0">
                <a:solidFill>
                  <a:schemeClr val="tx1"/>
                </a:solidFill>
                <a:effectLst/>
                <a:latin typeface="+mn-lt"/>
                <a:ea typeface="+mn-ea"/>
                <a:cs typeface="+mn-cs"/>
              </a:rPr>
              <a:t>2</a:t>
            </a:r>
            <a:r>
              <a:rPr lang="ja-JP" altLang="es-MX" sz="1200" kern="1200" dirty="0">
                <a:solidFill>
                  <a:schemeClr val="tx1"/>
                </a:solidFill>
                <a:effectLst/>
                <a:latin typeface="+mn-lt"/>
                <a:ea typeface="+mn-ea"/>
                <a:cs typeface="+mn-cs"/>
              </a:rPr>
              <a:t>つあります。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イベント抽出とイベント正規化の両方が重要</a:t>
            </a:r>
            <a:r>
              <a:rPr lang="ja-JP" altLang="es-MX" sz="1200" kern="1200" dirty="0">
                <a:solidFill>
                  <a:schemeClr val="tx1"/>
                </a:solidFill>
                <a:effectLst/>
                <a:latin typeface="+mn-lt"/>
                <a:ea typeface="+mn-ea"/>
                <a:cs typeface="+mn-cs"/>
              </a:rPr>
              <a:t>であり、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どちらかを欠</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くと性能がベースラインよりも低下します。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そしてもう一つは、</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Progressive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Abstraction</a:t>
            </a:r>
            <a:r>
              <a:rPr lang="ja-JP" altLang="es-MX" sz="1200" b="1" kern="1200" dirty="0">
                <a:solidFill>
                  <a:schemeClr val="tx1"/>
                </a:solidFill>
                <a:effectLst/>
                <a:latin typeface="+mn-lt"/>
                <a:ea typeface="+mn-ea"/>
                <a:cs typeface="+mn-cs"/>
              </a:rPr>
              <a:t>（</a:t>
            </a:r>
            <a:r>
              <a:rPr lang="es-MX" sz="1200" b="1" kern="1200" dirty="0">
                <a:solidFill>
                  <a:schemeClr val="tx1"/>
                </a:solidFill>
                <a:effectLst/>
                <a:latin typeface="+mn-lt"/>
                <a:ea typeface="+mn-ea"/>
                <a:cs typeface="+mn-cs"/>
              </a:rPr>
              <a:t>PIE</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が</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とイベントを接続する上で</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非常に重要な役割を果</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は</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たしている</a:t>
            </a:r>
            <a:r>
              <a:rPr lang="ja-JP" altLang="es-MX" sz="1200" b="0" kern="1200" dirty="0">
                <a:solidFill>
                  <a:schemeClr val="tx1"/>
                </a:solidFill>
                <a:effectLst/>
                <a:latin typeface="+mn-lt"/>
                <a:ea typeface="+mn-ea"/>
                <a:cs typeface="+mn-cs"/>
              </a:rPr>
              <a:t>ということです。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F2655E4B-BCF4-2DE2-A1B4-5E2A0196199D}"/>
              </a:ext>
            </a:extLst>
          </p:cNvPr>
          <p:cNvSpPr>
            <a:spLocks noGrp="1"/>
          </p:cNvSpPr>
          <p:nvPr>
            <p:ph type="sldNum" sz="quarter" idx="5"/>
          </p:nvPr>
        </p:nvSpPr>
        <p:spPr/>
        <p:txBody>
          <a:bodyPr/>
          <a:lstStyle/>
          <a:p>
            <a:fld id="{27F6FB8B-1938-4266-AC76-FE6EFE356B7C}" type="slidenum">
              <a:rPr lang="es-MX" smtClean="0"/>
              <a:t>16</a:t>
            </a:fld>
            <a:endParaRPr lang="es-MX"/>
          </a:p>
        </p:txBody>
      </p:sp>
    </p:spTree>
    <p:extLst>
      <p:ext uri="{BB962C8B-B14F-4D97-AF65-F5344CB8AC3E}">
        <p14:creationId xmlns:p14="http://schemas.microsoft.com/office/powerpoint/2010/main" val="3232008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158AE-B06F-1559-A759-2F2B29E89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967A4-6C4E-F99E-9DE6-8821FDEEF3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7EDCE6-C2CC-19A6-F748-76F287BDC4DE}"/>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最後に、この研究の </a:t>
            </a:r>
            <a:r>
              <a:rPr lang="ja-JP" altLang="es-MX" sz="1200" b="1" kern="1200" dirty="0">
                <a:solidFill>
                  <a:schemeClr val="tx1"/>
                </a:solidFill>
                <a:effectLst/>
                <a:latin typeface="+mn-lt"/>
                <a:ea typeface="+mn-ea"/>
                <a:cs typeface="+mn-cs"/>
              </a:rPr>
              <a:t>主な限界</a:t>
            </a:r>
            <a:r>
              <a:rPr lang="ja-JP" altLang="es-MX" sz="1200" kern="1200" dirty="0">
                <a:solidFill>
                  <a:schemeClr val="tx1"/>
                </a:solidFill>
                <a:effectLst/>
                <a:latin typeface="+mn-lt"/>
                <a:ea typeface="+mn-ea"/>
                <a:cs typeface="+mn-cs"/>
              </a:rPr>
              <a:t>について簡単に説明します。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まず一つ目は </a:t>
            </a:r>
            <a:r>
              <a:rPr lang="ja-JP" altLang="es-MX" sz="1200" b="1" kern="1200" dirty="0">
                <a:solidFill>
                  <a:schemeClr val="tx1"/>
                </a:solidFill>
                <a:effectLst/>
                <a:latin typeface="+mn-lt"/>
                <a:ea typeface="+mn-ea"/>
                <a:cs typeface="+mn-cs"/>
              </a:rPr>
              <a:t>イベント正規化の制限</a:t>
            </a:r>
            <a:r>
              <a:rPr lang="ja-JP" altLang="es-MX" sz="1200" kern="1200" dirty="0">
                <a:solidFill>
                  <a:schemeClr val="tx1"/>
                </a:solidFill>
                <a:effectLst/>
                <a:latin typeface="+mn-lt"/>
                <a:ea typeface="+mn-ea"/>
                <a:cs typeface="+mn-cs"/>
              </a:rPr>
              <a:t>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現在のシステムでは、主に </a:t>
            </a:r>
            <a:r>
              <a:rPr lang="ja-JP" altLang="es-MX" sz="1200" b="1" kern="1200" dirty="0">
                <a:solidFill>
                  <a:schemeClr val="tx1"/>
                </a:solidFill>
                <a:effectLst/>
                <a:latin typeface="+mn-lt"/>
                <a:ea typeface="+mn-ea"/>
                <a:cs typeface="+mn-cs"/>
              </a:rPr>
              <a:t>人物</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じんぶつ</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トークンのみ</a:t>
            </a:r>
            <a:r>
              <a:rPr lang="ja-JP" altLang="es-MX" sz="1200" b="0" kern="1200" dirty="0">
                <a:solidFill>
                  <a:schemeClr val="tx1"/>
                </a:solidFill>
                <a:effectLst/>
                <a:latin typeface="+mn-lt"/>
                <a:ea typeface="+mn-ea"/>
                <a:cs typeface="+mn-cs"/>
              </a:rPr>
              <a:t>が正規化されており、</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組織、場所、製品</a:t>
            </a:r>
            <a:r>
              <a:rPr lang="ja-JP" altLang="es-MX" sz="1200" kern="1200" dirty="0">
                <a:solidFill>
                  <a:schemeClr val="tx1"/>
                </a:solidFill>
                <a:effectLst/>
                <a:latin typeface="+mn-lt"/>
                <a:ea typeface="+mn-ea"/>
                <a:cs typeface="+mn-cs"/>
              </a:rPr>
              <a:t>などのエンティティはまだ正規化されていません。</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そのため、イベントのスパース性が依然として残っています。</a:t>
            </a:r>
            <a:endParaRPr lang="es-MX" sz="1200" kern="1200" dirty="0">
              <a:solidFill>
                <a:schemeClr val="tx1"/>
              </a:solidFill>
              <a:effectLst/>
              <a:latin typeface="+mn-lt"/>
              <a:ea typeface="+mn-ea"/>
              <a:cs typeface="+mn-cs"/>
            </a:endParaRPr>
          </a:p>
          <a:p>
            <a:endParaRPr lang="en-US"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二つ目は </a:t>
            </a:r>
            <a:r>
              <a:rPr lang="ja-JP" altLang="es-MX" sz="1200" b="1" kern="1200" dirty="0">
                <a:solidFill>
                  <a:schemeClr val="tx1"/>
                </a:solidFill>
                <a:effectLst/>
                <a:latin typeface="+mn-lt"/>
                <a:ea typeface="+mn-ea"/>
                <a:cs typeface="+mn-cs"/>
              </a:rPr>
              <a:t>サブグラフ取得の問題</a:t>
            </a:r>
            <a:r>
              <a:rPr lang="ja-JP" altLang="es-MX" sz="1200" kern="1200" dirty="0">
                <a:solidFill>
                  <a:schemeClr val="tx1"/>
                </a:solidFill>
                <a:effectLst/>
                <a:latin typeface="+mn-lt"/>
                <a:ea typeface="+mn-ea"/>
                <a:cs typeface="+mn-cs"/>
              </a:rPr>
              <a:t>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理論的には</a:t>
            </a:r>
            <a:r>
              <a:rPr lang="es-MX" sz="1200" kern="1200" dirty="0">
                <a:solidFill>
                  <a:schemeClr val="tx1"/>
                </a:solidFill>
                <a:effectLst/>
                <a:latin typeface="+mn-lt"/>
                <a:ea typeface="+mn-ea"/>
                <a:cs typeface="+mn-cs"/>
              </a:rPr>
              <a:t> Steiner </a:t>
            </a:r>
            <a:r>
              <a:rPr lang="es-MX" sz="1200" kern="1200" dirty="0" err="1">
                <a:solidFill>
                  <a:schemeClr val="tx1"/>
                </a:solidFill>
                <a:effectLst/>
                <a:latin typeface="+mn-lt"/>
                <a:ea typeface="+mn-ea"/>
                <a:cs typeface="+mn-cs"/>
              </a:rPr>
              <a:t>Tree</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が最適ですが、これは計算が非常に難しい問題です。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そのため本研究では </a:t>
            </a:r>
            <a:r>
              <a:rPr lang="es-MX" sz="1200" b="1" kern="1200" dirty="0" err="1">
                <a:solidFill>
                  <a:schemeClr val="tx1"/>
                </a:solidFill>
                <a:effectLst/>
                <a:latin typeface="+mn-lt"/>
                <a:ea typeface="+mn-ea"/>
                <a:cs typeface="+mn-cs"/>
              </a:rPr>
              <a:t>shortest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path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の近似</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きんじ</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を使用しており、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重要な推論</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すいろん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経路</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けいろ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を見逃</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みのが</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す可能性があります。</a:t>
            </a:r>
            <a:endParaRPr lang="es-MX" sz="1200" kern="1200" dirty="0">
              <a:solidFill>
                <a:schemeClr val="tx1"/>
              </a:solidFill>
              <a:effectLst/>
              <a:latin typeface="+mn-lt"/>
              <a:ea typeface="+mn-ea"/>
              <a:cs typeface="+mn-cs"/>
            </a:endParaRPr>
          </a:p>
          <a:p>
            <a:endParaRPr lang="en-US"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三つ目は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の完全性</a:t>
            </a:r>
            <a:r>
              <a:rPr lang="ja-JP" altLang="es-MX" sz="1200" kern="1200" dirty="0">
                <a:solidFill>
                  <a:schemeClr val="tx1"/>
                </a:solidFill>
                <a:effectLst/>
                <a:latin typeface="+mn-lt"/>
                <a:ea typeface="+mn-ea"/>
                <a:cs typeface="+mn-cs"/>
              </a:rPr>
              <a:t>です。</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ASER </a:t>
            </a:r>
            <a:r>
              <a:rPr lang="ja-JP" altLang="es-MX" sz="1200" kern="1200" dirty="0">
                <a:solidFill>
                  <a:schemeClr val="tx1"/>
                </a:solidFill>
                <a:effectLst/>
                <a:latin typeface="+mn-lt"/>
                <a:ea typeface="+mn-ea"/>
                <a:cs typeface="+mn-cs"/>
              </a:rPr>
              <a:t>は大規模なイベント知識グラフですが、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すべてのイベント知識を含んでいるわけではありません。</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そのためモデルの推論能力は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に含まれる知識量に依存</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いぞん</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1FA528C3-8E25-DCA0-A5B6-3BE219200F7B}"/>
              </a:ext>
            </a:extLst>
          </p:cNvPr>
          <p:cNvSpPr>
            <a:spLocks noGrp="1"/>
          </p:cNvSpPr>
          <p:nvPr>
            <p:ph type="sldNum" sz="quarter" idx="5"/>
          </p:nvPr>
        </p:nvSpPr>
        <p:spPr/>
        <p:txBody>
          <a:bodyPr/>
          <a:lstStyle/>
          <a:p>
            <a:fld id="{27F6FB8B-1938-4266-AC76-FE6EFE356B7C}" type="slidenum">
              <a:rPr lang="es-MX" smtClean="0"/>
              <a:t>17</a:t>
            </a:fld>
            <a:endParaRPr lang="es-MX"/>
          </a:p>
        </p:txBody>
      </p:sp>
    </p:spTree>
    <p:extLst>
      <p:ext uri="{BB962C8B-B14F-4D97-AF65-F5344CB8AC3E}">
        <p14:creationId xmlns:p14="http://schemas.microsoft.com/office/powerpoint/2010/main" val="25652445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AFF41-7F74-565A-67E6-27F7BB1E6D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A7B95-7301-D577-51F1-5E1269957C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131758-A0D1-1B7B-DAAD-F7234B9F0B8B}"/>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最後に、本研究の結論についてまとめます。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本研究では、テキスト中のイベントを </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ja-JP" altLang="es-MX" sz="1200" b="1" kern="1200" dirty="0">
                <a:solidFill>
                  <a:schemeClr val="tx1"/>
                </a:solidFill>
                <a:effectLst/>
                <a:latin typeface="+mn-lt"/>
                <a:ea typeface="+mn-ea"/>
                <a:cs typeface="+mn-cs"/>
              </a:rPr>
              <a:t>（</a:t>
            </a:r>
            <a:r>
              <a:rPr lang="es-MX" sz="1200" b="1" kern="1200" dirty="0">
                <a:solidFill>
                  <a:schemeClr val="tx1"/>
                </a:solidFill>
                <a:effectLst/>
                <a:latin typeface="+mn-lt"/>
                <a:ea typeface="+mn-ea"/>
                <a:cs typeface="+mn-cs"/>
              </a:rPr>
              <a:t>ASER</a:t>
            </a:r>
            <a:r>
              <a:rPr lang="ja-JP" altLang="es-MX" sz="1200" b="1" kern="1200" dirty="0">
                <a:solidFill>
                  <a:schemeClr val="tx1"/>
                </a:solidFill>
                <a:effectLst/>
                <a:latin typeface="+mn-lt"/>
                <a:ea typeface="+mn-ea"/>
                <a:cs typeface="+mn-cs"/>
              </a:rPr>
              <a:t>）に対応付けて推論を行う</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EventGround</a:t>
            </a:r>
            <a:r>
              <a:rPr lang="es-MX" sz="1200" b="1" kern="1200" dirty="0">
                <a:solidFill>
                  <a:schemeClr val="tx1"/>
                </a:solidFill>
                <a:effectLst/>
                <a:latin typeface="+mn-lt"/>
                <a:ea typeface="+mn-ea"/>
                <a:cs typeface="+mn-cs"/>
              </a:rPr>
              <a:t> </a:t>
            </a:r>
            <a:r>
              <a:rPr lang="ja-JP" altLang="es-MX" sz="1200" b="1" kern="1200" dirty="0">
                <a:solidFill>
                  <a:schemeClr val="tx1"/>
                </a:solidFill>
                <a:effectLst/>
                <a:latin typeface="+mn-lt"/>
                <a:ea typeface="+mn-ea"/>
                <a:cs typeface="+mn-cs"/>
              </a:rPr>
              <a:t>フレームワーク</a:t>
            </a:r>
            <a:r>
              <a:rPr lang="ja-JP" altLang="es-MX" sz="1200" kern="1200" dirty="0">
                <a:solidFill>
                  <a:schemeClr val="tx1"/>
                </a:solidFill>
                <a:effectLst/>
                <a:latin typeface="+mn-lt"/>
                <a:ea typeface="+mn-ea"/>
                <a:cs typeface="+mn-cs"/>
              </a:rPr>
              <a:t>を提案しました。</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この手法</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しゅほう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a:t>
            </a:r>
            <a:r>
              <a:rPr lang="ja-JP" altLang="es-MX" sz="1200" b="1" kern="1200" dirty="0">
                <a:solidFill>
                  <a:schemeClr val="tx1"/>
                </a:solidFill>
                <a:effectLst/>
                <a:latin typeface="+mn-lt"/>
                <a:ea typeface="+mn-ea"/>
                <a:cs typeface="+mn-cs"/>
              </a:rPr>
              <a:t>言語モデル、</a:t>
            </a:r>
            <a:r>
              <a:rPr lang="es-MX" sz="1200" b="1" kern="1200" dirty="0" err="1">
                <a:solidFill>
                  <a:schemeClr val="tx1"/>
                </a:solidFill>
                <a:effectLst/>
                <a:latin typeface="+mn-lt"/>
                <a:ea typeface="+mn-ea"/>
                <a:cs typeface="+mn-cs"/>
              </a:rPr>
              <a:t>Knowledge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ja-JP" altLang="es-MX" sz="1200" b="1" kern="1200" dirty="0">
                <a:solidFill>
                  <a:schemeClr val="tx1"/>
                </a:solidFill>
                <a:effectLst/>
                <a:latin typeface="+mn-lt"/>
                <a:ea typeface="+mn-ea"/>
                <a:cs typeface="+mn-cs"/>
              </a:rPr>
              <a:t>、そして</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Graph</a:t>
            </a:r>
            <a:r>
              <a:rPr lang="es-MX" sz="1200" b="1" kern="1200" dirty="0">
                <a:solidFill>
                  <a:schemeClr val="tx1"/>
                </a:solidFill>
                <a:effectLst/>
                <a:latin typeface="+mn-lt"/>
                <a:ea typeface="+mn-ea"/>
                <a:cs typeface="+mn-cs"/>
              </a:rPr>
              <a:t> Neural Network</a:t>
            </a:r>
            <a:r>
              <a:rPr lang="ja-JP" altLang="es-MX" sz="1200" kern="1200" dirty="0">
                <a:solidFill>
                  <a:schemeClr val="tx1"/>
                </a:solidFill>
                <a:effectLst/>
                <a:latin typeface="+mn-lt"/>
                <a:ea typeface="+mn-ea"/>
                <a:cs typeface="+mn-cs"/>
              </a:rPr>
              <a:t>を組み合わせることで、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ストーリー内の出来事に関する </a:t>
            </a:r>
            <a:r>
              <a:rPr lang="ja-JP" altLang="es-MX" sz="1200" b="1" kern="1200" dirty="0">
                <a:solidFill>
                  <a:schemeClr val="tx1"/>
                </a:solidFill>
                <a:effectLst/>
                <a:latin typeface="+mn-lt"/>
                <a:ea typeface="+mn-ea"/>
                <a:cs typeface="+mn-cs"/>
              </a:rPr>
              <a:t>ナラティブ推論を可能にします</a:t>
            </a:r>
            <a:r>
              <a:rPr lang="ja-JP" altLang="es-MX" sz="120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さらに、</a:t>
            </a:r>
            <a:r>
              <a:rPr lang="es-MX" sz="1200" b="1" kern="1200" dirty="0" err="1">
                <a:solidFill>
                  <a:schemeClr val="tx1"/>
                </a:solidFill>
                <a:effectLst/>
                <a:latin typeface="+mn-lt"/>
                <a:ea typeface="+mn-ea"/>
                <a:cs typeface="+mn-cs"/>
              </a:rPr>
              <a:t>Progressive</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Event</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Abstraction</a:t>
            </a:r>
            <a:r>
              <a:rPr lang="ja-JP" altLang="es-MX" sz="1200" b="1" kern="1200" dirty="0">
                <a:solidFill>
                  <a:schemeClr val="tx1"/>
                </a:solidFill>
                <a:effectLst/>
                <a:latin typeface="+mn-lt"/>
                <a:ea typeface="+mn-ea"/>
                <a:cs typeface="+mn-cs"/>
              </a:rPr>
              <a:t>（</a:t>
            </a:r>
            <a:r>
              <a:rPr lang="es-MX" sz="1200" b="1" kern="1200" dirty="0">
                <a:solidFill>
                  <a:schemeClr val="tx1"/>
                </a:solidFill>
                <a:effectLst/>
                <a:latin typeface="+mn-lt"/>
                <a:ea typeface="+mn-ea"/>
                <a:cs typeface="+mn-cs"/>
              </a:rPr>
              <a:t>PIE</a:t>
            </a:r>
            <a:r>
              <a:rPr lang="ja-JP" altLang="es-MX" sz="1200" b="1"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 を用いることで、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テキストイベントと</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イベントの一致</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いっち</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率を高め、</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推論性能を向上させました。</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また、</a:t>
            </a:r>
            <a:r>
              <a:rPr lang="es-MX" sz="1200" kern="1200" dirty="0" err="1">
                <a:solidFill>
                  <a:schemeClr val="tx1"/>
                </a:solidFill>
                <a:effectLst/>
                <a:latin typeface="+mn-lt"/>
                <a:ea typeface="+mn-ea"/>
                <a:cs typeface="+mn-cs"/>
              </a:rPr>
              <a:t>Knowledge</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Graph</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上の推論経路</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けいろ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を利用することで、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モデルの予測を </a:t>
            </a:r>
            <a:r>
              <a:rPr lang="ja-JP" altLang="es-MX" sz="1200" b="1" kern="1200" dirty="0">
                <a:solidFill>
                  <a:schemeClr val="tx1"/>
                </a:solidFill>
                <a:effectLst/>
                <a:latin typeface="+mn-lt"/>
                <a:ea typeface="+mn-ea"/>
                <a:cs typeface="+mn-cs"/>
              </a:rPr>
              <a:t>解釈可能な形で説明できる</a:t>
            </a:r>
            <a:r>
              <a:rPr lang="ja-JP" altLang="es-MX" sz="1200" kern="1200" dirty="0">
                <a:solidFill>
                  <a:schemeClr val="tx1"/>
                </a:solidFill>
                <a:effectLst/>
                <a:latin typeface="+mn-lt"/>
                <a:ea typeface="+mn-ea"/>
                <a:cs typeface="+mn-cs"/>
              </a:rPr>
              <a:t>点も重要な特徴です。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2621906D-D064-9373-AEE5-0FC0B7FFB3A5}"/>
              </a:ext>
            </a:extLst>
          </p:cNvPr>
          <p:cNvSpPr>
            <a:spLocks noGrp="1"/>
          </p:cNvSpPr>
          <p:nvPr>
            <p:ph type="sldNum" sz="quarter" idx="5"/>
          </p:nvPr>
        </p:nvSpPr>
        <p:spPr/>
        <p:txBody>
          <a:bodyPr/>
          <a:lstStyle/>
          <a:p>
            <a:fld id="{27F6FB8B-1938-4266-AC76-FE6EFE356B7C}" type="slidenum">
              <a:rPr lang="es-MX" smtClean="0"/>
              <a:t>18</a:t>
            </a:fld>
            <a:endParaRPr lang="es-MX"/>
          </a:p>
        </p:txBody>
      </p:sp>
    </p:spTree>
    <p:extLst>
      <p:ext uri="{BB962C8B-B14F-4D97-AF65-F5344CB8AC3E}">
        <p14:creationId xmlns:p14="http://schemas.microsoft.com/office/powerpoint/2010/main" val="113395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7E474-14C4-A139-9539-CBDA5C4AAE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MX"/>
          </a:p>
        </p:txBody>
      </p:sp>
      <p:sp>
        <p:nvSpPr>
          <p:cNvPr id="3" name="Subtitle 2">
            <a:extLst>
              <a:ext uri="{FF2B5EF4-FFF2-40B4-BE49-F238E27FC236}">
                <a16:creationId xmlns:a16="http://schemas.microsoft.com/office/drawing/2014/main" id="{A4F5E205-98C0-2FD8-7532-A48C56E1F6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MX"/>
          </a:p>
        </p:txBody>
      </p:sp>
      <p:sp>
        <p:nvSpPr>
          <p:cNvPr id="4" name="Date Placeholder 3">
            <a:extLst>
              <a:ext uri="{FF2B5EF4-FFF2-40B4-BE49-F238E27FC236}">
                <a16:creationId xmlns:a16="http://schemas.microsoft.com/office/drawing/2014/main" id="{144473ED-17DE-CABD-CDDF-29AC22CC8C24}"/>
              </a:ext>
            </a:extLst>
          </p:cNvPr>
          <p:cNvSpPr>
            <a:spLocks noGrp="1"/>
          </p:cNvSpPr>
          <p:nvPr>
            <p:ph type="dt" sz="half" idx="10"/>
          </p:nvPr>
        </p:nvSpPr>
        <p:spPr/>
        <p:txBody>
          <a:bodyPr/>
          <a:lstStyle/>
          <a:p>
            <a:fld id="{A6BEE01B-0F3B-4375-A5A5-4B01B64B7B80}" type="datetimeFigureOut">
              <a:rPr lang="es-MX" smtClean="0"/>
              <a:t>16/03/2026</a:t>
            </a:fld>
            <a:endParaRPr lang="es-MX"/>
          </a:p>
        </p:txBody>
      </p:sp>
      <p:sp>
        <p:nvSpPr>
          <p:cNvPr id="5" name="Footer Placeholder 4">
            <a:extLst>
              <a:ext uri="{FF2B5EF4-FFF2-40B4-BE49-F238E27FC236}">
                <a16:creationId xmlns:a16="http://schemas.microsoft.com/office/drawing/2014/main" id="{390E0193-8D96-2983-01A1-C9ADA0E82791}"/>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3E55790-97A5-3A04-9272-085AB4518F42}"/>
              </a:ext>
            </a:extLst>
          </p:cNvPr>
          <p:cNvSpPr>
            <a:spLocks noGrp="1"/>
          </p:cNvSpPr>
          <p:nvPr>
            <p:ph type="sldNum" sz="quarter" idx="12"/>
          </p:nvPr>
        </p:nvSpPr>
        <p:spPr/>
        <p:txBody>
          <a:bodyPr/>
          <a:lstStyle/>
          <a:p>
            <a:fld id="{264E69DF-289B-4BF2-893D-9DEB292375D6}" type="slidenum">
              <a:rPr lang="es-MX" smtClean="0"/>
              <a:t>‹#›</a:t>
            </a:fld>
            <a:endParaRPr lang="es-MX"/>
          </a:p>
        </p:txBody>
      </p:sp>
    </p:spTree>
    <p:extLst>
      <p:ext uri="{BB962C8B-B14F-4D97-AF65-F5344CB8AC3E}">
        <p14:creationId xmlns:p14="http://schemas.microsoft.com/office/powerpoint/2010/main" val="409137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37D69-D6D2-8F20-999D-552DC3AC8841}"/>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650FCDC2-834C-A3D8-ED00-18C3E2D46E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5A57F2A3-45E7-3985-6670-879F5ED5AFDB}"/>
              </a:ext>
            </a:extLst>
          </p:cNvPr>
          <p:cNvSpPr>
            <a:spLocks noGrp="1"/>
          </p:cNvSpPr>
          <p:nvPr>
            <p:ph type="dt" sz="half" idx="10"/>
          </p:nvPr>
        </p:nvSpPr>
        <p:spPr/>
        <p:txBody>
          <a:bodyPr/>
          <a:lstStyle/>
          <a:p>
            <a:fld id="{A6BEE01B-0F3B-4375-A5A5-4B01B64B7B80}" type="datetimeFigureOut">
              <a:rPr lang="es-MX" smtClean="0"/>
              <a:t>16/03/2026</a:t>
            </a:fld>
            <a:endParaRPr lang="es-MX"/>
          </a:p>
        </p:txBody>
      </p:sp>
      <p:sp>
        <p:nvSpPr>
          <p:cNvPr id="5" name="Footer Placeholder 4">
            <a:extLst>
              <a:ext uri="{FF2B5EF4-FFF2-40B4-BE49-F238E27FC236}">
                <a16:creationId xmlns:a16="http://schemas.microsoft.com/office/drawing/2014/main" id="{5B3F9B7A-33E4-D0BB-74F6-F4E25C0CD49F}"/>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4A34E3B-F350-2B60-5DD1-73413BBBC63F}"/>
              </a:ext>
            </a:extLst>
          </p:cNvPr>
          <p:cNvSpPr>
            <a:spLocks noGrp="1"/>
          </p:cNvSpPr>
          <p:nvPr>
            <p:ph type="sldNum" sz="quarter" idx="12"/>
          </p:nvPr>
        </p:nvSpPr>
        <p:spPr/>
        <p:txBody>
          <a:bodyPr/>
          <a:lstStyle/>
          <a:p>
            <a:fld id="{264E69DF-289B-4BF2-893D-9DEB292375D6}" type="slidenum">
              <a:rPr lang="es-MX" smtClean="0"/>
              <a:t>‹#›</a:t>
            </a:fld>
            <a:endParaRPr lang="es-MX"/>
          </a:p>
        </p:txBody>
      </p:sp>
    </p:spTree>
    <p:extLst>
      <p:ext uri="{BB962C8B-B14F-4D97-AF65-F5344CB8AC3E}">
        <p14:creationId xmlns:p14="http://schemas.microsoft.com/office/powerpoint/2010/main" val="1985182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660B3-F65F-EC34-46E5-C2EE1D3E67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54353063-7FE2-8321-1E5F-8AA6706C42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04A702-A3AB-B7E9-A963-164C02718A5D}"/>
              </a:ext>
            </a:extLst>
          </p:cNvPr>
          <p:cNvSpPr>
            <a:spLocks noGrp="1"/>
          </p:cNvSpPr>
          <p:nvPr>
            <p:ph type="dt" sz="half" idx="10"/>
          </p:nvPr>
        </p:nvSpPr>
        <p:spPr/>
        <p:txBody>
          <a:bodyPr/>
          <a:lstStyle/>
          <a:p>
            <a:fld id="{A6BEE01B-0F3B-4375-A5A5-4B01B64B7B80}" type="datetimeFigureOut">
              <a:rPr lang="es-MX" smtClean="0"/>
              <a:t>16/03/2026</a:t>
            </a:fld>
            <a:endParaRPr lang="es-MX"/>
          </a:p>
        </p:txBody>
      </p:sp>
      <p:sp>
        <p:nvSpPr>
          <p:cNvPr id="5" name="Footer Placeholder 4">
            <a:extLst>
              <a:ext uri="{FF2B5EF4-FFF2-40B4-BE49-F238E27FC236}">
                <a16:creationId xmlns:a16="http://schemas.microsoft.com/office/drawing/2014/main" id="{BDD8FA88-571F-6541-C8ED-5D0D23A48B00}"/>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D98E38A2-2100-0CDB-96FB-5C3CBB9A81CB}"/>
              </a:ext>
            </a:extLst>
          </p:cNvPr>
          <p:cNvSpPr>
            <a:spLocks noGrp="1"/>
          </p:cNvSpPr>
          <p:nvPr>
            <p:ph type="sldNum" sz="quarter" idx="12"/>
          </p:nvPr>
        </p:nvSpPr>
        <p:spPr/>
        <p:txBody>
          <a:bodyPr/>
          <a:lstStyle/>
          <a:p>
            <a:fld id="{264E69DF-289B-4BF2-893D-9DEB292375D6}" type="slidenum">
              <a:rPr lang="es-MX" smtClean="0"/>
              <a:t>‹#›</a:t>
            </a:fld>
            <a:endParaRPr lang="es-MX"/>
          </a:p>
        </p:txBody>
      </p:sp>
    </p:spTree>
    <p:extLst>
      <p:ext uri="{BB962C8B-B14F-4D97-AF65-F5344CB8AC3E}">
        <p14:creationId xmlns:p14="http://schemas.microsoft.com/office/powerpoint/2010/main" val="3312680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5A30F-F59E-94B3-647F-BCEBE21E9BF2}"/>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7BC49066-F3F1-10CC-A29B-AB906D1119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a:extLst>
              <a:ext uri="{FF2B5EF4-FFF2-40B4-BE49-F238E27FC236}">
                <a16:creationId xmlns:a16="http://schemas.microsoft.com/office/drawing/2014/main" id="{CF12BA2D-F9BF-6313-02D6-83E5A62AAB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a:extLst>
              <a:ext uri="{FF2B5EF4-FFF2-40B4-BE49-F238E27FC236}">
                <a16:creationId xmlns:a16="http://schemas.microsoft.com/office/drawing/2014/main" id="{F408A751-B69A-BC9F-7BA4-58E5F7044507}"/>
              </a:ext>
            </a:extLst>
          </p:cNvPr>
          <p:cNvSpPr>
            <a:spLocks noGrp="1"/>
          </p:cNvSpPr>
          <p:nvPr>
            <p:ph type="dt" sz="half" idx="10"/>
          </p:nvPr>
        </p:nvSpPr>
        <p:spPr/>
        <p:txBody>
          <a:bodyPr/>
          <a:lstStyle/>
          <a:p>
            <a:fld id="{A6BEE01B-0F3B-4375-A5A5-4B01B64B7B80}" type="datetimeFigureOut">
              <a:rPr lang="es-MX" smtClean="0"/>
              <a:t>16/03/2026</a:t>
            </a:fld>
            <a:endParaRPr lang="es-MX"/>
          </a:p>
        </p:txBody>
      </p:sp>
      <p:sp>
        <p:nvSpPr>
          <p:cNvPr id="6" name="Footer Placeholder 5">
            <a:extLst>
              <a:ext uri="{FF2B5EF4-FFF2-40B4-BE49-F238E27FC236}">
                <a16:creationId xmlns:a16="http://schemas.microsoft.com/office/drawing/2014/main" id="{764740EE-3A39-B8BB-9C5A-F11678B832F5}"/>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68F54D59-C501-2282-459A-BC7FD4B6983A}"/>
              </a:ext>
            </a:extLst>
          </p:cNvPr>
          <p:cNvSpPr>
            <a:spLocks noGrp="1"/>
          </p:cNvSpPr>
          <p:nvPr>
            <p:ph type="sldNum" sz="quarter" idx="12"/>
          </p:nvPr>
        </p:nvSpPr>
        <p:spPr/>
        <p:txBody>
          <a:bodyPr/>
          <a:lstStyle/>
          <a:p>
            <a:fld id="{264E69DF-289B-4BF2-893D-9DEB292375D6}" type="slidenum">
              <a:rPr lang="es-MX" smtClean="0"/>
              <a:t>‹#›</a:t>
            </a:fld>
            <a:endParaRPr lang="es-MX"/>
          </a:p>
        </p:txBody>
      </p:sp>
    </p:spTree>
    <p:extLst>
      <p:ext uri="{BB962C8B-B14F-4D97-AF65-F5344CB8AC3E}">
        <p14:creationId xmlns:p14="http://schemas.microsoft.com/office/powerpoint/2010/main" val="1247843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44249-31BE-88CD-3614-3856DAE55AFF}"/>
              </a:ext>
            </a:extLst>
          </p:cNvPr>
          <p:cNvSpPr>
            <a:spLocks noGrp="1"/>
          </p:cNvSpPr>
          <p:nvPr>
            <p:ph type="title"/>
          </p:nvPr>
        </p:nvSpPr>
        <p:spPr>
          <a:xfrm>
            <a:off x="839788" y="365125"/>
            <a:ext cx="10515600" cy="1325563"/>
          </a:xfrm>
        </p:spPr>
        <p:txBody>
          <a:bodyPr/>
          <a:lstStyle/>
          <a:p>
            <a:r>
              <a:rPr lang="en-US"/>
              <a:t>Click to edit Master title style</a:t>
            </a:r>
            <a:endParaRPr lang="es-MX"/>
          </a:p>
        </p:txBody>
      </p:sp>
      <p:sp>
        <p:nvSpPr>
          <p:cNvPr id="3" name="Text Placeholder 2">
            <a:extLst>
              <a:ext uri="{FF2B5EF4-FFF2-40B4-BE49-F238E27FC236}">
                <a16:creationId xmlns:a16="http://schemas.microsoft.com/office/drawing/2014/main" id="{5F9673A9-5EF5-C0F0-1527-D964A13250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AC04CF-A5FD-838B-EAB6-9051B25CF8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a:extLst>
              <a:ext uri="{FF2B5EF4-FFF2-40B4-BE49-F238E27FC236}">
                <a16:creationId xmlns:a16="http://schemas.microsoft.com/office/drawing/2014/main" id="{C8F33A88-D4BB-6FE2-A942-6BC693DA4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5BC7B9-91CA-FC4C-7FEB-364DEE8A4B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a:extLst>
              <a:ext uri="{FF2B5EF4-FFF2-40B4-BE49-F238E27FC236}">
                <a16:creationId xmlns:a16="http://schemas.microsoft.com/office/drawing/2014/main" id="{93B8A9AA-6E03-2B14-7F38-1CABAA34A0FC}"/>
              </a:ext>
            </a:extLst>
          </p:cNvPr>
          <p:cNvSpPr>
            <a:spLocks noGrp="1"/>
          </p:cNvSpPr>
          <p:nvPr>
            <p:ph type="dt" sz="half" idx="10"/>
          </p:nvPr>
        </p:nvSpPr>
        <p:spPr/>
        <p:txBody>
          <a:bodyPr/>
          <a:lstStyle/>
          <a:p>
            <a:fld id="{A6BEE01B-0F3B-4375-A5A5-4B01B64B7B80}" type="datetimeFigureOut">
              <a:rPr lang="es-MX" smtClean="0"/>
              <a:t>16/03/2026</a:t>
            </a:fld>
            <a:endParaRPr lang="es-MX"/>
          </a:p>
        </p:txBody>
      </p:sp>
      <p:sp>
        <p:nvSpPr>
          <p:cNvPr id="8" name="Footer Placeholder 7">
            <a:extLst>
              <a:ext uri="{FF2B5EF4-FFF2-40B4-BE49-F238E27FC236}">
                <a16:creationId xmlns:a16="http://schemas.microsoft.com/office/drawing/2014/main" id="{82F35C9F-488F-23F2-C0C8-1C4F06B296C2}"/>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E5ADBB67-7E6A-C1F6-EFDE-D804FD799681}"/>
              </a:ext>
            </a:extLst>
          </p:cNvPr>
          <p:cNvSpPr>
            <a:spLocks noGrp="1"/>
          </p:cNvSpPr>
          <p:nvPr>
            <p:ph type="sldNum" sz="quarter" idx="12"/>
          </p:nvPr>
        </p:nvSpPr>
        <p:spPr/>
        <p:txBody>
          <a:bodyPr/>
          <a:lstStyle/>
          <a:p>
            <a:fld id="{264E69DF-289B-4BF2-893D-9DEB292375D6}" type="slidenum">
              <a:rPr lang="es-MX" smtClean="0"/>
              <a:t>‹#›</a:t>
            </a:fld>
            <a:endParaRPr lang="es-MX"/>
          </a:p>
        </p:txBody>
      </p:sp>
    </p:spTree>
    <p:extLst>
      <p:ext uri="{BB962C8B-B14F-4D97-AF65-F5344CB8AC3E}">
        <p14:creationId xmlns:p14="http://schemas.microsoft.com/office/powerpoint/2010/main" val="1888853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5DB9A-DA12-04ED-F52D-9A5D27C8B739}"/>
              </a:ext>
            </a:extLst>
          </p:cNvPr>
          <p:cNvSpPr>
            <a:spLocks noGrp="1"/>
          </p:cNvSpPr>
          <p:nvPr>
            <p:ph type="title"/>
          </p:nvPr>
        </p:nvSpPr>
        <p:spPr/>
        <p:txBody>
          <a:bodyPr/>
          <a:lstStyle/>
          <a:p>
            <a:r>
              <a:rPr lang="en-US"/>
              <a:t>Click to edit Master title style</a:t>
            </a:r>
            <a:endParaRPr lang="es-MX"/>
          </a:p>
        </p:txBody>
      </p:sp>
      <p:sp>
        <p:nvSpPr>
          <p:cNvPr id="3" name="Date Placeholder 2">
            <a:extLst>
              <a:ext uri="{FF2B5EF4-FFF2-40B4-BE49-F238E27FC236}">
                <a16:creationId xmlns:a16="http://schemas.microsoft.com/office/drawing/2014/main" id="{893BAB92-9E23-B2ED-680A-20FA2A97D6CF}"/>
              </a:ext>
            </a:extLst>
          </p:cNvPr>
          <p:cNvSpPr>
            <a:spLocks noGrp="1"/>
          </p:cNvSpPr>
          <p:nvPr>
            <p:ph type="dt" sz="half" idx="10"/>
          </p:nvPr>
        </p:nvSpPr>
        <p:spPr/>
        <p:txBody>
          <a:bodyPr/>
          <a:lstStyle/>
          <a:p>
            <a:fld id="{A6BEE01B-0F3B-4375-A5A5-4B01B64B7B80}" type="datetimeFigureOut">
              <a:rPr lang="es-MX" smtClean="0"/>
              <a:t>16/03/2026</a:t>
            </a:fld>
            <a:endParaRPr lang="es-MX"/>
          </a:p>
        </p:txBody>
      </p:sp>
      <p:sp>
        <p:nvSpPr>
          <p:cNvPr id="4" name="Footer Placeholder 3">
            <a:extLst>
              <a:ext uri="{FF2B5EF4-FFF2-40B4-BE49-F238E27FC236}">
                <a16:creationId xmlns:a16="http://schemas.microsoft.com/office/drawing/2014/main" id="{85551DB7-95B2-A0B0-D0C3-DE1C01BC134D}"/>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6B99C644-625D-A564-CA36-24CE10BBC0FC}"/>
              </a:ext>
            </a:extLst>
          </p:cNvPr>
          <p:cNvSpPr>
            <a:spLocks noGrp="1"/>
          </p:cNvSpPr>
          <p:nvPr>
            <p:ph type="sldNum" sz="quarter" idx="12"/>
          </p:nvPr>
        </p:nvSpPr>
        <p:spPr/>
        <p:txBody>
          <a:bodyPr/>
          <a:lstStyle/>
          <a:p>
            <a:fld id="{264E69DF-289B-4BF2-893D-9DEB292375D6}" type="slidenum">
              <a:rPr lang="es-MX" smtClean="0"/>
              <a:t>‹#›</a:t>
            </a:fld>
            <a:endParaRPr lang="es-MX"/>
          </a:p>
        </p:txBody>
      </p:sp>
    </p:spTree>
    <p:extLst>
      <p:ext uri="{BB962C8B-B14F-4D97-AF65-F5344CB8AC3E}">
        <p14:creationId xmlns:p14="http://schemas.microsoft.com/office/powerpoint/2010/main" val="3702248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D9A17B-5AC3-8A3F-326B-AA3BA7AB7D90}"/>
              </a:ext>
            </a:extLst>
          </p:cNvPr>
          <p:cNvSpPr>
            <a:spLocks noGrp="1"/>
          </p:cNvSpPr>
          <p:nvPr>
            <p:ph type="dt" sz="half" idx="10"/>
          </p:nvPr>
        </p:nvSpPr>
        <p:spPr/>
        <p:txBody>
          <a:bodyPr/>
          <a:lstStyle/>
          <a:p>
            <a:fld id="{A6BEE01B-0F3B-4375-A5A5-4B01B64B7B80}" type="datetimeFigureOut">
              <a:rPr lang="es-MX" smtClean="0"/>
              <a:t>16/03/2026</a:t>
            </a:fld>
            <a:endParaRPr lang="es-MX"/>
          </a:p>
        </p:txBody>
      </p:sp>
      <p:sp>
        <p:nvSpPr>
          <p:cNvPr id="3" name="Footer Placeholder 2">
            <a:extLst>
              <a:ext uri="{FF2B5EF4-FFF2-40B4-BE49-F238E27FC236}">
                <a16:creationId xmlns:a16="http://schemas.microsoft.com/office/drawing/2014/main" id="{96CC7C20-B655-5C21-6BF7-7853422A7A30}"/>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76D2E8CC-93F5-AE7F-9BFA-8035C3B3D094}"/>
              </a:ext>
            </a:extLst>
          </p:cNvPr>
          <p:cNvSpPr>
            <a:spLocks noGrp="1"/>
          </p:cNvSpPr>
          <p:nvPr>
            <p:ph type="sldNum" sz="quarter" idx="12"/>
          </p:nvPr>
        </p:nvSpPr>
        <p:spPr/>
        <p:txBody>
          <a:bodyPr/>
          <a:lstStyle/>
          <a:p>
            <a:fld id="{264E69DF-289B-4BF2-893D-9DEB292375D6}" type="slidenum">
              <a:rPr lang="es-MX" smtClean="0"/>
              <a:t>‹#›</a:t>
            </a:fld>
            <a:endParaRPr lang="es-MX"/>
          </a:p>
        </p:txBody>
      </p:sp>
    </p:spTree>
    <p:extLst>
      <p:ext uri="{BB962C8B-B14F-4D97-AF65-F5344CB8AC3E}">
        <p14:creationId xmlns:p14="http://schemas.microsoft.com/office/powerpoint/2010/main" val="1378670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016C8-28E6-52D6-0918-34C0C165E3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Content Placeholder 2">
            <a:extLst>
              <a:ext uri="{FF2B5EF4-FFF2-40B4-BE49-F238E27FC236}">
                <a16:creationId xmlns:a16="http://schemas.microsoft.com/office/drawing/2014/main" id="{4C6F28B8-8EBC-7581-4581-6CB2F3A0CA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a:extLst>
              <a:ext uri="{FF2B5EF4-FFF2-40B4-BE49-F238E27FC236}">
                <a16:creationId xmlns:a16="http://schemas.microsoft.com/office/drawing/2014/main" id="{9CBE2A03-CF52-6EBC-700D-6A3DFE23D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F3098D-31F3-7FEC-5535-DFB885BCA4EE}"/>
              </a:ext>
            </a:extLst>
          </p:cNvPr>
          <p:cNvSpPr>
            <a:spLocks noGrp="1"/>
          </p:cNvSpPr>
          <p:nvPr>
            <p:ph type="dt" sz="half" idx="10"/>
          </p:nvPr>
        </p:nvSpPr>
        <p:spPr/>
        <p:txBody>
          <a:bodyPr/>
          <a:lstStyle/>
          <a:p>
            <a:fld id="{A6BEE01B-0F3B-4375-A5A5-4B01B64B7B80}" type="datetimeFigureOut">
              <a:rPr lang="es-MX" smtClean="0"/>
              <a:t>16/03/2026</a:t>
            </a:fld>
            <a:endParaRPr lang="es-MX"/>
          </a:p>
        </p:txBody>
      </p:sp>
      <p:sp>
        <p:nvSpPr>
          <p:cNvPr id="6" name="Footer Placeholder 5">
            <a:extLst>
              <a:ext uri="{FF2B5EF4-FFF2-40B4-BE49-F238E27FC236}">
                <a16:creationId xmlns:a16="http://schemas.microsoft.com/office/drawing/2014/main" id="{8AB2CABE-C43D-F50D-FC71-9CDAA2FB8E4B}"/>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A2AD266B-B1E8-EEAB-2B5E-77C127D4A108}"/>
              </a:ext>
            </a:extLst>
          </p:cNvPr>
          <p:cNvSpPr>
            <a:spLocks noGrp="1"/>
          </p:cNvSpPr>
          <p:nvPr>
            <p:ph type="sldNum" sz="quarter" idx="12"/>
          </p:nvPr>
        </p:nvSpPr>
        <p:spPr/>
        <p:txBody>
          <a:bodyPr/>
          <a:lstStyle/>
          <a:p>
            <a:fld id="{264E69DF-289B-4BF2-893D-9DEB292375D6}" type="slidenum">
              <a:rPr lang="es-MX" smtClean="0"/>
              <a:t>‹#›</a:t>
            </a:fld>
            <a:endParaRPr lang="es-MX"/>
          </a:p>
        </p:txBody>
      </p:sp>
    </p:spTree>
    <p:extLst>
      <p:ext uri="{BB962C8B-B14F-4D97-AF65-F5344CB8AC3E}">
        <p14:creationId xmlns:p14="http://schemas.microsoft.com/office/powerpoint/2010/main" val="2075728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0E4B7-EC6F-50C6-6D6C-D79F5F3BE2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Picture Placeholder 2">
            <a:extLst>
              <a:ext uri="{FF2B5EF4-FFF2-40B4-BE49-F238E27FC236}">
                <a16:creationId xmlns:a16="http://schemas.microsoft.com/office/drawing/2014/main" id="{A8910D77-22BB-5888-6A4B-C385C3EDAA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Text Placeholder 3">
            <a:extLst>
              <a:ext uri="{FF2B5EF4-FFF2-40B4-BE49-F238E27FC236}">
                <a16:creationId xmlns:a16="http://schemas.microsoft.com/office/drawing/2014/main" id="{615F290E-DD18-31D4-A3BA-15ADA42662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37585A-30B1-8D41-ADFC-02B679808C3E}"/>
              </a:ext>
            </a:extLst>
          </p:cNvPr>
          <p:cNvSpPr>
            <a:spLocks noGrp="1"/>
          </p:cNvSpPr>
          <p:nvPr>
            <p:ph type="dt" sz="half" idx="10"/>
          </p:nvPr>
        </p:nvSpPr>
        <p:spPr/>
        <p:txBody>
          <a:bodyPr/>
          <a:lstStyle/>
          <a:p>
            <a:fld id="{A6BEE01B-0F3B-4375-A5A5-4B01B64B7B80}" type="datetimeFigureOut">
              <a:rPr lang="es-MX" smtClean="0"/>
              <a:t>16/03/2026</a:t>
            </a:fld>
            <a:endParaRPr lang="es-MX"/>
          </a:p>
        </p:txBody>
      </p:sp>
      <p:sp>
        <p:nvSpPr>
          <p:cNvPr id="6" name="Footer Placeholder 5">
            <a:extLst>
              <a:ext uri="{FF2B5EF4-FFF2-40B4-BE49-F238E27FC236}">
                <a16:creationId xmlns:a16="http://schemas.microsoft.com/office/drawing/2014/main" id="{4758DEB5-503F-055E-D278-589306806AF8}"/>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77ED2A53-51F4-F04E-45A4-C29254388001}"/>
              </a:ext>
            </a:extLst>
          </p:cNvPr>
          <p:cNvSpPr>
            <a:spLocks noGrp="1"/>
          </p:cNvSpPr>
          <p:nvPr>
            <p:ph type="sldNum" sz="quarter" idx="12"/>
          </p:nvPr>
        </p:nvSpPr>
        <p:spPr/>
        <p:txBody>
          <a:bodyPr/>
          <a:lstStyle/>
          <a:p>
            <a:fld id="{264E69DF-289B-4BF2-893D-9DEB292375D6}" type="slidenum">
              <a:rPr lang="es-MX" smtClean="0"/>
              <a:t>‹#›</a:t>
            </a:fld>
            <a:endParaRPr lang="es-MX"/>
          </a:p>
        </p:txBody>
      </p:sp>
    </p:spTree>
    <p:extLst>
      <p:ext uri="{BB962C8B-B14F-4D97-AF65-F5344CB8AC3E}">
        <p14:creationId xmlns:p14="http://schemas.microsoft.com/office/powerpoint/2010/main" val="3574930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C54C9-5D5C-7DBB-01D8-9F6965B73ADE}"/>
              </a:ext>
            </a:extLst>
          </p:cNvPr>
          <p:cNvSpPr>
            <a:spLocks noGrp="1"/>
          </p:cNvSpPr>
          <p:nvPr>
            <p:ph type="title"/>
          </p:nvPr>
        </p:nvSpPr>
        <p:spPr/>
        <p:txBody>
          <a:bodyPr/>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555A2347-A77B-D313-F18F-3370F58A76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2A1EF2FB-FE3B-EF21-BDA6-6869528357BA}"/>
              </a:ext>
            </a:extLst>
          </p:cNvPr>
          <p:cNvSpPr>
            <a:spLocks noGrp="1"/>
          </p:cNvSpPr>
          <p:nvPr>
            <p:ph type="dt" sz="half" idx="10"/>
          </p:nvPr>
        </p:nvSpPr>
        <p:spPr/>
        <p:txBody>
          <a:bodyPr/>
          <a:lstStyle/>
          <a:p>
            <a:fld id="{A6BEE01B-0F3B-4375-A5A5-4B01B64B7B80}" type="datetimeFigureOut">
              <a:rPr lang="es-MX" smtClean="0"/>
              <a:t>16/03/2026</a:t>
            </a:fld>
            <a:endParaRPr lang="es-MX"/>
          </a:p>
        </p:txBody>
      </p:sp>
      <p:sp>
        <p:nvSpPr>
          <p:cNvPr id="5" name="Footer Placeholder 4">
            <a:extLst>
              <a:ext uri="{FF2B5EF4-FFF2-40B4-BE49-F238E27FC236}">
                <a16:creationId xmlns:a16="http://schemas.microsoft.com/office/drawing/2014/main" id="{3A7E74ED-7A7D-DAC9-51E7-FD03C59D7132}"/>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2364BBAE-9ECE-C5D9-547F-8DDB61B5D672}"/>
              </a:ext>
            </a:extLst>
          </p:cNvPr>
          <p:cNvSpPr>
            <a:spLocks noGrp="1"/>
          </p:cNvSpPr>
          <p:nvPr>
            <p:ph type="sldNum" sz="quarter" idx="12"/>
          </p:nvPr>
        </p:nvSpPr>
        <p:spPr/>
        <p:txBody>
          <a:bodyPr/>
          <a:lstStyle/>
          <a:p>
            <a:fld id="{264E69DF-289B-4BF2-893D-9DEB292375D6}" type="slidenum">
              <a:rPr lang="es-MX" smtClean="0"/>
              <a:t>‹#›</a:t>
            </a:fld>
            <a:endParaRPr lang="es-MX"/>
          </a:p>
        </p:txBody>
      </p:sp>
    </p:spTree>
    <p:extLst>
      <p:ext uri="{BB962C8B-B14F-4D97-AF65-F5344CB8AC3E}">
        <p14:creationId xmlns:p14="http://schemas.microsoft.com/office/powerpoint/2010/main" val="3305663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07EA2E-D69A-BA6F-AA9E-56BD669714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982A4FD3-7C61-6A6D-C981-DA0E03C7DD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4894CBAD-55D3-12D2-5C37-B83CC309A47D}"/>
              </a:ext>
            </a:extLst>
          </p:cNvPr>
          <p:cNvSpPr>
            <a:spLocks noGrp="1"/>
          </p:cNvSpPr>
          <p:nvPr>
            <p:ph type="dt" sz="half" idx="10"/>
          </p:nvPr>
        </p:nvSpPr>
        <p:spPr/>
        <p:txBody>
          <a:bodyPr/>
          <a:lstStyle/>
          <a:p>
            <a:fld id="{A6BEE01B-0F3B-4375-A5A5-4B01B64B7B80}" type="datetimeFigureOut">
              <a:rPr lang="es-MX" smtClean="0"/>
              <a:t>16/03/2026</a:t>
            </a:fld>
            <a:endParaRPr lang="es-MX"/>
          </a:p>
        </p:txBody>
      </p:sp>
      <p:sp>
        <p:nvSpPr>
          <p:cNvPr id="5" name="Footer Placeholder 4">
            <a:extLst>
              <a:ext uri="{FF2B5EF4-FFF2-40B4-BE49-F238E27FC236}">
                <a16:creationId xmlns:a16="http://schemas.microsoft.com/office/drawing/2014/main" id="{CF7A386E-37AC-9277-B646-C36FC9A74745}"/>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3D709B67-46D4-B96B-95AE-71C10233DDE3}"/>
              </a:ext>
            </a:extLst>
          </p:cNvPr>
          <p:cNvSpPr>
            <a:spLocks noGrp="1"/>
          </p:cNvSpPr>
          <p:nvPr>
            <p:ph type="sldNum" sz="quarter" idx="12"/>
          </p:nvPr>
        </p:nvSpPr>
        <p:spPr/>
        <p:txBody>
          <a:bodyPr/>
          <a:lstStyle/>
          <a:p>
            <a:fld id="{264E69DF-289B-4BF2-893D-9DEB292375D6}" type="slidenum">
              <a:rPr lang="es-MX" smtClean="0"/>
              <a:t>‹#›</a:t>
            </a:fld>
            <a:endParaRPr lang="es-MX"/>
          </a:p>
        </p:txBody>
      </p:sp>
    </p:spTree>
    <p:extLst>
      <p:ext uri="{BB962C8B-B14F-4D97-AF65-F5344CB8AC3E}">
        <p14:creationId xmlns:p14="http://schemas.microsoft.com/office/powerpoint/2010/main" val="1542059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A0E41A-F20A-97B6-90D4-06A79B321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a:extLst>
              <a:ext uri="{FF2B5EF4-FFF2-40B4-BE49-F238E27FC236}">
                <a16:creationId xmlns:a16="http://schemas.microsoft.com/office/drawing/2014/main" id="{750074A9-3F96-1E3F-3E08-3D0B8E6CE2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F6735894-EEE0-429B-6C03-F38FCB8ED2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BEE01B-0F3B-4375-A5A5-4B01B64B7B80}" type="datetimeFigureOut">
              <a:rPr lang="es-MX" smtClean="0"/>
              <a:t>16/03/2026</a:t>
            </a:fld>
            <a:endParaRPr lang="es-MX"/>
          </a:p>
        </p:txBody>
      </p:sp>
      <p:sp>
        <p:nvSpPr>
          <p:cNvPr id="5" name="Footer Placeholder 4">
            <a:extLst>
              <a:ext uri="{FF2B5EF4-FFF2-40B4-BE49-F238E27FC236}">
                <a16:creationId xmlns:a16="http://schemas.microsoft.com/office/drawing/2014/main" id="{7401AA7D-5105-245F-38D4-449202FA6E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Slide Number Placeholder 5">
            <a:extLst>
              <a:ext uri="{FF2B5EF4-FFF2-40B4-BE49-F238E27FC236}">
                <a16:creationId xmlns:a16="http://schemas.microsoft.com/office/drawing/2014/main" id="{B876F0CF-60EA-2B75-063D-4CB91046D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4E69DF-289B-4BF2-893D-9DEB292375D6}" type="slidenum">
              <a:rPr lang="es-MX" smtClean="0"/>
              <a:t>‹#›</a:t>
            </a:fld>
            <a:endParaRPr lang="es-MX"/>
          </a:p>
        </p:txBody>
      </p:sp>
    </p:spTree>
    <p:extLst>
      <p:ext uri="{BB962C8B-B14F-4D97-AF65-F5344CB8AC3E}">
        <p14:creationId xmlns:p14="http://schemas.microsoft.com/office/powerpoint/2010/main" val="3676063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4C9A-BFDE-4F8C-D72A-7AE0845336BF}"/>
              </a:ext>
            </a:extLst>
          </p:cNvPr>
          <p:cNvSpPr>
            <a:spLocks noGrp="1"/>
          </p:cNvSpPr>
          <p:nvPr>
            <p:ph type="ctrTitle"/>
          </p:nvPr>
        </p:nvSpPr>
        <p:spPr/>
        <p:txBody>
          <a:bodyPr>
            <a:noAutofit/>
          </a:bodyPr>
          <a:lstStyle/>
          <a:p>
            <a:pPr algn="l"/>
            <a:r>
              <a:rPr lang="en-US" sz="4400" dirty="0" err="1"/>
              <a:t>EventGround</a:t>
            </a:r>
            <a:r>
              <a:rPr lang="en-US" sz="4400" dirty="0"/>
              <a:t>: Narrative Reasoning by Grounding to</a:t>
            </a:r>
            <a:br>
              <a:rPr lang="en-US" sz="4400" dirty="0"/>
            </a:br>
            <a:r>
              <a:rPr lang="en-US" sz="4400" dirty="0"/>
              <a:t>Eventuality-Centric Knowledge Graphs</a:t>
            </a:r>
            <a:endParaRPr lang="es-MX" sz="4400" i="1" dirty="0"/>
          </a:p>
        </p:txBody>
      </p:sp>
      <p:sp>
        <p:nvSpPr>
          <p:cNvPr id="3" name="Subtitle 2">
            <a:extLst>
              <a:ext uri="{FF2B5EF4-FFF2-40B4-BE49-F238E27FC236}">
                <a16:creationId xmlns:a16="http://schemas.microsoft.com/office/drawing/2014/main" id="{2F29E391-AEFE-9D0B-7133-5DD4D27D4D32}"/>
              </a:ext>
            </a:extLst>
          </p:cNvPr>
          <p:cNvSpPr>
            <a:spLocks noGrp="1"/>
          </p:cNvSpPr>
          <p:nvPr>
            <p:ph type="subTitle" idx="1"/>
          </p:nvPr>
        </p:nvSpPr>
        <p:spPr>
          <a:xfrm>
            <a:off x="1524000" y="3757680"/>
            <a:ext cx="9144000" cy="1655762"/>
          </a:xfrm>
        </p:spPr>
        <p:txBody>
          <a:bodyPr>
            <a:normAutofit lnSpcReduction="10000"/>
          </a:bodyPr>
          <a:lstStyle/>
          <a:p>
            <a:pPr algn="l"/>
            <a:r>
              <a:rPr lang="ja-JP" altLang="es-MX" dirty="0"/>
              <a:t>情報経営システム工学３年</a:t>
            </a:r>
            <a:endParaRPr lang="es-MX" altLang="ja-JP" dirty="0"/>
          </a:p>
          <a:p>
            <a:pPr algn="l"/>
            <a:r>
              <a:rPr lang="ja-JP" altLang="es-MX" dirty="0"/>
              <a:t>ロペスチャパホセ</a:t>
            </a:r>
            <a:endParaRPr lang="es-MX" altLang="ja-JP" dirty="0"/>
          </a:p>
          <a:p>
            <a:pPr algn="l"/>
            <a:endParaRPr lang="es-MX" dirty="0"/>
          </a:p>
          <a:p>
            <a:pPr algn="r"/>
            <a:r>
              <a:rPr lang="ja-JP" altLang="es-MX" sz="1600" dirty="0"/>
              <a:t>２０２６年０３月１６日</a:t>
            </a:r>
            <a:endParaRPr lang="es-MX" sz="1600" dirty="0"/>
          </a:p>
        </p:txBody>
      </p:sp>
    </p:spTree>
    <p:extLst>
      <p:ext uri="{BB962C8B-B14F-4D97-AF65-F5344CB8AC3E}">
        <p14:creationId xmlns:p14="http://schemas.microsoft.com/office/powerpoint/2010/main" val="2758397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5C7EC9-A3CD-DB33-E911-80650F082CAE}"/>
              </a:ext>
            </a:extLst>
          </p:cNvPr>
          <p:cNvSpPr>
            <a:spLocks noGrp="1"/>
          </p:cNvSpPr>
          <p:nvPr>
            <p:ph idx="1"/>
          </p:nvPr>
        </p:nvSpPr>
        <p:spPr>
          <a:xfrm>
            <a:off x="497840" y="1387930"/>
            <a:ext cx="11206480" cy="5216070"/>
          </a:xfrm>
        </p:spPr>
        <p:txBody>
          <a:bodyPr>
            <a:normAutofit/>
          </a:bodyPr>
          <a:lstStyle/>
          <a:p>
            <a:pPr marL="0" indent="0">
              <a:buNone/>
            </a:pPr>
            <a:r>
              <a:rPr lang="ja-JP" altLang="es-MX" sz="2400" dirty="0"/>
              <a:t>ナラティブ推論とは、物語の中の出来事を理解し、次のことができる能力：</a:t>
            </a:r>
          </a:p>
          <a:p>
            <a:pPr lvl="1"/>
            <a:r>
              <a:rPr lang="ja-JP" altLang="es-MX" sz="2000" dirty="0"/>
              <a:t>次に何が起こるかを推論する</a:t>
            </a:r>
            <a:endParaRPr lang="en-US" altLang="ja-JP" sz="2000" dirty="0"/>
          </a:p>
          <a:p>
            <a:pPr lvl="1"/>
            <a:r>
              <a:rPr lang="ja-JP" altLang="es-MX" sz="2100" dirty="0"/>
              <a:t>出来事の原因を推測する</a:t>
            </a:r>
          </a:p>
          <a:p>
            <a:pPr lvl="1"/>
            <a:r>
              <a:rPr lang="ja-JP" altLang="es-MX" sz="2100" dirty="0"/>
              <a:t>登場人物の行動の意味を理解する</a:t>
            </a:r>
            <a:endParaRPr lang="es-MX" altLang="ja-JP" sz="2100" dirty="0"/>
          </a:p>
          <a:p>
            <a:pPr lvl="1"/>
            <a:endParaRPr lang="es-MX" altLang="zh-CN" sz="2400" dirty="0"/>
          </a:p>
          <a:p>
            <a:pPr marL="0" indent="0">
              <a:buNone/>
            </a:pPr>
            <a:r>
              <a:rPr lang="zh-CN" altLang="es-MX" sz="2400" dirty="0"/>
              <a:t>例</a:t>
            </a:r>
            <a:r>
              <a:rPr lang="ja-JP" altLang="es-MX" sz="2400" dirty="0"/>
              <a:t>：</a:t>
            </a:r>
            <a:r>
              <a:rPr lang="es-MX" sz="2400" dirty="0"/>
              <a:t>Tom </a:t>
            </a:r>
            <a:r>
              <a:rPr lang="es-MX" sz="2400" dirty="0" err="1"/>
              <a:t>bought</a:t>
            </a:r>
            <a:r>
              <a:rPr lang="es-MX" sz="2400" dirty="0"/>
              <a:t> a </a:t>
            </a:r>
            <a:r>
              <a:rPr lang="es-MX" sz="2400" dirty="0" err="1"/>
              <a:t>movie</a:t>
            </a:r>
            <a:r>
              <a:rPr lang="es-MX" sz="2400" dirty="0"/>
              <a:t> ticket. </a:t>
            </a:r>
          </a:p>
          <a:p>
            <a:pPr marL="0" indent="0">
              <a:buNone/>
            </a:pPr>
            <a:endParaRPr lang="es-MX" altLang="ja-JP" sz="2400" dirty="0"/>
          </a:p>
          <a:p>
            <a:pPr marL="0" indent="0">
              <a:buNone/>
            </a:pPr>
            <a:endParaRPr lang="es-MX" altLang="ja-JP" sz="2400" b="1" dirty="0"/>
          </a:p>
          <a:p>
            <a:pPr marL="0" indent="0">
              <a:buNone/>
            </a:pPr>
            <a:r>
              <a:rPr lang="es-MX" altLang="ja-JP" sz="2400" b="1" dirty="0"/>
              <a:t>Key </a:t>
            </a:r>
            <a:r>
              <a:rPr lang="es-MX" altLang="ja-JP" sz="2400" b="1" dirty="0" err="1"/>
              <a:t>Insight</a:t>
            </a:r>
            <a:endParaRPr lang="es-MX" altLang="ja-JP" sz="2400" b="1" dirty="0"/>
          </a:p>
          <a:p>
            <a:pPr marL="0" indent="0">
              <a:buNone/>
            </a:pPr>
            <a:r>
              <a:rPr lang="ja-JP" altLang="es-MX" sz="2400" dirty="0"/>
              <a:t>人間は </a:t>
            </a:r>
            <a:r>
              <a:rPr lang="ja-JP" altLang="es-MX" sz="2400" b="1" dirty="0"/>
              <a:t>常識的なイベント知識</a:t>
            </a:r>
            <a:r>
              <a:rPr lang="ja-JP" altLang="es-MX" sz="2400" dirty="0"/>
              <a:t> </a:t>
            </a:r>
            <a:r>
              <a:rPr lang="es-MX" altLang="ja-JP" sz="2400" dirty="0"/>
              <a:t>(</a:t>
            </a:r>
            <a:r>
              <a:rPr lang="es-MX" altLang="ja-JP" sz="2400" dirty="0" err="1"/>
              <a:t>Commonsense</a:t>
            </a:r>
            <a:r>
              <a:rPr lang="es-MX" altLang="ja-JP" sz="2400" dirty="0"/>
              <a:t> </a:t>
            </a:r>
            <a:r>
              <a:rPr lang="es-MX" altLang="ja-JP" sz="2400" dirty="0" err="1"/>
              <a:t>Event</a:t>
            </a:r>
            <a:r>
              <a:rPr lang="es-MX" altLang="ja-JP" sz="2400" dirty="0"/>
              <a:t> </a:t>
            </a:r>
            <a:r>
              <a:rPr lang="es-MX" altLang="ja-JP" sz="2400" dirty="0" err="1"/>
              <a:t>Knowledge</a:t>
            </a:r>
            <a:r>
              <a:rPr lang="es-MX" altLang="ja-JP" sz="2400" dirty="0"/>
              <a:t>) </a:t>
            </a:r>
            <a:r>
              <a:rPr lang="ja-JP" altLang="es-MX" sz="2400" dirty="0"/>
              <a:t>を使って自然に推論できる。 言語モデルはこのような推論を苦手とすることがある。</a:t>
            </a:r>
          </a:p>
          <a:p>
            <a:pPr marL="0" indent="0">
              <a:buNone/>
            </a:pPr>
            <a:endParaRPr lang="ja-JP" altLang="es-MX" dirty="0"/>
          </a:p>
        </p:txBody>
      </p:sp>
      <p:sp>
        <p:nvSpPr>
          <p:cNvPr id="6" name="Rectangle 5">
            <a:extLst>
              <a:ext uri="{FF2B5EF4-FFF2-40B4-BE49-F238E27FC236}">
                <a16:creationId xmlns:a16="http://schemas.microsoft.com/office/drawing/2014/main" id="{38340781-AA74-456F-5153-72A2164856C0}"/>
              </a:ext>
            </a:extLst>
          </p:cNvPr>
          <p:cNvSpPr/>
          <p:nvPr/>
        </p:nvSpPr>
        <p:spPr>
          <a:xfrm>
            <a:off x="482600" y="3158499"/>
            <a:ext cx="10632440" cy="1387931"/>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MX">
              <a:ln w="0"/>
              <a:solidFill>
                <a:schemeClr val="accent1"/>
              </a:solidFill>
              <a:effectLst>
                <a:outerShdw blurRad="38100" dist="25400" dir="5400000" algn="ctr" rotWithShape="0">
                  <a:srgbClr val="6E747A">
                    <a:alpha val="43000"/>
                  </a:srgbClr>
                </a:outerShdw>
              </a:effectLst>
            </a:endParaRPr>
          </a:p>
        </p:txBody>
      </p:sp>
      <p:sp>
        <p:nvSpPr>
          <p:cNvPr id="5" name="TextBox 4">
            <a:extLst>
              <a:ext uri="{FF2B5EF4-FFF2-40B4-BE49-F238E27FC236}">
                <a16:creationId xmlns:a16="http://schemas.microsoft.com/office/drawing/2014/main" id="{64D73680-3017-B2FC-4A80-0535A99A4617}"/>
              </a:ext>
            </a:extLst>
          </p:cNvPr>
          <p:cNvSpPr txBox="1"/>
          <p:nvPr/>
        </p:nvSpPr>
        <p:spPr>
          <a:xfrm>
            <a:off x="5420360" y="3246288"/>
            <a:ext cx="5694680" cy="1061829"/>
          </a:xfrm>
          <a:prstGeom prst="rect">
            <a:avLst/>
          </a:prstGeom>
          <a:noFill/>
        </p:spPr>
        <p:txBody>
          <a:bodyPr wrap="square">
            <a:spAutoFit/>
          </a:bodyPr>
          <a:lstStyle/>
          <a:p>
            <a:pPr marL="0" indent="0">
              <a:buNone/>
            </a:pPr>
            <a:r>
              <a:rPr lang="es-MX" sz="2100" b="1" dirty="0" err="1"/>
              <a:t>Question</a:t>
            </a:r>
            <a:r>
              <a:rPr lang="es-MX" sz="2100" b="1" dirty="0"/>
              <a:t>:</a:t>
            </a:r>
            <a:r>
              <a:rPr lang="es-MX" sz="2100" dirty="0"/>
              <a:t> </a:t>
            </a:r>
            <a:r>
              <a:rPr lang="ja-JP" altLang="es-MX" sz="2100" dirty="0"/>
              <a:t>トムは</a:t>
            </a:r>
            <a:r>
              <a:rPr lang="zh-CN" altLang="es-MX" sz="2100" dirty="0"/>
              <a:t>次</a:t>
            </a:r>
            <a:r>
              <a:rPr lang="ja-JP" altLang="es-MX" sz="2100" dirty="0"/>
              <a:t>に</a:t>
            </a:r>
            <a:r>
              <a:rPr lang="zh-CN" altLang="es-MX" sz="2100" dirty="0"/>
              <a:t>何</a:t>
            </a:r>
            <a:r>
              <a:rPr lang="ja-JP" altLang="es-MX" sz="2100" dirty="0"/>
              <a:t>をする</a:t>
            </a:r>
            <a:r>
              <a:rPr lang="zh-CN" altLang="es-MX" sz="2100" dirty="0"/>
              <a:t>可能性</a:t>
            </a:r>
            <a:r>
              <a:rPr lang="ja-JP" altLang="es-MX" sz="2100" dirty="0"/>
              <a:t>が</a:t>
            </a:r>
            <a:r>
              <a:rPr lang="zh-CN" altLang="es-MX" sz="2100" dirty="0"/>
              <a:t>高</a:t>
            </a:r>
            <a:r>
              <a:rPr lang="ja-JP" altLang="es-MX" sz="2100" dirty="0"/>
              <a:t>い？</a:t>
            </a:r>
          </a:p>
          <a:p>
            <a:pPr marL="0" indent="0">
              <a:buNone/>
            </a:pPr>
            <a:r>
              <a:rPr lang="ja-JP" altLang="es-MX" sz="2100" dirty="0"/>
              <a:t>✔ </a:t>
            </a:r>
            <a:r>
              <a:rPr lang="es-MX" sz="2100" dirty="0" err="1"/>
              <a:t>Watch</a:t>
            </a:r>
            <a:r>
              <a:rPr lang="es-MX" sz="2100" dirty="0"/>
              <a:t> </a:t>
            </a:r>
            <a:r>
              <a:rPr lang="es-MX" sz="2100" dirty="0" err="1"/>
              <a:t>the</a:t>
            </a:r>
            <a:r>
              <a:rPr lang="es-MX" sz="2100" dirty="0"/>
              <a:t> </a:t>
            </a:r>
            <a:r>
              <a:rPr lang="es-MX" sz="2100" dirty="0" err="1"/>
              <a:t>movie</a:t>
            </a:r>
            <a:r>
              <a:rPr lang="ja-JP" altLang="es-MX" sz="2100" dirty="0"/>
              <a:t> </a:t>
            </a:r>
            <a:br>
              <a:rPr lang="es-MX" altLang="ja-JP" sz="2100" dirty="0"/>
            </a:br>
            <a:r>
              <a:rPr lang="ja-JP" altLang="es-MX" sz="2100" dirty="0"/>
              <a:t>✖ </a:t>
            </a:r>
            <a:r>
              <a:rPr lang="es-MX" sz="2100" dirty="0" err="1"/>
              <a:t>Plant</a:t>
            </a:r>
            <a:r>
              <a:rPr lang="es-MX" sz="2100" dirty="0"/>
              <a:t> a </a:t>
            </a:r>
            <a:r>
              <a:rPr lang="es-MX" sz="2100" dirty="0" err="1"/>
              <a:t>tree</a:t>
            </a:r>
            <a:endParaRPr lang="es-MX" sz="2100" dirty="0"/>
          </a:p>
        </p:txBody>
      </p:sp>
      <p:sp>
        <p:nvSpPr>
          <p:cNvPr id="7" name="Rectangle 6">
            <a:extLst>
              <a:ext uri="{FF2B5EF4-FFF2-40B4-BE49-F238E27FC236}">
                <a16:creationId xmlns:a16="http://schemas.microsoft.com/office/drawing/2014/main" id="{9B129B71-303E-226B-77BC-1604E0B319E7}"/>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E14CA3FD-0432-6D10-60C5-4D9BC0667720}"/>
              </a:ext>
            </a:extLst>
          </p:cNvPr>
          <p:cNvSpPr>
            <a:spLocks noGrp="1"/>
          </p:cNvSpPr>
          <p:nvPr>
            <p:ph type="title"/>
          </p:nvPr>
        </p:nvSpPr>
        <p:spPr>
          <a:xfrm>
            <a:off x="423334" y="0"/>
            <a:ext cx="10515600" cy="1015662"/>
          </a:xfrm>
        </p:spPr>
        <p:txBody>
          <a:bodyPr>
            <a:normAutofit/>
          </a:bodyPr>
          <a:lstStyle/>
          <a:p>
            <a:r>
              <a:rPr lang="es-MX" sz="4000" b="1" dirty="0">
                <a:solidFill>
                  <a:schemeClr val="bg1"/>
                </a:solidFill>
              </a:rPr>
              <a:t>Narrative </a:t>
            </a:r>
            <a:r>
              <a:rPr lang="es-MX" sz="4000" b="1" dirty="0" err="1">
                <a:solidFill>
                  <a:schemeClr val="bg1"/>
                </a:solidFill>
              </a:rPr>
              <a:t>Reasoning</a:t>
            </a:r>
            <a:endParaRPr lang="es-MX" sz="4000" b="1" dirty="0">
              <a:solidFill>
                <a:schemeClr val="bg1"/>
              </a:solidFill>
            </a:endParaRPr>
          </a:p>
        </p:txBody>
      </p:sp>
    </p:spTree>
    <p:extLst>
      <p:ext uri="{BB962C8B-B14F-4D97-AF65-F5344CB8AC3E}">
        <p14:creationId xmlns:p14="http://schemas.microsoft.com/office/powerpoint/2010/main" val="1510347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CC8A9-6F40-B1F8-8386-D728DD7AEF0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2A59C3A-FB18-A0FB-4E7F-EAA219AA0AD6}"/>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51120F06-4121-B17E-ECA0-FA1F6102A5E8}"/>
              </a:ext>
            </a:extLst>
          </p:cNvPr>
          <p:cNvSpPr>
            <a:spLocks noGrp="1"/>
          </p:cNvSpPr>
          <p:nvPr>
            <p:ph type="title"/>
          </p:nvPr>
        </p:nvSpPr>
        <p:spPr>
          <a:xfrm>
            <a:off x="423334" y="0"/>
            <a:ext cx="10515600" cy="1015662"/>
          </a:xfrm>
        </p:spPr>
        <p:txBody>
          <a:bodyPr>
            <a:normAutofit/>
          </a:bodyPr>
          <a:lstStyle/>
          <a:p>
            <a:r>
              <a:rPr lang="es-MX" altLang="ja-JP" sz="4000" b="1" dirty="0" err="1">
                <a:solidFill>
                  <a:schemeClr val="bg1"/>
                </a:solidFill>
              </a:rPr>
              <a:t>Two</a:t>
            </a:r>
            <a:r>
              <a:rPr lang="es-MX" altLang="ja-JP" sz="4000" b="1" dirty="0">
                <a:solidFill>
                  <a:schemeClr val="bg1"/>
                </a:solidFill>
              </a:rPr>
              <a:t> </a:t>
            </a:r>
            <a:r>
              <a:rPr lang="es-MX" altLang="ja-JP" sz="4000" b="1" dirty="0" err="1">
                <a:solidFill>
                  <a:schemeClr val="bg1"/>
                </a:solidFill>
              </a:rPr>
              <a:t>Existing</a:t>
            </a:r>
            <a:r>
              <a:rPr lang="es-MX" altLang="ja-JP" sz="4000" b="1" dirty="0">
                <a:solidFill>
                  <a:schemeClr val="bg1"/>
                </a:solidFill>
              </a:rPr>
              <a:t> </a:t>
            </a:r>
            <a:r>
              <a:rPr lang="es-MX" altLang="ja-JP" sz="4000" b="1" dirty="0" err="1">
                <a:solidFill>
                  <a:schemeClr val="bg1"/>
                </a:solidFill>
              </a:rPr>
              <a:t>Paradigms</a:t>
            </a:r>
            <a:endParaRPr lang="es-MX" sz="4000" b="1" dirty="0">
              <a:solidFill>
                <a:schemeClr val="bg1"/>
              </a:solidFill>
            </a:endParaRPr>
          </a:p>
        </p:txBody>
      </p:sp>
      <p:sp>
        <p:nvSpPr>
          <p:cNvPr id="8" name="Rectangle 7">
            <a:extLst>
              <a:ext uri="{FF2B5EF4-FFF2-40B4-BE49-F238E27FC236}">
                <a16:creationId xmlns:a16="http://schemas.microsoft.com/office/drawing/2014/main" id="{6BEDC279-04EB-E1AB-66EA-8DA775C70160}"/>
              </a:ext>
            </a:extLst>
          </p:cNvPr>
          <p:cNvSpPr/>
          <p:nvPr/>
        </p:nvSpPr>
        <p:spPr>
          <a:xfrm>
            <a:off x="497840" y="1432560"/>
            <a:ext cx="5313680" cy="511048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MX" altLang="ja-JP" dirty="0">
              <a:solidFill>
                <a:schemeClr val="tx2"/>
              </a:solidFill>
            </a:endParaRPr>
          </a:p>
          <a:p>
            <a:r>
              <a:rPr lang="ja-JP" altLang="es-MX" dirty="0">
                <a:solidFill>
                  <a:schemeClr val="tx2"/>
                </a:solidFill>
              </a:rPr>
              <a:t>言語モデルが </a:t>
            </a:r>
            <a:r>
              <a:rPr lang="ja-JP" altLang="es-MX" b="1" dirty="0">
                <a:solidFill>
                  <a:schemeClr val="tx2"/>
                </a:solidFill>
              </a:rPr>
              <a:t>知識を内部に学習して保持するアプローチ</a:t>
            </a:r>
            <a:endParaRPr lang="ja-JP" altLang="es-MX" dirty="0">
              <a:solidFill>
                <a:schemeClr val="tx2"/>
              </a:solidFill>
            </a:endParaRPr>
          </a:p>
          <a:p>
            <a:endParaRPr lang="es-MX" altLang="ja-JP" b="1" dirty="0">
              <a:solidFill>
                <a:schemeClr val="tx2"/>
              </a:solidFill>
            </a:endParaRPr>
          </a:p>
          <a:p>
            <a:r>
              <a:rPr lang="ja-JP" altLang="es-MX" b="1" dirty="0">
                <a:solidFill>
                  <a:schemeClr val="tx2"/>
                </a:solidFill>
              </a:rPr>
              <a:t>例</a:t>
            </a:r>
            <a:endParaRPr lang="ja-JP" altLang="es-MX" dirty="0">
              <a:solidFill>
                <a:schemeClr val="tx2"/>
              </a:solidFill>
            </a:endParaRPr>
          </a:p>
          <a:p>
            <a:pPr marL="742950" lvl="1" indent="-285750">
              <a:buFont typeface="Arial" panose="020B0604020202020204" pitchFamily="34" charset="0"/>
              <a:buChar char="•"/>
            </a:pPr>
            <a:r>
              <a:rPr lang="es-MX" altLang="ja-JP" dirty="0">
                <a:solidFill>
                  <a:schemeClr val="tx2"/>
                </a:solidFill>
              </a:rPr>
              <a:t>BERT</a:t>
            </a:r>
          </a:p>
          <a:p>
            <a:pPr marL="742950" lvl="1" indent="-285750">
              <a:buFont typeface="Arial" panose="020B0604020202020204" pitchFamily="34" charset="0"/>
              <a:buChar char="•"/>
            </a:pPr>
            <a:r>
              <a:rPr lang="es-MX" altLang="ja-JP" dirty="0" err="1">
                <a:solidFill>
                  <a:schemeClr val="tx2"/>
                </a:solidFill>
              </a:rPr>
              <a:t>RoBERTa</a:t>
            </a:r>
            <a:endParaRPr lang="es-MX" altLang="ja-JP" dirty="0">
              <a:solidFill>
                <a:schemeClr val="tx2"/>
              </a:solidFill>
            </a:endParaRPr>
          </a:p>
          <a:p>
            <a:endParaRPr lang="es-MX" altLang="ja-JP" b="1" dirty="0">
              <a:solidFill>
                <a:schemeClr val="tx2"/>
              </a:solidFill>
            </a:endParaRPr>
          </a:p>
          <a:p>
            <a:r>
              <a:rPr lang="ja-JP" altLang="es-MX" b="1" dirty="0">
                <a:solidFill>
                  <a:schemeClr val="tx2"/>
                </a:solidFill>
              </a:rPr>
              <a:t>利点</a:t>
            </a:r>
            <a:endParaRPr lang="ja-JP" altLang="es-MX" dirty="0">
              <a:solidFill>
                <a:schemeClr val="tx2"/>
              </a:solidFill>
            </a:endParaRPr>
          </a:p>
          <a:p>
            <a:r>
              <a:rPr lang="es-MX" altLang="ja-JP" dirty="0">
                <a:solidFill>
                  <a:schemeClr val="tx2"/>
                </a:solidFill>
              </a:rPr>
              <a:t>• </a:t>
            </a:r>
            <a:r>
              <a:rPr lang="ja-JP" altLang="es-MX" dirty="0">
                <a:solidFill>
                  <a:schemeClr val="tx2"/>
                </a:solidFill>
              </a:rPr>
              <a:t>外部の知識ベースが不要</a:t>
            </a:r>
          </a:p>
          <a:p>
            <a:endParaRPr lang="es-MX" altLang="ja-JP" b="1" dirty="0">
              <a:solidFill>
                <a:schemeClr val="tx2"/>
              </a:solidFill>
            </a:endParaRPr>
          </a:p>
          <a:p>
            <a:r>
              <a:rPr lang="ja-JP" altLang="es-MX" b="1" dirty="0">
                <a:solidFill>
                  <a:schemeClr val="tx2"/>
                </a:solidFill>
              </a:rPr>
              <a:t>課題</a:t>
            </a:r>
            <a:endParaRPr lang="ja-JP" altLang="es-MX" dirty="0">
              <a:solidFill>
                <a:schemeClr val="tx2"/>
              </a:solidFill>
            </a:endParaRPr>
          </a:p>
          <a:p>
            <a:r>
              <a:rPr lang="es-MX" altLang="ja-JP" dirty="0">
                <a:solidFill>
                  <a:schemeClr val="tx2"/>
                </a:solidFill>
              </a:rPr>
              <a:t>• </a:t>
            </a:r>
            <a:r>
              <a:rPr lang="ja-JP" altLang="es-MX" dirty="0">
                <a:solidFill>
                  <a:schemeClr val="tx2"/>
                </a:solidFill>
              </a:rPr>
              <a:t>知識がモデル内部に </a:t>
            </a:r>
            <a:r>
              <a:rPr lang="ja-JP" altLang="es-MX" b="1" dirty="0">
                <a:solidFill>
                  <a:schemeClr val="tx2"/>
                </a:solidFill>
              </a:rPr>
              <a:t>暗黙的に保存されている</a:t>
            </a:r>
            <a:br>
              <a:rPr lang="ja-JP" altLang="es-MX" dirty="0">
                <a:solidFill>
                  <a:schemeClr val="tx2"/>
                </a:solidFill>
              </a:rPr>
            </a:br>
            <a:r>
              <a:rPr lang="es-MX" altLang="ja-JP" dirty="0">
                <a:solidFill>
                  <a:schemeClr val="tx2"/>
                </a:solidFill>
              </a:rPr>
              <a:t>• </a:t>
            </a:r>
            <a:r>
              <a:rPr lang="ja-JP" altLang="es-MX" dirty="0">
                <a:solidFill>
                  <a:schemeClr val="tx2"/>
                </a:solidFill>
              </a:rPr>
              <a:t>解釈や修正が </a:t>
            </a:r>
            <a:r>
              <a:rPr lang="ja-JP" altLang="es-MX" b="1" dirty="0">
                <a:solidFill>
                  <a:schemeClr val="tx2"/>
                </a:solidFill>
              </a:rPr>
              <a:t>難しい</a:t>
            </a:r>
            <a:endParaRPr lang="ja-JP" altLang="es-MX" dirty="0">
              <a:solidFill>
                <a:schemeClr val="tx2"/>
              </a:solidFill>
            </a:endParaRPr>
          </a:p>
        </p:txBody>
      </p:sp>
      <p:sp>
        <p:nvSpPr>
          <p:cNvPr id="11" name="Rectangle 10">
            <a:extLst>
              <a:ext uri="{FF2B5EF4-FFF2-40B4-BE49-F238E27FC236}">
                <a16:creationId xmlns:a16="http://schemas.microsoft.com/office/drawing/2014/main" id="{B4614BA1-F753-CE2E-C788-B9DB6C52EE19}"/>
              </a:ext>
            </a:extLst>
          </p:cNvPr>
          <p:cNvSpPr/>
          <p:nvPr/>
        </p:nvSpPr>
        <p:spPr>
          <a:xfrm>
            <a:off x="497840" y="1432560"/>
            <a:ext cx="5313680" cy="58928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err="1"/>
              <a:t>Knowledge</a:t>
            </a:r>
            <a:r>
              <a:rPr lang="es-MX" b="1" dirty="0"/>
              <a:t> </a:t>
            </a:r>
            <a:r>
              <a:rPr lang="es-MX" b="1" dirty="0" err="1"/>
              <a:t>Model</a:t>
            </a:r>
            <a:r>
              <a:rPr lang="es-MX" b="1" dirty="0"/>
              <a:t> </a:t>
            </a:r>
            <a:r>
              <a:rPr lang="es-MX" b="1" dirty="0" err="1"/>
              <a:t>Paradigm</a:t>
            </a:r>
            <a:endParaRPr lang="es-MX" b="1" dirty="0"/>
          </a:p>
        </p:txBody>
      </p:sp>
      <p:sp>
        <p:nvSpPr>
          <p:cNvPr id="12" name="Rectangle 11">
            <a:extLst>
              <a:ext uri="{FF2B5EF4-FFF2-40B4-BE49-F238E27FC236}">
                <a16:creationId xmlns:a16="http://schemas.microsoft.com/office/drawing/2014/main" id="{3AFEB5AF-896A-2399-5801-1B437268F3BF}"/>
              </a:ext>
            </a:extLst>
          </p:cNvPr>
          <p:cNvSpPr/>
          <p:nvPr/>
        </p:nvSpPr>
        <p:spPr>
          <a:xfrm>
            <a:off x="6380480" y="1432560"/>
            <a:ext cx="5313680" cy="511048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s-MX" dirty="0">
                <a:solidFill>
                  <a:schemeClr val="tx2"/>
                </a:solidFill>
              </a:rPr>
              <a:t>外部の知識源（例：</a:t>
            </a:r>
            <a:r>
              <a:rPr lang="es-MX" altLang="ja-JP" b="1" dirty="0" err="1">
                <a:solidFill>
                  <a:schemeClr val="tx2"/>
                </a:solidFill>
              </a:rPr>
              <a:t>Knowledge</a:t>
            </a:r>
            <a:r>
              <a:rPr lang="es-MX" altLang="ja-JP" b="1" dirty="0">
                <a:solidFill>
                  <a:schemeClr val="tx2"/>
                </a:solidFill>
              </a:rPr>
              <a:t> </a:t>
            </a:r>
            <a:r>
              <a:rPr lang="es-MX" altLang="ja-JP" b="1" dirty="0" err="1">
                <a:solidFill>
                  <a:schemeClr val="tx2"/>
                </a:solidFill>
              </a:rPr>
              <a:t>Graph</a:t>
            </a:r>
            <a:r>
              <a:rPr lang="ja-JP" altLang="es-MX" dirty="0">
                <a:solidFill>
                  <a:schemeClr val="tx2"/>
                </a:solidFill>
              </a:rPr>
              <a:t>）から</a:t>
            </a:r>
            <a:br>
              <a:rPr lang="ja-JP" altLang="es-MX" dirty="0">
                <a:solidFill>
                  <a:schemeClr val="tx2"/>
                </a:solidFill>
              </a:rPr>
            </a:br>
            <a:r>
              <a:rPr lang="ja-JP" altLang="es-MX" dirty="0">
                <a:solidFill>
                  <a:schemeClr val="tx2"/>
                </a:solidFill>
              </a:rPr>
              <a:t>知識を取得して推論に利用するアプローチ</a:t>
            </a:r>
          </a:p>
          <a:p>
            <a:endParaRPr lang="es-MX" altLang="ja-JP" b="1" dirty="0">
              <a:solidFill>
                <a:schemeClr val="tx2"/>
              </a:solidFill>
            </a:endParaRPr>
          </a:p>
          <a:p>
            <a:r>
              <a:rPr lang="ja-JP" altLang="es-MX" b="1" dirty="0">
                <a:solidFill>
                  <a:schemeClr val="tx2"/>
                </a:solidFill>
              </a:rPr>
              <a:t>利点</a:t>
            </a:r>
            <a:endParaRPr lang="ja-JP" altLang="es-MX" dirty="0">
              <a:solidFill>
                <a:schemeClr val="tx2"/>
              </a:solidFill>
            </a:endParaRPr>
          </a:p>
          <a:p>
            <a:pPr marL="742950" lvl="1" indent="-285750">
              <a:buFont typeface="Arial" panose="020B0604020202020204" pitchFamily="34" charset="0"/>
              <a:buChar char="•"/>
            </a:pPr>
            <a:r>
              <a:rPr lang="ja-JP" altLang="es-MX" dirty="0">
                <a:solidFill>
                  <a:schemeClr val="tx2"/>
                </a:solidFill>
              </a:rPr>
              <a:t>知識が </a:t>
            </a:r>
            <a:r>
              <a:rPr lang="ja-JP" altLang="es-MX" b="1" dirty="0">
                <a:solidFill>
                  <a:schemeClr val="tx2"/>
                </a:solidFill>
              </a:rPr>
              <a:t>明示的</a:t>
            </a:r>
            <a:endParaRPr lang="es-MX" altLang="ja-JP" b="1" dirty="0">
              <a:solidFill>
                <a:schemeClr val="tx2"/>
              </a:solidFill>
            </a:endParaRPr>
          </a:p>
          <a:p>
            <a:pPr marL="742950" lvl="1" indent="-285750">
              <a:buFont typeface="Arial" panose="020B0604020202020204" pitchFamily="34" charset="0"/>
              <a:buChar char="•"/>
            </a:pPr>
            <a:r>
              <a:rPr lang="ja-JP" altLang="es-MX" dirty="0">
                <a:solidFill>
                  <a:schemeClr val="tx2"/>
                </a:solidFill>
              </a:rPr>
              <a:t>推論プロセスが </a:t>
            </a:r>
            <a:r>
              <a:rPr lang="ja-JP" altLang="es-MX" b="1" dirty="0">
                <a:solidFill>
                  <a:schemeClr val="tx2"/>
                </a:solidFill>
              </a:rPr>
              <a:t>解釈可能</a:t>
            </a:r>
            <a:endParaRPr lang="es-MX" altLang="ja-JP" b="1" dirty="0">
              <a:solidFill>
                <a:schemeClr val="tx2"/>
              </a:solidFill>
            </a:endParaRPr>
          </a:p>
          <a:p>
            <a:pPr marL="742950" lvl="1" indent="-285750">
              <a:buFont typeface="Arial" panose="020B0604020202020204" pitchFamily="34" charset="0"/>
              <a:buChar char="•"/>
            </a:pPr>
            <a:r>
              <a:rPr lang="ja-JP" altLang="es-MX" dirty="0">
                <a:solidFill>
                  <a:schemeClr val="tx2"/>
                </a:solidFill>
              </a:rPr>
              <a:t>知識の </a:t>
            </a:r>
            <a:r>
              <a:rPr lang="ja-JP" altLang="es-MX" b="1" dirty="0">
                <a:solidFill>
                  <a:schemeClr val="tx2"/>
                </a:solidFill>
              </a:rPr>
              <a:t>更新が容易</a:t>
            </a:r>
            <a:endParaRPr lang="ja-JP" altLang="es-MX" dirty="0">
              <a:solidFill>
                <a:schemeClr val="tx2"/>
              </a:solidFill>
            </a:endParaRPr>
          </a:p>
          <a:p>
            <a:endParaRPr lang="es-MX" altLang="ja-JP" b="1" dirty="0">
              <a:solidFill>
                <a:schemeClr val="tx2"/>
              </a:solidFill>
            </a:endParaRPr>
          </a:p>
          <a:p>
            <a:r>
              <a:rPr lang="ja-JP" altLang="es-MX" b="1" dirty="0">
                <a:solidFill>
                  <a:schemeClr val="tx2"/>
                </a:solidFill>
              </a:rPr>
              <a:t>課題</a:t>
            </a:r>
            <a:endParaRPr lang="ja-JP" altLang="es-MX" dirty="0">
              <a:solidFill>
                <a:schemeClr val="tx2"/>
              </a:solidFill>
            </a:endParaRPr>
          </a:p>
          <a:p>
            <a:r>
              <a:rPr lang="es-MX" altLang="ja-JP" dirty="0">
                <a:solidFill>
                  <a:schemeClr val="tx2"/>
                </a:solidFill>
              </a:rPr>
              <a:t> </a:t>
            </a:r>
            <a:r>
              <a:rPr lang="ja-JP" altLang="es-MX" dirty="0">
                <a:solidFill>
                  <a:schemeClr val="tx2"/>
                </a:solidFill>
              </a:rPr>
              <a:t>テキスト中のイベントを</a:t>
            </a:r>
            <a:r>
              <a:rPr lang="es-MX" altLang="ja-JP" dirty="0" err="1">
                <a:solidFill>
                  <a:schemeClr val="tx2"/>
                </a:solidFill>
              </a:rPr>
              <a:t>Knowledge</a:t>
            </a:r>
            <a:r>
              <a:rPr lang="es-MX" altLang="ja-JP" dirty="0">
                <a:solidFill>
                  <a:schemeClr val="tx2"/>
                </a:solidFill>
              </a:rPr>
              <a:t> </a:t>
            </a:r>
            <a:r>
              <a:rPr lang="es-MX" altLang="ja-JP" dirty="0" err="1">
                <a:solidFill>
                  <a:schemeClr val="tx2"/>
                </a:solidFill>
              </a:rPr>
              <a:t>Graph</a:t>
            </a:r>
            <a:r>
              <a:rPr lang="ja-JP" altLang="es-MX" dirty="0">
                <a:solidFill>
                  <a:schemeClr val="tx2"/>
                </a:solidFill>
              </a:rPr>
              <a:t>のイベントにどのように対応付けるかが難しい</a:t>
            </a:r>
            <a:endParaRPr lang="es-MX" dirty="0"/>
          </a:p>
        </p:txBody>
      </p:sp>
      <p:sp>
        <p:nvSpPr>
          <p:cNvPr id="14" name="Rectangle 13">
            <a:extLst>
              <a:ext uri="{FF2B5EF4-FFF2-40B4-BE49-F238E27FC236}">
                <a16:creationId xmlns:a16="http://schemas.microsoft.com/office/drawing/2014/main" id="{995DDA9D-57F3-6A5B-7F9E-4EAF1FC07C70}"/>
              </a:ext>
            </a:extLst>
          </p:cNvPr>
          <p:cNvSpPr/>
          <p:nvPr/>
        </p:nvSpPr>
        <p:spPr>
          <a:xfrm>
            <a:off x="6380480" y="1432560"/>
            <a:ext cx="5313680" cy="58928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err="1"/>
              <a:t>Retrieval</a:t>
            </a:r>
            <a:r>
              <a:rPr lang="es-MX" b="1" dirty="0"/>
              <a:t> and </a:t>
            </a:r>
            <a:r>
              <a:rPr lang="es-MX" b="1" dirty="0" err="1"/>
              <a:t>Integration</a:t>
            </a:r>
            <a:r>
              <a:rPr lang="es-MX" b="1" dirty="0"/>
              <a:t> </a:t>
            </a:r>
            <a:r>
              <a:rPr lang="es-MX" b="1" dirty="0" err="1"/>
              <a:t>Paradigm</a:t>
            </a:r>
            <a:endParaRPr lang="es-MX" b="1" dirty="0"/>
          </a:p>
        </p:txBody>
      </p:sp>
    </p:spTree>
    <p:extLst>
      <p:ext uri="{BB962C8B-B14F-4D97-AF65-F5344CB8AC3E}">
        <p14:creationId xmlns:p14="http://schemas.microsoft.com/office/powerpoint/2010/main" val="3230192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24DF7-371B-DF42-A332-DE23E4073F1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2B2C190-3188-9761-FF21-E7DFA76807A1}"/>
              </a:ext>
            </a:extLst>
          </p:cNvPr>
          <p:cNvSpPr/>
          <p:nvPr/>
        </p:nvSpPr>
        <p:spPr>
          <a:xfrm>
            <a:off x="497839" y="1810166"/>
            <a:ext cx="6736081" cy="84159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MX" dirty="0"/>
          </a:p>
        </p:txBody>
      </p:sp>
      <p:sp>
        <p:nvSpPr>
          <p:cNvPr id="7" name="Rectangle 6">
            <a:extLst>
              <a:ext uri="{FF2B5EF4-FFF2-40B4-BE49-F238E27FC236}">
                <a16:creationId xmlns:a16="http://schemas.microsoft.com/office/drawing/2014/main" id="{02206888-8D54-CB7A-383E-A0C284CBA355}"/>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7C93C9F8-5FB3-971C-66FB-CA8ED41CFE11}"/>
              </a:ext>
            </a:extLst>
          </p:cNvPr>
          <p:cNvSpPr>
            <a:spLocks noGrp="1"/>
          </p:cNvSpPr>
          <p:nvPr>
            <p:ph type="title"/>
          </p:nvPr>
        </p:nvSpPr>
        <p:spPr>
          <a:xfrm>
            <a:off x="423334" y="0"/>
            <a:ext cx="10515600" cy="1015662"/>
          </a:xfrm>
        </p:spPr>
        <p:txBody>
          <a:bodyPr>
            <a:normAutofit/>
          </a:bodyPr>
          <a:lstStyle/>
          <a:p>
            <a:r>
              <a:rPr lang="es-MX" sz="4000" b="1" dirty="0" err="1">
                <a:solidFill>
                  <a:schemeClr val="bg1"/>
                </a:solidFill>
              </a:rPr>
              <a:t>EventGround</a:t>
            </a:r>
            <a:endParaRPr lang="es-MX" sz="4000" b="1" dirty="0">
              <a:solidFill>
                <a:schemeClr val="bg1"/>
              </a:solidFill>
            </a:endParaRPr>
          </a:p>
        </p:txBody>
      </p:sp>
      <p:sp>
        <p:nvSpPr>
          <p:cNvPr id="9" name="TextBox 8">
            <a:extLst>
              <a:ext uri="{FF2B5EF4-FFF2-40B4-BE49-F238E27FC236}">
                <a16:creationId xmlns:a16="http://schemas.microsoft.com/office/drawing/2014/main" id="{574EAFEB-3653-74B1-5EAD-6B4E39A4ED78}"/>
              </a:ext>
            </a:extLst>
          </p:cNvPr>
          <p:cNvSpPr txBox="1"/>
          <p:nvPr/>
        </p:nvSpPr>
        <p:spPr>
          <a:xfrm>
            <a:off x="423334" y="1350168"/>
            <a:ext cx="8100906" cy="369332"/>
          </a:xfrm>
          <a:prstGeom prst="rect">
            <a:avLst/>
          </a:prstGeom>
          <a:noFill/>
        </p:spPr>
        <p:txBody>
          <a:bodyPr wrap="square">
            <a:spAutoFit/>
          </a:bodyPr>
          <a:lstStyle/>
          <a:p>
            <a:r>
              <a:rPr lang="ja-JP" altLang="es-MX" dirty="0"/>
              <a:t>本研究では、次の</a:t>
            </a:r>
            <a:r>
              <a:rPr lang="es-MX" altLang="ja-JP" dirty="0"/>
              <a:t>3</a:t>
            </a:r>
            <a:r>
              <a:rPr lang="ja-JP" altLang="es-MX" dirty="0"/>
              <a:t>つを組み合わせたフレームワークを提案する：</a:t>
            </a:r>
            <a:endParaRPr lang="es-MX" dirty="0"/>
          </a:p>
        </p:txBody>
      </p:sp>
      <p:sp>
        <p:nvSpPr>
          <p:cNvPr id="11" name="TextBox 10">
            <a:extLst>
              <a:ext uri="{FF2B5EF4-FFF2-40B4-BE49-F238E27FC236}">
                <a16:creationId xmlns:a16="http://schemas.microsoft.com/office/drawing/2014/main" id="{4CD2ABA8-6C41-F573-C3C7-9AF41FF45503}"/>
              </a:ext>
            </a:extLst>
          </p:cNvPr>
          <p:cNvSpPr txBox="1"/>
          <p:nvPr/>
        </p:nvSpPr>
        <p:spPr>
          <a:xfrm>
            <a:off x="423333" y="1939785"/>
            <a:ext cx="6956213" cy="615553"/>
          </a:xfrm>
          <a:prstGeom prst="rect">
            <a:avLst/>
          </a:prstGeom>
          <a:noFill/>
        </p:spPr>
        <p:txBody>
          <a:bodyPr wrap="square">
            <a:spAutoFit/>
          </a:bodyPr>
          <a:lstStyle/>
          <a:p>
            <a:pPr algn="ctr"/>
            <a:r>
              <a:rPr lang="en-US" sz="1700" b="1" dirty="0"/>
              <a:t>Language Models </a:t>
            </a:r>
            <a:r>
              <a:rPr lang="en-US" sz="1700" dirty="0"/>
              <a:t>＋  </a:t>
            </a:r>
            <a:r>
              <a:rPr lang="en-US" sz="1700" b="1" dirty="0"/>
              <a:t>Knowledge Graph </a:t>
            </a:r>
            <a:r>
              <a:rPr lang="en-US" sz="1700" dirty="0"/>
              <a:t>＋ </a:t>
            </a:r>
            <a:r>
              <a:rPr lang="en-US" sz="1700" b="1" dirty="0"/>
              <a:t>Graph Neural Networks</a:t>
            </a:r>
          </a:p>
          <a:p>
            <a:r>
              <a:rPr lang="en-US" sz="1700" b="1" dirty="0"/>
              <a:t>                                                                 (ASER)</a:t>
            </a:r>
            <a:endParaRPr lang="es-MX" sz="1700" dirty="0"/>
          </a:p>
        </p:txBody>
      </p:sp>
      <p:sp>
        <p:nvSpPr>
          <p:cNvPr id="14" name="TextBox 13">
            <a:extLst>
              <a:ext uri="{FF2B5EF4-FFF2-40B4-BE49-F238E27FC236}">
                <a16:creationId xmlns:a16="http://schemas.microsoft.com/office/drawing/2014/main" id="{EC6507BB-F107-5C89-F7F3-C1A450496A70}"/>
              </a:ext>
            </a:extLst>
          </p:cNvPr>
          <p:cNvSpPr txBox="1"/>
          <p:nvPr/>
        </p:nvSpPr>
        <p:spPr>
          <a:xfrm>
            <a:off x="419946" y="2775623"/>
            <a:ext cx="6465146" cy="3647152"/>
          </a:xfrm>
          <a:prstGeom prst="rect">
            <a:avLst/>
          </a:prstGeom>
          <a:noFill/>
        </p:spPr>
        <p:txBody>
          <a:bodyPr wrap="square">
            <a:spAutoFit/>
          </a:bodyPr>
          <a:lstStyle/>
          <a:p>
            <a:pPr>
              <a:buNone/>
            </a:pPr>
            <a:r>
              <a:rPr lang="ja-JP" altLang="es-MX" b="1" dirty="0"/>
              <a:t>主なステップ</a:t>
            </a:r>
            <a:endParaRPr lang="es-MX" altLang="ja-JP" b="1" dirty="0"/>
          </a:p>
          <a:p>
            <a:pPr marL="285750" indent="-285750">
              <a:spcBef>
                <a:spcPts val="600"/>
              </a:spcBef>
              <a:buFont typeface="Arial" panose="020B0604020202020204" pitchFamily="34" charset="0"/>
              <a:buChar char="•"/>
            </a:pPr>
            <a:r>
              <a:rPr lang="es-MX" altLang="ja-JP" b="1" dirty="0" err="1"/>
              <a:t>Event</a:t>
            </a:r>
            <a:r>
              <a:rPr lang="es-MX" altLang="ja-JP" b="1" dirty="0"/>
              <a:t> </a:t>
            </a:r>
            <a:r>
              <a:rPr lang="es-MX" altLang="ja-JP" b="1" dirty="0" err="1"/>
              <a:t>Grounding</a:t>
            </a:r>
            <a:br>
              <a:rPr lang="ja-JP" altLang="es-MX" dirty="0"/>
            </a:br>
            <a:r>
              <a:rPr lang="ja-JP" altLang="es-MX" dirty="0"/>
              <a:t>テキスト中のイベントを </a:t>
            </a:r>
            <a:r>
              <a:rPr lang="es-MX" altLang="ja-JP" dirty="0" err="1"/>
              <a:t>Knowledge</a:t>
            </a:r>
            <a:r>
              <a:rPr lang="es-MX" altLang="ja-JP" dirty="0"/>
              <a:t> </a:t>
            </a:r>
            <a:r>
              <a:rPr lang="es-MX" altLang="ja-JP" dirty="0" err="1"/>
              <a:t>Graph</a:t>
            </a:r>
            <a:r>
              <a:rPr lang="es-MX" altLang="ja-JP" dirty="0"/>
              <a:t> </a:t>
            </a:r>
            <a:r>
              <a:rPr lang="ja-JP" altLang="es-MX" dirty="0"/>
              <a:t>のイベントに</a:t>
            </a:r>
            <a:endParaRPr lang="es-MX" altLang="ja-JP" dirty="0"/>
          </a:p>
          <a:p>
            <a:pPr>
              <a:buNone/>
            </a:pPr>
            <a:r>
              <a:rPr lang="es-MX" altLang="ja-JP" dirty="0"/>
              <a:t>      </a:t>
            </a:r>
            <a:r>
              <a:rPr lang="ja-JP" altLang="es-MX" dirty="0"/>
              <a:t>対応付ける</a:t>
            </a:r>
          </a:p>
          <a:p>
            <a:pPr marL="285750" indent="-285750">
              <a:spcBef>
                <a:spcPts val="600"/>
              </a:spcBef>
              <a:buFont typeface="Arial" panose="020B0604020202020204" pitchFamily="34" charset="0"/>
              <a:buChar char="•"/>
            </a:pPr>
            <a:r>
              <a:rPr lang="es-MX" altLang="ja-JP" b="1" dirty="0" err="1"/>
              <a:t>Subgraph</a:t>
            </a:r>
            <a:r>
              <a:rPr lang="es-MX" altLang="ja-JP" b="1" dirty="0"/>
              <a:t> </a:t>
            </a:r>
            <a:r>
              <a:rPr lang="es-MX" altLang="ja-JP" b="1" dirty="0" err="1"/>
              <a:t>Construction</a:t>
            </a:r>
            <a:br>
              <a:rPr lang="ja-JP" altLang="es-MX" dirty="0"/>
            </a:br>
            <a:r>
              <a:rPr lang="ja-JP" altLang="es-MX" dirty="0"/>
              <a:t>関連するイベントをつなぐサブグラフを構築する</a:t>
            </a:r>
          </a:p>
          <a:p>
            <a:pPr marL="285750" indent="-285750">
              <a:spcBef>
                <a:spcPts val="600"/>
              </a:spcBef>
              <a:buFont typeface="Arial" panose="020B0604020202020204" pitchFamily="34" charset="0"/>
              <a:buChar char="•"/>
            </a:pPr>
            <a:r>
              <a:rPr lang="es-MX" altLang="ja-JP" b="1" dirty="0" err="1"/>
              <a:t>Graph</a:t>
            </a:r>
            <a:r>
              <a:rPr lang="es-MX" altLang="ja-JP" b="1" dirty="0"/>
              <a:t> </a:t>
            </a:r>
            <a:r>
              <a:rPr lang="es-MX" altLang="ja-JP" b="1" dirty="0" err="1"/>
              <a:t>Reasoning</a:t>
            </a:r>
            <a:br>
              <a:rPr lang="ja-JP" altLang="es-MX" dirty="0"/>
            </a:br>
            <a:r>
              <a:rPr lang="es-MX" altLang="ja-JP" dirty="0" err="1"/>
              <a:t>Knowledge</a:t>
            </a:r>
            <a:r>
              <a:rPr lang="es-MX" altLang="ja-JP" dirty="0"/>
              <a:t> </a:t>
            </a:r>
            <a:r>
              <a:rPr lang="es-MX" altLang="ja-JP" dirty="0" err="1"/>
              <a:t>Graph</a:t>
            </a:r>
            <a:r>
              <a:rPr lang="es-MX" altLang="ja-JP" dirty="0"/>
              <a:t> </a:t>
            </a:r>
            <a:r>
              <a:rPr lang="ja-JP" altLang="es-MX" dirty="0"/>
              <a:t>上で推論を行う</a:t>
            </a:r>
            <a:br>
              <a:rPr lang="ja-JP" altLang="es-MX" dirty="0"/>
            </a:br>
            <a:endParaRPr lang="ja-JP" altLang="es-MX" dirty="0"/>
          </a:p>
          <a:p>
            <a:pPr>
              <a:buNone/>
            </a:pPr>
            <a:r>
              <a:rPr lang="ja-JP" altLang="es-MX" b="1" dirty="0"/>
              <a:t>目的</a:t>
            </a:r>
            <a:endParaRPr lang="es-MX" altLang="ja-JP" b="1" dirty="0"/>
          </a:p>
          <a:p>
            <a:pPr>
              <a:buNone/>
            </a:pPr>
            <a:r>
              <a:rPr lang="ja-JP" altLang="es-MX" dirty="0"/>
              <a:t>構造化されたイベント知識を統合することで、</a:t>
            </a:r>
            <a:br>
              <a:rPr lang="ja-JP" altLang="es-MX" dirty="0"/>
            </a:br>
            <a:r>
              <a:rPr lang="ja-JP" altLang="es-MX" dirty="0"/>
              <a:t>ナラティブ推論（</a:t>
            </a:r>
            <a:r>
              <a:rPr lang="es-MX" altLang="ja-JP" dirty="0"/>
              <a:t>narrative </a:t>
            </a:r>
            <a:r>
              <a:rPr lang="es-MX" altLang="ja-JP" dirty="0" err="1"/>
              <a:t>reasoning</a:t>
            </a:r>
            <a:r>
              <a:rPr lang="ja-JP" altLang="es-MX" dirty="0"/>
              <a:t>）の性能を向上させる。</a:t>
            </a:r>
          </a:p>
        </p:txBody>
      </p:sp>
      <p:sp>
        <p:nvSpPr>
          <p:cNvPr id="17" name="TextBox 16">
            <a:extLst>
              <a:ext uri="{FF2B5EF4-FFF2-40B4-BE49-F238E27FC236}">
                <a16:creationId xmlns:a16="http://schemas.microsoft.com/office/drawing/2014/main" id="{E9E12505-AF98-0462-5FEC-61C4F7311FD0}"/>
              </a:ext>
            </a:extLst>
          </p:cNvPr>
          <p:cNvSpPr txBox="1"/>
          <p:nvPr/>
        </p:nvSpPr>
        <p:spPr>
          <a:xfrm>
            <a:off x="8023016" y="2024036"/>
            <a:ext cx="6106160" cy="2585323"/>
          </a:xfrm>
          <a:prstGeom prst="rect">
            <a:avLst/>
          </a:prstGeom>
          <a:noFill/>
        </p:spPr>
        <p:txBody>
          <a:bodyPr wrap="square">
            <a:spAutoFit/>
          </a:bodyPr>
          <a:lstStyle/>
          <a:p>
            <a:r>
              <a:rPr lang="es-MX" dirty="0"/>
              <a:t>Text Input</a:t>
            </a:r>
            <a:br>
              <a:rPr lang="es-MX" dirty="0"/>
            </a:br>
            <a:r>
              <a:rPr lang="es-MX" dirty="0"/>
              <a:t>↓</a:t>
            </a:r>
            <a:br>
              <a:rPr lang="es-MX" dirty="0"/>
            </a:br>
            <a:r>
              <a:rPr lang="es-MX" dirty="0" err="1"/>
              <a:t>Event</a:t>
            </a:r>
            <a:r>
              <a:rPr lang="es-MX" dirty="0"/>
              <a:t> </a:t>
            </a:r>
            <a:r>
              <a:rPr lang="es-MX" dirty="0" err="1"/>
              <a:t>Grounding</a:t>
            </a:r>
            <a:br>
              <a:rPr lang="es-MX" dirty="0"/>
            </a:br>
            <a:r>
              <a:rPr lang="es-MX" dirty="0"/>
              <a:t>↓</a:t>
            </a:r>
            <a:br>
              <a:rPr lang="es-MX" dirty="0"/>
            </a:br>
            <a:r>
              <a:rPr lang="es-MX" dirty="0"/>
              <a:t>Steiner </a:t>
            </a:r>
            <a:r>
              <a:rPr lang="es-MX" dirty="0" err="1"/>
              <a:t>Tree</a:t>
            </a:r>
            <a:r>
              <a:rPr lang="es-MX" dirty="0"/>
              <a:t> </a:t>
            </a:r>
            <a:r>
              <a:rPr lang="es-MX" dirty="0" err="1"/>
              <a:t>Subgraph</a:t>
            </a:r>
            <a:r>
              <a:rPr lang="es-MX" dirty="0"/>
              <a:t> </a:t>
            </a:r>
            <a:r>
              <a:rPr lang="es-MX" dirty="0" err="1"/>
              <a:t>Construction</a:t>
            </a:r>
            <a:br>
              <a:rPr lang="es-MX" dirty="0"/>
            </a:br>
            <a:r>
              <a:rPr lang="es-MX" dirty="0"/>
              <a:t>↓</a:t>
            </a:r>
            <a:br>
              <a:rPr lang="es-MX" dirty="0"/>
            </a:br>
            <a:r>
              <a:rPr lang="es-MX" dirty="0" err="1"/>
              <a:t>Graph</a:t>
            </a:r>
            <a:r>
              <a:rPr lang="es-MX" dirty="0"/>
              <a:t> Neural Network </a:t>
            </a:r>
            <a:r>
              <a:rPr lang="es-MX" dirty="0" err="1"/>
              <a:t>Reasoning</a:t>
            </a:r>
            <a:br>
              <a:rPr lang="es-MX" dirty="0"/>
            </a:br>
            <a:r>
              <a:rPr lang="es-MX" dirty="0"/>
              <a:t>↓</a:t>
            </a:r>
            <a:br>
              <a:rPr lang="es-MX" dirty="0"/>
            </a:br>
            <a:r>
              <a:rPr lang="es-MX" dirty="0" err="1"/>
              <a:t>Prediction</a:t>
            </a:r>
            <a:endParaRPr lang="es-MX" dirty="0"/>
          </a:p>
        </p:txBody>
      </p:sp>
      <p:cxnSp>
        <p:nvCxnSpPr>
          <p:cNvPr id="19" name="Straight Connector 18">
            <a:extLst>
              <a:ext uri="{FF2B5EF4-FFF2-40B4-BE49-F238E27FC236}">
                <a16:creationId xmlns:a16="http://schemas.microsoft.com/office/drawing/2014/main" id="{01363630-DB6F-F2AD-2D24-2206972C89FC}"/>
              </a:ext>
            </a:extLst>
          </p:cNvPr>
          <p:cNvCxnSpPr/>
          <p:nvPr/>
        </p:nvCxnSpPr>
        <p:spPr>
          <a:xfrm>
            <a:off x="7660640" y="1350168"/>
            <a:ext cx="0" cy="5030312"/>
          </a:xfrm>
          <a:prstGeom prst="line">
            <a:avLst/>
          </a:prstGeom>
        </p:spPr>
        <p:style>
          <a:lnRef idx="3">
            <a:schemeClr val="accent1"/>
          </a:lnRef>
          <a:fillRef idx="0">
            <a:schemeClr val="accent1"/>
          </a:fillRef>
          <a:effectRef idx="2">
            <a:schemeClr val="accent1"/>
          </a:effectRef>
          <a:fontRef idx="minor">
            <a:schemeClr val="tx1"/>
          </a:fontRef>
        </p:style>
      </p:cxnSp>
      <p:sp>
        <p:nvSpPr>
          <p:cNvPr id="21" name="TextBox 20">
            <a:extLst>
              <a:ext uri="{FF2B5EF4-FFF2-40B4-BE49-F238E27FC236}">
                <a16:creationId xmlns:a16="http://schemas.microsoft.com/office/drawing/2014/main" id="{7D0A6CAD-6FCF-D61A-31ED-208491707185}"/>
              </a:ext>
            </a:extLst>
          </p:cNvPr>
          <p:cNvSpPr txBox="1"/>
          <p:nvPr/>
        </p:nvSpPr>
        <p:spPr>
          <a:xfrm>
            <a:off x="7941735" y="1350168"/>
            <a:ext cx="7076440" cy="400110"/>
          </a:xfrm>
          <a:prstGeom prst="rect">
            <a:avLst/>
          </a:prstGeom>
          <a:noFill/>
        </p:spPr>
        <p:txBody>
          <a:bodyPr wrap="square">
            <a:spAutoFit/>
          </a:bodyPr>
          <a:lstStyle/>
          <a:p>
            <a:r>
              <a:rPr lang="es-MX" sz="2000" b="1" u="sng" dirty="0"/>
              <a:t>Framework </a:t>
            </a:r>
            <a:r>
              <a:rPr lang="es-MX" sz="2000" b="1" u="sng" dirty="0" err="1"/>
              <a:t>Overview</a:t>
            </a:r>
            <a:endParaRPr lang="es-MX" sz="2000" b="1" u="sng" dirty="0"/>
          </a:p>
        </p:txBody>
      </p:sp>
      <p:cxnSp>
        <p:nvCxnSpPr>
          <p:cNvPr id="22" name="Straight Connector 21">
            <a:extLst>
              <a:ext uri="{FF2B5EF4-FFF2-40B4-BE49-F238E27FC236}">
                <a16:creationId xmlns:a16="http://schemas.microsoft.com/office/drawing/2014/main" id="{749DDA8E-E80A-B977-57FA-63FA84DA2DF9}"/>
              </a:ext>
            </a:extLst>
          </p:cNvPr>
          <p:cNvCxnSpPr>
            <a:cxnSpLocks/>
          </p:cNvCxnSpPr>
          <p:nvPr/>
        </p:nvCxnSpPr>
        <p:spPr>
          <a:xfrm flipH="1">
            <a:off x="7865536" y="4815840"/>
            <a:ext cx="4084320" cy="0"/>
          </a:xfrm>
          <a:prstGeom prst="line">
            <a:avLst/>
          </a:prstGeom>
        </p:spPr>
        <p:style>
          <a:lnRef idx="3">
            <a:schemeClr val="accent1"/>
          </a:lnRef>
          <a:fillRef idx="0">
            <a:schemeClr val="accent1"/>
          </a:fillRef>
          <a:effectRef idx="2">
            <a:schemeClr val="accent1"/>
          </a:effectRef>
          <a:fontRef idx="minor">
            <a:schemeClr val="tx1"/>
          </a:fontRef>
        </p:style>
      </p:cxnSp>
      <p:sp>
        <p:nvSpPr>
          <p:cNvPr id="26" name="TextBox 25">
            <a:extLst>
              <a:ext uri="{FF2B5EF4-FFF2-40B4-BE49-F238E27FC236}">
                <a16:creationId xmlns:a16="http://schemas.microsoft.com/office/drawing/2014/main" id="{4AE1560E-8446-13F4-809E-0875ACB42B35}"/>
              </a:ext>
            </a:extLst>
          </p:cNvPr>
          <p:cNvSpPr txBox="1"/>
          <p:nvPr/>
        </p:nvSpPr>
        <p:spPr>
          <a:xfrm>
            <a:off x="7865536" y="5022322"/>
            <a:ext cx="4205391" cy="1231106"/>
          </a:xfrm>
          <a:prstGeom prst="rect">
            <a:avLst/>
          </a:prstGeom>
          <a:noFill/>
        </p:spPr>
        <p:txBody>
          <a:bodyPr wrap="square">
            <a:spAutoFit/>
          </a:bodyPr>
          <a:lstStyle/>
          <a:p>
            <a:r>
              <a:rPr lang="es-MX" altLang="ja-JP" sz="1400" b="1" dirty="0"/>
              <a:t>ASER (</a:t>
            </a:r>
            <a:r>
              <a:rPr lang="es-MX" altLang="ja-JP" sz="1400" b="1" dirty="0" err="1"/>
              <a:t>Activities</a:t>
            </a:r>
            <a:r>
              <a:rPr lang="es-MX" altLang="ja-JP" sz="1400" b="1" dirty="0"/>
              <a:t>, </a:t>
            </a:r>
            <a:r>
              <a:rPr lang="es-MX" altLang="ja-JP" sz="1400" b="1" dirty="0" err="1"/>
              <a:t>States</a:t>
            </a:r>
            <a:r>
              <a:rPr lang="es-MX" altLang="ja-JP" sz="1400" b="1" dirty="0"/>
              <a:t>, </a:t>
            </a:r>
            <a:r>
              <a:rPr lang="es-MX" altLang="ja-JP" sz="1400" b="1" dirty="0" err="1"/>
              <a:t>Events</a:t>
            </a:r>
            <a:r>
              <a:rPr lang="es-MX" altLang="ja-JP" sz="1400" b="1" dirty="0"/>
              <a:t>, </a:t>
            </a:r>
            <a:r>
              <a:rPr lang="es-MX" altLang="ja-JP" sz="1400" b="1" dirty="0" err="1"/>
              <a:t>Relations</a:t>
            </a:r>
            <a:r>
              <a:rPr lang="es-MX" altLang="ja-JP" sz="1400" b="1" dirty="0"/>
              <a:t>)</a:t>
            </a:r>
          </a:p>
          <a:p>
            <a:br>
              <a:rPr lang="ja-JP" altLang="es-MX" sz="1400" dirty="0"/>
            </a:br>
            <a:r>
              <a:rPr lang="ja-JP" altLang="es-MX" sz="1400" dirty="0"/>
              <a:t>大規模な常識的イベント知識グラフであり、数百万のイベントとそれらの間のディスコース関係（因果関係や時間関係など）を含んでいる</a:t>
            </a:r>
            <a:r>
              <a:rPr lang="ja-JP" altLang="es-MX" dirty="0"/>
              <a:t>。</a:t>
            </a:r>
            <a:endParaRPr lang="es-MX" dirty="0"/>
          </a:p>
        </p:txBody>
      </p:sp>
    </p:spTree>
    <p:extLst>
      <p:ext uri="{BB962C8B-B14F-4D97-AF65-F5344CB8AC3E}">
        <p14:creationId xmlns:p14="http://schemas.microsoft.com/office/powerpoint/2010/main" val="2513151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1627C-9479-44CB-FB65-3505C394D12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5A43A22-CCDF-75AA-8A69-2C3172BB9201}"/>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7" name="Rectangle 16">
            <a:extLst>
              <a:ext uri="{FF2B5EF4-FFF2-40B4-BE49-F238E27FC236}">
                <a16:creationId xmlns:a16="http://schemas.microsoft.com/office/drawing/2014/main" id="{25BD26F8-4298-3FEC-7DC5-DDF045216097}"/>
              </a:ext>
            </a:extLst>
          </p:cNvPr>
          <p:cNvSpPr/>
          <p:nvPr/>
        </p:nvSpPr>
        <p:spPr>
          <a:xfrm>
            <a:off x="572346" y="1183639"/>
            <a:ext cx="11047308" cy="1015663"/>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MX" dirty="0">
              <a:ln w="0"/>
              <a:solidFill>
                <a:schemeClr val="accent1"/>
              </a:solidFill>
              <a:effectLst>
                <a:outerShdw blurRad="38100" dist="25400" dir="5400000" algn="ctr" rotWithShape="0">
                  <a:srgbClr val="6E747A">
                    <a:alpha val="43000"/>
                  </a:srgbClr>
                </a:outerShdw>
              </a:effectLst>
            </a:endParaRPr>
          </a:p>
        </p:txBody>
      </p:sp>
      <p:sp>
        <p:nvSpPr>
          <p:cNvPr id="13" name="Title 1">
            <a:extLst>
              <a:ext uri="{FF2B5EF4-FFF2-40B4-BE49-F238E27FC236}">
                <a16:creationId xmlns:a16="http://schemas.microsoft.com/office/drawing/2014/main" id="{80A43290-18E3-24D5-4F4A-D7648972DFA0}"/>
              </a:ext>
            </a:extLst>
          </p:cNvPr>
          <p:cNvSpPr>
            <a:spLocks noGrp="1"/>
          </p:cNvSpPr>
          <p:nvPr>
            <p:ph type="title"/>
          </p:nvPr>
        </p:nvSpPr>
        <p:spPr>
          <a:xfrm>
            <a:off x="423334" y="0"/>
            <a:ext cx="10515600" cy="1015662"/>
          </a:xfrm>
        </p:spPr>
        <p:txBody>
          <a:bodyPr>
            <a:normAutofit/>
          </a:bodyPr>
          <a:lstStyle/>
          <a:p>
            <a:r>
              <a:rPr lang="es-MX" sz="3200" b="1" i="1" dirty="0" err="1">
                <a:solidFill>
                  <a:schemeClr val="bg1"/>
                </a:solidFill>
              </a:rPr>
              <a:t>Problem</a:t>
            </a:r>
            <a:r>
              <a:rPr lang="es-MX" sz="3200" b="1" i="1" dirty="0">
                <a:solidFill>
                  <a:schemeClr val="bg1"/>
                </a:solidFill>
              </a:rPr>
              <a:t> 1: </a:t>
            </a:r>
            <a:r>
              <a:rPr lang="es-MX" sz="4000" b="1" dirty="0" err="1">
                <a:solidFill>
                  <a:schemeClr val="bg1"/>
                </a:solidFill>
              </a:rPr>
              <a:t>Event</a:t>
            </a:r>
            <a:r>
              <a:rPr lang="es-MX" sz="4000" b="1" dirty="0">
                <a:solidFill>
                  <a:schemeClr val="bg1"/>
                </a:solidFill>
              </a:rPr>
              <a:t> </a:t>
            </a:r>
            <a:r>
              <a:rPr lang="es-MX" sz="4000" b="1" dirty="0" err="1">
                <a:solidFill>
                  <a:schemeClr val="bg1"/>
                </a:solidFill>
              </a:rPr>
              <a:t>Representation</a:t>
            </a:r>
            <a:endParaRPr lang="es-MX" sz="4000" b="1" dirty="0">
              <a:solidFill>
                <a:schemeClr val="bg1"/>
              </a:solidFill>
            </a:endParaRPr>
          </a:p>
        </p:txBody>
      </p:sp>
      <p:sp>
        <p:nvSpPr>
          <p:cNvPr id="4" name="Content Placeholder 3">
            <a:extLst>
              <a:ext uri="{FF2B5EF4-FFF2-40B4-BE49-F238E27FC236}">
                <a16:creationId xmlns:a16="http://schemas.microsoft.com/office/drawing/2014/main" id="{EC54BA6A-925A-AA6D-572C-A31AA1586F8C}"/>
              </a:ext>
            </a:extLst>
          </p:cNvPr>
          <p:cNvSpPr>
            <a:spLocks noGrp="1"/>
          </p:cNvSpPr>
          <p:nvPr>
            <p:ph idx="1"/>
          </p:nvPr>
        </p:nvSpPr>
        <p:spPr>
          <a:xfrm>
            <a:off x="572346" y="1269998"/>
            <a:ext cx="11047308" cy="4693603"/>
          </a:xfrm>
        </p:spPr>
        <p:txBody>
          <a:bodyPr/>
          <a:lstStyle/>
          <a:p>
            <a:pPr marL="0" indent="0" algn="ctr">
              <a:buNone/>
            </a:pPr>
            <a:r>
              <a:rPr lang="ja-JP" altLang="es-MX" sz="2400" b="1" dirty="0"/>
              <a:t>自然言語のイベントは独立して存在するわけではない</a:t>
            </a:r>
            <a:endParaRPr lang="es-MX" altLang="ja-JP" sz="2400" b="1" dirty="0"/>
          </a:p>
          <a:p>
            <a:pPr marL="0" indent="0" algn="ctr">
              <a:buNone/>
            </a:pPr>
            <a:r>
              <a:rPr lang="ja-JP" altLang="es-MX" sz="2400" b="1" dirty="0"/>
              <a:t>互いに関連し合い、文脈に依存している</a:t>
            </a:r>
            <a:endParaRPr lang="ja-JP" altLang="es-MX" sz="2400" dirty="0"/>
          </a:p>
          <a:p>
            <a:endParaRPr lang="es-MX" dirty="0"/>
          </a:p>
        </p:txBody>
      </p:sp>
      <p:sp>
        <p:nvSpPr>
          <p:cNvPr id="12" name="Rectangle 11">
            <a:extLst>
              <a:ext uri="{FF2B5EF4-FFF2-40B4-BE49-F238E27FC236}">
                <a16:creationId xmlns:a16="http://schemas.microsoft.com/office/drawing/2014/main" id="{BD41F4B6-1F01-7139-971F-C03A19419A3B}"/>
              </a:ext>
            </a:extLst>
          </p:cNvPr>
          <p:cNvSpPr/>
          <p:nvPr/>
        </p:nvSpPr>
        <p:spPr>
          <a:xfrm>
            <a:off x="572346" y="2956560"/>
            <a:ext cx="5313680" cy="3566181"/>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i="1" dirty="0">
              <a:solidFill>
                <a:schemeClr val="tx2"/>
              </a:solidFill>
            </a:endParaRPr>
          </a:p>
          <a:p>
            <a:r>
              <a:rPr lang="en-US" i="1" dirty="0">
                <a:solidFill>
                  <a:schemeClr val="tx2"/>
                </a:solidFill>
              </a:rPr>
              <a:t>"Tom was tired and wanted to have fun."</a:t>
            </a:r>
            <a:endParaRPr lang="en-US" dirty="0">
              <a:solidFill>
                <a:schemeClr val="tx2"/>
              </a:solidFill>
            </a:endParaRPr>
          </a:p>
          <a:p>
            <a:endParaRPr lang="en-US" dirty="0">
              <a:solidFill>
                <a:schemeClr val="tx2"/>
              </a:solidFill>
            </a:endParaRPr>
          </a:p>
          <a:p>
            <a:r>
              <a:rPr lang="en-US" dirty="0">
                <a:solidFill>
                  <a:schemeClr val="tx2"/>
                </a:solidFill>
              </a:rPr>
              <a:t>This single sentence contains </a:t>
            </a:r>
            <a:r>
              <a:rPr lang="en-US" b="1" dirty="0">
                <a:solidFill>
                  <a:schemeClr val="tx2"/>
                </a:solidFill>
              </a:rPr>
              <a:t>two events</a:t>
            </a:r>
            <a:r>
              <a:rPr lang="en-US" dirty="0">
                <a:solidFill>
                  <a:schemeClr val="tx2"/>
                </a:solidFill>
              </a:rPr>
              <a:t>:</a:t>
            </a:r>
          </a:p>
          <a:p>
            <a:endParaRPr lang="en-US" b="1" dirty="0">
              <a:solidFill>
                <a:schemeClr val="tx2"/>
              </a:solidFill>
            </a:endParaRPr>
          </a:p>
          <a:p>
            <a:r>
              <a:rPr lang="en-US" b="1" dirty="0">
                <a:solidFill>
                  <a:schemeClr val="tx2"/>
                </a:solidFill>
              </a:rPr>
              <a:t>E1 </a:t>
            </a:r>
            <a:r>
              <a:rPr lang="ja-JP" altLang="es-MX" b="1" dirty="0">
                <a:solidFill>
                  <a:schemeClr val="tx2"/>
                </a:solidFill>
              </a:rPr>
              <a:t>➞</a:t>
            </a:r>
            <a:r>
              <a:rPr lang="en-US" b="1" dirty="0">
                <a:solidFill>
                  <a:schemeClr val="tx2"/>
                </a:solidFill>
              </a:rPr>
              <a:t> </a:t>
            </a:r>
            <a:r>
              <a:rPr lang="en-US" dirty="0">
                <a:solidFill>
                  <a:schemeClr val="tx2"/>
                </a:solidFill>
              </a:rPr>
              <a:t>Tom was tired</a:t>
            </a:r>
          </a:p>
          <a:p>
            <a:r>
              <a:rPr lang="en-US" b="1" dirty="0">
                <a:solidFill>
                  <a:schemeClr val="tx2"/>
                </a:solidFill>
              </a:rPr>
              <a:t>E2 </a:t>
            </a:r>
            <a:r>
              <a:rPr lang="ja-JP" altLang="es-MX" b="1" dirty="0">
                <a:solidFill>
                  <a:schemeClr val="tx2"/>
                </a:solidFill>
              </a:rPr>
              <a:t>➞ </a:t>
            </a:r>
            <a:r>
              <a:rPr lang="en-US" dirty="0">
                <a:solidFill>
                  <a:schemeClr val="tx2"/>
                </a:solidFill>
              </a:rPr>
              <a:t>Tom wanted to have fun</a:t>
            </a:r>
          </a:p>
          <a:p>
            <a:endParaRPr lang="en-US" b="1" dirty="0">
              <a:solidFill>
                <a:schemeClr val="tx2"/>
              </a:solidFill>
            </a:endParaRPr>
          </a:p>
          <a:p>
            <a:r>
              <a:rPr lang="en-US" b="1" dirty="0">
                <a:solidFill>
                  <a:schemeClr val="tx2"/>
                </a:solidFill>
              </a:rPr>
              <a:t>Key observation</a:t>
            </a:r>
            <a:endParaRPr lang="en-US" dirty="0">
              <a:solidFill>
                <a:schemeClr val="tx2"/>
              </a:solidFill>
            </a:endParaRPr>
          </a:p>
          <a:p>
            <a:r>
              <a:rPr lang="en-US" dirty="0">
                <a:solidFill>
                  <a:schemeClr val="tx2"/>
                </a:solidFill>
              </a:rPr>
              <a:t>Both events share the </a:t>
            </a:r>
            <a:r>
              <a:rPr lang="en-US" b="1" dirty="0">
                <a:solidFill>
                  <a:schemeClr val="tx2"/>
                </a:solidFill>
              </a:rPr>
              <a:t>same subject: Tom</a:t>
            </a:r>
            <a:endParaRPr lang="en-US" dirty="0">
              <a:solidFill>
                <a:schemeClr val="tx2"/>
              </a:solidFill>
            </a:endParaRPr>
          </a:p>
          <a:p>
            <a:r>
              <a:rPr lang="en-US" dirty="0">
                <a:solidFill>
                  <a:schemeClr val="tx2"/>
                </a:solidFill>
              </a:rPr>
              <a:t>However, during </a:t>
            </a:r>
            <a:r>
              <a:rPr lang="en-US" b="1" dirty="0">
                <a:solidFill>
                  <a:schemeClr val="tx2"/>
                </a:solidFill>
              </a:rPr>
              <a:t>event extraction</a:t>
            </a:r>
            <a:r>
              <a:rPr lang="en-US" dirty="0">
                <a:solidFill>
                  <a:schemeClr val="tx2"/>
                </a:solidFill>
              </a:rPr>
              <a:t>, the events are separated into </a:t>
            </a:r>
            <a:r>
              <a:rPr lang="en-US" b="1" dirty="0">
                <a:solidFill>
                  <a:schemeClr val="tx2"/>
                </a:solidFill>
              </a:rPr>
              <a:t>E1 and E2</a:t>
            </a:r>
            <a:r>
              <a:rPr lang="en-US" dirty="0">
                <a:solidFill>
                  <a:schemeClr val="tx2"/>
                </a:solidFill>
              </a:rPr>
              <a:t>, and this shared argument information can be lost.</a:t>
            </a:r>
          </a:p>
          <a:p>
            <a:endParaRPr lang="ja-JP" altLang="es-MX" dirty="0">
              <a:solidFill>
                <a:schemeClr val="tx2"/>
              </a:solidFill>
            </a:endParaRPr>
          </a:p>
        </p:txBody>
      </p:sp>
      <p:sp>
        <p:nvSpPr>
          <p:cNvPr id="14" name="Rectangle 13">
            <a:extLst>
              <a:ext uri="{FF2B5EF4-FFF2-40B4-BE49-F238E27FC236}">
                <a16:creationId xmlns:a16="http://schemas.microsoft.com/office/drawing/2014/main" id="{A596C4DD-1E6A-E279-6036-6613B40B096E}"/>
              </a:ext>
            </a:extLst>
          </p:cNvPr>
          <p:cNvSpPr/>
          <p:nvPr/>
        </p:nvSpPr>
        <p:spPr>
          <a:xfrm>
            <a:off x="572346" y="2367280"/>
            <a:ext cx="5313680" cy="58928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Issue A </a:t>
            </a:r>
            <a:r>
              <a:rPr lang="en-US" dirty="0"/>
              <a:t>— </a:t>
            </a:r>
            <a:r>
              <a:rPr lang="en-US" i="1" dirty="0"/>
              <a:t>Events Share Arguments</a:t>
            </a:r>
            <a:endParaRPr lang="es-MX" b="1" i="1" dirty="0"/>
          </a:p>
        </p:txBody>
      </p:sp>
      <p:sp>
        <p:nvSpPr>
          <p:cNvPr id="15" name="Rectangle 14">
            <a:extLst>
              <a:ext uri="{FF2B5EF4-FFF2-40B4-BE49-F238E27FC236}">
                <a16:creationId xmlns:a16="http://schemas.microsoft.com/office/drawing/2014/main" id="{C359A988-3857-C9B7-E469-9273FE857674}"/>
              </a:ext>
            </a:extLst>
          </p:cNvPr>
          <p:cNvSpPr/>
          <p:nvPr/>
        </p:nvSpPr>
        <p:spPr>
          <a:xfrm>
            <a:off x="6305974" y="2956560"/>
            <a:ext cx="5313680" cy="356618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2"/>
                </a:solidFill>
              </a:rPr>
              <a:t>Events extracted independently</a:t>
            </a:r>
          </a:p>
          <a:p>
            <a:endParaRPr lang="en-US" dirty="0">
              <a:solidFill>
                <a:schemeClr val="tx2"/>
              </a:solidFill>
            </a:endParaRPr>
          </a:p>
          <a:p>
            <a:pPr>
              <a:lnSpc>
                <a:spcPct val="150000"/>
              </a:lnSpc>
            </a:pPr>
            <a:r>
              <a:rPr lang="en-US" dirty="0">
                <a:solidFill>
                  <a:schemeClr val="tx2"/>
                </a:solidFill>
              </a:rPr>
              <a:t>The general had some wine.</a:t>
            </a:r>
          </a:p>
          <a:p>
            <a:pPr>
              <a:lnSpc>
                <a:spcPct val="150000"/>
              </a:lnSpc>
            </a:pPr>
            <a:r>
              <a:rPr lang="en-US" dirty="0">
                <a:solidFill>
                  <a:schemeClr val="tx2"/>
                </a:solidFill>
              </a:rPr>
              <a:t>He felt sleepy.</a:t>
            </a:r>
          </a:p>
          <a:p>
            <a:pPr>
              <a:lnSpc>
                <a:spcPct val="150000"/>
              </a:lnSpc>
            </a:pPr>
            <a:r>
              <a:rPr lang="en-US" dirty="0">
                <a:solidFill>
                  <a:schemeClr val="tx2"/>
                </a:solidFill>
              </a:rPr>
              <a:t>He said goodbye to them.</a:t>
            </a:r>
            <a:br>
              <a:rPr lang="en-US" dirty="0">
                <a:solidFill>
                  <a:schemeClr val="tx2"/>
                </a:solidFill>
              </a:rPr>
            </a:br>
            <a:endParaRPr lang="en-US" dirty="0">
              <a:solidFill>
                <a:schemeClr val="tx2"/>
              </a:solidFill>
            </a:endParaRPr>
          </a:p>
          <a:p>
            <a:r>
              <a:rPr lang="en-US" b="1" dirty="0">
                <a:solidFill>
                  <a:schemeClr val="tx2"/>
                </a:solidFill>
              </a:rPr>
              <a:t>Problem</a:t>
            </a:r>
            <a:endParaRPr lang="en-US" dirty="0">
              <a:solidFill>
                <a:schemeClr val="tx2"/>
              </a:solidFill>
            </a:endParaRPr>
          </a:p>
          <a:p>
            <a:r>
              <a:rPr lang="en-US" dirty="0">
                <a:solidFill>
                  <a:schemeClr val="tx2"/>
                </a:solidFill>
              </a:rPr>
              <a:t>Without context, the system cannot link </a:t>
            </a:r>
          </a:p>
          <a:p>
            <a:r>
              <a:rPr lang="en-US" b="1" dirty="0">
                <a:solidFill>
                  <a:schemeClr val="tx2"/>
                </a:solidFill>
              </a:rPr>
              <a:t>"He"</a:t>
            </a:r>
            <a:r>
              <a:rPr lang="en-US" dirty="0">
                <a:solidFill>
                  <a:schemeClr val="tx2"/>
                </a:solidFill>
              </a:rPr>
              <a:t> back to </a:t>
            </a:r>
            <a:r>
              <a:rPr lang="en-US" b="1" dirty="0">
                <a:solidFill>
                  <a:schemeClr val="tx2"/>
                </a:solidFill>
              </a:rPr>
              <a:t>"the general"</a:t>
            </a:r>
            <a:r>
              <a:rPr lang="en-US" dirty="0">
                <a:solidFill>
                  <a:schemeClr val="tx2"/>
                </a:solidFill>
              </a:rPr>
              <a:t>.</a:t>
            </a:r>
          </a:p>
          <a:p>
            <a:pPr algn="ctr"/>
            <a:endParaRPr lang="es-MX" dirty="0"/>
          </a:p>
        </p:txBody>
      </p:sp>
      <p:sp>
        <p:nvSpPr>
          <p:cNvPr id="16" name="Rectangle 15">
            <a:extLst>
              <a:ext uri="{FF2B5EF4-FFF2-40B4-BE49-F238E27FC236}">
                <a16:creationId xmlns:a16="http://schemas.microsoft.com/office/drawing/2014/main" id="{DCB64918-5E3C-4234-E990-6F11C1FAB5EE}"/>
              </a:ext>
            </a:extLst>
          </p:cNvPr>
          <p:cNvSpPr/>
          <p:nvPr/>
        </p:nvSpPr>
        <p:spPr>
          <a:xfrm>
            <a:off x="6305974" y="2367280"/>
            <a:ext cx="5313680" cy="58928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Issue B </a:t>
            </a:r>
            <a:r>
              <a:rPr lang="en-US" dirty="0"/>
              <a:t>— </a:t>
            </a:r>
            <a:r>
              <a:rPr lang="en-US" i="1" dirty="0"/>
              <a:t>Co-reference Lost After Extraction</a:t>
            </a:r>
            <a:endParaRPr lang="es-MX" b="1" i="1" dirty="0"/>
          </a:p>
        </p:txBody>
      </p:sp>
      <p:sp>
        <p:nvSpPr>
          <p:cNvPr id="18" name="Rectangle 17">
            <a:extLst>
              <a:ext uri="{FF2B5EF4-FFF2-40B4-BE49-F238E27FC236}">
                <a16:creationId xmlns:a16="http://schemas.microsoft.com/office/drawing/2014/main" id="{C7DAC761-B8E6-B482-1819-C1ACE2FC498A}"/>
              </a:ext>
            </a:extLst>
          </p:cNvPr>
          <p:cNvSpPr/>
          <p:nvPr/>
        </p:nvSpPr>
        <p:spPr>
          <a:xfrm>
            <a:off x="10200640" y="3667601"/>
            <a:ext cx="1110828" cy="3455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b="1" i="1" dirty="0"/>
              <a:t>General</a:t>
            </a:r>
          </a:p>
        </p:txBody>
      </p:sp>
      <p:sp>
        <p:nvSpPr>
          <p:cNvPr id="19" name="Rectangle 18">
            <a:extLst>
              <a:ext uri="{FF2B5EF4-FFF2-40B4-BE49-F238E27FC236}">
                <a16:creationId xmlns:a16="http://schemas.microsoft.com/office/drawing/2014/main" id="{252D27EB-7CE3-3C09-9370-70717D265586}"/>
              </a:ext>
            </a:extLst>
          </p:cNvPr>
          <p:cNvSpPr/>
          <p:nvPr/>
        </p:nvSpPr>
        <p:spPr>
          <a:xfrm>
            <a:off x="10200640" y="4094569"/>
            <a:ext cx="1110828" cy="34559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b="1" i="1" dirty="0"/>
              <a:t>He?</a:t>
            </a:r>
          </a:p>
        </p:txBody>
      </p:sp>
      <p:sp>
        <p:nvSpPr>
          <p:cNvPr id="20" name="Rectangle 19">
            <a:extLst>
              <a:ext uri="{FF2B5EF4-FFF2-40B4-BE49-F238E27FC236}">
                <a16:creationId xmlns:a16="http://schemas.microsoft.com/office/drawing/2014/main" id="{A9F8EBE4-AB7A-BF39-6A94-A775AC69A8D2}"/>
              </a:ext>
            </a:extLst>
          </p:cNvPr>
          <p:cNvSpPr/>
          <p:nvPr/>
        </p:nvSpPr>
        <p:spPr>
          <a:xfrm>
            <a:off x="10200640" y="4521537"/>
            <a:ext cx="1110828" cy="34559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b="1" i="1" dirty="0"/>
              <a:t>He?</a:t>
            </a:r>
          </a:p>
        </p:txBody>
      </p:sp>
    </p:spTree>
    <p:extLst>
      <p:ext uri="{BB962C8B-B14F-4D97-AF65-F5344CB8AC3E}">
        <p14:creationId xmlns:p14="http://schemas.microsoft.com/office/powerpoint/2010/main" val="830696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64A6E-AF5B-468C-C38D-9617E128EB9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EA76B62-8D63-5565-F780-804D26F22F0A}"/>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18796859-69CC-B243-8A06-0A26716BDEAA}"/>
              </a:ext>
            </a:extLst>
          </p:cNvPr>
          <p:cNvSpPr>
            <a:spLocks noGrp="1"/>
          </p:cNvSpPr>
          <p:nvPr>
            <p:ph type="title"/>
          </p:nvPr>
        </p:nvSpPr>
        <p:spPr>
          <a:xfrm>
            <a:off x="423334" y="0"/>
            <a:ext cx="10515600" cy="1015662"/>
          </a:xfrm>
        </p:spPr>
        <p:txBody>
          <a:bodyPr>
            <a:normAutofit/>
          </a:bodyPr>
          <a:lstStyle/>
          <a:p>
            <a:r>
              <a:rPr lang="es-MX" sz="3200" b="1" i="1" dirty="0" err="1">
                <a:solidFill>
                  <a:schemeClr val="bg1"/>
                </a:solidFill>
              </a:rPr>
              <a:t>Problem</a:t>
            </a:r>
            <a:r>
              <a:rPr lang="es-MX" sz="3200" b="1" i="1" dirty="0">
                <a:solidFill>
                  <a:schemeClr val="bg1"/>
                </a:solidFill>
              </a:rPr>
              <a:t> 2: </a:t>
            </a:r>
            <a:r>
              <a:rPr lang="es-MX" sz="4000" b="1" dirty="0" err="1">
                <a:solidFill>
                  <a:schemeClr val="bg1"/>
                </a:solidFill>
              </a:rPr>
              <a:t>Event</a:t>
            </a:r>
            <a:r>
              <a:rPr lang="es-MX" sz="4000" b="1" dirty="0">
                <a:solidFill>
                  <a:schemeClr val="bg1"/>
                </a:solidFill>
              </a:rPr>
              <a:t> </a:t>
            </a:r>
            <a:r>
              <a:rPr lang="es-MX" sz="4000" b="1" dirty="0" err="1">
                <a:solidFill>
                  <a:schemeClr val="bg1"/>
                </a:solidFill>
              </a:rPr>
              <a:t>Sparsity</a:t>
            </a:r>
            <a:endParaRPr lang="es-MX" sz="4000" b="1" dirty="0">
              <a:solidFill>
                <a:schemeClr val="bg1"/>
              </a:solidFill>
            </a:endParaRPr>
          </a:p>
        </p:txBody>
      </p:sp>
      <p:sp>
        <p:nvSpPr>
          <p:cNvPr id="5" name="TextBox 4">
            <a:extLst>
              <a:ext uri="{FF2B5EF4-FFF2-40B4-BE49-F238E27FC236}">
                <a16:creationId xmlns:a16="http://schemas.microsoft.com/office/drawing/2014/main" id="{DEAEE7D1-4592-2777-51DA-C2617235C9A6}"/>
              </a:ext>
            </a:extLst>
          </p:cNvPr>
          <p:cNvSpPr txBox="1"/>
          <p:nvPr/>
        </p:nvSpPr>
        <p:spPr>
          <a:xfrm>
            <a:off x="394547" y="1221540"/>
            <a:ext cx="11301306" cy="923330"/>
          </a:xfrm>
          <a:prstGeom prst="rect">
            <a:avLst/>
          </a:prstGeom>
          <a:noFill/>
        </p:spPr>
        <p:txBody>
          <a:bodyPr wrap="square">
            <a:spAutoFit/>
          </a:bodyPr>
          <a:lstStyle/>
          <a:p>
            <a:pPr>
              <a:buNone/>
            </a:pPr>
            <a:r>
              <a:rPr lang="es-MX" altLang="ja-JP" b="1" dirty="0" err="1"/>
              <a:t>Event</a:t>
            </a:r>
            <a:r>
              <a:rPr lang="es-MX" altLang="ja-JP" b="1" dirty="0"/>
              <a:t> </a:t>
            </a:r>
            <a:r>
              <a:rPr lang="es-MX" altLang="ja-JP" b="1" dirty="0" err="1"/>
              <a:t>Sparsity</a:t>
            </a:r>
            <a:r>
              <a:rPr lang="es-MX" altLang="ja-JP" b="1" dirty="0"/>
              <a:t> </a:t>
            </a:r>
            <a:r>
              <a:rPr lang="ja-JP" altLang="es-MX" b="1" dirty="0"/>
              <a:t>とは</a:t>
            </a:r>
          </a:p>
          <a:p>
            <a:pPr>
              <a:buNone/>
            </a:pPr>
            <a:r>
              <a:rPr lang="ja-JP" altLang="es-MX" dirty="0"/>
              <a:t>自然言語では、</a:t>
            </a:r>
            <a:r>
              <a:rPr lang="ja-JP" altLang="es-MX" b="1" dirty="0"/>
              <a:t>同じ出来事（イベント）が多くの異なる表現で記述される</a:t>
            </a:r>
            <a:r>
              <a:rPr lang="ja-JP" altLang="es-MX" dirty="0"/>
              <a:t>ことがあります。その結果、</a:t>
            </a:r>
            <a:r>
              <a:rPr lang="es-MX" altLang="ja-JP" dirty="0" err="1"/>
              <a:t>Knowledge</a:t>
            </a:r>
            <a:r>
              <a:rPr lang="es-MX" altLang="ja-JP" dirty="0"/>
              <a:t> </a:t>
            </a:r>
            <a:r>
              <a:rPr lang="es-MX" altLang="ja-JP" dirty="0" err="1"/>
              <a:t>Graph</a:t>
            </a:r>
            <a:r>
              <a:rPr lang="es-MX" altLang="ja-JP" dirty="0"/>
              <a:t> </a:t>
            </a:r>
            <a:r>
              <a:rPr lang="ja-JP" altLang="es-MX" dirty="0"/>
              <a:t>では</a:t>
            </a:r>
            <a:r>
              <a:rPr lang="ja-JP" altLang="es-MX" b="1" dirty="0"/>
              <a:t>意味がほぼ同じイベントが別々のノードとして存在する</a:t>
            </a:r>
            <a:r>
              <a:rPr lang="ja-JP" altLang="es-MX" dirty="0"/>
              <a:t>ことが多くなります。</a:t>
            </a:r>
          </a:p>
        </p:txBody>
      </p:sp>
      <p:sp>
        <p:nvSpPr>
          <p:cNvPr id="9" name="TextBox 8">
            <a:extLst>
              <a:ext uri="{FF2B5EF4-FFF2-40B4-BE49-F238E27FC236}">
                <a16:creationId xmlns:a16="http://schemas.microsoft.com/office/drawing/2014/main" id="{EE02F3C0-C76A-9D9F-E72F-4FB31F7A53C3}"/>
              </a:ext>
            </a:extLst>
          </p:cNvPr>
          <p:cNvSpPr txBox="1"/>
          <p:nvPr/>
        </p:nvSpPr>
        <p:spPr>
          <a:xfrm>
            <a:off x="394547" y="2414339"/>
            <a:ext cx="11402906" cy="4247317"/>
          </a:xfrm>
          <a:prstGeom prst="rect">
            <a:avLst/>
          </a:prstGeom>
          <a:noFill/>
        </p:spPr>
        <p:txBody>
          <a:bodyPr wrap="square">
            <a:spAutoFit/>
          </a:bodyPr>
          <a:lstStyle/>
          <a:p>
            <a:r>
              <a:rPr lang="zh-CN" altLang="es-MX" b="1" dirty="0"/>
              <a:t>例</a:t>
            </a:r>
            <a:r>
              <a:rPr lang="es-MX" altLang="zh-CN" b="1" dirty="0"/>
              <a:t>:</a:t>
            </a:r>
          </a:p>
          <a:p>
            <a:endParaRPr lang="es-MX" altLang="zh-CN" dirty="0"/>
          </a:p>
          <a:p>
            <a:r>
              <a:rPr lang="ja-JP" altLang="es-MX" dirty="0"/>
              <a:t>テキスト中のイベント</a:t>
            </a:r>
            <a:r>
              <a:rPr lang="es-MX" altLang="ja-JP" dirty="0"/>
              <a:t>:</a:t>
            </a:r>
            <a:endParaRPr lang="en-US" dirty="0"/>
          </a:p>
          <a:p>
            <a:endParaRPr lang="en-US" dirty="0"/>
          </a:p>
          <a:p>
            <a:endParaRPr lang="en-US" dirty="0"/>
          </a:p>
          <a:p>
            <a:r>
              <a:rPr lang="es-MX" dirty="0" err="1"/>
              <a:t>Knowledge</a:t>
            </a:r>
            <a:r>
              <a:rPr lang="es-MX" dirty="0"/>
              <a:t> </a:t>
            </a:r>
            <a:r>
              <a:rPr lang="es-MX" dirty="0" err="1"/>
              <a:t>Graph</a:t>
            </a:r>
            <a:r>
              <a:rPr lang="es-MX" dirty="0"/>
              <a:t> </a:t>
            </a:r>
            <a:r>
              <a:rPr lang="ja-JP" altLang="es-MX" dirty="0"/>
              <a:t>に</a:t>
            </a:r>
            <a:r>
              <a:rPr lang="zh-CN" altLang="es-MX" dirty="0"/>
              <a:t>存在</a:t>
            </a:r>
            <a:r>
              <a:rPr lang="ja-JP" altLang="es-MX" dirty="0"/>
              <a:t>する</a:t>
            </a:r>
            <a:r>
              <a:rPr lang="zh-CN" altLang="es-MX" dirty="0"/>
              <a:t>可能性</a:t>
            </a:r>
            <a:r>
              <a:rPr lang="ja-JP" altLang="es-MX" dirty="0"/>
              <a:t>のあるイベント</a:t>
            </a:r>
            <a:r>
              <a:rPr lang="es-MX" altLang="ja-JP" dirty="0"/>
              <a:t>:</a:t>
            </a:r>
          </a:p>
          <a:p>
            <a:endParaRPr lang="es-MX" b="1" dirty="0"/>
          </a:p>
          <a:p>
            <a:endParaRPr lang="es-MX" b="1" dirty="0"/>
          </a:p>
          <a:p>
            <a:endParaRPr lang="es-MX" b="1" dirty="0"/>
          </a:p>
          <a:p>
            <a:endParaRPr lang="en-US" dirty="0"/>
          </a:p>
          <a:p>
            <a:r>
              <a:rPr lang="ja-JP" altLang="es-MX" b="1" dirty="0"/>
              <a:t>なぜ問題なのか</a:t>
            </a:r>
          </a:p>
          <a:p>
            <a:r>
              <a:rPr lang="ja-JP" altLang="es-MX" dirty="0"/>
              <a:t>イベントのスパース性は次の問題を引き起こします：</a:t>
            </a:r>
          </a:p>
          <a:p>
            <a:r>
              <a:rPr lang="es-MX" altLang="ja-JP" dirty="0"/>
              <a:t>• </a:t>
            </a:r>
            <a:r>
              <a:rPr lang="ja-JP" altLang="es-MX" dirty="0"/>
              <a:t>テキストのイベントと </a:t>
            </a:r>
            <a:r>
              <a:rPr lang="es-MX" altLang="ja-JP" dirty="0" err="1"/>
              <a:t>Knowledge</a:t>
            </a:r>
            <a:r>
              <a:rPr lang="es-MX" altLang="ja-JP" dirty="0"/>
              <a:t> </a:t>
            </a:r>
            <a:r>
              <a:rPr lang="es-MX" altLang="ja-JP" dirty="0" err="1"/>
              <a:t>Graph</a:t>
            </a:r>
            <a:r>
              <a:rPr lang="es-MX" altLang="ja-JP" dirty="0"/>
              <a:t> </a:t>
            </a:r>
            <a:r>
              <a:rPr lang="ja-JP" altLang="es-MX" dirty="0"/>
              <a:t>のイベントを </a:t>
            </a:r>
            <a:r>
              <a:rPr lang="ja-JP" altLang="es-MX" b="1" dirty="0"/>
              <a:t>対応付けることが難しい</a:t>
            </a:r>
            <a:br>
              <a:rPr lang="ja-JP" altLang="es-MX" dirty="0"/>
            </a:br>
            <a:r>
              <a:rPr lang="es-MX" altLang="ja-JP" dirty="0"/>
              <a:t>• </a:t>
            </a:r>
            <a:r>
              <a:rPr lang="ja-JP" altLang="es-MX" dirty="0"/>
              <a:t>推論に必要な知識を </a:t>
            </a:r>
            <a:r>
              <a:rPr lang="ja-JP" altLang="es-MX" b="1" dirty="0"/>
              <a:t>正しく取得できない可能性がある</a:t>
            </a:r>
            <a:br>
              <a:rPr lang="ja-JP" altLang="es-MX" dirty="0"/>
            </a:br>
            <a:r>
              <a:rPr lang="es-MX" altLang="ja-JP" dirty="0"/>
              <a:t>• </a:t>
            </a:r>
            <a:r>
              <a:rPr lang="ja-JP" altLang="es-MX" dirty="0"/>
              <a:t>同じイベントの異なる表現を </a:t>
            </a:r>
            <a:r>
              <a:rPr lang="ja-JP" altLang="es-MX" b="1" dirty="0"/>
              <a:t>一般化して扱うことが難しい</a:t>
            </a:r>
            <a:endParaRPr lang="ja-JP" altLang="es-MX" dirty="0"/>
          </a:p>
        </p:txBody>
      </p:sp>
      <p:sp>
        <p:nvSpPr>
          <p:cNvPr id="10" name="Rectangle 9">
            <a:extLst>
              <a:ext uri="{FF2B5EF4-FFF2-40B4-BE49-F238E27FC236}">
                <a16:creationId xmlns:a16="http://schemas.microsoft.com/office/drawing/2014/main" id="{D5A9BF6A-2206-DEF9-5006-7C0FBBE3CC42}"/>
              </a:ext>
            </a:extLst>
          </p:cNvPr>
          <p:cNvSpPr/>
          <p:nvPr/>
        </p:nvSpPr>
        <p:spPr>
          <a:xfrm>
            <a:off x="6890173" y="2776142"/>
            <a:ext cx="4460240" cy="663681"/>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Tom bought a movie ticket</a:t>
            </a:r>
          </a:p>
        </p:txBody>
      </p:sp>
      <p:sp>
        <p:nvSpPr>
          <p:cNvPr id="15" name="Rectangle 14">
            <a:extLst>
              <a:ext uri="{FF2B5EF4-FFF2-40B4-BE49-F238E27FC236}">
                <a16:creationId xmlns:a16="http://schemas.microsoft.com/office/drawing/2014/main" id="{D95A58EE-102C-4179-8568-B7715801DFF5}"/>
              </a:ext>
            </a:extLst>
          </p:cNvPr>
          <p:cNvSpPr/>
          <p:nvPr/>
        </p:nvSpPr>
        <p:spPr>
          <a:xfrm>
            <a:off x="6890173" y="3709292"/>
            <a:ext cx="4460240" cy="1430654"/>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t>
            </a:r>
            <a:r>
              <a:rPr lang="en-US" dirty="0" err="1"/>
              <a:t>PersonX</a:t>
            </a:r>
            <a:r>
              <a:rPr lang="en-US" dirty="0"/>
              <a:t> buys movie ticket</a:t>
            </a:r>
            <a:br>
              <a:rPr lang="en-US" dirty="0"/>
            </a:br>
            <a:r>
              <a:rPr lang="en-US" dirty="0"/>
              <a:t>        </a:t>
            </a:r>
            <a:r>
              <a:rPr lang="en-US" dirty="0" err="1"/>
              <a:t>PersonX</a:t>
            </a:r>
            <a:r>
              <a:rPr lang="en-US" dirty="0"/>
              <a:t> purchases cinema ticket</a:t>
            </a:r>
            <a:br>
              <a:rPr lang="en-US" dirty="0"/>
            </a:br>
            <a:r>
              <a:rPr lang="en-US" dirty="0"/>
              <a:t>        </a:t>
            </a:r>
            <a:r>
              <a:rPr lang="en-US" dirty="0" err="1"/>
              <a:t>PersonX</a:t>
            </a:r>
            <a:r>
              <a:rPr lang="en-US" dirty="0"/>
              <a:t> gets ticket for movie</a:t>
            </a:r>
            <a:br>
              <a:rPr lang="en-US" dirty="0"/>
            </a:br>
            <a:r>
              <a:rPr lang="en-US" dirty="0"/>
              <a:t>        </a:t>
            </a:r>
            <a:r>
              <a:rPr lang="en-US" dirty="0" err="1"/>
              <a:t>PersonX</a:t>
            </a:r>
            <a:r>
              <a:rPr lang="en-US" dirty="0"/>
              <a:t> buys ticket for film</a:t>
            </a:r>
          </a:p>
        </p:txBody>
      </p:sp>
    </p:spTree>
    <p:extLst>
      <p:ext uri="{BB962C8B-B14F-4D97-AF65-F5344CB8AC3E}">
        <p14:creationId xmlns:p14="http://schemas.microsoft.com/office/powerpoint/2010/main" val="509870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2FCB4-C934-1B72-ECD0-6BE4F23A358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2134007-25F6-A008-607B-5F9BE443CECB}"/>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A95F0E36-3BC3-99B8-1C1B-7E77BCA898FC}"/>
              </a:ext>
            </a:extLst>
          </p:cNvPr>
          <p:cNvSpPr>
            <a:spLocks noGrp="1"/>
          </p:cNvSpPr>
          <p:nvPr>
            <p:ph type="title"/>
          </p:nvPr>
        </p:nvSpPr>
        <p:spPr>
          <a:xfrm>
            <a:off x="423334" y="0"/>
            <a:ext cx="10515600" cy="1015662"/>
          </a:xfrm>
        </p:spPr>
        <p:txBody>
          <a:bodyPr>
            <a:normAutofit/>
          </a:bodyPr>
          <a:lstStyle/>
          <a:p>
            <a:r>
              <a:rPr lang="es-MX" altLang="ja-JP" sz="3200" b="1" dirty="0">
                <a:solidFill>
                  <a:schemeClr val="bg1"/>
                </a:solidFill>
              </a:rPr>
              <a:t>Step 1: </a:t>
            </a:r>
            <a:r>
              <a:rPr lang="es-MX" altLang="ja-JP" sz="3200" b="1" dirty="0" err="1">
                <a:solidFill>
                  <a:schemeClr val="bg1"/>
                </a:solidFill>
              </a:rPr>
              <a:t>Event</a:t>
            </a:r>
            <a:r>
              <a:rPr lang="es-MX" altLang="ja-JP" sz="3200" b="1" dirty="0">
                <a:solidFill>
                  <a:schemeClr val="bg1"/>
                </a:solidFill>
              </a:rPr>
              <a:t> </a:t>
            </a:r>
            <a:r>
              <a:rPr lang="es-MX" altLang="ja-JP" sz="3200" b="1" dirty="0" err="1">
                <a:solidFill>
                  <a:schemeClr val="bg1"/>
                </a:solidFill>
              </a:rPr>
              <a:t>Extraction</a:t>
            </a:r>
            <a:r>
              <a:rPr lang="es-MX" altLang="ja-JP" sz="3200" b="1" dirty="0">
                <a:solidFill>
                  <a:schemeClr val="bg1"/>
                </a:solidFill>
              </a:rPr>
              <a:t> – </a:t>
            </a:r>
            <a:r>
              <a:rPr lang="es-MX" altLang="ja-JP" sz="3200" b="1" dirty="0" err="1">
                <a:solidFill>
                  <a:schemeClr val="bg1"/>
                </a:solidFill>
              </a:rPr>
              <a:t>Semantic</a:t>
            </a:r>
            <a:r>
              <a:rPr lang="es-MX" altLang="ja-JP" sz="3200" b="1" dirty="0">
                <a:solidFill>
                  <a:schemeClr val="bg1"/>
                </a:solidFill>
              </a:rPr>
              <a:t> Role </a:t>
            </a:r>
            <a:r>
              <a:rPr lang="es-MX" altLang="ja-JP" sz="3200" b="1" dirty="0" err="1">
                <a:solidFill>
                  <a:schemeClr val="bg1"/>
                </a:solidFill>
              </a:rPr>
              <a:t>Labeling</a:t>
            </a:r>
            <a:endParaRPr lang="es-MX" sz="4000" b="1" dirty="0">
              <a:solidFill>
                <a:schemeClr val="bg1"/>
              </a:solidFill>
            </a:endParaRPr>
          </a:p>
        </p:txBody>
      </p:sp>
      <p:graphicFrame>
        <p:nvGraphicFramePr>
          <p:cNvPr id="20" name="Table 19">
            <a:extLst>
              <a:ext uri="{FF2B5EF4-FFF2-40B4-BE49-F238E27FC236}">
                <a16:creationId xmlns:a16="http://schemas.microsoft.com/office/drawing/2014/main" id="{32BDD682-6A34-CF9E-2D79-9F65B5818FB5}"/>
              </a:ext>
            </a:extLst>
          </p:cNvPr>
          <p:cNvGraphicFramePr>
            <a:graphicFrameLocks noGrp="1"/>
          </p:cNvGraphicFramePr>
          <p:nvPr>
            <p:extLst>
              <p:ext uri="{D42A27DB-BD31-4B8C-83A1-F6EECF244321}">
                <p14:modId xmlns:p14="http://schemas.microsoft.com/office/powerpoint/2010/main" val="21645789"/>
              </p:ext>
            </p:extLst>
          </p:nvPr>
        </p:nvGraphicFramePr>
        <p:xfrm>
          <a:off x="6096000" y="3119120"/>
          <a:ext cx="5751830" cy="3032755"/>
        </p:xfrm>
        <a:graphic>
          <a:graphicData uri="http://schemas.openxmlformats.org/drawingml/2006/table">
            <a:tbl>
              <a:tblPr/>
              <a:tblGrid>
                <a:gridCol w="1224336">
                  <a:extLst>
                    <a:ext uri="{9D8B030D-6E8A-4147-A177-3AD203B41FA5}">
                      <a16:colId xmlns:a16="http://schemas.microsoft.com/office/drawing/2014/main" val="485914368"/>
                    </a:ext>
                  </a:extLst>
                </a:gridCol>
                <a:gridCol w="2321138">
                  <a:extLst>
                    <a:ext uri="{9D8B030D-6E8A-4147-A177-3AD203B41FA5}">
                      <a16:colId xmlns:a16="http://schemas.microsoft.com/office/drawing/2014/main" val="2115355015"/>
                    </a:ext>
                  </a:extLst>
                </a:gridCol>
                <a:gridCol w="2206356">
                  <a:extLst>
                    <a:ext uri="{9D8B030D-6E8A-4147-A177-3AD203B41FA5}">
                      <a16:colId xmlns:a16="http://schemas.microsoft.com/office/drawing/2014/main" val="1928634189"/>
                    </a:ext>
                  </a:extLst>
                </a:gridCol>
              </a:tblGrid>
              <a:tr h="660358">
                <a:tc>
                  <a:txBody>
                    <a:bodyPr/>
                    <a:lstStyle/>
                    <a:p>
                      <a:pPr algn="ctr" rtl="0" fontAlgn="t">
                        <a:buNone/>
                      </a:pPr>
                      <a:endParaRPr lang="es-MX" sz="1400" b="1" i="0" u="none" strike="noStrike" dirty="0">
                        <a:solidFill>
                          <a:srgbClr val="FFFFFF"/>
                        </a:solidFill>
                        <a:effectLst/>
                        <a:latin typeface="Calibri" panose="020F0502020204030204" pitchFamily="34" charset="0"/>
                      </a:endParaRPr>
                    </a:p>
                    <a:p>
                      <a:pPr algn="ctr" rtl="0" fontAlgn="t">
                        <a:buNone/>
                      </a:pPr>
                      <a:r>
                        <a:rPr lang="es-MX" sz="1400" b="1" i="0" u="none" strike="noStrike" dirty="0">
                          <a:solidFill>
                            <a:srgbClr val="FFFFFF"/>
                          </a:solidFill>
                          <a:effectLst/>
                          <a:latin typeface="Calibri" panose="020F0502020204030204" pitchFamily="34" charset="0"/>
                        </a:rPr>
                        <a:t>Role</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1B2A4A"/>
                    </a:solidFill>
                  </a:tcPr>
                </a:tc>
                <a:tc>
                  <a:txBody>
                    <a:bodyPr/>
                    <a:lstStyle/>
                    <a:p>
                      <a:pPr algn="ctr" rtl="0" fontAlgn="t">
                        <a:buNone/>
                      </a:pPr>
                      <a:endParaRPr lang="es-MX" sz="1400" b="1" i="0" u="none" strike="noStrike" dirty="0">
                        <a:solidFill>
                          <a:srgbClr val="FFFFFF"/>
                        </a:solidFill>
                        <a:effectLst/>
                        <a:latin typeface="Calibri" panose="020F0502020204030204" pitchFamily="34" charset="0"/>
                      </a:endParaRPr>
                    </a:p>
                    <a:p>
                      <a:pPr algn="ctr" rtl="0" fontAlgn="t">
                        <a:buNone/>
                      </a:pPr>
                      <a:r>
                        <a:rPr lang="es-MX" sz="1400" b="1" i="0" u="none" strike="noStrike" dirty="0" err="1">
                          <a:solidFill>
                            <a:srgbClr val="FFFFFF"/>
                          </a:solidFill>
                          <a:effectLst/>
                          <a:latin typeface="Calibri" panose="020F0502020204030204" pitchFamily="34" charset="0"/>
                        </a:rPr>
                        <a:t>Meaning</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1B2A4A"/>
                    </a:solidFill>
                  </a:tcPr>
                </a:tc>
                <a:tc>
                  <a:txBody>
                    <a:bodyPr/>
                    <a:lstStyle/>
                    <a:p>
                      <a:pPr algn="ctr" rtl="0" fontAlgn="t">
                        <a:buNone/>
                      </a:pPr>
                      <a:endParaRPr lang="es-MX" sz="1400" b="1" i="0" u="none" strike="noStrike" dirty="0">
                        <a:solidFill>
                          <a:srgbClr val="FFFFFF"/>
                        </a:solidFill>
                        <a:effectLst/>
                        <a:latin typeface="Calibri" panose="020F0502020204030204" pitchFamily="34" charset="0"/>
                      </a:endParaRPr>
                    </a:p>
                    <a:p>
                      <a:pPr algn="ctr" rtl="0" fontAlgn="t">
                        <a:buNone/>
                      </a:pPr>
                      <a:r>
                        <a:rPr lang="es-MX" sz="1400" b="1" i="0" u="none" strike="noStrike" dirty="0" err="1">
                          <a:solidFill>
                            <a:srgbClr val="FFFFFF"/>
                          </a:solidFill>
                          <a:effectLst/>
                          <a:latin typeface="Calibri" panose="020F0502020204030204" pitchFamily="34" charset="0"/>
                        </a:rPr>
                        <a:t>Example</a:t>
                      </a:r>
                      <a:r>
                        <a:rPr lang="es-MX" sz="1400" b="1" i="0" u="none" strike="noStrike" dirty="0">
                          <a:solidFill>
                            <a:srgbClr val="FFFFFF"/>
                          </a:solidFill>
                          <a:effectLst/>
                          <a:latin typeface="Calibri" panose="020F0502020204030204" pitchFamily="34" charset="0"/>
                        </a:rPr>
                        <a:t> (</a:t>
                      </a:r>
                      <a:r>
                        <a:rPr lang="es-MX" sz="1400" b="1" i="0" u="none" strike="noStrike" dirty="0" err="1">
                          <a:solidFill>
                            <a:srgbClr val="FFFFFF"/>
                          </a:solidFill>
                          <a:effectLst/>
                          <a:latin typeface="Calibri" panose="020F0502020204030204" pitchFamily="34" charset="0"/>
                        </a:rPr>
                        <a:t>buy</a:t>
                      </a:r>
                      <a:r>
                        <a:rPr lang="es-MX" sz="1400" b="1" i="0" u="none" strike="noStrike" dirty="0">
                          <a:solidFill>
                            <a:srgbClr val="FFFFFF"/>
                          </a:solidFill>
                          <a:effectLst/>
                          <a:latin typeface="Calibri" panose="020F0502020204030204" pitchFamily="34" charset="0"/>
                        </a:rPr>
                        <a:t> a ticket)</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1B2A4A"/>
                    </a:solidFill>
                  </a:tcPr>
                </a:tc>
                <a:extLst>
                  <a:ext uri="{0D108BD9-81ED-4DB2-BD59-A6C34878D82A}">
                    <a16:rowId xmlns:a16="http://schemas.microsoft.com/office/drawing/2014/main" val="657140984"/>
                  </a:ext>
                </a:extLst>
              </a:tr>
              <a:tr h="391323">
                <a:tc>
                  <a:txBody>
                    <a:bodyPr/>
                    <a:lstStyle/>
                    <a:p>
                      <a:pPr algn="l" rtl="0" fontAlgn="t">
                        <a:buNone/>
                      </a:pPr>
                      <a:r>
                        <a:rPr lang="es-MX" sz="1400" b="0" i="0" u="none" strike="noStrike">
                          <a:solidFill>
                            <a:srgbClr val="1B2A4A"/>
                          </a:solidFill>
                          <a:effectLst/>
                          <a:latin typeface="Calibri" panose="020F0502020204030204" pitchFamily="34" charset="0"/>
                        </a:rPr>
                        <a:t>ARG0</a:t>
                      </a:r>
                      <a:endParaRPr lang="es-MX" sz="240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tc>
                  <a:txBody>
                    <a:bodyPr/>
                    <a:lstStyle/>
                    <a:p>
                      <a:pPr algn="l" rtl="0" fontAlgn="t">
                        <a:buNone/>
                      </a:pPr>
                      <a:r>
                        <a:rPr lang="es-MX" sz="1400" b="0" i="0" u="none" strike="noStrike" dirty="0" err="1">
                          <a:solidFill>
                            <a:srgbClr val="1B2A4A"/>
                          </a:solidFill>
                          <a:effectLst/>
                          <a:latin typeface="Calibri" panose="020F0502020204030204" pitchFamily="34" charset="0"/>
                        </a:rPr>
                        <a:t>Agent</a:t>
                      </a:r>
                      <a:r>
                        <a:rPr lang="es-MX" sz="1400" b="0" i="0" u="none" strike="noStrike" dirty="0">
                          <a:solidFill>
                            <a:srgbClr val="1B2A4A"/>
                          </a:solidFill>
                          <a:effectLst/>
                          <a:latin typeface="Calibri" panose="020F0502020204030204" pitchFamily="34" charset="0"/>
                        </a:rPr>
                        <a:t> — </a:t>
                      </a:r>
                      <a:r>
                        <a:rPr lang="es-MX" sz="1400" b="0" i="0" u="none" strike="noStrike" dirty="0" err="1">
                          <a:solidFill>
                            <a:srgbClr val="1B2A4A"/>
                          </a:solidFill>
                          <a:effectLst/>
                          <a:latin typeface="Calibri" panose="020F0502020204030204" pitchFamily="34" charset="0"/>
                        </a:rPr>
                        <a:t>who</a:t>
                      </a:r>
                      <a:r>
                        <a:rPr lang="es-MX" sz="1400" b="0" i="0" u="none" strike="noStrike" dirty="0">
                          <a:solidFill>
                            <a:srgbClr val="1B2A4A"/>
                          </a:solidFill>
                          <a:effectLst/>
                          <a:latin typeface="Calibri" panose="020F0502020204030204" pitchFamily="34" charset="0"/>
                        </a:rPr>
                        <a:t> </a:t>
                      </a:r>
                      <a:r>
                        <a:rPr lang="es-MX" sz="1400" b="0" i="0" u="none" strike="noStrike" dirty="0" err="1">
                          <a:solidFill>
                            <a:srgbClr val="1B2A4A"/>
                          </a:solidFill>
                          <a:effectLst/>
                          <a:latin typeface="Calibri" panose="020F0502020204030204" pitchFamily="34" charset="0"/>
                        </a:rPr>
                        <a:t>does</a:t>
                      </a:r>
                      <a:r>
                        <a:rPr lang="es-MX" sz="1400" b="0" i="0" u="none" strike="noStrike" dirty="0">
                          <a:solidFill>
                            <a:srgbClr val="1B2A4A"/>
                          </a:solidFill>
                          <a:effectLst/>
                          <a:latin typeface="Calibri" panose="020F0502020204030204" pitchFamily="34" charset="0"/>
                        </a:rPr>
                        <a:t> </a:t>
                      </a:r>
                      <a:r>
                        <a:rPr lang="es-MX" sz="1400" b="0" i="0" u="none" strike="noStrike" dirty="0" err="1">
                          <a:solidFill>
                            <a:srgbClr val="1B2A4A"/>
                          </a:solidFill>
                          <a:effectLst/>
                          <a:latin typeface="Calibri" panose="020F0502020204030204" pitchFamily="34" charset="0"/>
                        </a:rPr>
                        <a:t>it</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tc>
                  <a:txBody>
                    <a:bodyPr/>
                    <a:lstStyle/>
                    <a:p>
                      <a:pPr algn="l" rtl="0" fontAlgn="t">
                        <a:buNone/>
                      </a:pPr>
                      <a:r>
                        <a:rPr lang="es-MX" sz="1400" b="0" i="0" u="none" strike="noStrike">
                          <a:solidFill>
                            <a:srgbClr val="1B2A4A"/>
                          </a:solidFill>
                          <a:effectLst/>
                          <a:latin typeface="Calibri" panose="020F0502020204030204" pitchFamily="34" charset="0"/>
                        </a:rPr>
                        <a:t>"[P0]" (Tom)</a:t>
                      </a:r>
                      <a:endParaRPr lang="es-MX" sz="240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extLst>
                  <a:ext uri="{0D108BD9-81ED-4DB2-BD59-A6C34878D82A}">
                    <a16:rowId xmlns:a16="http://schemas.microsoft.com/office/drawing/2014/main" val="2788777792"/>
                  </a:ext>
                </a:extLst>
              </a:tr>
              <a:tr h="660358">
                <a:tc>
                  <a:txBody>
                    <a:bodyPr/>
                    <a:lstStyle/>
                    <a:p>
                      <a:pPr algn="l" rtl="0" fontAlgn="t">
                        <a:buNone/>
                      </a:pPr>
                      <a:r>
                        <a:rPr lang="es-MX" sz="1400" b="0" i="0" u="none" strike="noStrike" dirty="0">
                          <a:solidFill>
                            <a:srgbClr val="1B2A4A"/>
                          </a:solidFill>
                          <a:effectLst/>
                          <a:latin typeface="Calibri" panose="020F0502020204030204" pitchFamily="34" charset="0"/>
                        </a:rPr>
                        <a:t>ARG1</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tc>
                  <a:txBody>
                    <a:bodyPr/>
                    <a:lstStyle/>
                    <a:p>
                      <a:pPr algn="l" rtl="0" fontAlgn="t">
                        <a:buNone/>
                      </a:pPr>
                      <a:r>
                        <a:rPr lang="en-US" sz="1400" b="0" i="0" u="none" strike="noStrike" dirty="0">
                          <a:solidFill>
                            <a:srgbClr val="1B2A4A"/>
                          </a:solidFill>
                          <a:effectLst/>
                          <a:latin typeface="Calibri" panose="020F0502020204030204" pitchFamily="34" charset="0"/>
                        </a:rPr>
                        <a:t>Patient — what is acted on</a:t>
                      </a:r>
                      <a:endParaRPr lang="en-US"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tc>
                  <a:txBody>
                    <a:bodyPr/>
                    <a:lstStyle/>
                    <a:p>
                      <a:pPr algn="l" rtl="0" fontAlgn="t">
                        <a:buNone/>
                      </a:pPr>
                      <a:r>
                        <a:rPr lang="es-MX" sz="1400" b="0" i="0" u="none" strike="noStrike">
                          <a:solidFill>
                            <a:srgbClr val="1B2A4A"/>
                          </a:solidFill>
                          <a:effectLst/>
                          <a:latin typeface="Calibri" panose="020F0502020204030204" pitchFamily="34" charset="0"/>
                        </a:rPr>
                        <a:t>"a movie ticket"</a:t>
                      </a:r>
                      <a:endParaRPr lang="es-MX" sz="240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extLst>
                  <a:ext uri="{0D108BD9-81ED-4DB2-BD59-A6C34878D82A}">
                    <a16:rowId xmlns:a16="http://schemas.microsoft.com/office/drawing/2014/main" val="1154657691"/>
                  </a:ext>
                </a:extLst>
              </a:tr>
              <a:tr h="660358">
                <a:tc>
                  <a:txBody>
                    <a:bodyPr/>
                    <a:lstStyle/>
                    <a:p>
                      <a:pPr algn="l" rtl="0" fontAlgn="t">
                        <a:buNone/>
                      </a:pPr>
                      <a:r>
                        <a:rPr lang="es-MX" sz="1400" b="0" i="0" u="none" strike="noStrike">
                          <a:solidFill>
                            <a:srgbClr val="1B2A4A"/>
                          </a:solidFill>
                          <a:effectLst/>
                          <a:latin typeface="Calibri" panose="020F0502020204030204" pitchFamily="34" charset="0"/>
                        </a:rPr>
                        <a:t>ARG2/3/4</a:t>
                      </a:r>
                      <a:endParaRPr lang="es-MX" sz="240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tc>
                  <a:txBody>
                    <a:bodyPr/>
                    <a:lstStyle/>
                    <a:p>
                      <a:pPr algn="l" rtl="0" fontAlgn="t">
                        <a:buNone/>
                      </a:pPr>
                      <a:r>
                        <a:rPr lang="es-MX" sz="1400" b="0" i="0" u="none" strike="noStrike" dirty="0" err="1">
                          <a:solidFill>
                            <a:srgbClr val="1B2A4A"/>
                          </a:solidFill>
                          <a:effectLst/>
                          <a:latin typeface="Calibri" panose="020F0502020204030204" pitchFamily="34" charset="0"/>
                        </a:rPr>
                        <a:t>Instrument</a:t>
                      </a:r>
                      <a:r>
                        <a:rPr lang="es-MX" sz="1400" b="0" i="0" u="none" strike="noStrike" dirty="0">
                          <a:solidFill>
                            <a:srgbClr val="1B2A4A"/>
                          </a:solidFill>
                          <a:effectLst/>
                          <a:latin typeface="Calibri" panose="020F0502020204030204" pitchFamily="34" charset="0"/>
                        </a:rPr>
                        <a:t>, </a:t>
                      </a:r>
                      <a:r>
                        <a:rPr lang="es-MX" sz="1400" b="0" i="0" u="none" strike="noStrike" dirty="0" err="1">
                          <a:solidFill>
                            <a:srgbClr val="1B2A4A"/>
                          </a:solidFill>
                          <a:effectLst/>
                          <a:latin typeface="Calibri" panose="020F0502020204030204" pitchFamily="34" charset="0"/>
                        </a:rPr>
                        <a:t>Beneficiary</a:t>
                      </a:r>
                      <a:r>
                        <a:rPr lang="es-MX" sz="1400" b="0" i="0" u="none" strike="noStrike" dirty="0">
                          <a:solidFill>
                            <a:srgbClr val="1B2A4A"/>
                          </a:solidFill>
                          <a:effectLst/>
                          <a:latin typeface="Calibri" panose="020F0502020204030204" pitchFamily="34" charset="0"/>
                        </a:rPr>
                        <a:t>, </a:t>
                      </a:r>
                      <a:r>
                        <a:rPr lang="es-MX" sz="1400" b="0" i="0" u="none" strike="noStrike" dirty="0" err="1">
                          <a:solidFill>
                            <a:srgbClr val="1B2A4A"/>
                          </a:solidFill>
                          <a:effectLst/>
                          <a:latin typeface="Calibri" panose="020F0502020204030204" pitchFamily="34" charset="0"/>
                        </a:rPr>
                        <a:t>Endpoint</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tc>
                  <a:txBody>
                    <a:bodyPr/>
                    <a:lstStyle/>
                    <a:p>
                      <a:pPr algn="l" rtl="0" fontAlgn="t">
                        <a:buNone/>
                      </a:pPr>
                      <a:r>
                        <a:rPr lang="es-MX" sz="1400" b="0" i="0" u="none" strike="noStrike">
                          <a:solidFill>
                            <a:srgbClr val="1B2A4A"/>
                          </a:solidFill>
                          <a:effectLst/>
                          <a:latin typeface="Calibri" panose="020F0502020204030204" pitchFamily="34" charset="0"/>
                        </a:rPr>
                        <a:t>"for Harry Potter"</a:t>
                      </a:r>
                      <a:endParaRPr lang="es-MX" sz="240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extLst>
                  <a:ext uri="{0D108BD9-81ED-4DB2-BD59-A6C34878D82A}">
                    <a16:rowId xmlns:a16="http://schemas.microsoft.com/office/drawing/2014/main" val="639823691"/>
                  </a:ext>
                </a:extLst>
              </a:tr>
              <a:tr h="660358">
                <a:tc>
                  <a:txBody>
                    <a:bodyPr/>
                    <a:lstStyle/>
                    <a:p>
                      <a:pPr algn="l" rtl="0" fontAlgn="t">
                        <a:buNone/>
                      </a:pPr>
                      <a:r>
                        <a:rPr lang="es-MX" sz="1400" b="0" i="0" u="none" strike="noStrike">
                          <a:solidFill>
                            <a:srgbClr val="1B2A4A"/>
                          </a:solidFill>
                          <a:effectLst/>
                          <a:latin typeface="Calibri" panose="020F0502020204030204" pitchFamily="34" charset="0"/>
                        </a:rPr>
                        <a:t>ARGM</a:t>
                      </a:r>
                      <a:endParaRPr lang="es-MX" sz="240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FFF3E0"/>
                    </a:solidFill>
                  </a:tcPr>
                </a:tc>
                <a:tc>
                  <a:txBody>
                    <a:bodyPr/>
                    <a:lstStyle/>
                    <a:p>
                      <a:pPr algn="l" rtl="0" fontAlgn="t">
                        <a:buNone/>
                      </a:pPr>
                      <a:r>
                        <a:rPr lang="en-US" sz="1400" b="0" i="0" u="none" strike="noStrike" dirty="0">
                          <a:solidFill>
                            <a:srgbClr val="1B2A4A"/>
                          </a:solidFill>
                          <a:effectLst/>
                          <a:latin typeface="Calibri" panose="020F0502020204030204" pitchFamily="34" charset="0"/>
                        </a:rPr>
                        <a:t>Modifier — when, where, how, why</a:t>
                      </a:r>
                      <a:endParaRPr lang="en-US"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FFF3E0"/>
                    </a:solidFill>
                  </a:tcPr>
                </a:tc>
                <a:tc>
                  <a:txBody>
                    <a:bodyPr/>
                    <a:lstStyle/>
                    <a:p>
                      <a:pPr algn="l" rtl="0" fontAlgn="t">
                        <a:buNone/>
                      </a:pPr>
                      <a:r>
                        <a:rPr lang="es-MX" sz="1400" b="0" i="0" u="none" strike="noStrike" dirty="0">
                          <a:solidFill>
                            <a:srgbClr val="1B2A4A"/>
                          </a:solidFill>
                          <a:effectLst/>
                          <a:latin typeface="Calibri" panose="020F0502020204030204" pitchFamily="34" charset="0"/>
                        </a:rPr>
                        <a:t>"</a:t>
                      </a:r>
                      <a:r>
                        <a:rPr lang="es-MX" sz="1400" b="0" i="0" u="none" strike="noStrike" dirty="0" err="1">
                          <a:solidFill>
                            <a:srgbClr val="1B2A4A"/>
                          </a:solidFill>
                          <a:effectLst/>
                          <a:latin typeface="Calibri" panose="020F0502020204030204" pitchFamily="34" charset="0"/>
                        </a:rPr>
                        <a:t>last</a:t>
                      </a:r>
                      <a:r>
                        <a:rPr lang="es-MX" sz="1400" b="0" i="0" u="none" strike="noStrike" dirty="0">
                          <a:solidFill>
                            <a:srgbClr val="1B2A4A"/>
                          </a:solidFill>
                          <a:effectLst/>
                          <a:latin typeface="Calibri" panose="020F0502020204030204" pitchFamily="34" charset="0"/>
                        </a:rPr>
                        <a:t> </a:t>
                      </a:r>
                      <a:r>
                        <a:rPr lang="es-MX" sz="1400" b="0" i="0" u="none" strike="noStrike" dirty="0" err="1">
                          <a:solidFill>
                            <a:srgbClr val="1B2A4A"/>
                          </a:solidFill>
                          <a:effectLst/>
                          <a:latin typeface="Calibri" panose="020F0502020204030204" pitchFamily="34" charset="0"/>
                        </a:rPr>
                        <a:t>night</a:t>
                      </a:r>
                      <a:r>
                        <a:rPr lang="es-MX" sz="1400" b="0" i="0" u="none" strike="noStrike" dirty="0">
                          <a:solidFill>
                            <a:srgbClr val="1B2A4A"/>
                          </a:solidFill>
                          <a:effectLst/>
                          <a:latin typeface="Calibri" panose="020F0502020204030204" pitchFamily="34" charset="0"/>
                        </a:rPr>
                        <a:t>"  (time)</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FFF3E0"/>
                    </a:solidFill>
                  </a:tcPr>
                </a:tc>
                <a:extLst>
                  <a:ext uri="{0D108BD9-81ED-4DB2-BD59-A6C34878D82A}">
                    <a16:rowId xmlns:a16="http://schemas.microsoft.com/office/drawing/2014/main" val="4251740508"/>
                  </a:ext>
                </a:extLst>
              </a:tr>
            </a:tbl>
          </a:graphicData>
        </a:graphic>
      </p:graphicFrame>
      <p:sp>
        <p:nvSpPr>
          <p:cNvPr id="22" name="TextBox 21">
            <a:extLst>
              <a:ext uri="{FF2B5EF4-FFF2-40B4-BE49-F238E27FC236}">
                <a16:creationId xmlns:a16="http://schemas.microsoft.com/office/drawing/2014/main" id="{72C56602-9190-97C5-9669-0AFA341C2D71}"/>
              </a:ext>
            </a:extLst>
          </p:cNvPr>
          <p:cNvSpPr txBox="1"/>
          <p:nvPr/>
        </p:nvSpPr>
        <p:spPr>
          <a:xfrm>
            <a:off x="423334" y="1245423"/>
            <a:ext cx="11115040" cy="707886"/>
          </a:xfrm>
          <a:prstGeom prst="rect">
            <a:avLst/>
          </a:prstGeom>
          <a:noFill/>
        </p:spPr>
        <p:txBody>
          <a:bodyPr wrap="square">
            <a:spAutoFit/>
          </a:bodyPr>
          <a:lstStyle/>
          <a:p>
            <a:pPr rtl="0">
              <a:buNone/>
            </a:pPr>
            <a:r>
              <a:rPr lang="ja-JP" altLang="es-MX" sz="2000" b="1" i="0" u="none" strike="noStrike" dirty="0">
                <a:solidFill>
                  <a:srgbClr val="0E2841"/>
                </a:solidFill>
                <a:effectLst/>
                <a:latin typeface="Arial" panose="020B0604020202020204" pitchFamily="34" charset="0"/>
              </a:rPr>
              <a:t>意味役割付与 </a:t>
            </a:r>
            <a:r>
              <a:rPr lang="es-MX" altLang="ja-JP" sz="2000" b="1" i="0" u="none" strike="noStrike" dirty="0">
                <a:solidFill>
                  <a:srgbClr val="0E2841"/>
                </a:solidFill>
                <a:effectLst/>
                <a:latin typeface="Arial" panose="020B0604020202020204" pitchFamily="34" charset="0"/>
              </a:rPr>
              <a:t>(</a:t>
            </a:r>
            <a:r>
              <a:rPr lang="es-MX" altLang="ja-JP" sz="2000" b="1" i="0" u="none" strike="noStrike" dirty="0" err="1">
                <a:solidFill>
                  <a:srgbClr val="0E2841"/>
                </a:solidFill>
                <a:effectLst/>
                <a:latin typeface="Arial" panose="020B0604020202020204" pitchFamily="34" charset="0"/>
              </a:rPr>
              <a:t>Semantic</a:t>
            </a:r>
            <a:r>
              <a:rPr lang="es-MX" altLang="ja-JP" sz="2000" b="1" i="0" u="none" strike="noStrike" dirty="0">
                <a:solidFill>
                  <a:srgbClr val="0E2841"/>
                </a:solidFill>
                <a:effectLst/>
                <a:latin typeface="Arial" panose="020B0604020202020204" pitchFamily="34" charset="0"/>
              </a:rPr>
              <a:t> Role </a:t>
            </a:r>
            <a:r>
              <a:rPr lang="es-MX" altLang="ja-JP" sz="2000" b="1" i="0" u="none" strike="noStrike" dirty="0" err="1">
                <a:solidFill>
                  <a:srgbClr val="0E2841"/>
                </a:solidFill>
                <a:effectLst/>
                <a:latin typeface="Arial" panose="020B0604020202020204" pitchFamily="34" charset="0"/>
              </a:rPr>
              <a:t>Labeling</a:t>
            </a:r>
            <a:r>
              <a:rPr lang="es-MX" altLang="ja-JP" sz="2000" b="1" i="0" u="none" strike="noStrike" dirty="0">
                <a:solidFill>
                  <a:srgbClr val="0E2841"/>
                </a:solidFill>
                <a:effectLst/>
                <a:latin typeface="Arial" panose="020B0604020202020204" pitchFamily="34" charset="0"/>
              </a:rPr>
              <a:t>)</a:t>
            </a:r>
            <a:r>
              <a:rPr lang="ja-JP" altLang="es-MX" sz="2000" dirty="0"/>
              <a:t>とは、</a:t>
            </a:r>
            <a:endParaRPr lang="es-MX" altLang="ja-JP" sz="2000" dirty="0"/>
          </a:p>
          <a:p>
            <a:pPr rtl="0">
              <a:buNone/>
            </a:pPr>
            <a:r>
              <a:rPr lang="ja-JP" altLang="es-MX" sz="2000" b="0" i="0" u="none" strike="noStrike" dirty="0">
                <a:solidFill>
                  <a:srgbClr val="0E2841"/>
                </a:solidFill>
                <a:effectLst/>
                <a:latin typeface="Arial" panose="020B0604020202020204" pitchFamily="34" charset="0"/>
              </a:rPr>
              <a:t>文中の各動詞について、</a:t>
            </a:r>
            <a:r>
              <a:rPr lang="ja-JP" altLang="es-MX" sz="2000" b="1" i="0" u="none" strike="noStrike" dirty="0">
                <a:solidFill>
                  <a:srgbClr val="0E2841"/>
                </a:solidFill>
                <a:effectLst/>
                <a:latin typeface="Arial" panose="020B0604020202020204" pitchFamily="34" charset="0"/>
              </a:rPr>
              <a:t>誰が・何を・誰に・いつ・どのように</a:t>
            </a:r>
            <a:r>
              <a:rPr lang="ja-JP" altLang="es-MX" sz="2000" b="0" i="0" u="none" strike="noStrike" dirty="0">
                <a:solidFill>
                  <a:srgbClr val="0E2841"/>
                </a:solidFill>
                <a:effectLst/>
                <a:latin typeface="Arial" panose="020B0604020202020204" pitchFamily="34" charset="0"/>
              </a:rPr>
              <a:t>行ったかを識別</a:t>
            </a:r>
            <a:endParaRPr lang="ja-JP" altLang="es-MX" sz="2000" dirty="0">
              <a:effectLst/>
            </a:endParaRPr>
          </a:p>
        </p:txBody>
      </p:sp>
      <p:sp>
        <p:nvSpPr>
          <p:cNvPr id="28" name="TextBox 27">
            <a:extLst>
              <a:ext uri="{FF2B5EF4-FFF2-40B4-BE49-F238E27FC236}">
                <a16:creationId xmlns:a16="http://schemas.microsoft.com/office/drawing/2014/main" id="{FF96FF04-CC99-0ABC-417E-5E42F9013EEA}"/>
              </a:ext>
            </a:extLst>
          </p:cNvPr>
          <p:cNvSpPr txBox="1"/>
          <p:nvPr/>
        </p:nvSpPr>
        <p:spPr>
          <a:xfrm>
            <a:off x="423334" y="2300575"/>
            <a:ext cx="6106160" cy="646331"/>
          </a:xfrm>
          <a:prstGeom prst="rect">
            <a:avLst/>
          </a:prstGeom>
          <a:noFill/>
        </p:spPr>
        <p:txBody>
          <a:bodyPr wrap="square">
            <a:spAutoFit/>
          </a:bodyPr>
          <a:lstStyle/>
          <a:p>
            <a:pPr rtl="0">
              <a:buNone/>
            </a:pPr>
            <a:r>
              <a:rPr lang="en-US" sz="1800" b="1" i="0" u="none" strike="noStrike" dirty="0">
                <a:solidFill>
                  <a:srgbClr val="0E2841"/>
                </a:solidFill>
                <a:effectLst/>
                <a:latin typeface="Arial" panose="020B0604020202020204" pitchFamily="34" charset="0"/>
              </a:rPr>
              <a:t>例：</a:t>
            </a:r>
            <a:endParaRPr lang="en-US" dirty="0">
              <a:effectLst/>
            </a:endParaRPr>
          </a:p>
          <a:p>
            <a:pPr rtl="0">
              <a:buNone/>
            </a:pPr>
            <a:r>
              <a:rPr lang="en-US" sz="1800" b="0" i="1" u="none" strike="noStrike" dirty="0">
                <a:solidFill>
                  <a:srgbClr val="0E2841"/>
                </a:solidFill>
                <a:effectLst/>
                <a:latin typeface="Arial" panose="020B0604020202020204" pitchFamily="34" charset="0"/>
              </a:rPr>
              <a:t>Tom bought a movie ticket for Harry Potter</a:t>
            </a:r>
            <a:r>
              <a:rPr lang="ja-JP" altLang="es-MX" i="1" dirty="0">
                <a:solidFill>
                  <a:srgbClr val="0E2841"/>
                </a:solidFill>
                <a:latin typeface="Arial" panose="020B0604020202020204" pitchFamily="34" charset="0"/>
              </a:rPr>
              <a:t> </a:t>
            </a:r>
            <a:r>
              <a:rPr lang="es-MX" altLang="ja-JP" i="1" dirty="0" err="1">
                <a:solidFill>
                  <a:srgbClr val="0E2841"/>
                </a:solidFill>
                <a:latin typeface="Arial" panose="020B0604020202020204" pitchFamily="34" charset="0"/>
              </a:rPr>
              <a:t>last</a:t>
            </a:r>
            <a:r>
              <a:rPr lang="ja-JP" altLang="es-MX" i="1" dirty="0">
                <a:solidFill>
                  <a:srgbClr val="0E2841"/>
                </a:solidFill>
                <a:latin typeface="Arial" panose="020B0604020202020204" pitchFamily="34" charset="0"/>
              </a:rPr>
              <a:t> </a:t>
            </a:r>
            <a:r>
              <a:rPr lang="es-MX" altLang="ja-JP" i="1" dirty="0" err="1">
                <a:solidFill>
                  <a:srgbClr val="0E2841"/>
                </a:solidFill>
                <a:latin typeface="Arial" panose="020B0604020202020204" pitchFamily="34" charset="0"/>
              </a:rPr>
              <a:t>night</a:t>
            </a:r>
            <a:r>
              <a:rPr lang="en-US" sz="1800" b="0" i="1" u="none" strike="noStrike" dirty="0">
                <a:solidFill>
                  <a:srgbClr val="0E2841"/>
                </a:solidFill>
                <a:effectLst/>
                <a:latin typeface="Arial" panose="020B0604020202020204" pitchFamily="34" charset="0"/>
              </a:rPr>
              <a:t>.</a:t>
            </a:r>
            <a:endParaRPr lang="en-US" dirty="0">
              <a:effectLst/>
            </a:endParaRPr>
          </a:p>
        </p:txBody>
      </p:sp>
      <p:pic>
        <p:nvPicPr>
          <p:cNvPr id="30" name="Picture 29">
            <a:extLst>
              <a:ext uri="{FF2B5EF4-FFF2-40B4-BE49-F238E27FC236}">
                <a16:creationId xmlns:a16="http://schemas.microsoft.com/office/drawing/2014/main" id="{37586FB6-3969-575A-BFA0-DF9D643631E7}"/>
              </a:ext>
            </a:extLst>
          </p:cNvPr>
          <p:cNvPicPr>
            <a:picLocks noChangeAspect="1"/>
          </p:cNvPicPr>
          <p:nvPr/>
        </p:nvPicPr>
        <p:blipFill>
          <a:blip r:embed="rId3"/>
          <a:stretch>
            <a:fillRect/>
          </a:stretch>
        </p:blipFill>
        <p:spPr>
          <a:xfrm>
            <a:off x="533401" y="3119120"/>
            <a:ext cx="5147733" cy="2857703"/>
          </a:xfrm>
          <a:prstGeom prst="rect">
            <a:avLst/>
          </a:prstGeom>
        </p:spPr>
      </p:pic>
      <p:sp>
        <p:nvSpPr>
          <p:cNvPr id="32" name="TextBox 31">
            <a:extLst>
              <a:ext uri="{FF2B5EF4-FFF2-40B4-BE49-F238E27FC236}">
                <a16:creationId xmlns:a16="http://schemas.microsoft.com/office/drawing/2014/main" id="{A0F84A98-03C1-4407-905B-0EC16B0115FE}"/>
              </a:ext>
            </a:extLst>
          </p:cNvPr>
          <p:cNvSpPr txBox="1"/>
          <p:nvPr/>
        </p:nvSpPr>
        <p:spPr>
          <a:xfrm>
            <a:off x="533401" y="6324089"/>
            <a:ext cx="6106160" cy="369332"/>
          </a:xfrm>
          <a:prstGeom prst="rect">
            <a:avLst/>
          </a:prstGeom>
          <a:noFill/>
        </p:spPr>
        <p:txBody>
          <a:bodyPr wrap="square">
            <a:spAutoFit/>
          </a:bodyPr>
          <a:lstStyle/>
          <a:p>
            <a:pPr rtl="0">
              <a:buNone/>
            </a:pPr>
            <a:r>
              <a:rPr lang="es-MX" sz="1800" b="0" i="0" u="none" strike="noStrike" dirty="0" err="1">
                <a:solidFill>
                  <a:srgbClr val="0E2841"/>
                </a:solidFill>
                <a:effectLst/>
                <a:latin typeface="Arial" panose="020B0604020202020204" pitchFamily="34" charset="0"/>
              </a:rPr>
              <a:t>Implementation</a:t>
            </a:r>
            <a:r>
              <a:rPr lang="es-MX" sz="1800" b="0" i="0" u="none" strike="noStrike" dirty="0">
                <a:solidFill>
                  <a:srgbClr val="0E2841"/>
                </a:solidFill>
                <a:effectLst/>
                <a:latin typeface="Arial" panose="020B0604020202020204" pitchFamily="34" charset="0"/>
              </a:rPr>
              <a:t>: </a:t>
            </a:r>
            <a:r>
              <a:rPr lang="es-MX" sz="1800" b="1" i="0" u="none" strike="noStrike" dirty="0" err="1">
                <a:solidFill>
                  <a:srgbClr val="0E2841"/>
                </a:solidFill>
                <a:effectLst/>
                <a:latin typeface="Arial" panose="020B0604020202020204" pitchFamily="34" charset="0"/>
              </a:rPr>
              <a:t>AllenNLP</a:t>
            </a:r>
            <a:r>
              <a:rPr lang="es-MX" sz="1800" b="1" i="0" u="none" strike="noStrike" dirty="0">
                <a:solidFill>
                  <a:srgbClr val="0E2841"/>
                </a:solidFill>
                <a:effectLst/>
                <a:latin typeface="Arial" panose="020B0604020202020204" pitchFamily="34" charset="0"/>
              </a:rPr>
              <a:t> SRL </a:t>
            </a:r>
            <a:r>
              <a:rPr lang="es-MX" sz="1800" b="1" i="0" u="none" strike="noStrike" dirty="0" err="1">
                <a:solidFill>
                  <a:srgbClr val="0E2841"/>
                </a:solidFill>
                <a:effectLst/>
                <a:latin typeface="Arial" panose="020B0604020202020204" pitchFamily="34" charset="0"/>
              </a:rPr>
              <a:t>tool</a:t>
            </a:r>
            <a:endParaRPr lang="es-MX" dirty="0">
              <a:effectLst/>
            </a:endParaRPr>
          </a:p>
        </p:txBody>
      </p:sp>
    </p:spTree>
    <p:extLst>
      <p:ext uri="{BB962C8B-B14F-4D97-AF65-F5344CB8AC3E}">
        <p14:creationId xmlns:p14="http://schemas.microsoft.com/office/powerpoint/2010/main" val="4003953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538DE-4D2B-E9D4-EF10-7FC91E9FD93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B01ACAD-0355-B00B-E856-2964707602E9}"/>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FEEAC993-1CF9-0CBB-F9CE-F2C508F67B76}"/>
              </a:ext>
            </a:extLst>
          </p:cNvPr>
          <p:cNvSpPr>
            <a:spLocks noGrp="1"/>
          </p:cNvSpPr>
          <p:nvPr>
            <p:ph type="title"/>
          </p:nvPr>
        </p:nvSpPr>
        <p:spPr>
          <a:xfrm>
            <a:off x="423334" y="0"/>
            <a:ext cx="10515600" cy="1015662"/>
          </a:xfrm>
        </p:spPr>
        <p:txBody>
          <a:bodyPr>
            <a:normAutofit/>
          </a:bodyPr>
          <a:lstStyle/>
          <a:p>
            <a:r>
              <a:rPr lang="es-MX" altLang="ja-JP" sz="3200" b="1" dirty="0">
                <a:solidFill>
                  <a:schemeClr val="bg1"/>
                </a:solidFill>
              </a:rPr>
              <a:t>Step 2: </a:t>
            </a:r>
            <a:r>
              <a:rPr lang="es-MX" altLang="ja-JP" sz="3200" b="1" dirty="0" err="1">
                <a:solidFill>
                  <a:schemeClr val="bg1"/>
                </a:solidFill>
              </a:rPr>
              <a:t>Event</a:t>
            </a:r>
            <a:r>
              <a:rPr lang="es-MX" altLang="ja-JP" sz="3200" b="1" dirty="0">
                <a:solidFill>
                  <a:schemeClr val="bg1"/>
                </a:solidFill>
              </a:rPr>
              <a:t> </a:t>
            </a:r>
            <a:r>
              <a:rPr lang="es-MX" altLang="ja-JP" sz="3200" b="1" dirty="0" err="1">
                <a:solidFill>
                  <a:schemeClr val="bg1"/>
                </a:solidFill>
              </a:rPr>
              <a:t>Normalization</a:t>
            </a:r>
            <a:r>
              <a:rPr lang="es-MX" altLang="ja-JP" sz="3200" b="1" dirty="0">
                <a:solidFill>
                  <a:schemeClr val="bg1"/>
                </a:solidFill>
              </a:rPr>
              <a:t>: </a:t>
            </a:r>
            <a:r>
              <a:rPr lang="es-MX" altLang="ja-JP" sz="3200" b="1" dirty="0" err="1">
                <a:solidFill>
                  <a:schemeClr val="bg1"/>
                </a:solidFill>
              </a:rPr>
              <a:t>Fixing</a:t>
            </a:r>
            <a:r>
              <a:rPr lang="es-MX" altLang="ja-JP" sz="3200" b="1" dirty="0">
                <a:solidFill>
                  <a:schemeClr val="bg1"/>
                </a:solidFill>
              </a:rPr>
              <a:t> </a:t>
            </a:r>
            <a:r>
              <a:rPr lang="es-MX" altLang="ja-JP" sz="3200" b="1" dirty="0" err="1">
                <a:solidFill>
                  <a:schemeClr val="bg1"/>
                </a:solidFill>
              </a:rPr>
              <a:t>Co-reference</a:t>
            </a:r>
            <a:endParaRPr lang="es-MX" sz="4000" b="1" dirty="0">
              <a:solidFill>
                <a:schemeClr val="bg1"/>
              </a:solidFill>
            </a:endParaRPr>
          </a:p>
        </p:txBody>
      </p:sp>
      <p:sp>
        <p:nvSpPr>
          <p:cNvPr id="22" name="TextBox 21">
            <a:extLst>
              <a:ext uri="{FF2B5EF4-FFF2-40B4-BE49-F238E27FC236}">
                <a16:creationId xmlns:a16="http://schemas.microsoft.com/office/drawing/2014/main" id="{872EEC85-1755-5767-2819-50255ABFD7A6}"/>
              </a:ext>
            </a:extLst>
          </p:cNvPr>
          <p:cNvSpPr txBox="1"/>
          <p:nvPr/>
        </p:nvSpPr>
        <p:spPr>
          <a:xfrm>
            <a:off x="423334" y="1245423"/>
            <a:ext cx="11115040" cy="646331"/>
          </a:xfrm>
          <a:prstGeom prst="rect">
            <a:avLst/>
          </a:prstGeom>
          <a:noFill/>
        </p:spPr>
        <p:txBody>
          <a:bodyPr wrap="square">
            <a:spAutoFit/>
          </a:bodyPr>
          <a:lstStyle/>
          <a:p>
            <a:r>
              <a:rPr lang="ja-JP" altLang="es-MX" dirty="0"/>
              <a:t>抽出後、イベントはその文脈を失います。代名詞や名前は単独では曖昧です。正規化処理では、人物を示すトークンが汎用的なプレースホルダーに置き換えられます</a:t>
            </a:r>
          </a:p>
        </p:txBody>
      </p:sp>
      <p:pic>
        <p:nvPicPr>
          <p:cNvPr id="5" name="Picture 4">
            <a:extLst>
              <a:ext uri="{FF2B5EF4-FFF2-40B4-BE49-F238E27FC236}">
                <a16:creationId xmlns:a16="http://schemas.microsoft.com/office/drawing/2014/main" id="{1C27CB5C-BF1E-AFB5-668A-C824CDF136CA}"/>
              </a:ext>
            </a:extLst>
          </p:cNvPr>
          <p:cNvPicPr>
            <a:picLocks noChangeAspect="1"/>
          </p:cNvPicPr>
          <p:nvPr/>
        </p:nvPicPr>
        <p:blipFill>
          <a:blip r:embed="rId3"/>
          <a:stretch>
            <a:fillRect/>
          </a:stretch>
        </p:blipFill>
        <p:spPr>
          <a:xfrm>
            <a:off x="423334" y="2121515"/>
            <a:ext cx="11419840" cy="3357822"/>
          </a:xfrm>
          <a:prstGeom prst="rect">
            <a:avLst/>
          </a:prstGeom>
        </p:spPr>
      </p:pic>
    </p:spTree>
    <p:extLst>
      <p:ext uri="{BB962C8B-B14F-4D97-AF65-F5344CB8AC3E}">
        <p14:creationId xmlns:p14="http://schemas.microsoft.com/office/powerpoint/2010/main" val="1763994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7F3F0-ABB8-4454-515A-6006D139ADF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95C4ACC-BC68-B152-98ED-9FB695E79581}"/>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40C82E87-0CB7-A48A-C8CA-142755802167}"/>
              </a:ext>
            </a:extLst>
          </p:cNvPr>
          <p:cNvSpPr>
            <a:spLocks noGrp="1"/>
          </p:cNvSpPr>
          <p:nvPr>
            <p:ph type="title"/>
          </p:nvPr>
        </p:nvSpPr>
        <p:spPr>
          <a:xfrm>
            <a:off x="423334" y="0"/>
            <a:ext cx="10515600" cy="1015662"/>
          </a:xfrm>
        </p:spPr>
        <p:txBody>
          <a:bodyPr>
            <a:normAutofit/>
          </a:bodyPr>
          <a:lstStyle/>
          <a:p>
            <a:r>
              <a:rPr lang="es-MX" altLang="ja-JP" sz="3200" b="1" dirty="0">
                <a:solidFill>
                  <a:schemeClr val="bg1"/>
                </a:solidFill>
              </a:rPr>
              <a:t>Step 3: </a:t>
            </a:r>
            <a:r>
              <a:rPr lang="es-MX" altLang="ja-JP" sz="3200" b="1" dirty="0" err="1">
                <a:solidFill>
                  <a:schemeClr val="bg1"/>
                </a:solidFill>
              </a:rPr>
              <a:t>Partial</a:t>
            </a:r>
            <a:r>
              <a:rPr lang="es-MX" altLang="ja-JP" sz="3200" b="1" dirty="0">
                <a:solidFill>
                  <a:schemeClr val="bg1"/>
                </a:solidFill>
              </a:rPr>
              <a:t> </a:t>
            </a:r>
            <a:r>
              <a:rPr lang="es-MX" altLang="ja-JP" sz="3200" b="1" dirty="0" err="1">
                <a:solidFill>
                  <a:schemeClr val="bg1"/>
                </a:solidFill>
              </a:rPr>
              <a:t>Information</a:t>
            </a:r>
            <a:r>
              <a:rPr lang="es-MX" altLang="ja-JP" sz="3200" b="1" dirty="0">
                <a:solidFill>
                  <a:schemeClr val="bg1"/>
                </a:solidFill>
              </a:rPr>
              <a:t> </a:t>
            </a:r>
            <a:r>
              <a:rPr lang="es-MX" altLang="ja-JP" sz="3200" b="1" dirty="0" err="1">
                <a:solidFill>
                  <a:schemeClr val="bg1"/>
                </a:solidFill>
              </a:rPr>
              <a:t>Extraction</a:t>
            </a:r>
            <a:r>
              <a:rPr lang="es-MX" altLang="ja-JP" sz="3200" b="1" dirty="0">
                <a:solidFill>
                  <a:schemeClr val="bg1"/>
                </a:solidFill>
              </a:rPr>
              <a:t> (PIE)</a:t>
            </a:r>
            <a:endParaRPr lang="es-MX" sz="4000" b="1" dirty="0">
              <a:solidFill>
                <a:schemeClr val="bg1"/>
              </a:solidFill>
            </a:endParaRPr>
          </a:p>
        </p:txBody>
      </p:sp>
      <p:sp>
        <p:nvSpPr>
          <p:cNvPr id="22" name="TextBox 21">
            <a:extLst>
              <a:ext uri="{FF2B5EF4-FFF2-40B4-BE49-F238E27FC236}">
                <a16:creationId xmlns:a16="http://schemas.microsoft.com/office/drawing/2014/main" id="{68A54F7A-0686-267D-0787-E761755F0E50}"/>
              </a:ext>
            </a:extLst>
          </p:cNvPr>
          <p:cNvSpPr txBox="1"/>
          <p:nvPr/>
        </p:nvSpPr>
        <p:spPr>
          <a:xfrm>
            <a:off x="423334" y="1245423"/>
            <a:ext cx="11115040" cy="646331"/>
          </a:xfrm>
          <a:prstGeom prst="rect">
            <a:avLst/>
          </a:prstGeom>
          <a:noFill/>
        </p:spPr>
        <p:txBody>
          <a:bodyPr wrap="square">
            <a:spAutoFit/>
          </a:bodyPr>
          <a:lstStyle/>
          <a:p>
            <a:r>
              <a:rPr lang="ja-JP" altLang="es-MX" dirty="0"/>
              <a:t>知識グラフは、特定の出来事ではなく、一般的な出来事を格納します。</a:t>
            </a:r>
            <a:r>
              <a:rPr lang="es-MX" altLang="ja-JP" dirty="0"/>
              <a:t>PIE</a:t>
            </a:r>
            <a:r>
              <a:rPr lang="ja-JP" altLang="es-MX" dirty="0"/>
              <a:t>は、人間の抽象的思考を反映して、各出来事を体系的に抽象化し、一般化レベルを段階的に上げていく複数のバージョンを作成します</a:t>
            </a:r>
          </a:p>
        </p:txBody>
      </p:sp>
      <p:sp>
        <p:nvSpPr>
          <p:cNvPr id="10" name="TextBox 9">
            <a:extLst>
              <a:ext uri="{FF2B5EF4-FFF2-40B4-BE49-F238E27FC236}">
                <a16:creationId xmlns:a16="http://schemas.microsoft.com/office/drawing/2014/main" id="{45C23589-EF67-D4C7-0201-6590DC6E6458}"/>
              </a:ext>
            </a:extLst>
          </p:cNvPr>
          <p:cNvSpPr txBox="1"/>
          <p:nvPr/>
        </p:nvSpPr>
        <p:spPr>
          <a:xfrm>
            <a:off x="423334" y="2169671"/>
            <a:ext cx="9309944" cy="369332"/>
          </a:xfrm>
          <a:prstGeom prst="rect">
            <a:avLst/>
          </a:prstGeom>
          <a:noFill/>
        </p:spPr>
        <p:txBody>
          <a:bodyPr wrap="square">
            <a:spAutoFit/>
          </a:bodyPr>
          <a:lstStyle/>
          <a:p>
            <a:pPr rtl="0">
              <a:buNone/>
            </a:pPr>
            <a:r>
              <a:rPr lang="ja-JP" altLang="es-MX" sz="1800" b="0" i="0" u="none" strike="noStrike" dirty="0">
                <a:solidFill>
                  <a:srgbClr val="1B2A4A"/>
                </a:solidFill>
                <a:effectLst/>
                <a:latin typeface="Consolas" panose="020B0609020204030204" pitchFamily="49" charset="0"/>
              </a:rPr>
              <a:t>例：</a:t>
            </a:r>
            <a:r>
              <a:rPr lang="en-US" sz="1800" b="0" i="0" u="none" strike="noStrike" dirty="0">
                <a:solidFill>
                  <a:srgbClr val="1B2A4A"/>
                </a:solidFill>
                <a:effectLst/>
                <a:latin typeface="Consolas" panose="020B0609020204030204" pitchFamily="49" charset="0"/>
              </a:rPr>
              <a:t>Jerry evacuated to a relative's house last night</a:t>
            </a:r>
            <a:endParaRPr lang="en-US" dirty="0">
              <a:effectLst/>
            </a:endParaRPr>
          </a:p>
        </p:txBody>
      </p:sp>
      <p:pic>
        <p:nvPicPr>
          <p:cNvPr id="15" name="Picture 14">
            <a:extLst>
              <a:ext uri="{FF2B5EF4-FFF2-40B4-BE49-F238E27FC236}">
                <a16:creationId xmlns:a16="http://schemas.microsoft.com/office/drawing/2014/main" id="{B99C3B7B-BD8A-8012-BA64-C921FA0AFAA9}"/>
              </a:ext>
            </a:extLst>
          </p:cNvPr>
          <p:cNvPicPr>
            <a:picLocks noChangeAspect="1"/>
          </p:cNvPicPr>
          <p:nvPr/>
        </p:nvPicPr>
        <p:blipFill>
          <a:blip r:embed="rId3"/>
          <a:stretch>
            <a:fillRect/>
          </a:stretch>
        </p:blipFill>
        <p:spPr>
          <a:xfrm>
            <a:off x="423334" y="2684841"/>
            <a:ext cx="7542106" cy="3428617"/>
          </a:xfrm>
          <a:prstGeom prst="rect">
            <a:avLst/>
          </a:prstGeom>
        </p:spPr>
      </p:pic>
      <p:graphicFrame>
        <p:nvGraphicFramePr>
          <p:cNvPr id="2" name="Table 1">
            <a:extLst>
              <a:ext uri="{FF2B5EF4-FFF2-40B4-BE49-F238E27FC236}">
                <a16:creationId xmlns:a16="http://schemas.microsoft.com/office/drawing/2014/main" id="{67256FB3-321E-C8E8-A8C8-767C409EA916}"/>
              </a:ext>
            </a:extLst>
          </p:cNvPr>
          <p:cNvGraphicFramePr>
            <a:graphicFrameLocks noGrp="1"/>
          </p:cNvGraphicFramePr>
          <p:nvPr>
            <p:extLst>
              <p:ext uri="{D42A27DB-BD31-4B8C-83A1-F6EECF244321}">
                <p14:modId xmlns:p14="http://schemas.microsoft.com/office/powerpoint/2010/main" val="1479127706"/>
              </p:ext>
            </p:extLst>
          </p:nvPr>
        </p:nvGraphicFramePr>
        <p:xfrm>
          <a:off x="8376920" y="2737635"/>
          <a:ext cx="3229188" cy="3144352"/>
        </p:xfrm>
        <a:graphic>
          <a:graphicData uri="http://schemas.openxmlformats.org/drawingml/2006/table">
            <a:tbl>
              <a:tblPr/>
              <a:tblGrid>
                <a:gridCol w="908050">
                  <a:extLst>
                    <a:ext uri="{9D8B030D-6E8A-4147-A177-3AD203B41FA5}">
                      <a16:colId xmlns:a16="http://schemas.microsoft.com/office/drawing/2014/main" val="152944338"/>
                    </a:ext>
                  </a:extLst>
                </a:gridCol>
                <a:gridCol w="2321138">
                  <a:extLst>
                    <a:ext uri="{9D8B030D-6E8A-4147-A177-3AD203B41FA5}">
                      <a16:colId xmlns:a16="http://schemas.microsoft.com/office/drawing/2014/main" val="168575942"/>
                    </a:ext>
                  </a:extLst>
                </a:gridCol>
              </a:tblGrid>
              <a:tr h="660358">
                <a:tc>
                  <a:txBody>
                    <a:bodyPr/>
                    <a:lstStyle/>
                    <a:p>
                      <a:pPr algn="ctr" rtl="0" fontAlgn="t">
                        <a:buNone/>
                      </a:pPr>
                      <a:endParaRPr lang="es-MX" sz="1400" b="1" i="0" u="none" strike="noStrike" dirty="0">
                        <a:solidFill>
                          <a:srgbClr val="FFFFFF"/>
                        </a:solidFill>
                        <a:effectLst/>
                        <a:latin typeface="Calibri" panose="020F0502020204030204" pitchFamily="34" charset="0"/>
                      </a:endParaRPr>
                    </a:p>
                    <a:p>
                      <a:pPr algn="ctr" rtl="0" fontAlgn="t">
                        <a:buNone/>
                      </a:pPr>
                      <a:r>
                        <a:rPr lang="es-MX" sz="1400" b="1" i="0" u="none" strike="noStrike" dirty="0">
                          <a:solidFill>
                            <a:srgbClr val="FFFFFF"/>
                          </a:solidFill>
                          <a:effectLst/>
                          <a:latin typeface="Calibri" panose="020F0502020204030204" pitchFamily="34" charset="0"/>
                        </a:rPr>
                        <a:t>Role</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1B2A4A"/>
                    </a:solidFill>
                  </a:tcPr>
                </a:tc>
                <a:tc>
                  <a:txBody>
                    <a:bodyPr/>
                    <a:lstStyle/>
                    <a:p>
                      <a:pPr algn="ctr" rtl="0" fontAlgn="t">
                        <a:buNone/>
                      </a:pPr>
                      <a:endParaRPr lang="es-MX" sz="1400" b="1" i="0" u="none" strike="noStrike" dirty="0">
                        <a:solidFill>
                          <a:srgbClr val="FFFFFF"/>
                        </a:solidFill>
                        <a:effectLst/>
                        <a:latin typeface="Calibri" panose="020F0502020204030204" pitchFamily="34" charset="0"/>
                      </a:endParaRPr>
                    </a:p>
                    <a:p>
                      <a:pPr algn="ctr" rtl="0" fontAlgn="t">
                        <a:buNone/>
                      </a:pPr>
                      <a:r>
                        <a:rPr lang="es-MX" sz="1400" b="1" i="0" u="none" strike="noStrike" dirty="0" err="1">
                          <a:solidFill>
                            <a:srgbClr val="FFFFFF"/>
                          </a:solidFill>
                          <a:effectLst/>
                          <a:latin typeface="Calibri" panose="020F0502020204030204" pitchFamily="34" charset="0"/>
                        </a:rPr>
                        <a:t>Meaning</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1B2A4A"/>
                    </a:solidFill>
                  </a:tcPr>
                </a:tc>
                <a:extLst>
                  <a:ext uri="{0D108BD9-81ED-4DB2-BD59-A6C34878D82A}">
                    <a16:rowId xmlns:a16="http://schemas.microsoft.com/office/drawing/2014/main" val="3113620503"/>
                  </a:ext>
                </a:extLst>
              </a:tr>
              <a:tr h="391323">
                <a:tc>
                  <a:txBody>
                    <a:bodyPr/>
                    <a:lstStyle/>
                    <a:p>
                      <a:pPr algn="l" rtl="0" fontAlgn="t">
                        <a:buNone/>
                      </a:pPr>
                      <a:r>
                        <a:rPr lang="es-MX" sz="1400" b="0" i="0" u="none" strike="noStrike">
                          <a:solidFill>
                            <a:srgbClr val="1B2A4A"/>
                          </a:solidFill>
                          <a:effectLst/>
                          <a:latin typeface="Calibri" panose="020F0502020204030204" pitchFamily="34" charset="0"/>
                        </a:rPr>
                        <a:t>ARGM</a:t>
                      </a:r>
                      <a:endParaRPr lang="es-MX" sz="240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tc>
                  <a:txBody>
                    <a:bodyPr/>
                    <a:lstStyle/>
                    <a:p>
                      <a:pPr algn="l" rtl="0" fontAlgn="t">
                        <a:buNone/>
                      </a:pPr>
                      <a:r>
                        <a:rPr lang="en-US" sz="1400" b="0" i="0" u="none" strike="noStrike" dirty="0">
                          <a:solidFill>
                            <a:srgbClr val="1B2A4A"/>
                          </a:solidFill>
                          <a:effectLst/>
                          <a:latin typeface="Calibri" panose="020F0502020204030204" pitchFamily="34" charset="0"/>
                        </a:rPr>
                        <a:t>Modifier — when, where, how, why</a:t>
                      </a:r>
                      <a:endParaRPr lang="en-US"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extLst>
                  <a:ext uri="{0D108BD9-81ED-4DB2-BD59-A6C34878D82A}">
                    <a16:rowId xmlns:a16="http://schemas.microsoft.com/office/drawing/2014/main" val="2788871730"/>
                  </a:ext>
                </a:extLst>
              </a:tr>
              <a:tr h="660358">
                <a:tc>
                  <a:txBody>
                    <a:bodyPr/>
                    <a:lstStyle/>
                    <a:p>
                      <a:pPr algn="l" rtl="0" fontAlgn="t">
                        <a:buNone/>
                      </a:pPr>
                      <a:r>
                        <a:rPr lang="es-MX" sz="1400" b="0" i="0" u="none" strike="noStrike">
                          <a:solidFill>
                            <a:srgbClr val="1B2A4A"/>
                          </a:solidFill>
                          <a:effectLst/>
                          <a:latin typeface="Calibri" panose="020F0502020204030204" pitchFamily="34" charset="0"/>
                        </a:rPr>
                        <a:t>ARG2/3/4</a:t>
                      </a:r>
                      <a:endParaRPr lang="es-MX" sz="240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tc>
                  <a:txBody>
                    <a:bodyPr/>
                    <a:lstStyle/>
                    <a:p>
                      <a:pPr algn="l" rtl="0" fontAlgn="t">
                        <a:buNone/>
                      </a:pPr>
                      <a:r>
                        <a:rPr lang="es-MX" sz="1400" b="0" i="0" u="none" strike="noStrike" dirty="0" err="1">
                          <a:solidFill>
                            <a:srgbClr val="1B2A4A"/>
                          </a:solidFill>
                          <a:effectLst/>
                          <a:latin typeface="Calibri" panose="020F0502020204030204" pitchFamily="34" charset="0"/>
                        </a:rPr>
                        <a:t>Instrument</a:t>
                      </a:r>
                      <a:r>
                        <a:rPr lang="es-MX" sz="1400" b="0" i="0" u="none" strike="noStrike" dirty="0">
                          <a:solidFill>
                            <a:srgbClr val="1B2A4A"/>
                          </a:solidFill>
                          <a:effectLst/>
                          <a:latin typeface="Calibri" panose="020F0502020204030204" pitchFamily="34" charset="0"/>
                        </a:rPr>
                        <a:t>, </a:t>
                      </a:r>
                      <a:r>
                        <a:rPr lang="es-MX" sz="1400" b="0" i="0" u="none" strike="noStrike" dirty="0" err="1">
                          <a:solidFill>
                            <a:srgbClr val="1B2A4A"/>
                          </a:solidFill>
                          <a:effectLst/>
                          <a:latin typeface="Calibri" panose="020F0502020204030204" pitchFamily="34" charset="0"/>
                        </a:rPr>
                        <a:t>Beneficiary</a:t>
                      </a:r>
                      <a:r>
                        <a:rPr lang="es-MX" sz="1400" b="0" i="0" u="none" strike="noStrike" dirty="0">
                          <a:solidFill>
                            <a:srgbClr val="1B2A4A"/>
                          </a:solidFill>
                          <a:effectLst/>
                          <a:latin typeface="Calibri" panose="020F0502020204030204" pitchFamily="34" charset="0"/>
                        </a:rPr>
                        <a:t>, </a:t>
                      </a:r>
                      <a:r>
                        <a:rPr lang="es-MX" sz="1400" b="0" i="0" u="none" strike="noStrike" dirty="0" err="1">
                          <a:solidFill>
                            <a:srgbClr val="1B2A4A"/>
                          </a:solidFill>
                          <a:effectLst/>
                          <a:latin typeface="Calibri" panose="020F0502020204030204" pitchFamily="34" charset="0"/>
                        </a:rPr>
                        <a:t>Endpoint</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extLst>
                  <a:ext uri="{0D108BD9-81ED-4DB2-BD59-A6C34878D82A}">
                    <a16:rowId xmlns:a16="http://schemas.microsoft.com/office/drawing/2014/main" val="2672442983"/>
                  </a:ext>
                </a:extLst>
              </a:tr>
              <a:tr h="660358">
                <a:tc>
                  <a:txBody>
                    <a:bodyPr/>
                    <a:lstStyle/>
                    <a:p>
                      <a:pPr algn="l" rtl="0" fontAlgn="t">
                        <a:buNone/>
                      </a:pPr>
                      <a:r>
                        <a:rPr lang="es-MX" sz="1400" b="0" i="0" u="none" strike="noStrike" dirty="0">
                          <a:solidFill>
                            <a:srgbClr val="1B2A4A"/>
                          </a:solidFill>
                          <a:effectLst/>
                          <a:latin typeface="Calibri" panose="020F0502020204030204" pitchFamily="34" charset="0"/>
                        </a:rPr>
                        <a:t>ARG1</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tc>
                  <a:txBody>
                    <a:bodyPr/>
                    <a:lstStyle/>
                    <a:p>
                      <a:pPr algn="l" rtl="0" fontAlgn="t">
                        <a:buNone/>
                      </a:pPr>
                      <a:r>
                        <a:rPr lang="en-US" sz="1400" b="0" i="0" u="none" strike="noStrike" dirty="0">
                          <a:solidFill>
                            <a:srgbClr val="1B2A4A"/>
                          </a:solidFill>
                          <a:effectLst/>
                          <a:latin typeface="Calibri" panose="020F0502020204030204" pitchFamily="34" charset="0"/>
                        </a:rPr>
                        <a:t>Patient — what is acted on</a:t>
                      </a:r>
                      <a:endParaRPr lang="en-US"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extLst>
                  <a:ext uri="{0D108BD9-81ED-4DB2-BD59-A6C34878D82A}">
                    <a16:rowId xmlns:a16="http://schemas.microsoft.com/office/drawing/2014/main" val="248572296"/>
                  </a:ext>
                </a:extLst>
              </a:tr>
              <a:tr h="660358">
                <a:tc>
                  <a:txBody>
                    <a:bodyPr/>
                    <a:lstStyle/>
                    <a:p>
                      <a:pPr algn="l" rtl="0" fontAlgn="t">
                        <a:buNone/>
                      </a:pPr>
                      <a:r>
                        <a:rPr lang="es-MX" sz="1400" b="0" i="0" u="none" strike="noStrike" dirty="0">
                          <a:solidFill>
                            <a:srgbClr val="1B2A4A"/>
                          </a:solidFill>
                          <a:effectLst/>
                          <a:latin typeface="Calibri" panose="020F0502020204030204" pitchFamily="34" charset="0"/>
                        </a:rPr>
                        <a:t>ARG0</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tc>
                  <a:txBody>
                    <a:bodyPr/>
                    <a:lstStyle/>
                    <a:p>
                      <a:pPr algn="l" rtl="0" fontAlgn="t">
                        <a:buNone/>
                      </a:pPr>
                      <a:r>
                        <a:rPr lang="es-MX" sz="1400" b="0" i="0" u="none" strike="noStrike" dirty="0" err="1">
                          <a:solidFill>
                            <a:srgbClr val="1B2A4A"/>
                          </a:solidFill>
                          <a:effectLst/>
                          <a:latin typeface="Calibri" panose="020F0502020204030204" pitchFamily="34" charset="0"/>
                        </a:rPr>
                        <a:t>Agent</a:t>
                      </a:r>
                      <a:r>
                        <a:rPr lang="es-MX" sz="1400" b="0" i="0" u="none" strike="noStrike" dirty="0">
                          <a:solidFill>
                            <a:srgbClr val="1B2A4A"/>
                          </a:solidFill>
                          <a:effectLst/>
                          <a:latin typeface="Calibri" panose="020F0502020204030204" pitchFamily="34" charset="0"/>
                        </a:rPr>
                        <a:t> — </a:t>
                      </a:r>
                      <a:r>
                        <a:rPr lang="es-MX" sz="1400" b="0" i="0" u="none" strike="noStrike" dirty="0" err="1">
                          <a:solidFill>
                            <a:srgbClr val="1B2A4A"/>
                          </a:solidFill>
                          <a:effectLst/>
                          <a:latin typeface="Calibri" panose="020F0502020204030204" pitchFamily="34" charset="0"/>
                        </a:rPr>
                        <a:t>who</a:t>
                      </a:r>
                      <a:r>
                        <a:rPr lang="es-MX" sz="1400" b="0" i="0" u="none" strike="noStrike" dirty="0">
                          <a:solidFill>
                            <a:srgbClr val="1B2A4A"/>
                          </a:solidFill>
                          <a:effectLst/>
                          <a:latin typeface="Calibri" panose="020F0502020204030204" pitchFamily="34" charset="0"/>
                        </a:rPr>
                        <a:t> </a:t>
                      </a:r>
                      <a:r>
                        <a:rPr lang="es-MX" sz="1400" b="0" i="0" u="none" strike="noStrike" dirty="0" err="1">
                          <a:solidFill>
                            <a:srgbClr val="1B2A4A"/>
                          </a:solidFill>
                          <a:effectLst/>
                          <a:latin typeface="Calibri" panose="020F0502020204030204" pitchFamily="34" charset="0"/>
                        </a:rPr>
                        <a:t>does</a:t>
                      </a:r>
                      <a:r>
                        <a:rPr lang="es-MX" sz="1400" b="0" i="0" u="none" strike="noStrike" dirty="0">
                          <a:solidFill>
                            <a:srgbClr val="1B2A4A"/>
                          </a:solidFill>
                          <a:effectLst/>
                          <a:latin typeface="Calibri" panose="020F0502020204030204" pitchFamily="34" charset="0"/>
                        </a:rPr>
                        <a:t> </a:t>
                      </a:r>
                      <a:r>
                        <a:rPr lang="es-MX" sz="1400" b="0" i="0" u="none" strike="noStrike" dirty="0" err="1">
                          <a:solidFill>
                            <a:srgbClr val="1B2A4A"/>
                          </a:solidFill>
                          <a:effectLst/>
                          <a:latin typeface="Calibri" panose="020F0502020204030204" pitchFamily="34" charset="0"/>
                        </a:rPr>
                        <a:t>it</a:t>
                      </a:r>
                      <a:endParaRPr lang="es-MX" sz="2400" dirty="0">
                        <a:effectLst/>
                      </a:endParaRPr>
                    </a:p>
                  </a:txBody>
                  <a:tcPr marL="76200" marR="76200" marT="38100" marB="38100">
                    <a:lnL w="10157" cap="flat" cmpd="sng" algn="ctr">
                      <a:solidFill>
                        <a:srgbClr val="CBD5E0"/>
                      </a:solidFill>
                      <a:prstDash val="solid"/>
                      <a:round/>
                      <a:headEnd type="none" w="med" len="med"/>
                      <a:tailEnd type="none" w="med" len="med"/>
                    </a:lnL>
                    <a:lnR w="10157" cap="flat" cmpd="sng" algn="ctr">
                      <a:solidFill>
                        <a:srgbClr val="CBD5E0"/>
                      </a:solidFill>
                      <a:prstDash val="solid"/>
                      <a:round/>
                      <a:headEnd type="none" w="med" len="med"/>
                      <a:tailEnd type="none" w="med" len="med"/>
                    </a:lnR>
                    <a:lnT w="10157" cap="flat" cmpd="sng" algn="ctr">
                      <a:solidFill>
                        <a:srgbClr val="CBD5E0"/>
                      </a:solidFill>
                      <a:prstDash val="solid"/>
                      <a:round/>
                      <a:headEnd type="none" w="med" len="med"/>
                      <a:tailEnd type="none" w="med" len="med"/>
                    </a:lnT>
                    <a:lnB w="10157" cap="flat" cmpd="sng" algn="ctr">
                      <a:solidFill>
                        <a:srgbClr val="CBD5E0"/>
                      </a:solidFill>
                      <a:prstDash val="solid"/>
                      <a:round/>
                      <a:headEnd type="none" w="med" len="med"/>
                      <a:tailEnd type="none" w="med" len="med"/>
                    </a:lnB>
                    <a:solidFill>
                      <a:srgbClr val="E6F7F7"/>
                    </a:solidFill>
                  </a:tcPr>
                </a:tc>
                <a:extLst>
                  <a:ext uri="{0D108BD9-81ED-4DB2-BD59-A6C34878D82A}">
                    <a16:rowId xmlns:a16="http://schemas.microsoft.com/office/drawing/2014/main" val="3270084160"/>
                  </a:ext>
                </a:extLst>
              </a:tr>
            </a:tbl>
          </a:graphicData>
        </a:graphic>
      </p:graphicFrame>
      <p:sp>
        <p:nvSpPr>
          <p:cNvPr id="4" name="TextBox 3">
            <a:extLst>
              <a:ext uri="{FF2B5EF4-FFF2-40B4-BE49-F238E27FC236}">
                <a16:creationId xmlns:a16="http://schemas.microsoft.com/office/drawing/2014/main" id="{185365FC-2F88-020F-82B6-CB44BD7CB86E}"/>
              </a:ext>
            </a:extLst>
          </p:cNvPr>
          <p:cNvSpPr txBox="1"/>
          <p:nvPr/>
        </p:nvSpPr>
        <p:spPr>
          <a:xfrm>
            <a:off x="8376920" y="2354337"/>
            <a:ext cx="6106160" cy="369332"/>
          </a:xfrm>
          <a:prstGeom prst="rect">
            <a:avLst/>
          </a:prstGeom>
          <a:noFill/>
        </p:spPr>
        <p:txBody>
          <a:bodyPr wrap="square">
            <a:spAutoFit/>
          </a:bodyPr>
          <a:lstStyle/>
          <a:p>
            <a:pPr rtl="0">
              <a:buNone/>
            </a:pPr>
            <a:r>
              <a:rPr lang="es-MX" sz="1800" b="1" i="0" u="none" strike="noStrike" dirty="0" err="1">
                <a:solidFill>
                  <a:srgbClr val="1B2A4A"/>
                </a:solidFill>
                <a:effectLst/>
                <a:latin typeface="Trebuchet MS" panose="020B0603020202020204" pitchFamily="34" charset="0"/>
              </a:rPr>
              <a:t>Argument</a:t>
            </a:r>
            <a:r>
              <a:rPr lang="es-MX" sz="1800" b="1" i="0" u="none" strike="noStrike" dirty="0">
                <a:solidFill>
                  <a:srgbClr val="1B2A4A"/>
                </a:solidFill>
                <a:effectLst/>
                <a:latin typeface="Trebuchet MS" panose="020B0603020202020204" pitchFamily="34" charset="0"/>
              </a:rPr>
              <a:t> </a:t>
            </a:r>
            <a:r>
              <a:rPr lang="es-MX" sz="1800" b="1" i="0" u="none" strike="noStrike" dirty="0" err="1">
                <a:solidFill>
                  <a:srgbClr val="1B2A4A"/>
                </a:solidFill>
                <a:effectLst/>
                <a:latin typeface="Trebuchet MS" panose="020B0603020202020204" pitchFamily="34" charset="0"/>
              </a:rPr>
              <a:t>Dropping</a:t>
            </a:r>
            <a:r>
              <a:rPr lang="es-MX" sz="1800" b="1" i="0" u="none" strike="noStrike" dirty="0">
                <a:solidFill>
                  <a:srgbClr val="1B2A4A"/>
                </a:solidFill>
                <a:effectLst/>
                <a:latin typeface="Trebuchet MS" panose="020B0603020202020204" pitchFamily="34" charset="0"/>
              </a:rPr>
              <a:t> </a:t>
            </a:r>
            <a:r>
              <a:rPr lang="es-MX" sz="1800" b="1" i="0" u="none" strike="noStrike" dirty="0" err="1">
                <a:solidFill>
                  <a:srgbClr val="1B2A4A"/>
                </a:solidFill>
                <a:effectLst/>
                <a:latin typeface="Trebuchet MS" panose="020B0603020202020204" pitchFamily="34" charset="0"/>
              </a:rPr>
              <a:t>Order</a:t>
            </a:r>
            <a:endParaRPr lang="es-MX" dirty="0">
              <a:effectLst/>
            </a:endParaRPr>
          </a:p>
        </p:txBody>
      </p:sp>
    </p:spTree>
    <p:extLst>
      <p:ext uri="{BB962C8B-B14F-4D97-AF65-F5344CB8AC3E}">
        <p14:creationId xmlns:p14="http://schemas.microsoft.com/office/powerpoint/2010/main" val="500088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63862-C4C6-3B66-1BEA-7D6F98975B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3097054-2E88-1118-527D-AA140203D6A2}"/>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36967521-D08C-ED3B-5CCC-650AC1FCD1B4}"/>
              </a:ext>
            </a:extLst>
          </p:cNvPr>
          <p:cNvSpPr>
            <a:spLocks noGrp="1"/>
          </p:cNvSpPr>
          <p:nvPr>
            <p:ph type="title"/>
          </p:nvPr>
        </p:nvSpPr>
        <p:spPr>
          <a:xfrm>
            <a:off x="423334" y="0"/>
            <a:ext cx="10515600" cy="1015662"/>
          </a:xfrm>
        </p:spPr>
        <p:txBody>
          <a:bodyPr>
            <a:normAutofit/>
          </a:bodyPr>
          <a:lstStyle/>
          <a:p>
            <a:r>
              <a:rPr lang="en-US" altLang="ja-JP" sz="3200" b="1" dirty="0">
                <a:solidFill>
                  <a:schemeClr val="bg1"/>
                </a:solidFill>
              </a:rPr>
              <a:t>Step 4 — Event Matching &amp; KG Grounding</a:t>
            </a:r>
          </a:p>
        </p:txBody>
      </p:sp>
      <p:pic>
        <p:nvPicPr>
          <p:cNvPr id="17" name="Picture 16">
            <a:extLst>
              <a:ext uri="{FF2B5EF4-FFF2-40B4-BE49-F238E27FC236}">
                <a16:creationId xmlns:a16="http://schemas.microsoft.com/office/drawing/2014/main" id="{B0E7F184-4D51-96F6-25D0-D96786AA395D}"/>
              </a:ext>
            </a:extLst>
          </p:cNvPr>
          <p:cNvPicPr>
            <a:picLocks noChangeAspect="1"/>
          </p:cNvPicPr>
          <p:nvPr/>
        </p:nvPicPr>
        <p:blipFill>
          <a:blip r:embed="rId3"/>
          <a:stretch>
            <a:fillRect/>
          </a:stretch>
        </p:blipFill>
        <p:spPr>
          <a:xfrm>
            <a:off x="521547" y="4176373"/>
            <a:ext cx="5694680" cy="388380"/>
          </a:xfrm>
          <a:prstGeom prst="rect">
            <a:avLst/>
          </a:prstGeom>
        </p:spPr>
      </p:pic>
      <p:sp>
        <p:nvSpPr>
          <p:cNvPr id="19" name="TextBox 18">
            <a:extLst>
              <a:ext uri="{FF2B5EF4-FFF2-40B4-BE49-F238E27FC236}">
                <a16:creationId xmlns:a16="http://schemas.microsoft.com/office/drawing/2014/main" id="{27D40BFE-2F0E-4E53-1597-2524C3592311}"/>
              </a:ext>
            </a:extLst>
          </p:cNvPr>
          <p:cNvSpPr txBox="1"/>
          <p:nvPr/>
        </p:nvSpPr>
        <p:spPr>
          <a:xfrm>
            <a:off x="636694" y="1150646"/>
            <a:ext cx="11159066" cy="923330"/>
          </a:xfrm>
          <a:prstGeom prst="rect">
            <a:avLst/>
          </a:prstGeom>
          <a:noFill/>
        </p:spPr>
        <p:txBody>
          <a:bodyPr wrap="square">
            <a:spAutoFit/>
          </a:bodyPr>
          <a:lstStyle/>
          <a:p>
            <a:pPr>
              <a:buNone/>
            </a:pPr>
            <a:r>
              <a:rPr lang="ja-JP" altLang="es-MX" b="1" dirty="0"/>
              <a:t>目的：</a:t>
            </a:r>
            <a:endParaRPr lang="es-MX" altLang="ja-JP" b="1" dirty="0"/>
          </a:p>
          <a:p>
            <a:pPr>
              <a:buNone/>
            </a:pPr>
            <a:r>
              <a:rPr lang="ja-JP" altLang="es-MX" dirty="0"/>
              <a:t>テキストから抽出された </a:t>
            </a:r>
            <a:r>
              <a:rPr lang="ja-JP" altLang="es-MX" b="1" dirty="0"/>
              <a:t>イベント</a:t>
            </a:r>
            <a:r>
              <a:rPr lang="ja-JP" altLang="es-MX" dirty="0"/>
              <a:t> を</a:t>
            </a:r>
            <a:r>
              <a:rPr lang="es-MX" altLang="ja-JP" b="1" dirty="0" err="1"/>
              <a:t>Knowledge</a:t>
            </a:r>
            <a:r>
              <a:rPr lang="es-MX" altLang="ja-JP" b="1" dirty="0"/>
              <a:t> </a:t>
            </a:r>
            <a:r>
              <a:rPr lang="es-MX" altLang="ja-JP" b="1" dirty="0" err="1"/>
              <a:t>Graph</a:t>
            </a:r>
            <a:r>
              <a:rPr lang="es-MX" altLang="ja-JP" b="1" dirty="0"/>
              <a:t> (KG)</a:t>
            </a:r>
            <a:r>
              <a:rPr lang="ja-JP" altLang="es-MX" dirty="0"/>
              <a:t> 内の対応するイベントに結び付ける。</a:t>
            </a:r>
          </a:p>
          <a:p>
            <a:pPr>
              <a:buNone/>
            </a:pPr>
            <a:r>
              <a:rPr lang="ja-JP" altLang="es-MX" dirty="0"/>
              <a:t>このプロセスを </a:t>
            </a:r>
            <a:r>
              <a:rPr lang="es-MX" altLang="ja-JP" b="1" dirty="0" err="1"/>
              <a:t>Event</a:t>
            </a:r>
            <a:r>
              <a:rPr lang="es-MX" altLang="ja-JP" b="1" dirty="0"/>
              <a:t> </a:t>
            </a:r>
            <a:r>
              <a:rPr lang="es-MX" altLang="ja-JP" b="1" dirty="0" err="1"/>
              <a:t>Grounding</a:t>
            </a:r>
            <a:r>
              <a:rPr lang="ja-JP" altLang="es-MX" dirty="0"/>
              <a:t> と呼ぶ。</a:t>
            </a:r>
          </a:p>
        </p:txBody>
      </p:sp>
      <p:sp>
        <p:nvSpPr>
          <p:cNvPr id="21" name="TextBox 20">
            <a:extLst>
              <a:ext uri="{FF2B5EF4-FFF2-40B4-BE49-F238E27FC236}">
                <a16:creationId xmlns:a16="http://schemas.microsoft.com/office/drawing/2014/main" id="{91DBE944-B321-E4E6-BA5F-9ED8663562EB}"/>
              </a:ext>
            </a:extLst>
          </p:cNvPr>
          <p:cNvSpPr txBox="1"/>
          <p:nvPr/>
        </p:nvSpPr>
        <p:spPr>
          <a:xfrm>
            <a:off x="636694" y="2132147"/>
            <a:ext cx="11159066" cy="923330"/>
          </a:xfrm>
          <a:prstGeom prst="rect">
            <a:avLst/>
          </a:prstGeom>
          <a:noFill/>
        </p:spPr>
        <p:txBody>
          <a:bodyPr wrap="square">
            <a:spAutoFit/>
          </a:bodyPr>
          <a:lstStyle/>
          <a:p>
            <a:pPr>
              <a:buNone/>
            </a:pPr>
            <a:r>
              <a:rPr lang="ja-JP" altLang="es-MX" b="1" dirty="0"/>
              <a:t>方法：</a:t>
            </a:r>
            <a:endParaRPr lang="es-MX" altLang="ja-JP" b="1" dirty="0"/>
          </a:p>
          <a:p>
            <a:pPr>
              <a:buNone/>
            </a:pPr>
            <a:r>
              <a:rPr lang="ja-JP" altLang="es-MX" dirty="0"/>
              <a:t>各テキストイベントを、</a:t>
            </a:r>
            <a:r>
              <a:rPr lang="es-MX" altLang="ja-JP" dirty="0" err="1"/>
              <a:t>Knowledge</a:t>
            </a:r>
            <a:r>
              <a:rPr lang="es-MX" altLang="ja-JP" dirty="0"/>
              <a:t> </a:t>
            </a:r>
            <a:r>
              <a:rPr lang="es-MX" altLang="ja-JP" dirty="0" err="1"/>
              <a:t>Graph</a:t>
            </a:r>
            <a:r>
              <a:rPr lang="es-MX" altLang="ja-JP" dirty="0"/>
              <a:t> </a:t>
            </a:r>
            <a:r>
              <a:rPr lang="ja-JP" altLang="es-MX" dirty="0"/>
              <a:t>内のイベントと</a:t>
            </a:r>
            <a:r>
              <a:rPr lang="ja-JP" altLang="es-MX" b="1" dirty="0"/>
              <a:t>意味的類似度（</a:t>
            </a:r>
            <a:r>
              <a:rPr lang="es-MX" altLang="ja-JP" b="1" dirty="0" err="1"/>
              <a:t>semantic</a:t>
            </a:r>
            <a:r>
              <a:rPr lang="es-MX" altLang="ja-JP" b="1" dirty="0"/>
              <a:t> </a:t>
            </a:r>
            <a:r>
              <a:rPr lang="es-MX" altLang="ja-JP" b="1" dirty="0" err="1"/>
              <a:t>similarity</a:t>
            </a:r>
            <a:r>
              <a:rPr lang="ja-JP" altLang="es-MX" b="1" dirty="0"/>
              <a:t>）</a:t>
            </a:r>
            <a:r>
              <a:rPr lang="ja-JP" altLang="es-MX" dirty="0"/>
              <a:t> を用いて比較する。イベントの埋め込み（</a:t>
            </a:r>
            <a:r>
              <a:rPr lang="es-MX" altLang="ja-JP" dirty="0" err="1"/>
              <a:t>embedding</a:t>
            </a:r>
            <a:r>
              <a:rPr lang="ja-JP" altLang="es-MX" dirty="0"/>
              <a:t>）は </a:t>
            </a:r>
            <a:r>
              <a:rPr lang="es-MX" altLang="ja-JP" b="1" dirty="0"/>
              <a:t>SBERT</a:t>
            </a:r>
            <a:r>
              <a:rPr lang="ja-JP" altLang="es-MX" dirty="0"/>
              <a:t> を用いて生成する。</a:t>
            </a:r>
          </a:p>
        </p:txBody>
      </p:sp>
      <p:sp>
        <p:nvSpPr>
          <p:cNvPr id="24" name="TextBox 23">
            <a:extLst>
              <a:ext uri="{FF2B5EF4-FFF2-40B4-BE49-F238E27FC236}">
                <a16:creationId xmlns:a16="http://schemas.microsoft.com/office/drawing/2014/main" id="{46A58E26-D464-676A-D27E-0E2F12AFD8E1}"/>
              </a:ext>
            </a:extLst>
          </p:cNvPr>
          <p:cNvSpPr txBox="1"/>
          <p:nvPr/>
        </p:nvSpPr>
        <p:spPr>
          <a:xfrm>
            <a:off x="650240" y="5107189"/>
            <a:ext cx="6106160" cy="1200329"/>
          </a:xfrm>
          <a:prstGeom prst="rect">
            <a:avLst/>
          </a:prstGeom>
          <a:noFill/>
        </p:spPr>
        <p:txBody>
          <a:bodyPr wrap="square">
            <a:spAutoFit/>
          </a:bodyPr>
          <a:lstStyle/>
          <a:p>
            <a:r>
              <a:rPr lang="es-MX" altLang="ja-JP" dirty="0"/>
              <a:t>• </a:t>
            </a:r>
            <a:r>
              <a:rPr lang="es-MX" altLang="ja-JP" b="1" dirty="0"/>
              <a:t>p</a:t>
            </a:r>
            <a:r>
              <a:rPr lang="ja-JP" altLang="es-MX" dirty="0"/>
              <a:t> </a:t>
            </a:r>
            <a:r>
              <a:rPr lang="es-MX" altLang="ja-JP" dirty="0"/>
              <a:t>= </a:t>
            </a:r>
            <a:r>
              <a:rPr lang="ja-JP" altLang="es-MX" dirty="0"/>
              <a:t>テキストから抽出されたイベント</a:t>
            </a:r>
            <a:br>
              <a:rPr lang="ja-JP" altLang="es-MX" dirty="0"/>
            </a:br>
            <a:r>
              <a:rPr lang="es-MX" altLang="ja-JP" dirty="0"/>
              <a:t>• </a:t>
            </a:r>
            <a:r>
              <a:rPr lang="es-MX" altLang="ja-JP" b="1" dirty="0"/>
              <a:t>v</a:t>
            </a:r>
            <a:r>
              <a:rPr lang="ja-JP" altLang="es-MX" dirty="0"/>
              <a:t> </a:t>
            </a:r>
            <a:r>
              <a:rPr lang="es-MX" altLang="ja-JP" dirty="0"/>
              <a:t>= </a:t>
            </a:r>
            <a:r>
              <a:rPr lang="es-MX" altLang="ja-JP" dirty="0" err="1"/>
              <a:t>Knowledge</a:t>
            </a:r>
            <a:r>
              <a:rPr lang="es-MX" altLang="ja-JP" dirty="0"/>
              <a:t> </a:t>
            </a:r>
            <a:r>
              <a:rPr lang="es-MX" altLang="ja-JP" dirty="0" err="1"/>
              <a:t>Graph</a:t>
            </a:r>
            <a:r>
              <a:rPr lang="es-MX" altLang="ja-JP" dirty="0"/>
              <a:t> </a:t>
            </a:r>
            <a:r>
              <a:rPr lang="ja-JP" altLang="es-MX" dirty="0"/>
              <a:t>内のイベントノード</a:t>
            </a:r>
            <a:br>
              <a:rPr lang="ja-JP" altLang="es-MX" dirty="0"/>
            </a:br>
            <a:r>
              <a:rPr lang="es-MX" altLang="ja-JP" dirty="0"/>
              <a:t>• </a:t>
            </a:r>
            <a:r>
              <a:rPr lang="es-MX" altLang="ja-JP" b="1" dirty="0"/>
              <a:t>SBERT(·)</a:t>
            </a:r>
            <a:r>
              <a:rPr lang="ja-JP" altLang="es-MX" dirty="0"/>
              <a:t> </a:t>
            </a:r>
            <a:r>
              <a:rPr lang="es-MX" altLang="ja-JP" dirty="0"/>
              <a:t>= </a:t>
            </a:r>
            <a:r>
              <a:rPr lang="es-MX" altLang="ja-JP" dirty="0" err="1"/>
              <a:t>Sentence</a:t>
            </a:r>
            <a:r>
              <a:rPr lang="es-MX" altLang="ja-JP" dirty="0"/>
              <a:t>-BERT </a:t>
            </a:r>
            <a:r>
              <a:rPr lang="ja-JP" altLang="es-MX" dirty="0"/>
              <a:t>によるイベント埋め込み</a:t>
            </a:r>
            <a:br>
              <a:rPr lang="ja-JP" altLang="es-MX" dirty="0"/>
            </a:br>
            <a:r>
              <a:rPr lang="es-MX" altLang="ja-JP" dirty="0"/>
              <a:t>• </a:t>
            </a:r>
            <a:r>
              <a:rPr lang="es-MX" altLang="ja-JP" b="1" dirty="0"/>
              <a:t>|| · ||₂</a:t>
            </a:r>
            <a:r>
              <a:rPr lang="ja-JP" altLang="es-MX" dirty="0"/>
              <a:t> </a:t>
            </a:r>
            <a:r>
              <a:rPr lang="es-MX" altLang="ja-JP" dirty="0"/>
              <a:t>= </a:t>
            </a:r>
            <a:r>
              <a:rPr lang="ja-JP" altLang="es-MX" dirty="0"/>
              <a:t>埋め込み間のユークリッド距離</a:t>
            </a:r>
            <a:endParaRPr lang="es-MX" dirty="0"/>
          </a:p>
        </p:txBody>
      </p:sp>
      <p:sp>
        <p:nvSpPr>
          <p:cNvPr id="26" name="TextBox 25">
            <a:extLst>
              <a:ext uri="{FF2B5EF4-FFF2-40B4-BE49-F238E27FC236}">
                <a16:creationId xmlns:a16="http://schemas.microsoft.com/office/drawing/2014/main" id="{003B4FAD-1BA0-F963-FC19-25E998F2DEAD}"/>
              </a:ext>
            </a:extLst>
          </p:cNvPr>
          <p:cNvSpPr txBox="1"/>
          <p:nvPr/>
        </p:nvSpPr>
        <p:spPr>
          <a:xfrm>
            <a:off x="7193280" y="3326398"/>
            <a:ext cx="4805679" cy="3139321"/>
          </a:xfrm>
          <a:prstGeom prst="rect">
            <a:avLst/>
          </a:prstGeom>
          <a:noFill/>
        </p:spPr>
        <p:txBody>
          <a:bodyPr wrap="square">
            <a:spAutoFit/>
          </a:bodyPr>
          <a:lstStyle/>
          <a:p>
            <a:pPr>
              <a:buNone/>
            </a:pPr>
            <a:r>
              <a:rPr lang="zh-CN" altLang="es-MX" b="1" dirty="0"/>
              <a:t>例</a:t>
            </a:r>
            <a:r>
              <a:rPr lang="ja-JP" altLang="es-MX" b="1" dirty="0"/>
              <a:t>：</a:t>
            </a:r>
            <a:endParaRPr lang="es-MX" b="1" dirty="0"/>
          </a:p>
          <a:p>
            <a:pPr rtl="0">
              <a:buNone/>
            </a:pPr>
            <a:endParaRPr lang="es-MX" dirty="0">
              <a:latin typeface="Courier New" panose="02070309020205020404" pitchFamily="49" charset="0"/>
            </a:endParaRPr>
          </a:p>
          <a:p>
            <a:pPr rtl="0">
              <a:buNone/>
            </a:pPr>
            <a:r>
              <a:rPr lang="es-MX" altLang="ja-JP" dirty="0">
                <a:highlight>
                  <a:srgbClr val="FFFF00"/>
                </a:highlight>
                <a:latin typeface="Courier New" panose="02070309020205020404" pitchFamily="49" charset="0"/>
              </a:rPr>
              <a:t>[P0]</a:t>
            </a:r>
            <a:r>
              <a:rPr lang="es-MX" dirty="0">
                <a:highlight>
                  <a:srgbClr val="FFFF00"/>
                </a:highlight>
                <a:latin typeface="Courier New" panose="02070309020205020404" pitchFamily="49" charset="0"/>
              </a:rPr>
              <a:t> </a:t>
            </a:r>
            <a:r>
              <a:rPr lang="es-MX" dirty="0" err="1">
                <a:highlight>
                  <a:srgbClr val="FFFF00"/>
                </a:highlight>
                <a:latin typeface="Courier New" panose="02070309020205020404" pitchFamily="49" charset="0"/>
              </a:rPr>
              <a:t>bought</a:t>
            </a:r>
            <a:r>
              <a:rPr lang="es-MX" dirty="0">
                <a:highlight>
                  <a:srgbClr val="FFFF00"/>
                </a:highlight>
                <a:latin typeface="Courier New" panose="02070309020205020404" pitchFamily="49" charset="0"/>
              </a:rPr>
              <a:t> a </a:t>
            </a:r>
            <a:r>
              <a:rPr lang="es-MX" dirty="0" err="1">
                <a:highlight>
                  <a:srgbClr val="FFFF00"/>
                </a:highlight>
                <a:latin typeface="Courier New" panose="02070309020205020404" pitchFamily="49" charset="0"/>
              </a:rPr>
              <a:t>movie</a:t>
            </a:r>
            <a:r>
              <a:rPr lang="es-MX" dirty="0">
                <a:highlight>
                  <a:srgbClr val="FFFF00"/>
                </a:highlight>
                <a:latin typeface="Courier New" panose="02070309020205020404" pitchFamily="49" charset="0"/>
              </a:rPr>
              <a:t> ticket</a:t>
            </a:r>
          </a:p>
          <a:p>
            <a:pPr>
              <a:buNone/>
            </a:pPr>
            <a:endParaRPr lang="es-MX" dirty="0"/>
          </a:p>
          <a:p>
            <a:pPr>
              <a:buNone/>
            </a:pPr>
            <a:r>
              <a:rPr lang="es-MX" dirty="0" err="1"/>
              <a:t>Knowledge</a:t>
            </a:r>
            <a:r>
              <a:rPr lang="es-MX" dirty="0"/>
              <a:t> </a:t>
            </a:r>
            <a:r>
              <a:rPr lang="es-MX" dirty="0" err="1"/>
              <a:t>Graph</a:t>
            </a:r>
            <a:r>
              <a:rPr lang="es-MX" dirty="0"/>
              <a:t> </a:t>
            </a:r>
            <a:r>
              <a:rPr lang="ja-JP" altLang="es-MX" dirty="0"/>
              <a:t>のイベント</a:t>
            </a:r>
          </a:p>
          <a:p>
            <a:pPr rtl="0">
              <a:buNone/>
            </a:pPr>
            <a:endParaRPr lang="es-MX" dirty="0">
              <a:latin typeface="Courier New" panose="02070309020205020404" pitchFamily="49" charset="0"/>
            </a:endParaRPr>
          </a:p>
          <a:p>
            <a:pPr rtl="0">
              <a:buNone/>
            </a:pPr>
            <a:r>
              <a:rPr lang="es-MX" dirty="0" err="1">
                <a:highlight>
                  <a:srgbClr val="FFFF00"/>
                </a:highlight>
                <a:latin typeface="Courier New" panose="02070309020205020404" pitchFamily="49" charset="0"/>
              </a:rPr>
              <a:t>PersonX</a:t>
            </a:r>
            <a:r>
              <a:rPr lang="es-MX" dirty="0">
                <a:highlight>
                  <a:srgbClr val="FFFF00"/>
                </a:highlight>
                <a:latin typeface="Courier New" panose="02070309020205020404" pitchFamily="49" charset="0"/>
              </a:rPr>
              <a:t> </a:t>
            </a:r>
            <a:r>
              <a:rPr lang="es-MX" dirty="0" err="1">
                <a:highlight>
                  <a:srgbClr val="FFFF00"/>
                </a:highlight>
                <a:latin typeface="Courier New" panose="02070309020205020404" pitchFamily="49" charset="0"/>
              </a:rPr>
              <a:t>buys</a:t>
            </a:r>
            <a:r>
              <a:rPr lang="es-MX" dirty="0">
                <a:highlight>
                  <a:srgbClr val="FFFF00"/>
                </a:highlight>
                <a:latin typeface="Courier New" panose="02070309020205020404" pitchFamily="49" charset="0"/>
              </a:rPr>
              <a:t> </a:t>
            </a:r>
            <a:r>
              <a:rPr lang="es-MX" dirty="0" err="1">
                <a:highlight>
                  <a:srgbClr val="FFFF00"/>
                </a:highlight>
                <a:latin typeface="Courier New" panose="02070309020205020404" pitchFamily="49" charset="0"/>
              </a:rPr>
              <a:t>movie</a:t>
            </a:r>
            <a:r>
              <a:rPr lang="es-MX" dirty="0">
                <a:highlight>
                  <a:srgbClr val="FFFF00"/>
                </a:highlight>
                <a:latin typeface="Courier New" panose="02070309020205020404" pitchFamily="49" charset="0"/>
              </a:rPr>
              <a:t> ticket</a:t>
            </a:r>
          </a:p>
          <a:p>
            <a:pPr>
              <a:buNone/>
            </a:pPr>
            <a:endParaRPr lang="es-MX" dirty="0"/>
          </a:p>
          <a:p>
            <a:pPr>
              <a:buNone/>
            </a:pPr>
            <a:r>
              <a:rPr lang="es-MX" dirty="0"/>
              <a:t>SBERT </a:t>
            </a:r>
            <a:r>
              <a:rPr lang="ja-JP" altLang="es-MX" dirty="0"/>
              <a:t>の</a:t>
            </a:r>
            <a:r>
              <a:rPr lang="zh-CN" altLang="es-MX" dirty="0"/>
              <a:t>埋</a:t>
            </a:r>
            <a:r>
              <a:rPr lang="ja-JP" altLang="es-MX" dirty="0"/>
              <a:t>め</a:t>
            </a:r>
            <a:r>
              <a:rPr lang="zh-CN" altLang="es-MX" dirty="0"/>
              <a:t>込</a:t>
            </a:r>
            <a:r>
              <a:rPr lang="ja-JP" altLang="es-MX" dirty="0"/>
              <a:t>みが </a:t>
            </a:r>
            <a:r>
              <a:rPr lang="zh-CN" altLang="es-MX" b="1" dirty="0"/>
              <a:t>意味的</a:t>
            </a:r>
            <a:r>
              <a:rPr lang="ja-JP" altLang="es-MX" b="1" dirty="0"/>
              <a:t>に</a:t>
            </a:r>
            <a:r>
              <a:rPr lang="zh-CN" altLang="es-MX" b="1" dirty="0"/>
              <a:t>近</a:t>
            </a:r>
            <a:r>
              <a:rPr lang="ja-JP" altLang="es-MX" b="1" dirty="0"/>
              <a:t>いため</a:t>
            </a:r>
            <a:r>
              <a:rPr lang="ja-JP" altLang="es-MX" dirty="0"/>
              <a:t>、</a:t>
            </a:r>
            <a:br>
              <a:rPr lang="ja-JP" altLang="es-MX" dirty="0"/>
            </a:br>
            <a:r>
              <a:rPr lang="ja-JP" altLang="es-MX" dirty="0"/>
              <a:t>このイベントが </a:t>
            </a:r>
            <a:r>
              <a:rPr lang="es-MX" b="1" dirty="0" err="1"/>
              <a:t>Knowledge</a:t>
            </a:r>
            <a:r>
              <a:rPr lang="es-MX" b="1" dirty="0"/>
              <a:t> </a:t>
            </a:r>
            <a:r>
              <a:rPr lang="es-MX" b="1" dirty="0" err="1"/>
              <a:t>Graph</a:t>
            </a:r>
            <a:r>
              <a:rPr lang="es-MX" b="1" dirty="0"/>
              <a:t> </a:t>
            </a:r>
            <a:r>
              <a:rPr lang="ja-JP" altLang="es-MX" b="1" dirty="0"/>
              <a:t>のノードに</a:t>
            </a:r>
            <a:r>
              <a:rPr lang="zh-CN" altLang="es-MX" b="1" dirty="0"/>
              <a:t>対応付</a:t>
            </a:r>
            <a:r>
              <a:rPr lang="ja-JP" altLang="es-MX" b="1" dirty="0"/>
              <a:t>けられる。</a:t>
            </a:r>
            <a:endParaRPr lang="ja-JP" altLang="es-MX" dirty="0"/>
          </a:p>
        </p:txBody>
      </p:sp>
      <p:cxnSp>
        <p:nvCxnSpPr>
          <p:cNvPr id="27" name="Straight Connector 26">
            <a:extLst>
              <a:ext uri="{FF2B5EF4-FFF2-40B4-BE49-F238E27FC236}">
                <a16:creationId xmlns:a16="http://schemas.microsoft.com/office/drawing/2014/main" id="{D82E917D-3395-BF8C-CA83-836B709F7963}"/>
              </a:ext>
            </a:extLst>
          </p:cNvPr>
          <p:cNvCxnSpPr>
            <a:cxnSpLocks/>
          </p:cNvCxnSpPr>
          <p:nvPr/>
        </p:nvCxnSpPr>
        <p:spPr>
          <a:xfrm>
            <a:off x="6756400" y="3326398"/>
            <a:ext cx="0" cy="2871202"/>
          </a:xfrm>
          <a:prstGeom prst="line">
            <a:avLst/>
          </a:prstGeom>
        </p:spPr>
        <p:style>
          <a:lnRef idx="3">
            <a:schemeClr val="accent1"/>
          </a:lnRef>
          <a:fillRef idx="0">
            <a:schemeClr val="accent1"/>
          </a:fillRef>
          <a:effectRef idx="2">
            <a:schemeClr val="accent1"/>
          </a:effectRef>
          <a:fontRef idx="minor">
            <a:schemeClr val="tx1"/>
          </a:fontRef>
        </p:style>
      </p:cxnSp>
      <p:pic>
        <p:nvPicPr>
          <p:cNvPr id="30" name="Picture 29">
            <a:extLst>
              <a:ext uri="{FF2B5EF4-FFF2-40B4-BE49-F238E27FC236}">
                <a16:creationId xmlns:a16="http://schemas.microsoft.com/office/drawing/2014/main" id="{EC5BE937-A8E9-3B21-13C5-8E06D8B31058}"/>
              </a:ext>
            </a:extLst>
          </p:cNvPr>
          <p:cNvPicPr>
            <a:picLocks noChangeAspect="1"/>
          </p:cNvPicPr>
          <p:nvPr/>
        </p:nvPicPr>
        <p:blipFill>
          <a:blip r:embed="rId4"/>
          <a:stretch>
            <a:fillRect/>
          </a:stretch>
        </p:blipFill>
        <p:spPr>
          <a:xfrm>
            <a:off x="1642175" y="3320374"/>
            <a:ext cx="3229426" cy="790685"/>
          </a:xfrm>
          <a:prstGeom prst="rect">
            <a:avLst/>
          </a:prstGeom>
        </p:spPr>
      </p:pic>
    </p:spTree>
    <p:extLst>
      <p:ext uri="{BB962C8B-B14F-4D97-AF65-F5344CB8AC3E}">
        <p14:creationId xmlns:p14="http://schemas.microsoft.com/office/powerpoint/2010/main" val="676818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B7FCA-B274-9361-E197-2B68EA50C95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0F83B60-A667-770C-EAE4-4466B0EA7277}"/>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A6A9CFC1-AF11-C46B-8F01-320BA348608E}"/>
              </a:ext>
            </a:extLst>
          </p:cNvPr>
          <p:cNvSpPr>
            <a:spLocks noGrp="1"/>
          </p:cNvSpPr>
          <p:nvPr>
            <p:ph type="title"/>
          </p:nvPr>
        </p:nvSpPr>
        <p:spPr>
          <a:xfrm>
            <a:off x="423334" y="0"/>
            <a:ext cx="10515600" cy="1015662"/>
          </a:xfrm>
        </p:spPr>
        <p:txBody>
          <a:bodyPr>
            <a:normAutofit/>
          </a:bodyPr>
          <a:lstStyle/>
          <a:p>
            <a:r>
              <a:rPr lang="en-US" altLang="ja-JP" sz="3200" b="1" dirty="0">
                <a:solidFill>
                  <a:schemeClr val="bg1"/>
                </a:solidFill>
              </a:rPr>
              <a:t>Step 5 — Subgraph Construction</a:t>
            </a:r>
          </a:p>
        </p:txBody>
      </p:sp>
      <p:sp>
        <p:nvSpPr>
          <p:cNvPr id="19" name="TextBox 18">
            <a:extLst>
              <a:ext uri="{FF2B5EF4-FFF2-40B4-BE49-F238E27FC236}">
                <a16:creationId xmlns:a16="http://schemas.microsoft.com/office/drawing/2014/main" id="{90802E36-A3EE-AFB9-C234-5B2F1D4002B8}"/>
              </a:ext>
            </a:extLst>
          </p:cNvPr>
          <p:cNvSpPr txBox="1"/>
          <p:nvPr/>
        </p:nvSpPr>
        <p:spPr>
          <a:xfrm>
            <a:off x="636694" y="1147358"/>
            <a:ext cx="11159066" cy="1477328"/>
          </a:xfrm>
          <a:prstGeom prst="rect">
            <a:avLst/>
          </a:prstGeom>
          <a:noFill/>
        </p:spPr>
        <p:txBody>
          <a:bodyPr wrap="square">
            <a:spAutoFit/>
          </a:bodyPr>
          <a:lstStyle/>
          <a:p>
            <a:r>
              <a:rPr lang="ja-JP" altLang="es-MX" dirty="0"/>
              <a:t>テキスト中のイベントを </a:t>
            </a:r>
            <a:r>
              <a:rPr lang="es-MX" altLang="ja-JP" dirty="0" err="1"/>
              <a:t>Knowledge</a:t>
            </a:r>
            <a:r>
              <a:rPr lang="es-MX" altLang="ja-JP" dirty="0"/>
              <a:t> </a:t>
            </a:r>
            <a:r>
              <a:rPr lang="es-MX" altLang="ja-JP" dirty="0" err="1"/>
              <a:t>Graph</a:t>
            </a:r>
            <a:r>
              <a:rPr lang="es-MX" altLang="ja-JP" dirty="0"/>
              <a:t> </a:t>
            </a:r>
            <a:r>
              <a:rPr lang="ja-JP" altLang="es-MX" dirty="0"/>
              <a:t>のアンカーイベントに対応付けた後、</a:t>
            </a:r>
            <a:br>
              <a:rPr lang="ja-JP" altLang="es-MX" dirty="0"/>
            </a:br>
            <a:r>
              <a:rPr lang="ja-JP" altLang="es-MX" dirty="0"/>
              <a:t>それらのイベントを結び付けるサブグラフを構築する。</a:t>
            </a:r>
            <a:endParaRPr lang="es-MX" altLang="ja-JP" dirty="0"/>
          </a:p>
          <a:p>
            <a:endParaRPr lang="es-MX" altLang="ja-JP" dirty="0"/>
          </a:p>
          <a:p>
            <a:r>
              <a:rPr lang="ja-JP" altLang="es-MX" b="1" dirty="0"/>
              <a:t>目的：</a:t>
            </a:r>
            <a:endParaRPr lang="es-MX" altLang="ja-JP" b="1" dirty="0"/>
          </a:p>
          <a:p>
            <a:r>
              <a:rPr lang="ja-JP" altLang="es-MX" dirty="0"/>
              <a:t>推論に必要な最も関連性の高い知識のみを含むコンパクトな推論グラフを構築することである。</a:t>
            </a: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942F8045-9183-7CDF-D3A1-14283E135DA0}"/>
                  </a:ext>
                </a:extLst>
              </p:cNvPr>
              <p:cNvSpPr txBox="1"/>
              <p:nvPr/>
            </p:nvSpPr>
            <p:spPr>
              <a:xfrm>
                <a:off x="636694" y="2837340"/>
                <a:ext cx="5560906" cy="3779624"/>
              </a:xfrm>
              <a:prstGeom prst="rect">
                <a:avLst/>
              </a:prstGeom>
              <a:noFill/>
            </p:spPr>
            <p:txBody>
              <a:bodyPr wrap="square">
                <a:spAutoFit/>
              </a:bodyPr>
              <a:lstStyle/>
              <a:p>
                <a:pPr>
                  <a:buNone/>
                </a:pPr>
                <a:r>
                  <a:rPr lang="ja-JP" altLang="es-MX" sz="1700" b="1" dirty="0"/>
                  <a:t>方法：</a:t>
                </a:r>
                <a:endParaRPr lang="es-MX" altLang="ja-JP" sz="1700" b="1" dirty="0"/>
              </a:p>
              <a:p>
                <a:r>
                  <a:rPr lang="ja-JP" altLang="es-MX" sz="1700" dirty="0"/>
                  <a:t>本フレームワークでは、</a:t>
                </a:r>
                <a:r>
                  <a:rPr lang="es-MX" altLang="ja-JP" sz="1700" b="1" dirty="0"/>
                  <a:t>Steiner </a:t>
                </a:r>
                <a:r>
                  <a:rPr lang="es-MX" altLang="ja-JP" sz="1700" b="1" dirty="0" err="1"/>
                  <a:t>Tree</a:t>
                </a:r>
                <a:r>
                  <a:rPr lang="ja-JP" altLang="es-MX" sz="1700" dirty="0"/>
                  <a:t> を用いてサブグラフを構築する。</a:t>
                </a:r>
                <a:br>
                  <a:rPr lang="ja-JP" altLang="es-MX" sz="1700" dirty="0"/>
                </a:br>
                <a:r>
                  <a:rPr lang="es-MX" altLang="ja-JP" sz="1700" dirty="0"/>
                  <a:t>Steiner </a:t>
                </a:r>
                <a:r>
                  <a:rPr lang="es-MX" altLang="ja-JP" sz="1700" dirty="0" err="1"/>
                  <a:t>Tree</a:t>
                </a:r>
                <a:r>
                  <a:rPr lang="es-MX" altLang="ja-JP" sz="1700" dirty="0"/>
                  <a:t> </a:t>
                </a:r>
                <a:r>
                  <a:rPr lang="ja-JP" altLang="es-MX" sz="1700" dirty="0"/>
                  <a:t>は、</a:t>
                </a:r>
                <a:r>
                  <a:rPr lang="ja-JP" altLang="es-MX" sz="1700" b="1" dirty="0"/>
                  <a:t>すべてのアンカーイベントを接続する最小のグラフ</a:t>
                </a:r>
                <a:r>
                  <a:rPr lang="ja-JP" altLang="es-MX" sz="1700" dirty="0"/>
                  <a:t>を求める手法である。</a:t>
                </a:r>
              </a:p>
              <a:p>
                <a:r>
                  <a:rPr lang="ja-JP" altLang="es-MX" sz="1700" dirty="0"/>
                  <a:t>形式的には、アンカーノードの集合が</a:t>
                </a:r>
              </a:p>
              <a:p>
                <a:endParaRPr lang="es-MX" altLang="ja-JP" sz="1700" i="1" dirty="0"/>
              </a:p>
              <a:p>
                <a14:m>
                  <m:oMathPara xmlns:m="http://schemas.openxmlformats.org/officeDocument/2006/math">
                    <m:oMathParaPr>
                      <m:jc m:val="centerGroup"/>
                    </m:oMathParaPr>
                    <m:oMath xmlns:m="http://schemas.openxmlformats.org/officeDocument/2006/math">
                      <m:r>
                        <a:rPr lang="ja-JP" altLang="es-MX" sz="1700" i="1" smtClean="0"/>
                        <m:t>𝐶</m:t>
                      </m:r>
                      <m:r>
                        <a:rPr lang="es-MX" altLang="ja-JP" sz="1700"/>
                        <m:t>=</m:t>
                      </m:r>
                      <m:r>
                        <a:rPr lang="es-MX" altLang="ja-JP" sz="1700" b="0" i="0" smtClean="0">
                          <a:latin typeface="Cambria Math" panose="02040503050406030204" pitchFamily="18" charset="0"/>
                        </a:rPr>
                        <m:t>{</m:t>
                      </m:r>
                      <m:sSub>
                        <m:sSubPr>
                          <m:ctrlPr>
                            <a:rPr lang="es-MX" altLang="ja-JP" sz="1700" b="0" i="1" smtClean="0">
                              <a:latin typeface="Cambria Math" panose="02040503050406030204" pitchFamily="18" charset="0"/>
                            </a:rPr>
                          </m:ctrlPr>
                        </m:sSubPr>
                        <m:e>
                          <m:r>
                            <m:rPr>
                              <m:sty m:val="p"/>
                            </m:rPr>
                            <a:rPr lang="es-MX" altLang="ja-JP" sz="1700" b="0" i="1" smtClean="0">
                              <a:latin typeface="Cambria Math" panose="02040503050406030204" pitchFamily="18" charset="0"/>
                            </a:rPr>
                            <m:t>c</m:t>
                          </m:r>
                        </m:e>
                        <m:sub>
                          <m:r>
                            <a:rPr lang="es-MX" altLang="ja-JP" sz="1700" b="0" i="1" smtClean="0">
                              <a:latin typeface="Cambria Math" panose="02040503050406030204" pitchFamily="18" charset="0"/>
                            </a:rPr>
                            <m:t>1</m:t>
                          </m:r>
                        </m:sub>
                      </m:sSub>
                      <m:r>
                        <a:rPr lang="es-MX" altLang="ja-JP" sz="1700" b="0" i="1" smtClean="0">
                          <a:latin typeface="Cambria Math" panose="02040503050406030204" pitchFamily="18" charset="0"/>
                        </a:rPr>
                        <m:t>,</m:t>
                      </m:r>
                      <m:sSub>
                        <m:sSubPr>
                          <m:ctrlPr>
                            <a:rPr lang="es-MX" altLang="ja-JP" sz="1700" b="0" i="1" smtClean="0">
                              <a:latin typeface="Cambria Math" panose="02040503050406030204" pitchFamily="18" charset="0"/>
                            </a:rPr>
                          </m:ctrlPr>
                        </m:sSubPr>
                        <m:e>
                          <m:r>
                            <m:rPr>
                              <m:sty m:val="p"/>
                            </m:rPr>
                            <a:rPr lang="es-MX" altLang="ja-JP" sz="1700" b="0" i="1" smtClean="0">
                              <a:latin typeface="Cambria Math" panose="02040503050406030204" pitchFamily="18" charset="0"/>
                            </a:rPr>
                            <m:t>c</m:t>
                          </m:r>
                        </m:e>
                        <m:sub>
                          <m:r>
                            <a:rPr lang="es-MX" altLang="ja-JP" sz="1700" b="0" i="1" smtClean="0">
                              <a:latin typeface="Cambria Math" panose="02040503050406030204" pitchFamily="18" charset="0"/>
                            </a:rPr>
                            <m:t>2</m:t>
                          </m:r>
                        </m:sub>
                      </m:sSub>
                      <m:r>
                        <a:rPr lang="es-MX" altLang="ja-JP" sz="1700" b="0" i="1" smtClean="0">
                          <a:latin typeface="Cambria Math" panose="02040503050406030204" pitchFamily="18" charset="0"/>
                        </a:rPr>
                        <m:t>,…,</m:t>
                      </m:r>
                      <m:sSub>
                        <m:sSubPr>
                          <m:ctrlPr>
                            <a:rPr lang="es-MX" altLang="ja-JP" sz="1700" b="0" i="1" smtClean="0">
                              <a:latin typeface="Cambria Math" panose="02040503050406030204" pitchFamily="18" charset="0"/>
                            </a:rPr>
                          </m:ctrlPr>
                        </m:sSubPr>
                        <m:e>
                          <m:r>
                            <m:rPr>
                              <m:sty m:val="p"/>
                            </m:rPr>
                            <a:rPr lang="es-MX" altLang="ja-JP" sz="1700" b="0" i="1" smtClean="0">
                              <a:latin typeface="Cambria Math" panose="02040503050406030204" pitchFamily="18" charset="0"/>
                            </a:rPr>
                            <m:t>c</m:t>
                          </m:r>
                        </m:e>
                        <m:sub>
                          <m:r>
                            <m:rPr>
                              <m:sty m:val="p"/>
                            </m:rPr>
                            <a:rPr lang="es-MX" altLang="ja-JP" sz="1700" b="0" i="1" smtClean="0">
                              <a:latin typeface="Cambria Math" panose="02040503050406030204" pitchFamily="18" charset="0"/>
                            </a:rPr>
                            <m:t>m</m:t>
                          </m:r>
                        </m:sub>
                      </m:sSub>
                      <m:r>
                        <a:rPr lang="es-MX" altLang="ja-JP" sz="1700" b="0" i="0" smtClean="0">
                          <a:latin typeface="Cambria Math" panose="02040503050406030204" pitchFamily="18" charset="0"/>
                        </a:rPr>
                        <m:t>}</m:t>
                      </m:r>
                    </m:oMath>
                  </m:oMathPara>
                </a14:m>
                <a:endParaRPr lang="ja-JP" altLang="es-MX" sz="1700" dirty="0"/>
              </a:p>
              <a:p>
                <a:endParaRPr lang="es-MX" altLang="ja-JP" sz="1700" dirty="0"/>
              </a:p>
              <a:p>
                <a:r>
                  <a:rPr lang="ja-JP" altLang="es-MX" sz="1700" dirty="0"/>
                  <a:t>と与えられたとき、</a:t>
                </a:r>
                <a:r>
                  <a:rPr lang="es-MX" altLang="ja-JP" sz="1700" dirty="0"/>
                  <a:t>Steiner </a:t>
                </a:r>
                <a:r>
                  <a:rPr lang="es-MX" altLang="ja-JP" sz="1700" dirty="0" err="1"/>
                  <a:t>Tree</a:t>
                </a:r>
                <a:r>
                  <a:rPr lang="es-MX" altLang="ja-JP" sz="1700" dirty="0"/>
                  <a:t> </a:t>
                </a:r>
                <a:r>
                  <a:rPr lang="ja-JP" altLang="es-MX" sz="1700" dirty="0"/>
                  <a:t>は </a:t>
                </a:r>
                <a:r>
                  <a:rPr lang="ja-JP" altLang="es-MX" sz="1700" b="1" dirty="0"/>
                  <a:t>これらすべてのアンカーイベントを接続するサブグラフ </a:t>
                </a:r>
                <a14:m>
                  <m:oMath xmlns:m="http://schemas.openxmlformats.org/officeDocument/2006/math">
                    <m:sSub>
                      <m:sSubPr>
                        <m:ctrlPr>
                          <a:rPr lang="ja-JP" altLang="es-MX" sz="1700"/>
                        </m:ctrlPr>
                      </m:sSubPr>
                      <m:e>
                        <m:r>
                          <a:rPr lang="ja-JP" altLang="es-MX" sz="1700" i="1"/>
                          <m:t>𝐺</m:t>
                        </m:r>
                      </m:e>
                      <m:sub>
                        <m:r>
                          <a:rPr lang="ja-JP" altLang="es-MX" sz="1700" i="1"/>
                          <m:t>𝑗𝑜𝑖𝑛𝑡</m:t>
                        </m:r>
                      </m:sub>
                    </m:sSub>
                  </m:oMath>
                </a14:m>
                <a:r>
                  <a:rPr lang="ja-JP" altLang="es-MX" sz="1700" dirty="0"/>
                  <a:t>を構築する。</a:t>
                </a:r>
                <a:endParaRPr lang="es-MX" altLang="ja-JP" sz="1700" dirty="0"/>
              </a:p>
              <a:p>
                <a:endParaRPr lang="ja-JP" altLang="es-MX" sz="1700" dirty="0"/>
              </a:p>
              <a:p>
                <a:r>
                  <a:rPr lang="ja-JP" altLang="es-MX" sz="1700" dirty="0"/>
                  <a:t>また、グラフのサイズが過度に大きくなることを防ぐため、</a:t>
                </a:r>
                <a:r>
                  <a:rPr lang="ja-JP" altLang="es-MX" sz="1700" b="1" dirty="0">
                    <a:solidFill>
                      <a:srgbClr val="FF0000"/>
                    </a:solidFill>
                  </a:rPr>
                  <a:t>探索は最大 </a:t>
                </a:r>
                <a:r>
                  <a:rPr lang="es-MX" altLang="ja-JP" sz="1700" b="1" dirty="0">
                    <a:solidFill>
                      <a:srgbClr val="FF0000"/>
                    </a:solidFill>
                  </a:rPr>
                  <a:t>3 </a:t>
                </a:r>
                <a:r>
                  <a:rPr lang="es-MX" altLang="ja-JP" sz="1700" b="1" dirty="0" err="1">
                    <a:solidFill>
                      <a:srgbClr val="FF0000"/>
                    </a:solidFill>
                  </a:rPr>
                  <a:t>hops</a:t>
                </a:r>
                <a:r>
                  <a:rPr lang="es-MX" altLang="ja-JP" sz="1700" b="1" dirty="0">
                    <a:solidFill>
                      <a:srgbClr val="FF0000"/>
                    </a:solidFill>
                  </a:rPr>
                  <a:t> </a:t>
                </a:r>
                <a:r>
                  <a:rPr lang="ja-JP" altLang="es-MX" sz="1700" b="1" dirty="0">
                    <a:solidFill>
                      <a:srgbClr val="FF0000"/>
                    </a:solidFill>
                  </a:rPr>
                  <a:t>に制限される</a:t>
                </a:r>
                <a:r>
                  <a:rPr lang="ja-JP" altLang="es-MX" sz="1700" dirty="0">
                    <a:solidFill>
                      <a:srgbClr val="FF0000"/>
                    </a:solidFill>
                  </a:rPr>
                  <a:t>。</a:t>
                </a:r>
              </a:p>
            </p:txBody>
          </p:sp>
        </mc:Choice>
        <mc:Fallback>
          <p:sp>
            <p:nvSpPr>
              <p:cNvPr id="21" name="TextBox 20">
                <a:extLst>
                  <a:ext uri="{FF2B5EF4-FFF2-40B4-BE49-F238E27FC236}">
                    <a16:creationId xmlns:a16="http://schemas.microsoft.com/office/drawing/2014/main" id="{942F8045-9183-7CDF-D3A1-14283E135DA0}"/>
                  </a:ext>
                </a:extLst>
              </p:cNvPr>
              <p:cNvSpPr txBox="1">
                <a:spLocks noRot="1" noChangeAspect="1" noMove="1" noResize="1" noEditPoints="1" noAdjustHandles="1" noChangeArrowheads="1" noChangeShapeType="1" noTextEdit="1"/>
              </p:cNvSpPr>
              <p:nvPr/>
            </p:nvSpPr>
            <p:spPr>
              <a:xfrm>
                <a:off x="636694" y="2837340"/>
                <a:ext cx="5560906" cy="3779624"/>
              </a:xfrm>
              <a:prstGeom prst="rect">
                <a:avLst/>
              </a:prstGeom>
              <a:blipFill>
                <a:blip r:embed="rId3"/>
                <a:stretch>
                  <a:fillRect l="-657" t="-645" b="-1290"/>
                </a:stretch>
              </a:blipFill>
            </p:spPr>
            <p:txBody>
              <a:bodyPr/>
              <a:lstStyle/>
              <a:p>
                <a:r>
                  <a:rPr lang="es-MX">
                    <a:noFill/>
                  </a:rPr>
                  <a:t> </a:t>
                </a:r>
              </a:p>
            </p:txBody>
          </p:sp>
        </mc:Fallback>
      </mc:AlternateContent>
      <p:sp>
        <p:nvSpPr>
          <p:cNvPr id="2" name="TextBox 1">
            <a:extLst>
              <a:ext uri="{FF2B5EF4-FFF2-40B4-BE49-F238E27FC236}">
                <a16:creationId xmlns:a16="http://schemas.microsoft.com/office/drawing/2014/main" id="{8B15BE84-43F8-81B7-9757-5120670E90E8}"/>
              </a:ext>
            </a:extLst>
          </p:cNvPr>
          <p:cNvSpPr txBox="1"/>
          <p:nvPr/>
        </p:nvSpPr>
        <p:spPr>
          <a:xfrm>
            <a:off x="7096760" y="2719788"/>
            <a:ext cx="6106160" cy="369332"/>
          </a:xfrm>
          <a:prstGeom prst="rect">
            <a:avLst/>
          </a:prstGeom>
          <a:noFill/>
        </p:spPr>
        <p:txBody>
          <a:bodyPr wrap="square">
            <a:spAutoFit/>
          </a:bodyPr>
          <a:lstStyle/>
          <a:p>
            <a:pPr rtl="0">
              <a:buNone/>
            </a:pPr>
            <a:r>
              <a:rPr lang="ja-JP" altLang="es-MX" b="1" dirty="0">
                <a:solidFill>
                  <a:srgbClr val="1B2A4A"/>
                </a:solidFill>
                <a:latin typeface="Trebuchet MS" panose="020B0603020202020204" pitchFamily="34" charset="0"/>
              </a:rPr>
              <a:t>例：</a:t>
            </a:r>
            <a:endParaRPr lang="es-MX" dirty="0">
              <a:effectLst/>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B64E1F0-7441-6584-94E9-6F98240B0AF2}"/>
                  </a:ext>
                </a:extLst>
              </p:cNvPr>
              <p:cNvSpPr txBox="1"/>
              <p:nvPr/>
            </p:nvSpPr>
            <p:spPr>
              <a:xfrm>
                <a:off x="7096760" y="3171967"/>
                <a:ext cx="6309360" cy="923330"/>
              </a:xfrm>
              <a:prstGeom prst="rect">
                <a:avLst/>
              </a:prstGeom>
              <a:noFill/>
            </p:spPr>
            <p:txBody>
              <a:bodyPr wrap="square">
                <a:spAutoFit/>
              </a:bodyPr>
              <a:lstStyle/>
              <a:p>
                <a14:m>
                  <m:oMath xmlns:m="http://schemas.openxmlformats.org/officeDocument/2006/math">
                    <m:sSub>
                      <m:sSubPr>
                        <m:ctrlPr>
                          <a:rPr lang="ja-JP" altLang="es-MX" i="1" smtClean="0">
                            <a:latin typeface="Cambria Math" panose="02040503050406030204" pitchFamily="18" charset="0"/>
                          </a:rPr>
                        </m:ctrlPr>
                      </m:sSubPr>
                      <m:e>
                        <m:r>
                          <a:rPr lang="ja-JP" altLang="es-MX" i="1">
                            <a:latin typeface="Cambria Math" panose="02040503050406030204" pitchFamily="18" charset="0"/>
                          </a:rPr>
                          <m:t>𝑐</m:t>
                        </m:r>
                      </m:e>
                      <m:sub>
                        <m:r>
                          <a:rPr lang="es-MX" altLang="ja-JP">
                            <a:latin typeface="Cambria Math" panose="02040503050406030204" pitchFamily="18" charset="0"/>
                          </a:rPr>
                          <m:t>1</m:t>
                        </m:r>
                      </m:sub>
                    </m:sSub>
                    <m:r>
                      <a:rPr lang="es-MX" altLang="ja-JP" i="1">
                        <a:latin typeface="Cambria Math" panose="02040503050406030204" pitchFamily="18" charset="0"/>
                      </a:rPr>
                      <m:t> </m:t>
                    </m:r>
                  </m:oMath>
                </a14:m>
                <a:r>
                  <a:rPr lang="es-MX" dirty="0" err="1">
                    <a:latin typeface="Courier New" panose="02070309020205020404" pitchFamily="49" charset="0"/>
                    <a:cs typeface="Courier New" panose="02070309020205020404" pitchFamily="49" charset="0"/>
                  </a:rPr>
                  <a:t>buy</a:t>
                </a:r>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movie</a:t>
                </a:r>
                <a:r>
                  <a:rPr lang="es-MX" dirty="0">
                    <a:latin typeface="Courier New" panose="02070309020205020404" pitchFamily="49" charset="0"/>
                    <a:cs typeface="Courier New" panose="02070309020205020404" pitchFamily="49" charset="0"/>
                  </a:rPr>
                  <a:t> ticket</a:t>
                </a:r>
              </a:p>
              <a:p>
                <a:endParaRPr lang="es-MX" dirty="0">
                  <a:latin typeface="Courier New" panose="02070309020205020404" pitchFamily="49" charset="0"/>
                  <a:cs typeface="Courier New" panose="02070309020205020404" pitchFamily="49" charset="0"/>
                </a:endParaRPr>
              </a:p>
              <a:p>
                <a14:m>
                  <m:oMath xmlns:m="http://schemas.openxmlformats.org/officeDocument/2006/math">
                    <m:sSub>
                      <m:sSubPr>
                        <m:ctrlPr>
                          <a:rPr lang="ja-JP" altLang="es-MX" i="1" smtClean="0">
                            <a:latin typeface="Cambria Math" panose="02040503050406030204" pitchFamily="18" charset="0"/>
                          </a:rPr>
                        </m:ctrlPr>
                      </m:sSubPr>
                      <m:e>
                        <m:r>
                          <a:rPr lang="ja-JP" altLang="es-MX" i="1">
                            <a:latin typeface="Cambria Math" panose="02040503050406030204" pitchFamily="18" charset="0"/>
                          </a:rPr>
                          <m:t>𝑐</m:t>
                        </m:r>
                      </m:e>
                      <m:sub>
                        <m:r>
                          <a:rPr lang="es-MX" altLang="ja-JP" b="0" i="0" smtClean="0">
                            <a:latin typeface="Cambria Math" panose="02040503050406030204" pitchFamily="18" charset="0"/>
                          </a:rPr>
                          <m:t>2</m:t>
                        </m:r>
                      </m:sub>
                    </m:sSub>
                    <m:r>
                      <a:rPr lang="es-MX" altLang="ja-JP" i="1">
                        <a:latin typeface="Cambria Math" panose="02040503050406030204" pitchFamily="18" charset="0"/>
                      </a:rPr>
                      <m:t> </m:t>
                    </m:r>
                  </m:oMath>
                </a14:m>
                <a:r>
                  <a:rPr lang="es-MX" dirty="0" err="1">
                    <a:latin typeface="Courier New" panose="02070309020205020404" pitchFamily="49" charset="0"/>
                    <a:cs typeface="Courier New" panose="02070309020205020404" pitchFamily="49" charset="0"/>
                  </a:rPr>
                  <a:t>feel</a:t>
                </a:r>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entertained</a:t>
                </a:r>
                <a:endParaRPr lang="es-MX" dirty="0">
                  <a:latin typeface="Courier New" panose="02070309020205020404" pitchFamily="49" charset="0"/>
                  <a:cs typeface="Courier New" panose="02070309020205020404" pitchFamily="49" charset="0"/>
                </a:endParaRPr>
              </a:p>
            </p:txBody>
          </p:sp>
        </mc:Choice>
        <mc:Fallback>
          <p:sp>
            <p:nvSpPr>
              <p:cNvPr id="4" name="TextBox 3">
                <a:extLst>
                  <a:ext uri="{FF2B5EF4-FFF2-40B4-BE49-F238E27FC236}">
                    <a16:creationId xmlns:a16="http://schemas.microsoft.com/office/drawing/2014/main" id="{6B64E1F0-7441-6584-94E9-6F98240B0AF2}"/>
                  </a:ext>
                </a:extLst>
              </p:cNvPr>
              <p:cNvSpPr txBox="1">
                <a:spLocks noRot="1" noChangeAspect="1" noMove="1" noResize="1" noEditPoints="1" noAdjustHandles="1" noChangeArrowheads="1" noChangeShapeType="1" noTextEdit="1"/>
              </p:cNvSpPr>
              <p:nvPr/>
            </p:nvSpPr>
            <p:spPr>
              <a:xfrm>
                <a:off x="7096760" y="3171967"/>
                <a:ext cx="6309360" cy="923330"/>
              </a:xfrm>
              <a:prstGeom prst="rect">
                <a:avLst/>
              </a:prstGeom>
              <a:blipFill>
                <a:blip r:embed="rId4"/>
                <a:stretch>
                  <a:fillRect l="-773" t="-2632" b="-9868"/>
                </a:stretch>
              </a:blipFill>
            </p:spPr>
            <p:txBody>
              <a:bodyPr/>
              <a:lstStyle/>
              <a:p>
                <a:r>
                  <a:rPr lang="es-MX">
                    <a:noFill/>
                  </a:rPr>
                  <a:t> </a:t>
                </a:r>
              </a:p>
            </p:txBody>
          </p:sp>
        </mc:Fallback>
      </mc:AlternateContent>
      <p:sp>
        <p:nvSpPr>
          <p:cNvPr id="6" name="TextBox 5">
            <a:extLst>
              <a:ext uri="{FF2B5EF4-FFF2-40B4-BE49-F238E27FC236}">
                <a16:creationId xmlns:a16="http://schemas.microsoft.com/office/drawing/2014/main" id="{67CFD491-6F7B-0FC8-AA8C-00C8D91814D7}"/>
              </a:ext>
            </a:extLst>
          </p:cNvPr>
          <p:cNvSpPr txBox="1"/>
          <p:nvPr/>
        </p:nvSpPr>
        <p:spPr>
          <a:xfrm>
            <a:off x="7096760" y="5028184"/>
            <a:ext cx="6410960" cy="1631216"/>
          </a:xfrm>
          <a:prstGeom prst="rect">
            <a:avLst/>
          </a:prstGeom>
          <a:noFill/>
        </p:spPr>
        <p:txBody>
          <a:bodyPr wrap="square">
            <a:spAutoFit/>
          </a:bodyPr>
          <a:lstStyle/>
          <a:p>
            <a:r>
              <a:rPr lang="es-MX" dirty="0" err="1">
                <a:latin typeface="Courier New" panose="02070309020205020404" pitchFamily="49" charset="0"/>
                <a:cs typeface="Courier New" panose="02070309020205020404" pitchFamily="49" charset="0"/>
              </a:rPr>
              <a:t>buy</a:t>
            </a:r>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movie</a:t>
            </a:r>
            <a:r>
              <a:rPr lang="es-MX" dirty="0">
                <a:latin typeface="Courier New" panose="02070309020205020404" pitchFamily="49" charset="0"/>
                <a:cs typeface="Courier New" panose="02070309020205020404" pitchFamily="49" charset="0"/>
              </a:rPr>
              <a:t> ticket      </a:t>
            </a:r>
          </a:p>
          <a:p>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Precedent</a:t>
            </a:r>
            <a:r>
              <a:rPr lang="es-MX" dirty="0">
                <a:latin typeface="Courier New" panose="02070309020205020404" pitchFamily="49" charset="0"/>
                <a:cs typeface="Courier New" panose="02070309020205020404" pitchFamily="49" charset="0"/>
              </a:rPr>
              <a:t>)</a:t>
            </a:r>
          </a:p>
          <a:p>
            <a:r>
              <a:rPr lang="es-MX" dirty="0" err="1">
                <a:latin typeface="Courier New" panose="02070309020205020404" pitchFamily="49" charset="0"/>
                <a:cs typeface="Courier New" panose="02070309020205020404" pitchFamily="49" charset="0"/>
              </a:rPr>
              <a:t>watch</a:t>
            </a:r>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movie</a:t>
            </a:r>
            <a:r>
              <a:rPr lang="es-MX" dirty="0">
                <a:latin typeface="Courier New" panose="02070309020205020404" pitchFamily="49" charset="0"/>
                <a:cs typeface="Courier New" panose="02070309020205020404" pitchFamily="49" charset="0"/>
              </a:rPr>
              <a:t>  </a:t>
            </a:r>
            <a:r>
              <a:rPr lang="es-MX" sz="2800" dirty="0">
                <a:latin typeface="Courier New" panose="02070309020205020404" pitchFamily="49" charset="0"/>
                <a:cs typeface="Courier New" panose="02070309020205020404" pitchFamily="49" charset="0"/>
              </a:rPr>
              <a:t>←</a:t>
            </a:r>
            <a:r>
              <a:rPr lang="es-MX" dirty="0">
                <a:latin typeface="Courier New" panose="02070309020205020404" pitchFamily="49" charset="0"/>
                <a:cs typeface="Courier New" panose="02070309020205020404" pitchFamily="49" charset="0"/>
              </a:rPr>
              <a:t> </a:t>
            </a:r>
            <a:r>
              <a:rPr lang="es-MX" b="1" dirty="0">
                <a:solidFill>
                  <a:schemeClr val="tx2"/>
                </a:solidFill>
                <a:latin typeface="Trebuchet MS" panose="020B0603020202020204" pitchFamily="34" charset="0"/>
                <a:cs typeface="Courier New" panose="02070309020205020404" pitchFamily="49" charset="0"/>
              </a:rPr>
              <a:t>Steiner </a:t>
            </a:r>
            <a:r>
              <a:rPr lang="es-MX" b="1" dirty="0" err="1">
                <a:solidFill>
                  <a:schemeClr val="tx2"/>
                </a:solidFill>
                <a:latin typeface="Trebuchet MS" panose="020B0603020202020204" pitchFamily="34" charset="0"/>
                <a:cs typeface="Courier New" panose="02070309020205020404" pitchFamily="49" charset="0"/>
              </a:rPr>
              <a:t>node</a:t>
            </a:r>
            <a:r>
              <a:rPr lang="es-MX" b="1" dirty="0">
                <a:solidFill>
                  <a:schemeClr val="tx2"/>
                </a:solidFill>
                <a:latin typeface="Trebuchet MS" panose="020B0603020202020204" pitchFamily="34" charset="0"/>
                <a:cs typeface="Courier New" panose="02070309020205020404" pitchFamily="49" charset="0"/>
              </a:rPr>
              <a:t> </a:t>
            </a:r>
          </a:p>
          <a:p>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Result</a:t>
            </a:r>
            <a:r>
              <a:rPr lang="es-MX" dirty="0">
                <a:latin typeface="Courier New" panose="02070309020205020404" pitchFamily="49" charset="0"/>
                <a:cs typeface="Courier New" panose="02070309020205020404" pitchFamily="49" charset="0"/>
              </a:rPr>
              <a:t>)</a:t>
            </a:r>
          </a:p>
          <a:p>
            <a:r>
              <a:rPr lang="es-MX" dirty="0" err="1">
                <a:latin typeface="Courier New" panose="02070309020205020404" pitchFamily="49" charset="0"/>
                <a:cs typeface="Courier New" panose="02070309020205020404" pitchFamily="49" charset="0"/>
              </a:rPr>
              <a:t>feel</a:t>
            </a:r>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entertained</a:t>
            </a:r>
            <a:endParaRPr lang="es-MX" dirty="0">
              <a:latin typeface="Courier New" panose="02070309020205020404" pitchFamily="49" charset="0"/>
              <a:cs typeface="Courier New" panose="02070309020205020404" pitchFamily="49" charset="0"/>
            </a:endParaRP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D3557A1-E964-A872-B83F-FE1317864023}"/>
                  </a:ext>
                </a:extLst>
              </p:cNvPr>
              <p:cNvSpPr txBox="1"/>
              <p:nvPr/>
            </p:nvSpPr>
            <p:spPr>
              <a:xfrm>
                <a:off x="10149840" y="3424817"/>
                <a:ext cx="1645920"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ja-JP" altLang="es-MX" i="1" smtClean="0">
                          <a:latin typeface="Cambria Math" panose="02040503050406030204" pitchFamily="18" charset="0"/>
                        </a:rPr>
                        <m:t>𝐶</m:t>
                      </m:r>
                      <m:r>
                        <a:rPr lang="es-MX" altLang="ja-JP">
                          <a:latin typeface="Cambria Math" panose="02040503050406030204" pitchFamily="18" charset="0"/>
                        </a:rPr>
                        <m:t>=</m:t>
                      </m:r>
                      <m:r>
                        <a:rPr lang="es-MX" altLang="ja-JP" b="0" i="0" smtClean="0">
                          <a:latin typeface="Cambria Math" panose="02040503050406030204" pitchFamily="18" charset="0"/>
                        </a:rPr>
                        <m:t>{</m:t>
                      </m:r>
                      <m:sSub>
                        <m:sSubPr>
                          <m:ctrlPr>
                            <a:rPr lang="es-MX" altLang="ja-JP" b="0" i="1" smtClean="0">
                              <a:latin typeface="Cambria Math" panose="02040503050406030204" pitchFamily="18" charset="0"/>
                            </a:rPr>
                          </m:ctrlPr>
                        </m:sSubPr>
                        <m:e>
                          <m:r>
                            <m:rPr>
                              <m:sty m:val="p"/>
                            </m:rPr>
                            <a:rPr lang="es-MX" altLang="ja-JP" b="0" i="1" smtClean="0">
                              <a:latin typeface="Cambria Math" panose="02040503050406030204" pitchFamily="18" charset="0"/>
                            </a:rPr>
                            <m:t>c</m:t>
                          </m:r>
                        </m:e>
                        <m:sub>
                          <m:r>
                            <a:rPr lang="es-MX" altLang="ja-JP" b="0" i="1" smtClean="0">
                              <a:latin typeface="Cambria Math" panose="02040503050406030204" pitchFamily="18" charset="0"/>
                            </a:rPr>
                            <m:t>1</m:t>
                          </m:r>
                        </m:sub>
                      </m:sSub>
                      <m:r>
                        <a:rPr lang="es-MX" altLang="ja-JP" b="0" i="1" smtClean="0">
                          <a:latin typeface="Cambria Math" panose="02040503050406030204" pitchFamily="18" charset="0"/>
                        </a:rPr>
                        <m:t>,</m:t>
                      </m:r>
                      <m:sSub>
                        <m:sSubPr>
                          <m:ctrlPr>
                            <a:rPr lang="es-MX" altLang="ja-JP" b="0" i="1" smtClean="0">
                              <a:latin typeface="Cambria Math" panose="02040503050406030204" pitchFamily="18" charset="0"/>
                            </a:rPr>
                          </m:ctrlPr>
                        </m:sSubPr>
                        <m:e>
                          <m:r>
                            <m:rPr>
                              <m:sty m:val="p"/>
                            </m:rPr>
                            <a:rPr lang="es-MX" altLang="ja-JP" b="0" i="1" smtClean="0">
                              <a:latin typeface="Cambria Math" panose="02040503050406030204" pitchFamily="18" charset="0"/>
                            </a:rPr>
                            <m:t>c</m:t>
                          </m:r>
                        </m:e>
                        <m:sub>
                          <m:r>
                            <a:rPr lang="es-MX" altLang="ja-JP" b="0" i="1" smtClean="0">
                              <a:latin typeface="Cambria Math" panose="02040503050406030204" pitchFamily="18" charset="0"/>
                            </a:rPr>
                            <m:t>2</m:t>
                          </m:r>
                        </m:sub>
                      </m:sSub>
                      <m:r>
                        <a:rPr lang="es-MX" altLang="ja-JP" b="0" i="1" smtClean="0">
                          <a:latin typeface="Cambria Math" panose="02040503050406030204" pitchFamily="18" charset="0"/>
                        </a:rPr>
                        <m:t>}</m:t>
                      </m:r>
                    </m:oMath>
                  </m:oMathPara>
                </a14:m>
                <a:endParaRPr lang="es-MX" dirty="0">
                  <a:effectLst/>
                </a:endParaRPr>
              </a:p>
            </p:txBody>
          </p:sp>
        </mc:Choice>
        <mc:Fallback>
          <p:sp>
            <p:nvSpPr>
              <p:cNvPr id="10" name="TextBox 9">
                <a:extLst>
                  <a:ext uri="{FF2B5EF4-FFF2-40B4-BE49-F238E27FC236}">
                    <a16:creationId xmlns:a16="http://schemas.microsoft.com/office/drawing/2014/main" id="{3D3557A1-E964-A872-B83F-FE1317864023}"/>
                  </a:ext>
                </a:extLst>
              </p:cNvPr>
              <p:cNvSpPr txBox="1">
                <a:spLocks noRot="1" noChangeAspect="1" noMove="1" noResize="1" noEditPoints="1" noAdjustHandles="1" noChangeArrowheads="1" noChangeShapeType="1" noTextEdit="1"/>
              </p:cNvSpPr>
              <p:nvPr/>
            </p:nvSpPr>
            <p:spPr>
              <a:xfrm>
                <a:off x="10149840" y="3424817"/>
                <a:ext cx="1645920" cy="369332"/>
              </a:xfrm>
              <a:prstGeom prst="rect">
                <a:avLst/>
              </a:prstGeom>
              <a:blipFill>
                <a:blip r:embed="rId5"/>
                <a:stretch>
                  <a:fillRect t="-10000" b="-26667"/>
                </a:stretch>
              </a:blipFill>
            </p:spPr>
            <p:txBody>
              <a:bodyPr/>
              <a:lstStyle/>
              <a:p>
                <a:r>
                  <a:rPr lang="es-MX">
                    <a:noFill/>
                  </a:rPr>
                  <a:t> </a:t>
                </a:r>
              </a:p>
            </p:txBody>
          </p:sp>
        </mc:Fallback>
      </mc:AlternateContent>
      <p:sp>
        <p:nvSpPr>
          <p:cNvPr id="11" name="Right Brace 10">
            <a:extLst>
              <a:ext uri="{FF2B5EF4-FFF2-40B4-BE49-F238E27FC236}">
                <a16:creationId xmlns:a16="http://schemas.microsoft.com/office/drawing/2014/main" id="{6F5EF59B-E19C-71A5-A08B-0EAF25EB0012}"/>
              </a:ext>
            </a:extLst>
          </p:cNvPr>
          <p:cNvSpPr/>
          <p:nvPr/>
        </p:nvSpPr>
        <p:spPr>
          <a:xfrm>
            <a:off x="9626601" y="2904454"/>
            <a:ext cx="457200" cy="119084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cxnSp>
        <p:nvCxnSpPr>
          <p:cNvPr id="12" name="Straight Connector 11">
            <a:extLst>
              <a:ext uri="{FF2B5EF4-FFF2-40B4-BE49-F238E27FC236}">
                <a16:creationId xmlns:a16="http://schemas.microsoft.com/office/drawing/2014/main" id="{897ECABA-D071-AC65-C158-204CA7194112}"/>
              </a:ext>
            </a:extLst>
          </p:cNvPr>
          <p:cNvCxnSpPr>
            <a:cxnSpLocks/>
          </p:cNvCxnSpPr>
          <p:nvPr/>
        </p:nvCxnSpPr>
        <p:spPr>
          <a:xfrm>
            <a:off x="6583680" y="2945838"/>
            <a:ext cx="0" cy="3562628"/>
          </a:xfrm>
          <a:prstGeom prst="line">
            <a:avLst/>
          </a:prstGeom>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2F465299-9D02-AA42-DCBA-58A13A93FB4E}"/>
                  </a:ext>
                </a:extLst>
              </p:cNvPr>
              <p:cNvSpPr txBox="1"/>
              <p:nvPr/>
            </p:nvSpPr>
            <p:spPr>
              <a:xfrm>
                <a:off x="7110732" y="4352014"/>
                <a:ext cx="5224778" cy="6456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altLang="ja-JP" b="0" i="1" smtClean="0">
                          <a:latin typeface="Cambria Math" panose="02040503050406030204" pitchFamily="18" charset="0"/>
                        </a:rPr>
                        <m:t>𝐾𝐺</m:t>
                      </m:r>
                      <m:r>
                        <a:rPr lang="es-MX" altLang="ja-JP" b="0" i="1" smtClean="0">
                          <a:latin typeface="Cambria Math" panose="02040503050406030204" pitchFamily="18" charset="0"/>
                        </a:rPr>
                        <m:t> (</m:t>
                      </m:r>
                      <m:r>
                        <a:rPr lang="es-MX" altLang="ja-JP" b="0" i="1" smtClean="0">
                          <a:latin typeface="Cambria Math" panose="02040503050406030204" pitchFamily="18" charset="0"/>
                        </a:rPr>
                        <m:t>𝐴𝑆𝐸𝑅</m:t>
                      </m:r>
                      <m:r>
                        <a:rPr lang="es-MX" altLang="ja-JP" b="0" i="1" smtClean="0">
                          <a:latin typeface="Cambria Math" panose="02040503050406030204" pitchFamily="18" charset="0"/>
                        </a:rPr>
                        <m:t>) </m:t>
                      </m:r>
                      <m:r>
                        <a:rPr lang="ja-JP" altLang="es-MX" b="0" i="1" smtClean="0">
                          <a:latin typeface="Cambria Math" panose="02040503050406030204" pitchFamily="18" charset="0"/>
                        </a:rPr>
                        <m:t>から取得された中間ノード（</m:t>
                      </m:r>
                      <m:r>
                        <a:rPr lang="es-MX" altLang="ja-JP" b="0" i="1" smtClean="0">
                          <a:latin typeface="Cambria Math" panose="02040503050406030204" pitchFamily="18" charset="0"/>
                        </a:rPr>
                        <m:t>𝑆𝑡𝑒𝑖𝑛𝑒𝑟</m:t>
                      </m:r>
                      <m:r>
                        <a:rPr lang="es-MX" altLang="ja-JP" b="0" i="1" smtClean="0">
                          <a:latin typeface="Cambria Math" panose="02040503050406030204" pitchFamily="18" charset="0"/>
                        </a:rPr>
                        <m:t> </m:t>
                      </m:r>
                      <m:r>
                        <a:rPr lang="es-MX" altLang="ja-JP" b="0" i="1" smtClean="0">
                          <a:latin typeface="Cambria Math" panose="02040503050406030204" pitchFamily="18" charset="0"/>
                        </a:rPr>
                        <m:t>𝑛𝑜𝑑𝑒</m:t>
                      </m:r>
                      <m:r>
                        <a:rPr lang="ja-JP" altLang="es-MX" b="0" i="1" smtClean="0">
                          <a:latin typeface="Cambria Math" panose="02040503050406030204" pitchFamily="18" charset="0"/>
                        </a:rPr>
                        <m:t>）</m:t>
                      </m:r>
                    </m:oMath>
                  </m:oMathPara>
                </a14:m>
                <a:endParaRPr lang="es-MX" dirty="0"/>
              </a:p>
            </p:txBody>
          </p:sp>
        </mc:Choice>
        <mc:Fallback>
          <p:sp>
            <p:nvSpPr>
              <p:cNvPr id="18" name="TextBox 17">
                <a:extLst>
                  <a:ext uri="{FF2B5EF4-FFF2-40B4-BE49-F238E27FC236}">
                    <a16:creationId xmlns:a16="http://schemas.microsoft.com/office/drawing/2014/main" id="{2F465299-9D02-AA42-DCBA-58A13A93FB4E}"/>
                  </a:ext>
                </a:extLst>
              </p:cNvPr>
              <p:cNvSpPr txBox="1">
                <a:spLocks noRot="1" noChangeAspect="1" noMove="1" noResize="1" noEditPoints="1" noAdjustHandles="1" noChangeArrowheads="1" noChangeShapeType="1" noTextEdit="1"/>
              </p:cNvSpPr>
              <p:nvPr/>
            </p:nvSpPr>
            <p:spPr>
              <a:xfrm>
                <a:off x="7110732" y="4352014"/>
                <a:ext cx="5224778" cy="645690"/>
              </a:xfrm>
              <a:prstGeom prst="rect">
                <a:avLst/>
              </a:prstGeom>
              <a:blipFill>
                <a:blip r:embed="rId6"/>
                <a:stretch>
                  <a:fillRect l="-350" t="-2830" b="-14151"/>
                </a:stretch>
              </a:blipFill>
            </p:spPr>
            <p:txBody>
              <a:bodyPr/>
              <a:lstStyle/>
              <a:p>
                <a:r>
                  <a:rPr lang="es-MX">
                    <a:noFill/>
                  </a:rPr>
                  <a:t> </a:t>
                </a:r>
              </a:p>
            </p:txBody>
          </p:sp>
        </mc:Fallback>
      </mc:AlternateContent>
      <p:sp>
        <p:nvSpPr>
          <p:cNvPr id="22" name="TextBox 21">
            <a:extLst>
              <a:ext uri="{FF2B5EF4-FFF2-40B4-BE49-F238E27FC236}">
                <a16:creationId xmlns:a16="http://schemas.microsoft.com/office/drawing/2014/main" id="{3BDFECDF-F5DB-BF15-3759-6686162E7FE5}"/>
              </a:ext>
            </a:extLst>
          </p:cNvPr>
          <p:cNvSpPr txBox="1"/>
          <p:nvPr/>
        </p:nvSpPr>
        <p:spPr>
          <a:xfrm>
            <a:off x="10210800" y="3788492"/>
            <a:ext cx="1861820" cy="369332"/>
          </a:xfrm>
          <a:prstGeom prst="rect">
            <a:avLst/>
          </a:prstGeom>
          <a:noFill/>
        </p:spPr>
        <p:txBody>
          <a:bodyPr wrap="square">
            <a:spAutoFit/>
          </a:bodyPr>
          <a:lstStyle/>
          <a:p>
            <a:r>
              <a:rPr lang="es-MX" b="1" dirty="0">
                <a:solidFill>
                  <a:schemeClr val="tx2"/>
                </a:solidFill>
                <a:latin typeface="Trebuchet MS" panose="020B0603020202020204" pitchFamily="34" charset="0"/>
                <a:cs typeface="Courier New" panose="02070309020205020404" pitchFamily="49" charset="0"/>
              </a:rPr>
              <a:t>Anchor </a:t>
            </a:r>
            <a:r>
              <a:rPr lang="es-MX" b="1" dirty="0" err="1">
                <a:solidFill>
                  <a:schemeClr val="tx2"/>
                </a:solidFill>
                <a:latin typeface="Trebuchet MS" panose="020B0603020202020204" pitchFamily="34" charset="0"/>
                <a:cs typeface="Courier New" panose="02070309020205020404" pitchFamily="49" charset="0"/>
              </a:rPr>
              <a:t>events</a:t>
            </a:r>
            <a:endParaRPr lang="es-MX" dirty="0"/>
          </a:p>
        </p:txBody>
      </p:sp>
    </p:spTree>
    <p:extLst>
      <p:ext uri="{BB962C8B-B14F-4D97-AF65-F5344CB8AC3E}">
        <p14:creationId xmlns:p14="http://schemas.microsoft.com/office/powerpoint/2010/main" val="1457583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A489F-D5DE-4E9E-C1A7-0B7BAC86145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06CD8E4-41E9-6D61-E36C-26181E266A83}"/>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39AF65FB-7339-865E-8DDB-32763293CE1A}"/>
              </a:ext>
            </a:extLst>
          </p:cNvPr>
          <p:cNvSpPr>
            <a:spLocks noGrp="1"/>
          </p:cNvSpPr>
          <p:nvPr>
            <p:ph type="title"/>
          </p:nvPr>
        </p:nvSpPr>
        <p:spPr>
          <a:xfrm>
            <a:off x="423334" y="0"/>
            <a:ext cx="10515600" cy="1015662"/>
          </a:xfrm>
        </p:spPr>
        <p:txBody>
          <a:bodyPr>
            <a:normAutofit/>
          </a:bodyPr>
          <a:lstStyle/>
          <a:p>
            <a:r>
              <a:rPr lang="en-US" altLang="ja-JP" sz="3200" b="1" dirty="0">
                <a:solidFill>
                  <a:schemeClr val="bg1"/>
                </a:solidFill>
              </a:rPr>
              <a:t>Step 6 — RGCN-Based Reasoning</a:t>
            </a:r>
          </a:p>
        </p:txBody>
      </p:sp>
      <p:sp>
        <p:nvSpPr>
          <p:cNvPr id="5" name="TextBox 4">
            <a:extLst>
              <a:ext uri="{FF2B5EF4-FFF2-40B4-BE49-F238E27FC236}">
                <a16:creationId xmlns:a16="http://schemas.microsoft.com/office/drawing/2014/main" id="{BB8A8E16-0884-50E1-1B5D-22491A269786}"/>
              </a:ext>
            </a:extLst>
          </p:cNvPr>
          <p:cNvSpPr txBox="1"/>
          <p:nvPr/>
        </p:nvSpPr>
        <p:spPr>
          <a:xfrm>
            <a:off x="423334" y="1364456"/>
            <a:ext cx="10783146" cy="1754326"/>
          </a:xfrm>
          <a:prstGeom prst="rect">
            <a:avLst/>
          </a:prstGeom>
          <a:noFill/>
        </p:spPr>
        <p:txBody>
          <a:bodyPr wrap="square">
            <a:spAutoFit/>
          </a:bodyPr>
          <a:lstStyle/>
          <a:p>
            <a:pPr rtl="0">
              <a:buNone/>
            </a:pPr>
            <a:r>
              <a:rPr lang="en-US" sz="1800" b="1" i="0" u="none" strike="noStrike" dirty="0">
                <a:solidFill>
                  <a:srgbClr val="1B2A4A"/>
                </a:solidFill>
                <a:effectLst/>
                <a:latin typeface="Trebuchet MS" panose="020B0603020202020204" pitchFamily="34" charset="0"/>
              </a:rPr>
              <a:t>Phase 1 — Encoding with a Language Model</a:t>
            </a:r>
            <a:endParaRPr lang="en-US" dirty="0">
              <a:effectLst/>
            </a:endParaRPr>
          </a:p>
          <a:p>
            <a:pPr>
              <a:buNone/>
            </a:pPr>
            <a:br>
              <a:rPr lang="en-US" dirty="0"/>
            </a:br>
            <a:endParaRPr lang="en-US" dirty="0"/>
          </a:p>
          <a:p>
            <a:pPr>
              <a:buNone/>
            </a:pPr>
            <a:endParaRPr lang="en-US" dirty="0"/>
          </a:p>
          <a:p>
            <a:pPr>
              <a:buNone/>
            </a:pPr>
            <a:endParaRPr lang="en-US" dirty="0"/>
          </a:p>
          <a:p>
            <a:pPr rtl="0">
              <a:buNone/>
            </a:pPr>
            <a:r>
              <a:rPr lang="en-US" sz="1800" b="1" i="0" u="none" strike="noStrike" dirty="0">
                <a:solidFill>
                  <a:srgbClr val="1B2A4A"/>
                </a:solidFill>
                <a:effectLst/>
                <a:latin typeface="Trebuchet MS" panose="020B0603020202020204" pitchFamily="34" charset="0"/>
              </a:rPr>
              <a:t>Phase 2 — Relational Graph Convolutional Network (RGCN)</a:t>
            </a:r>
            <a:endParaRPr lang="en-US" dirty="0">
              <a:effectLst/>
            </a:endParaRPr>
          </a:p>
        </p:txBody>
      </p:sp>
      <p:pic>
        <p:nvPicPr>
          <p:cNvPr id="9" name="Picture 8">
            <a:extLst>
              <a:ext uri="{FF2B5EF4-FFF2-40B4-BE49-F238E27FC236}">
                <a16:creationId xmlns:a16="http://schemas.microsoft.com/office/drawing/2014/main" id="{5C0042AB-1E9E-BF76-EC99-17270049F36B}"/>
              </a:ext>
            </a:extLst>
          </p:cNvPr>
          <p:cNvPicPr>
            <a:picLocks noChangeAspect="1"/>
          </p:cNvPicPr>
          <p:nvPr/>
        </p:nvPicPr>
        <p:blipFill>
          <a:blip r:embed="rId3"/>
          <a:stretch>
            <a:fillRect/>
          </a:stretch>
        </p:blipFill>
        <p:spPr>
          <a:xfrm>
            <a:off x="1805490" y="1836018"/>
            <a:ext cx="2152389" cy="811202"/>
          </a:xfrm>
          <a:prstGeom prst="rect">
            <a:avLst/>
          </a:prstGeom>
        </p:spPr>
      </p:pic>
      <p:pic>
        <p:nvPicPr>
          <p:cNvPr id="15" name="Picture 14">
            <a:extLst>
              <a:ext uri="{FF2B5EF4-FFF2-40B4-BE49-F238E27FC236}">
                <a16:creationId xmlns:a16="http://schemas.microsoft.com/office/drawing/2014/main" id="{83A95A5C-204D-6D96-2484-57952D771DDB}"/>
              </a:ext>
            </a:extLst>
          </p:cNvPr>
          <p:cNvPicPr>
            <a:picLocks noChangeAspect="1"/>
          </p:cNvPicPr>
          <p:nvPr/>
        </p:nvPicPr>
        <p:blipFill>
          <a:blip r:embed="rId4"/>
          <a:stretch>
            <a:fillRect/>
          </a:stretch>
        </p:blipFill>
        <p:spPr>
          <a:xfrm>
            <a:off x="1805490" y="3238236"/>
            <a:ext cx="5297281" cy="1001966"/>
          </a:xfrm>
          <a:prstGeom prst="rect">
            <a:avLst/>
          </a:prstGeom>
        </p:spPr>
      </p:pic>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CAF5226D-C3BF-331B-281B-E87EAE6FCAC9}"/>
                  </a:ext>
                </a:extLst>
              </p:cNvPr>
              <p:cNvSpPr txBox="1"/>
              <p:nvPr/>
            </p:nvSpPr>
            <p:spPr>
              <a:xfrm>
                <a:off x="563880" y="4384875"/>
                <a:ext cx="9982200" cy="2217338"/>
              </a:xfrm>
              <a:prstGeom prst="rect">
                <a:avLst/>
              </a:prstGeom>
              <a:noFill/>
            </p:spPr>
            <p:txBody>
              <a:bodyPr wrap="square">
                <a:spAutoFit/>
              </a:bodyPr>
              <a:lstStyle/>
              <a:p>
                <a:pPr rtl="0">
                  <a:buNone/>
                </a:pPr>
                <a:r>
                  <a:rPr lang="ja-JP" altLang="es-MX" sz="1800" b="1" i="0" u="none" strike="noStrike" dirty="0">
                    <a:solidFill>
                      <a:srgbClr val="0E2841"/>
                    </a:solidFill>
                    <a:effectLst/>
                    <a:latin typeface="Arial" panose="020B0604020202020204" pitchFamily="34" charset="0"/>
                  </a:rPr>
                  <a:t>記号の説明：</a:t>
                </a:r>
                <a:endParaRPr lang="ja-JP" altLang="es-MX" dirty="0">
                  <a:effectLst/>
                </a:endParaRPr>
              </a:p>
              <a:p>
                <a:pPr marL="285750" indent="-285750">
                  <a:buFont typeface="Arial" panose="020B0604020202020204" pitchFamily="34" charset="0"/>
                  <a:buChar char="•"/>
                </a:pPr>
                <a14:m>
                  <m:oMath xmlns:m="http://schemas.openxmlformats.org/officeDocument/2006/math">
                    <m:sSubSup>
                      <m:sSubSupPr>
                        <m:ctrlPr>
                          <a:rPr lang="es-MX" altLang="ja-JP" sz="1800" b="0" i="1" u="none" strike="noStrike" smtClean="0">
                            <a:solidFill>
                              <a:srgbClr val="0E2841"/>
                            </a:solidFill>
                            <a:effectLst/>
                            <a:latin typeface="Cambria Math" panose="02040503050406030204" pitchFamily="18" charset="0"/>
                          </a:rPr>
                        </m:ctrlPr>
                      </m:sSubSupPr>
                      <m:e>
                        <m:r>
                          <m:rPr>
                            <m:sty m:val="p"/>
                          </m:rPr>
                          <a:rPr lang="en-US" altLang="ja-JP" sz="1800" b="0" i="1" u="none" strike="noStrike" smtClean="0">
                            <a:solidFill>
                              <a:srgbClr val="0E2841"/>
                            </a:solidFill>
                            <a:effectLst/>
                            <a:latin typeface="Cambria Math" panose="02040503050406030204" pitchFamily="18" charset="0"/>
                          </a:rPr>
                          <m:t>h</m:t>
                        </m:r>
                      </m:e>
                      <m:sub>
                        <m:r>
                          <m:rPr>
                            <m:sty m:val="p"/>
                          </m:rPr>
                          <a:rPr lang="en-US" altLang="ja-JP" sz="1800" b="0" i="1" u="none" strike="noStrike" smtClean="0">
                            <a:solidFill>
                              <a:srgbClr val="0E2841"/>
                            </a:solidFill>
                            <a:effectLst/>
                            <a:latin typeface="Cambria Math" panose="02040503050406030204" pitchFamily="18" charset="0"/>
                          </a:rPr>
                          <m:t>i</m:t>
                        </m:r>
                      </m:sub>
                      <m:sup>
                        <m:r>
                          <a:rPr lang="en-US" altLang="ja-JP" sz="1800" b="0" i="1" u="none" strike="noStrike" smtClean="0">
                            <a:solidFill>
                              <a:srgbClr val="0E2841"/>
                            </a:solidFill>
                            <a:effectLst/>
                            <a:latin typeface="Cambria Math" panose="02040503050406030204" pitchFamily="18" charset="0"/>
                          </a:rPr>
                          <m:t>(</m:t>
                        </m:r>
                        <m:r>
                          <m:rPr>
                            <m:sty m:val="p"/>
                          </m:rPr>
                          <a:rPr lang="en-US" altLang="ja-JP" sz="1800" b="0" i="1" u="none" strike="noStrike" smtClean="0">
                            <a:solidFill>
                              <a:srgbClr val="0E2841"/>
                            </a:solidFill>
                            <a:effectLst/>
                            <a:latin typeface="Cambria Math" panose="02040503050406030204" pitchFamily="18" charset="0"/>
                          </a:rPr>
                          <m:t>l</m:t>
                        </m:r>
                        <m:r>
                          <a:rPr lang="en-US" altLang="ja-JP" sz="1800" b="0" i="1" u="none" strike="noStrike" smtClean="0">
                            <a:solidFill>
                              <a:srgbClr val="0E2841"/>
                            </a:solidFill>
                            <a:effectLst/>
                            <a:latin typeface="Cambria Math" panose="02040503050406030204" pitchFamily="18" charset="0"/>
                          </a:rPr>
                          <m:t>+1)</m:t>
                        </m:r>
                      </m:sup>
                    </m:sSubSup>
                    <m:r>
                      <a:rPr lang="ja-JP" altLang="es-MX" i="1">
                        <a:solidFill>
                          <a:srgbClr val="0E2841"/>
                        </a:solidFill>
                        <a:latin typeface="Cambria Math" panose="02040503050406030204" pitchFamily="18" charset="0"/>
                      </a:rPr>
                      <m:t>：</m:t>
                    </m:r>
                  </m:oMath>
                </a14:m>
                <a:r>
                  <a:rPr lang="ja-JP" altLang="es-MX" dirty="0">
                    <a:solidFill>
                      <a:srgbClr val="0E2841"/>
                    </a:solidFill>
                    <a:latin typeface="Arial" panose="020B0604020202020204" pitchFamily="34" charset="0"/>
                  </a:rPr>
                  <a:t>近傍ノードからの情報を集約した後の、層 </a:t>
                </a:r>
                <a:r>
                  <a:rPr lang="es-MX" altLang="ja-JP" dirty="0">
                    <a:solidFill>
                      <a:srgbClr val="0E2841"/>
                    </a:solidFill>
                    <a:latin typeface="Arial" panose="020B0604020202020204" pitchFamily="34" charset="0"/>
                  </a:rPr>
                  <a:t>l+1l+1 </a:t>
                </a:r>
                <a:r>
                  <a:rPr lang="ja-JP" altLang="es-MX" dirty="0">
                    <a:solidFill>
                      <a:srgbClr val="0E2841"/>
                    </a:solidFill>
                    <a:latin typeface="Arial" panose="020B0604020202020204" pitchFamily="34" charset="0"/>
                  </a:rPr>
                  <a:t>におけるノード </a:t>
                </a:r>
                <a:r>
                  <a:rPr lang="es-MX" altLang="ja-JP" dirty="0">
                    <a:solidFill>
                      <a:srgbClr val="0E2841"/>
                    </a:solidFill>
                    <a:latin typeface="Arial" panose="020B0604020202020204" pitchFamily="34" charset="0"/>
                  </a:rPr>
                  <a:t>ii </a:t>
                </a:r>
                <a:r>
                  <a:rPr lang="ja-JP" altLang="es-MX" dirty="0">
                    <a:solidFill>
                      <a:srgbClr val="0E2841"/>
                    </a:solidFill>
                    <a:latin typeface="Arial" panose="020B0604020202020204" pitchFamily="34" charset="0"/>
                  </a:rPr>
                  <a:t>の隠れ表現。</a:t>
                </a:r>
                <a:endParaRPr lang="en-US" altLang="ja-JP" sz="1800" b="0" i="0" u="none" strike="noStrike" dirty="0">
                  <a:solidFill>
                    <a:srgbClr val="0E2841"/>
                  </a:solidFill>
                  <a:effectLst/>
                  <a:latin typeface="Arial" panose="020B0604020202020204" pitchFamily="34" charset="0"/>
                </a:endParaRPr>
              </a:p>
              <a:p>
                <a:pPr marL="285750" indent="-285750">
                  <a:buFont typeface="Arial" panose="020B0604020202020204" pitchFamily="34" charset="0"/>
                  <a:buChar char="•"/>
                </a:pPr>
                <a14:m>
                  <m:oMath xmlns:m="http://schemas.openxmlformats.org/officeDocument/2006/math">
                    <m:sSubSup>
                      <m:sSubSupPr>
                        <m:ctrlPr>
                          <a:rPr lang="es-MX" altLang="ja-JP" i="1">
                            <a:solidFill>
                              <a:srgbClr val="0E2841"/>
                            </a:solidFill>
                            <a:latin typeface="Cambria Math" panose="02040503050406030204" pitchFamily="18" charset="0"/>
                          </a:rPr>
                        </m:ctrlPr>
                      </m:sSubSupPr>
                      <m:e>
                        <m:r>
                          <m:rPr>
                            <m:sty m:val="p"/>
                          </m:rPr>
                          <a:rPr lang="en-US" altLang="ja-JP" i="1">
                            <a:solidFill>
                              <a:srgbClr val="0E2841"/>
                            </a:solidFill>
                            <a:latin typeface="Cambria Math" panose="02040503050406030204" pitchFamily="18" charset="0"/>
                          </a:rPr>
                          <m:t>h</m:t>
                        </m:r>
                      </m:e>
                      <m:sub>
                        <m:r>
                          <m:rPr>
                            <m:sty m:val="p"/>
                          </m:rPr>
                          <a:rPr lang="en-US" altLang="ja-JP" b="0" i="1" smtClean="0">
                            <a:solidFill>
                              <a:srgbClr val="0E2841"/>
                            </a:solidFill>
                            <a:latin typeface="Cambria Math" panose="02040503050406030204" pitchFamily="18" charset="0"/>
                          </a:rPr>
                          <m:t>j</m:t>
                        </m:r>
                      </m:sub>
                      <m:sup>
                        <m:r>
                          <a:rPr lang="en-US" altLang="ja-JP" i="1">
                            <a:solidFill>
                              <a:srgbClr val="0E2841"/>
                            </a:solidFill>
                            <a:latin typeface="Cambria Math" panose="02040503050406030204" pitchFamily="18" charset="0"/>
                          </a:rPr>
                          <m:t>(</m:t>
                        </m:r>
                        <m:r>
                          <m:rPr>
                            <m:sty m:val="p"/>
                          </m:rPr>
                          <a:rPr lang="en-US" altLang="ja-JP" i="1">
                            <a:solidFill>
                              <a:srgbClr val="0E2841"/>
                            </a:solidFill>
                            <a:latin typeface="Cambria Math" panose="02040503050406030204" pitchFamily="18" charset="0"/>
                          </a:rPr>
                          <m:t>l</m:t>
                        </m:r>
                        <m:r>
                          <a:rPr lang="en-US" altLang="ja-JP" i="1">
                            <a:solidFill>
                              <a:srgbClr val="0E2841"/>
                            </a:solidFill>
                            <a:latin typeface="Cambria Math" panose="02040503050406030204" pitchFamily="18" charset="0"/>
                          </a:rPr>
                          <m:t>)</m:t>
                        </m:r>
                      </m:sup>
                    </m:sSubSup>
                  </m:oMath>
                </a14:m>
                <a:r>
                  <a:rPr lang="ja-JP" altLang="es-MX" dirty="0">
                    <a:effectLst/>
                  </a:rPr>
                  <a:t>：層 </a:t>
                </a:r>
                <a:r>
                  <a:rPr lang="es-MX" altLang="ja-JP" dirty="0">
                    <a:effectLst/>
                  </a:rPr>
                  <a:t>ll </a:t>
                </a:r>
                <a:r>
                  <a:rPr lang="ja-JP" altLang="es-MX" dirty="0">
                    <a:effectLst/>
                  </a:rPr>
                  <a:t>における 近傍ノード </a:t>
                </a:r>
                <a:r>
                  <a:rPr lang="es-MX" altLang="ja-JP" dirty="0">
                    <a:effectLst/>
                  </a:rPr>
                  <a:t>jj </a:t>
                </a:r>
                <a:r>
                  <a:rPr lang="ja-JP" altLang="es-MX" dirty="0">
                    <a:effectLst/>
                  </a:rPr>
                  <a:t>の隠れ表現。</a:t>
                </a:r>
              </a:p>
              <a:p>
                <a:pPr marL="285750" indent="-285750">
                  <a:buFont typeface="Arial" panose="020B0604020202020204" pitchFamily="34" charset="0"/>
                  <a:buChar char="•"/>
                </a:pPr>
                <a14:m>
                  <m:oMath xmlns:m="http://schemas.openxmlformats.org/officeDocument/2006/math">
                    <m:r>
                      <m:rPr>
                        <m:sty m:val="p"/>
                      </m:rPr>
                      <a:rPr lang="en-US" altLang="ja-JP" sz="1800" b="0" i="1" u="none" strike="noStrike" smtClean="0">
                        <a:solidFill>
                          <a:srgbClr val="0E2841"/>
                        </a:solidFill>
                        <a:effectLst/>
                        <a:latin typeface="Cambria Math" panose="02040503050406030204" pitchFamily="18" charset="0"/>
                      </a:rPr>
                      <m:t>R</m:t>
                    </m:r>
                  </m:oMath>
                </a14:m>
                <a:r>
                  <a:rPr lang="ja-JP" altLang="es-MX" sz="1800" b="0" i="0" u="none" strike="noStrike" dirty="0">
                    <a:solidFill>
                      <a:srgbClr val="0E2841"/>
                    </a:solidFill>
                    <a:effectLst/>
                    <a:latin typeface="Arial" panose="020B0604020202020204" pitchFamily="34" charset="0"/>
                  </a:rPr>
                  <a:t> </a:t>
                </a:r>
                <a:r>
                  <a:rPr lang="ja-JP" altLang="es-MX" dirty="0">
                    <a:solidFill>
                      <a:srgbClr val="0E2841"/>
                    </a:solidFill>
                    <a:latin typeface="Arial" panose="020B0604020202020204" pitchFamily="34" charset="0"/>
                  </a:rPr>
                  <a:t>：グラフ内の すべての関係タイプの集合。</a:t>
                </a:r>
                <a:endParaRPr lang="ja-JP" altLang="es-MX" dirty="0">
                  <a:effectLst/>
                </a:endParaRPr>
              </a:p>
              <a:p>
                <a:pPr marL="285750" indent="-285750">
                  <a:buFont typeface="Arial" panose="020B0604020202020204" pitchFamily="34" charset="0"/>
                  <a:buChar char="•"/>
                </a:pPr>
                <a14:m>
                  <m:oMath xmlns:m="http://schemas.openxmlformats.org/officeDocument/2006/math">
                    <m:sSub>
                      <m:sSubPr>
                        <m:ctrlPr>
                          <a:rPr lang="es-MX" altLang="ja-JP" i="1" smtClean="0">
                            <a:solidFill>
                              <a:srgbClr val="0E2841"/>
                            </a:solidFill>
                            <a:latin typeface="Cambria Math" panose="02040503050406030204" pitchFamily="18" charset="0"/>
                          </a:rPr>
                        </m:ctrlPr>
                      </m:sSubPr>
                      <m:e>
                        <m:r>
                          <m:rPr>
                            <m:sty m:val="p"/>
                          </m:rPr>
                          <a:rPr lang="en-US" altLang="ja-JP" b="0" i="1" smtClean="0">
                            <a:solidFill>
                              <a:srgbClr val="0E2841"/>
                            </a:solidFill>
                            <a:latin typeface="Cambria Math" panose="02040503050406030204" pitchFamily="18" charset="0"/>
                          </a:rPr>
                          <m:t>N</m:t>
                        </m:r>
                      </m:e>
                      <m:sub>
                        <m:r>
                          <m:rPr>
                            <m:sty m:val="p"/>
                          </m:rPr>
                          <a:rPr lang="en-US" altLang="ja-JP" b="0" i="1" smtClean="0">
                            <a:solidFill>
                              <a:srgbClr val="0E2841"/>
                            </a:solidFill>
                            <a:latin typeface="Cambria Math" panose="02040503050406030204" pitchFamily="18" charset="0"/>
                          </a:rPr>
                          <m:t>r</m:t>
                        </m:r>
                      </m:sub>
                    </m:sSub>
                    <m:r>
                      <a:rPr lang="en-US" altLang="ja-JP" b="0" i="1" smtClean="0">
                        <a:solidFill>
                          <a:srgbClr val="0E2841"/>
                        </a:solidFill>
                        <a:latin typeface="Cambria Math" panose="02040503050406030204" pitchFamily="18" charset="0"/>
                      </a:rPr>
                      <m:t>(</m:t>
                    </m:r>
                    <m:r>
                      <m:rPr>
                        <m:sty m:val="p"/>
                      </m:rPr>
                      <a:rPr lang="en-US" altLang="ja-JP" b="0" i="1" smtClean="0">
                        <a:solidFill>
                          <a:srgbClr val="0E2841"/>
                        </a:solidFill>
                        <a:latin typeface="Cambria Math" panose="02040503050406030204" pitchFamily="18" charset="0"/>
                      </a:rPr>
                      <m:t>i</m:t>
                    </m:r>
                    <m:r>
                      <a:rPr lang="en-US" altLang="ja-JP" b="0" i="1" smtClean="0">
                        <a:solidFill>
                          <a:srgbClr val="0E2841"/>
                        </a:solidFill>
                        <a:latin typeface="Cambria Math" panose="02040503050406030204" pitchFamily="18" charset="0"/>
                      </a:rPr>
                      <m:t>)</m:t>
                    </m:r>
                    <m:r>
                      <a:rPr lang="ja-JP" altLang="es-MX" i="1">
                        <a:solidFill>
                          <a:srgbClr val="0E2841"/>
                        </a:solidFill>
                        <a:latin typeface="Cambria Math" panose="02040503050406030204" pitchFamily="18" charset="0"/>
                      </a:rPr>
                      <m:t>：</m:t>
                    </m:r>
                  </m:oMath>
                </a14:m>
                <a:r>
                  <a:rPr lang="ja-JP" altLang="es-MX" dirty="0">
                    <a:solidFill>
                      <a:srgbClr val="0E2841"/>
                    </a:solidFill>
                    <a:latin typeface="Arial" panose="020B0604020202020204" pitchFamily="34" charset="0"/>
                  </a:rPr>
                  <a:t> 関係 </a:t>
                </a:r>
                <a:r>
                  <a:rPr lang="es-MX" altLang="ja-JP" dirty="0">
                    <a:solidFill>
                      <a:srgbClr val="0E2841"/>
                    </a:solidFill>
                    <a:latin typeface="Arial" panose="020B0604020202020204" pitchFamily="34" charset="0"/>
                  </a:rPr>
                  <a:t>rr </a:t>
                </a:r>
                <a:r>
                  <a:rPr lang="ja-JP" altLang="es-MX" dirty="0">
                    <a:solidFill>
                      <a:srgbClr val="0E2841"/>
                    </a:solidFill>
                    <a:latin typeface="Arial" panose="020B0604020202020204" pitchFamily="34" charset="0"/>
                  </a:rPr>
                  <a:t>を通じてノード </a:t>
                </a:r>
                <a:r>
                  <a:rPr lang="es-MX" altLang="ja-JP" dirty="0">
                    <a:solidFill>
                      <a:srgbClr val="0E2841"/>
                    </a:solidFill>
                    <a:latin typeface="Arial" panose="020B0604020202020204" pitchFamily="34" charset="0"/>
                  </a:rPr>
                  <a:t>ii </a:t>
                </a:r>
                <a:r>
                  <a:rPr lang="ja-JP" altLang="es-MX" dirty="0">
                    <a:solidFill>
                      <a:srgbClr val="0E2841"/>
                    </a:solidFill>
                    <a:latin typeface="Arial" panose="020B0604020202020204" pitchFamily="34" charset="0"/>
                  </a:rPr>
                  <a:t>と接続されている。近傍ノードの集合。</a:t>
                </a:r>
                <a:endParaRPr lang="ja-JP" altLang="es-MX" dirty="0">
                  <a:effectLst/>
                </a:endParaRPr>
              </a:p>
              <a:p>
                <a:pPr marL="285750" indent="-285750">
                  <a:buFont typeface="Arial" panose="020B0604020202020204" pitchFamily="34" charset="0"/>
                  <a:buChar char="•"/>
                </a:pPr>
                <a14:m>
                  <m:oMath xmlns:m="http://schemas.openxmlformats.org/officeDocument/2006/math">
                    <m:sSub>
                      <m:sSubPr>
                        <m:ctrlPr>
                          <a:rPr lang="es-MX" altLang="ja-JP" sz="1800" b="0" i="1" u="none" strike="noStrike" smtClean="0">
                            <a:solidFill>
                              <a:srgbClr val="0E2841"/>
                            </a:solidFill>
                            <a:effectLst/>
                            <a:latin typeface="Cambria Math" panose="02040503050406030204" pitchFamily="18" charset="0"/>
                          </a:rPr>
                        </m:ctrlPr>
                      </m:sSubPr>
                      <m:e>
                        <m:r>
                          <m:rPr>
                            <m:sty m:val="p"/>
                          </m:rPr>
                          <a:rPr lang="en-US" altLang="ja-JP" sz="1800" b="0" i="1" u="none" strike="noStrike" smtClean="0">
                            <a:solidFill>
                              <a:srgbClr val="0E2841"/>
                            </a:solidFill>
                            <a:effectLst/>
                            <a:latin typeface="Cambria Math" panose="02040503050406030204" pitchFamily="18" charset="0"/>
                          </a:rPr>
                          <m:t>W</m:t>
                        </m:r>
                      </m:e>
                      <m:sub>
                        <m:r>
                          <m:rPr>
                            <m:sty m:val="p"/>
                          </m:rPr>
                          <a:rPr lang="en-US" altLang="ja-JP" sz="1800" b="0" i="1" u="none" strike="noStrike" smtClean="0">
                            <a:solidFill>
                              <a:srgbClr val="0E2841"/>
                            </a:solidFill>
                            <a:effectLst/>
                            <a:latin typeface="Cambria Math" panose="02040503050406030204" pitchFamily="18" charset="0"/>
                          </a:rPr>
                          <m:t>r</m:t>
                        </m:r>
                      </m:sub>
                    </m:sSub>
                  </m:oMath>
                </a14:m>
                <a:r>
                  <a:rPr lang="ja-JP" altLang="es-MX" dirty="0">
                    <a:solidFill>
                      <a:srgbClr val="0E2841"/>
                    </a:solidFill>
                    <a:latin typeface="Arial" panose="020B0604020202020204" pitchFamily="34" charset="0"/>
                  </a:rPr>
                  <a:t>：関係 </a:t>
                </a:r>
                <a:r>
                  <a:rPr lang="es-MX" altLang="ja-JP" dirty="0">
                    <a:solidFill>
                      <a:srgbClr val="0E2841"/>
                    </a:solidFill>
                    <a:latin typeface="Arial" panose="020B0604020202020204" pitchFamily="34" charset="0"/>
                  </a:rPr>
                  <a:t>rr </a:t>
                </a:r>
                <a:r>
                  <a:rPr lang="ja-JP" altLang="es-MX" dirty="0">
                    <a:solidFill>
                      <a:srgbClr val="0E2841"/>
                    </a:solidFill>
                    <a:latin typeface="Arial" panose="020B0604020202020204" pitchFamily="34" charset="0"/>
                  </a:rPr>
                  <a:t>に対応する 学習可能な重み行列。</a:t>
                </a:r>
                <a:endParaRPr lang="ja-JP" altLang="es-MX" dirty="0">
                  <a:effectLst/>
                </a:endParaRPr>
              </a:p>
              <a:p>
                <a:pPr marL="285750" indent="-285750">
                  <a:buFont typeface="Arial" panose="020B0604020202020204" pitchFamily="34" charset="0"/>
                  <a:buChar char="•"/>
                </a:pPr>
                <a14:m>
                  <m:oMath xmlns:m="http://schemas.openxmlformats.org/officeDocument/2006/math">
                    <m:r>
                      <a:rPr lang="ja-JP" altLang="es-MX" i="1" smtClean="0">
                        <a:solidFill>
                          <a:srgbClr val="0E2841"/>
                        </a:solidFill>
                        <a:latin typeface="Cambria Math" panose="02040503050406030204" pitchFamily="18" charset="0"/>
                      </a:rPr>
                      <m:t>𝜎</m:t>
                    </m:r>
                  </m:oMath>
                </a14:m>
                <a:r>
                  <a:rPr lang="ja-JP" altLang="es-MX" sz="1800" b="0" i="0" u="none" strike="noStrike" dirty="0">
                    <a:solidFill>
                      <a:srgbClr val="0E2841"/>
                    </a:solidFill>
                    <a:effectLst/>
                    <a:latin typeface="Arial" panose="020B0604020202020204" pitchFamily="34" charset="0"/>
                  </a:rPr>
                  <a:t> </a:t>
                </a:r>
                <a:r>
                  <a:rPr lang="ja-JP" altLang="es-MX" dirty="0">
                    <a:solidFill>
                      <a:srgbClr val="0E2841"/>
                    </a:solidFill>
                    <a:latin typeface="Arial" panose="020B0604020202020204" pitchFamily="34" charset="0"/>
                  </a:rPr>
                  <a:t>：非線形活性化関数（例：</a:t>
                </a:r>
                <a:r>
                  <a:rPr lang="es-MX" altLang="ja-JP" dirty="0">
                    <a:solidFill>
                      <a:srgbClr val="0E2841"/>
                    </a:solidFill>
                    <a:latin typeface="Arial" panose="020B0604020202020204" pitchFamily="34" charset="0"/>
                  </a:rPr>
                  <a:t>ReLU</a:t>
                </a:r>
                <a:r>
                  <a:rPr lang="ja-JP" altLang="es-MX" dirty="0">
                    <a:solidFill>
                      <a:srgbClr val="0E2841"/>
                    </a:solidFill>
                    <a:latin typeface="Arial" panose="020B0604020202020204" pitchFamily="34" charset="0"/>
                  </a:rPr>
                  <a:t>）。</a:t>
                </a:r>
                <a:endParaRPr lang="es-MX" dirty="0"/>
              </a:p>
            </p:txBody>
          </p:sp>
        </mc:Choice>
        <mc:Fallback>
          <p:sp>
            <p:nvSpPr>
              <p:cNvPr id="29" name="TextBox 28">
                <a:extLst>
                  <a:ext uri="{FF2B5EF4-FFF2-40B4-BE49-F238E27FC236}">
                    <a16:creationId xmlns:a16="http://schemas.microsoft.com/office/drawing/2014/main" id="{CAF5226D-C3BF-331B-281B-E87EAE6FCAC9}"/>
                  </a:ext>
                </a:extLst>
              </p:cNvPr>
              <p:cNvSpPr txBox="1">
                <a:spLocks noRot="1" noChangeAspect="1" noMove="1" noResize="1" noEditPoints="1" noAdjustHandles="1" noChangeArrowheads="1" noChangeShapeType="1" noTextEdit="1"/>
              </p:cNvSpPr>
              <p:nvPr/>
            </p:nvSpPr>
            <p:spPr>
              <a:xfrm>
                <a:off x="563880" y="4384875"/>
                <a:ext cx="9982200" cy="2217338"/>
              </a:xfrm>
              <a:prstGeom prst="rect">
                <a:avLst/>
              </a:prstGeom>
              <a:blipFill>
                <a:blip r:embed="rId5"/>
                <a:stretch>
                  <a:fillRect l="-550" t="-1648" b="-3297"/>
                </a:stretch>
              </a:blipFill>
            </p:spPr>
            <p:txBody>
              <a:bodyPr/>
              <a:lstStyle/>
              <a:p>
                <a:r>
                  <a:rPr lang="es-MX">
                    <a:noFill/>
                  </a:rPr>
                  <a:t> </a:t>
                </a:r>
              </a:p>
            </p:txBody>
          </p:sp>
        </mc:Fallback>
      </mc:AlternateContent>
    </p:spTree>
    <p:extLst>
      <p:ext uri="{BB962C8B-B14F-4D97-AF65-F5344CB8AC3E}">
        <p14:creationId xmlns:p14="http://schemas.microsoft.com/office/powerpoint/2010/main" val="2113396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CB6DA-76EE-266B-9CB1-18B649C5015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C44A913-AE90-8AE2-CE92-B425298F626A}"/>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82000437-97BD-E1FA-893F-49647A28BB7E}"/>
              </a:ext>
            </a:extLst>
          </p:cNvPr>
          <p:cNvSpPr>
            <a:spLocks noGrp="1"/>
          </p:cNvSpPr>
          <p:nvPr>
            <p:ph type="title"/>
          </p:nvPr>
        </p:nvSpPr>
        <p:spPr>
          <a:xfrm>
            <a:off x="423334" y="0"/>
            <a:ext cx="10515600" cy="1015662"/>
          </a:xfrm>
        </p:spPr>
        <p:txBody>
          <a:bodyPr>
            <a:normAutofit/>
          </a:bodyPr>
          <a:lstStyle/>
          <a:p>
            <a:r>
              <a:rPr lang="en-US" altLang="ja-JP" sz="3200" b="1" dirty="0">
                <a:solidFill>
                  <a:schemeClr val="bg1"/>
                </a:solidFill>
              </a:rPr>
              <a:t>Step 6 — RGCN-Based Reasoning</a:t>
            </a:r>
          </a:p>
        </p:txBody>
      </p:sp>
      <p:sp>
        <p:nvSpPr>
          <p:cNvPr id="5" name="TextBox 4">
            <a:extLst>
              <a:ext uri="{FF2B5EF4-FFF2-40B4-BE49-F238E27FC236}">
                <a16:creationId xmlns:a16="http://schemas.microsoft.com/office/drawing/2014/main" id="{A3E184DB-1302-42DB-6C69-AE8C7613C1FD}"/>
              </a:ext>
            </a:extLst>
          </p:cNvPr>
          <p:cNvSpPr txBox="1"/>
          <p:nvPr/>
        </p:nvSpPr>
        <p:spPr>
          <a:xfrm>
            <a:off x="423334" y="1252590"/>
            <a:ext cx="5428826" cy="1200329"/>
          </a:xfrm>
          <a:prstGeom prst="rect">
            <a:avLst/>
          </a:prstGeom>
          <a:noFill/>
        </p:spPr>
        <p:txBody>
          <a:bodyPr wrap="square">
            <a:spAutoFit/>
          </a:bodyPr>
          <a:lstStyle/>
          <a:p>
            <a:pPr rtl="0">
              <a:buNone/>
            </a:pPr>
            <a:r>
              <a:rPr lang="en-US" sz="1800" b="1" i="0" u="none" strike="noStrike" dirty="0">
                <a:solidFill>
                  <a:srgbClr val="1B2A4A"/>
                </a:solidFill>
                <a:effectLst/>
                <a:latin typeface="Trebuchet MS" panose="020B0603020202020204" pitchFamily="34" charset="0"/>
              </a:rPr>
              <a:t>Phase 3 — Pooling</a:t>
            </a:r>
          </a:p>
          <a:p>
            <a:pPr rtl="0">
              <a:buNone/>
            </a:pPr>
            <a:endParaRPr lang="en-US" b="1" dirty="0">
              <a:solidFill>
                <a:srgbClr val="1B2A4A"/>
              </a:solidFill>
              <a:latin typeface="Trebuchet MS" panose="020B0603020202020204" pitchFamily="34" charset="0"/>
            </a:endParaRPr>
          </a:p>
          <a:p>
            <a:pPr>
              <a:buNone/>
            </a:pPr>
            <a:endParaRPr lang="en-US" dirty="0"/>
          </a:p>
          <a:p>
            <a:pPr rtl="0">
              <a:buNone/>
            </a:pPr>
            <a:endParaRPr lang="en-US" dirty="0">
              <a:effectLst/>
            </a:endParaRPr>
          </a:p>
        </p:txBody>
      </p:sp>
      <p:pic>
        <p:nvPicPr>
          <p:cNvPr id="3" name="Picture 2">
            <a:extLst>
              <a:ext uri="{FF2B5EF4-FFF2-40B4-BE49-F238E27FC236}">
                <a16:creationId xmlns:a16="http://schemas.microsoft.com/office/drawing/2014/main" id="{F9732E48-C23F-7BC9-9B27-8C759188625D}"/>
              </a:ext>
            </a:extLst>
          </p:cNvPr>
          <p:cNvPicPr>
            <a:picLocks noChangeAspect="1"/>
          </p:cNvPicPr>
          <p:nvPr/>
        </p:nvPicPr>
        <p:blipFill>
          <a:blip r:embed="rId3"/>
          <a:stretch>
            <a:fillRect/>
          </a:stretch>
        </p:blipFill>
        <p:spPr>
          <a:xfrm>
            <a:off x="1406489" y="3554798"/>
            <a:ext cx="3543795" cy="495369"/>
          </a:xfrm>
          <a:prstGeom prst="rect">
            <a:avLst/>
          </a:prstGeom>
        </p:spPr>
      </p:pic>
      <p:pic>
        <p:nvPicPr>
          <p:cNvPr id="6" name="Picture 5">
            <a:extLst>
              <a:ext uri="{FF2B5EF4-FFF2-40B4-BE49-F238E27FC236}">
                <a16:creationId xmlns:a16="http://schemas.microsoft.com/office/drawing/2014/main" id="{391F1F9F-1B41-8978-C310-2B079FBF7C10}"/>
              </a:ext>
            </a:extLst>
          </p:cNvPr>
          <p:cNvPicPr>
            <a:picLocks noChangeAspect="1"/>
          </p:cNvPicPr>
          <p:nvPr/>
        </p:nvPicPr>
        <p:blipFill>
          <a:blip r:embed="rId4"/>
          <a:stretch>
            <a:fillRect/>
          </a:stretch>
        </p:blipFill>
        <p:spPr>
          <a:xfrm>
            <a:off x="7791746" y="2796737"/>
            <a:ext cx="2429214" cy="428685"/>
          </a:xfrm>
          <a:prstGeom prst="rect">
            <a:avLst/>
          </a:prstGeom>
        </p:spPr>
      </p:pic>
      <p:sp>
        <p:nvSpPr>
          <p:cNvPr id="10" name="TextBox 9">
            <a:extLst>
              <a:ext uri="{FF2B5EF4-FFF2-40B4-BE49-F238E27FC236}">
                <a16:creationId xmlns:a16="http://schemas.microsoft.com/office/drawing/2014/main" id="{832AE097-E56D-9677-657E-9E66C32C2BA7}"/>
              </a:ext>
            </a:extLst>
          </p:cNvPr>
          <p:cNvSpPr txBox="1"/>
          <p:nvPr/>
        </p:nvSpPr>
        <p:spPr>
          <a:xfrm>
            <a:off x="423334" y="1751881"/>
            <a:ext cx="5296743" cy="1477328"/>
          </a:xfrm>
          <a:prstGeom prst="rect">
            <a:avLst/>
          </a:prstGeom>
          <a:noFill/>
        </p:spPr>
        <p:txBody>
          <a:bodyPr wrap="square">
            <a:spAutoFit/>
          </a:bodyPr>
          <a:lstStyle/>
          <a:p>
            <a:pPr>
              <a:buNone/>
            </a:pPr>
            <a:r>
              <a:rPr lang="es-MX" altLang="ja-JP" b="1" dirty="0"/>
              <a:t>RGCN</a:t>
            </a:r>
            <a:r>
              <a:rPr lang="ja-JP" altLang="es-MX" dirty="0"/>
              <a:t>によって推論グラフ内のすべてのノードの埋め込みが更新された後、</a:t>
            </a:r>
            <a:br>
              <a:rPr lang="ja-JP" altLang="es-MX" dirty="0"/>
            </a:br>
            <a:r>
              <a:rPr lang="ja-JP" altLang="es-MX" dirty="0"/>
              <a:t>モデルは </a:t>
            </a:r>
            <a:r>
              <a:rPr lang="ja-JP" altLang="es-MX" b="1" dirty="0"/>
              <a:t>グラフ全体を表す</a:t>
            </a:r>
            <a:r>
              <a:rPr lang="es-MX" altLang="ja-JP" b="1" dirty="0"/>
              <a:t>1</a:t>
            </a:r>
            <a:r>
              <a:rPr lang="ja-JP" altLang="es-MX" b="1" dirty="0"/>
              <a:t>つのベクトル表現</a:t>
            </a:r>
            <a:r>
              <a:rPr lang="ja-JP" altLang="es-MX" dirty="0"/>
              <a:t> を生成する必要がある。これを行うのが </a:t>
            </a:r>
            <a:r>
              <a:rPr lang="es-MX" altLang="ja-JP" b="1" dirty="0" err="1"/>
              <a:t>Pooling</a:t>
            </a:r>
            <a:r>
              <a:rPr lang="es-MX" altLang="ja-JP" b="1" dirty="0"/>
              <a:t> </a:t>
            </a:r>
            <a:r>
              <a:rPr lang="ja-JP" altLang="es-MX" b="1" dirty="0"/>
              <a:t>操作</a:t>
            </a:r>
            <a:r>
              <a:rPr lang="ja-JP" altLang="es-MX" dirty="0"/>
              <a:t>である。</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44D001D0-BC22-1B9E-0249-945B62957AF6}"/>
                  </a:ext>
                </a:extLst>
              </p:cNvPr>
              <p:cNvSpPr txBox="1"/>
              <p:nvPr/>
            </p:nvSpPr>
            <p:spPr>
              <a:xfrm>
                <a:off x="512729" y="4701346"/>
                <a:ext cx="4331546" cy="1848711"/>
              </a:xfrm>
              <a:prstGeom prst="rect">
                <a:avLst/>
              </a:prstGeom>
              <a:noFill/>
            </p:spPr>
            <p:txBody>
              <a:bodyPr wrap="square">
                <a:spAutoFit/>
              </a:bodyPr>
              <a:lstStyle/>
              <a:p>
                <a:pPr>
                  <a:buNone/>
                </a:pPr>
                <a:r>
                  <a:rPr lang="ja-JP" altLang="es-MX" b="1" dirty="0"/>
                  <a:t>記号の説明</a:t>
                </a:r>
              </a:p>
              <a:p>
                <a:pPr>
                  <a:buNone/>
                </a:pPr>
                <a:r>
                  <a:rPr lang="es-MX" altLang="ja-JP" dirty="0"/>
                  <a:t>• </a:t>
                </a:r>
                <a14:m>
                  <m:oMath xmlns:m="http://schemas.openxmlformats.org/officeDocument/2006/math">
                    <m:sSubSup>
                      <m:sSubSupPr>
                        <m:ctrlPr>
                          <a:rPr lang="ja-JP" altLang="es-MX" i="1">
                            <a:latin typeface="Cambria Math" panose="02040503050406030204" pitchFamily="18" charset="0"/>
                          </a:rPr>
                        </m:ctrlPr>
                      </m:sSubSupPr>
                      <m:e>
                        <m:r>
                          <a:rPr lang="es-MX" altLang="ja-JP" i="1">
                            <a:latin typeface="Cambria Math" panose="02040503050406030204" pitchFamily="18" charset="0"/>
                          </a:rPr>
                          <m:t>h</m:t>
                        </m:r>
                      </m:e>
                      <m:sub>
                        <m:r>
                          <a:rPr lang="ja-JP" altLang="es-MX" i="1">
                            <a:latin typeface="Cambria Math" panose="02040503050406030204" pitchFamily="18" charset="0"/>
                          </a:rPr>
                          <m:t>𝑖</m:t>
                        </m:r>
                      </m:sub>
                      <m:sup>
                        <m:d>
                          <m:dPr>
                            <m:ctrlPr>
                              <a:rPr lang="ja-JP" altLang="es-MX" i="1">
                                <a:latin typeface="Cambria Math" panose="02040503050406030204" pitchFamily="18" charset="0"/>
                              </a:rPr>
                            </m:ctrlPr>
                          </m:dPr>
                          <m:e>
                            <m:r>
                              <a:rPr lang="ja-JP" altLang="es-MX" i="1">
                                <a:latin typeface="Cambria Math" panose="02040503050406030204" pitchFamily="18" charset="0"/>
                              </a:rPr>
                              <m:t>𝐿</m:t>
                            </m:r>
                          </m:e>
                        </m:d>
                      </m:sup>
                    </m:sSubSup>
                  </m:oMath>
                </a14:m>
                <a:r>
                  <a:rPr lang="es-MX" altLang="ja-JP" dirty="0"/>
                  <a:t>= </a:t>
                </a:r>
                <a:r>
                  <a:rPr lang="ja-JP" altLang="es-MX" dirty="0"/>
                  <a:t>最終 </a:t>
                </a:r>
                <a:r>
                  <a:rPr lang="es-MX" altLang="ja-JP" dirty="0"/>
                  <a:t>GNN </a:t>
                </a:r>
                <a:r>
                  <a:rPr lang="ja-JP" altLang="es-MX" dirty="0"/>
                  <a:t>層 </a:t>
                </a:r>
                <a14:m>
                  <m:oMath xmlns:m="http://schemas.openxmlformats.org/officeDocument/2006/math">
                    <m:r>
                      <a:rPr lang="ja-JP" altLang="es-MX" i="1">
                        <a:latin typeface="Cambria Math" panose="02040503050406030204" pitchFamily="18" charset="0"/>
                      </a:rPr>
                      <m:t>𝐿</m:t>
                    </m:r>
                  </m:oMath>
                </a14:m>
                <a:r>
                  <a:rPr lang="ja-JP" altLang="es-MX" dirty="0"/>
                  <a:t>におけるノード </a:t>
                </a:r>
                <a14:m>
                  <m:oMath xmlns:m="http://schemas.openxmlformats.org/officeDocument/2006/math">
                    <m:r>
                      <a:rPr lang="ja-JP" altLang="es-MX" i="1">
                        <a:latin typeface="Cambria Math" panose="02040503050406030204" pitchFamily="18" charset="0"/>
                      </a:rPr>
                      <m:t>𝑖</m:t>
                    </m:r>
                  </m:oMath>
                </a14:m>
                <a:r>
                  <a:rPr lang="ja-JP" altLang="es-MX" dirty="0"/>
                  <a:t>の埋め込み</a:t>
                </a:r>
                <a:br>
                  <a:rPr lang="ja-JP" altLang="es-MX" dirty="0"/>
                </a:br>
                <a:r>
                  <a:rPr lang="es-MX" altLang="ja-JP" dirty="0"/>
                  <a:t>• </a:t>
                </a:r>
                <a14:m>
                  <m:oMath xmlns:m="http://schemas.openxmlformats.org/officeDocument/2006/math">
                    <m:sSub>
                      <m:sSubPr>
                        <m:ctrlPr>
                          <a:rPr lang="ja-JP" altLang="es-MX" i="1">
                            <a:latin typeface="Cambria Math" panose="02040503050406030204" pitchFamily="18" charset="0"/>
                          </a:rPr>
                        </m:ctrlPr>
                      </m:sSubPr>
                      <m:e>
                        <m:r>
                          <a:rPr lang="ja-JP" altLang="es-MX" i="1">
                            <a:latin typeface="Cambria Math" panose="02040503050406030204" pitchFamily="18" charset="0"/>
                          </a:rPr>
                          <m:t>𝑉</m:t>
                        </m:r>
                      </m:e>
                      <m:sub>
                        <m:r>
                          <a:rPr lang="ja-JP" altLang="es-MX" i="1">
                            <a:latin typeface="Cambria Math" panose="02040503050406030204" pitchFamily="18" charset="0"/>
                          </a:rPr>
                          <m:t>𝑗𝑜𝑖𝑛𝑡</m:t>
                        </m:r>
                      </m:sub>
                    </m:sSub>
                  </m:oMath>
                </a14:m>
                <a:r>
                  <a:rPr lang="es-MX" altLang="ja-JP" dirty="0"/>
                  <a:t>= </a:t>
                </a:r>
                <a:r>
                  <a:rPr lang="ja-JP" altLang="es-MX" dirty="0"/>
                  <a:t>推論サブグラフに含まれるノード集合</a:t>
                </a:r>
                <a:br>
                  <a:rPr lang="ja-JP" altLang="es-MX" dirty="0"/>
                </a:br>
                <a:r>
                  <a:rPr lang="es-MX" altLang="ja-JP" dirty="0"/>
                  <a:t>• </a:t>
                </a:r>
                <a14:m>
                  <m:oMath xmlns:m="http://schemas.openxmlformats.org/officeDocument/2006/math">
                    <m:r>
                      <a:rPr lang="ja-JP" altLang="es-MX" i="1">
                        <a:latin typeface="Cambria Math" panose="02040503050406030204" pitchFamily="18" charset="0"/>
                      </a:rPr>
                      <m:t>𝑔</m:t>
                    </m:r>
                  </m:oMath>
                </a14:m>
                <a:r>
                  <a:rPr lang="es-MX" altLang="ja-JP" dirty="0"/>
                  <a:t>= </a:t>
                </a:r>
                <a:r>
                  <a:rPr lang="ja-JP" altLang="es-MX" b="1" dirty="0"/>
                  <a:t>グラフ全体を表すベクトル</a:t>
                </a:r>
                <a:endParaRPr lang="ja-JP" altLang="es-MX" dirty="0"/>
              </a:p>
            </p:txBody>
          </p:sp>
        </mc:Choice>
        <mc:Fallback>
          <p:sp>
            <p:nvSpPr>
              <p:cNvPr id="16" name="TextBox 15">
                <a:extLst>
                  <a:ext uri="{FF2B5EF4-FFF2-40B4-BE49-F238E27FC236}">
                    <a16:creationId xmlns:a16="http://schemas.microsoft.com/office/drawing/2014/main" id="{44D001D0-BC22-1B9E-0249-945B62957AF6}"/>
                  </a:ext>
                </a:extLst>
              </p:cNvPr>
              <p:cNvSpPr txBox="1">
                <a:spLocks noRot="1" noChangeAspect="1" noMove="1" noResize="1" noEditPoints="1" noAdjustHandles="1" noChangeArrowheads="1" noChangeShapeType="1" noTextEdit="1"/>
              </p:cNvSpPr>
              <p:nvPr/>
            </p:nvSpPr>
            <p:spPr>
              <a:xfrm>
                <a:off x="512729" y="4701346"/>
                <a:ext cx="4331546" cy="1848711"/>
              </a:xfrm>
              <a:prstGeom prst="rect">
                <a:avLst/>
              </a:prstGeom>
              <a:blipFill>
                <a:blip r:embed="rId5"/>
                <a:stretch>
                  <a:fillRect l="-1125" t="-1980" b="-4290"/>
                </a:stretch>
              </a:blipFill>
            </p:spPr>
            <p:txBody>
              <a:bodyPr/>
              <a:lstStyle/>
              <a:p>
                <a:r>
                  <a:rPr lang="es-MX">
                    <a:noFill/>
                  </a:rPr>
                  <a:t> </a:t>
                </a:r>
              </a:p>
            </p:txBody>
          </p:sp>
        </mc:Fallback>
      </mc:AlternateContent>
      <p:sp>
        <p:nvSpPr>
          <p:cNvPr id="18" name="TextBox 17">
            <a:extLst>
              <a:ext uri="{FF2B5EF4-FFF2-40B4-BE49-F238E27FC236}">
                <a16:creationId xmlns:a16="http://schemas.microsoft.com/office/drawing/2014/main" id="{89FE356D-F942-124F-2D07-08A422E1CD4C}"/>
              </a:ext>
            </a:extLst>
          </p:cNvPr>
          <p:cNvSpPr txBox="1"/>
          <p:nvPr/>
        </p:nvSpPr>
        <p:spPr>
          <a:xfrm>
            <a:off x="6527800" y="1724775"/>
            <a:ext cx="6106160" cy="923330"/>
          </a:xfrm>
          <a:prstGeom prst="rect">
            <a:avLst/>
          </a:prstGeom>
          <a:noFill/>
        </p:spPr>
        <p:txBody>
          <a:bodyPr wrap="square">
            <a:spAutoFit/>
          </a:bodyPr>
          <a:lstStyle/>
          <a:p>
            <a:pPr>
              <a:buNone/>
            </a:pPr>
            <a:r>
              <a:rPr lang="ja-JP" altLang="es-MX" dirty="0"/>
              <a:t>最終的な予測は、</a:t>
            </a:r>
          </a:p>
          <a:p>
            <a:pPr>
              <a:buNone/>
            </a:pPr>
            <a:r>
              <a:rPr lang="es-MX" altLang="ja-JP" dirty="0"/>
              <a:t>• </a:t>
            </a:r>
            <a:r>
              <a:rPr lang="ja-JP" altLang="es-MX" b="1" dirty="0"/>
              <a:t>テキストの埋め込み</a:t>
            </a:r>
            <a:br>
              <a:rPr lang="ja-JP" altLang="es-MX" dirty="0"/>
            </a:br>
            <a:r>
              <a:rPr lang="es-MX" altLang="ja-JP" dirty="0"/>
              <a:t>• </a:t>
            </a:r>
            <a:r>
              <a:rPr lang="ja-JP" altLang="es-MX" b="1" dirty="0"/>
              <a:t>グラフの埋め込み </a:t>
            </a:r>
            <a:r>
              <a:rPr lang="ja-JP" altLang="es-MX" dirty="0"/>
              <a:t>を組み合わせて行う。</a:t>
            </a:r>
          </a:p>
        </p:txBody>
      </p:sp>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D58A111D-6EB9-53F0-67A6-A94428644662}"/>
                  </a:ext>
                </a:extLst>
              </p:cNvPr>
              <p:cNvSpPr txBox="1"/>
              <p:nvPr/>
            </p:nvSpPr>
            <p:spPr>
              <a:xfrm>
                <a:off x="6527800" y="3357219"/>
                <a:ext cx="6106160" cy="1077218"/>
              </a:xfrm>
              <a:prstGeom prst="rect">
                <a:avLst/>
              </a:prstGeom>
              <a:noFill/>
            </p:spPr>
            <p:txBody>
              <a:bodyPr wrap="square">
                <a:spAutoFit/>
              </a:bodyPr>
              <a:lstStyle/>
              <a:p>
                <a:pPr>
                  <a:buNone/>
                </a:pPr>
                <a:r>
                  <a:rPr lang="ja-JP" altLang="es-MX" sz="1600" b="1" dirty="0"/>
                  <a:t>記号の説明</a:t>
                </a:r>
              </a:p>
              <a:p>
                <a:pPr>
                  <a:buNone/>
                </a:pPr>
                <a:r>
                  <a:rPr lang="es-MX" altLang="ja-JP" sz="1600" dirty="0"/>
                  <a:t>• </a:t>
                </a:r>
                <a14:m>
                  <m:oMath xmlns:m="http://schemas.openxmlformats.org/officeDocument/2006/math">
                    <m:r>
                      <a:rPr lang="ja-JP" altLang="es-MX" sz="1600" i="1">
                        <a:latin typeface="Cambria Math" panose="02040503050406030204" pitchFamily="18" charset="0"/>
                      </a:rPr>
                      <m:t>𝑠</m:t>
                    </m:r>
                  </m:oMath>
                </a14:m>
                <a:r>
                  <a:rPr lang="es-MX" altLang="ja-JP" sz="1600" dirty="0"/>
                  <a:t>= </a:t>
                </a:r>
                <a:r>
                  <a:rPr lang="ja-JP" altLang="es-MX" sz="1600" dirty="0"/>
                  <a:t>入力テキストの埋め込み</a:t>
                </a:r>
                <a:br>
                  <a:rPr lang="ja-JP" altLang="es-MX" sz="1600" dirty="0"/>
                </a:br>
                <a:r>
                  <a:rPr lang="es-MX" altLang="ja-JP" sz="1600" dirty="0"/>
                  <a:t>• </a:t>
                </a:r>
                <a14:m>
                  <m:oMath xmlns:m="http://schemas.openxmlformats.org/officeDocument/2006/math">
                    <m:r>
                      <a:rPr lang="ja-JP" altLang="es-MX" sz="1600" i="1">
                        <a:latin typeface="Cambria Math" panose="02040503050406030204" pitchFamily="18" charset="0"/>
                      </a:rPr>
                      <m:t>𝑔</m:t>
                    </m:r>
                  </m:oMath>
                </a14:m>
                <a:r>
                  <a:rPr lang="es-MX" altLang="ja-JP" sz="1600" dirty="0"/>
                  <a:t>= </a:t>
                </a:r>
                <a:r>
                  <a:rPr lang="ja-JP" altLang="es-MX" sz="1600" dirty="0"/>
                  <a:t>プーリングされたグラフ表現</a:t>
                </a:r>
                <a:br>
                  <a:rPr lang="ja-JP" altLang="es-MX" sz="1600" dirty="0"/>
                </a:br>
                <a:r>
                  <a:rPr lang="es-MX" altLang="ja-JP" sz="1600" dirty="0"/>
                  <a:t>• </a:t>
                </a:r>
                <a:r>
                  <a:rPr lang="es-MX" altLang="ja-JP" sz="1600" b="1" dirty="0"/>
                  <a:t>MLP</a:t>
                </a:r>
                <a:r>
                  <a:rPr lang="ja-JP" altLang="es-MX" sz="1600" dirty="0"/>
                  <a:t> </a:t>
                </a:r>
                <a:r>
                  <a:rPr lang="es-MX" altLang="ja-JP" sz="1600" dirty="0"/>
                  <a:t>= Multi-</a:t>
                </a:r>
                <a:r>
                  <a:rPr lang="es-MX" altLang="ja-JP" sz="1600" dirty="0" err="1"/>
                  <a:t>Layer</a:t>
                </a:r>
                <a:r>
                  <a:rPr lang="es-MX" altLang="ja-JP" sz="1600" dirty="0"/>
                  <a:t> </a:t>
                </a:r>
                <a:r>
                  <a:rPr lang="es-MX" altLang="ja-JP" sz="1600" dirty="0" err="1"/>
                  <a:t>Perceptron</a:t>
                </a:r>
                <a:r>
                  <a:rPr lang="ja-JP" altLang="es-MX" sz="1600" dirty="0"/>
                  <a:t>（分類器）</a:t>
                </a:r>
              </a:p>
            </p:txBody>
          </p:sp>
        </mc:Choice>
        <mc:Fallback>
          <p:sp>
            <p:nvSpPr>
              <p:cNvPr id="20" name="TextBox 19">
                <a:extLst>
                  <a:ext uri="{FF2B5EF4-FFF2-40B4-BE49-F238E27FC236}">
                    <a16:creationId xmlns:a16="http://schemas.microsoft.com/office/drawing/2014/main" id="{D58A111D-6EB9-53F0-67A6-A94428644662}"/>
                  </a:ext>
                </a:extLst>
              </p:cNvPr>
              <p:cNvSpPr txBox="1">
                <a:spLocks noRot="1" noChangeAspect="1" noMove="1" noResize="1" noEditPoints="1" noAdjustHandles="1" noChangeArrowheads="1" noChangeShapeType="1" noTextEdit="1"/>
              </p:cNvSpPr>
              <p:nvPr/>
            </p:nvSpPr>
            <p:spPr>
              <a:xfrm>
                <a:off x="6527800" y="3357219"/>
                <a:ext cx="6106160" cy="1077218"/>
              </a:xfrm>
              <a:prstGeom prst="rect">
                <a:avLst/>
              </a:prstGeom>
              <a:blipFill>
                <a:blip r:embed="rId6"/>
                <a:stretch>
                  <a:fillRect l="-599" t="-2273" b="-6818"/>
                </a:stretch>
              </a:blipFill>
            </p:spPr>
            <p:txBody>
              <a:bodyPr/>
              <a:lstStyle/>
              <a:p>
                <a:r>
                  <a:rPr lang="es-MX">
                    <a:noFill/>
                  </a:rPr>
                  <a:t> </a:t>
                </a:r>
              </a:p>
            </p:txBody>
          </p:sp>
        </mc:Fallback>
      </mc:AlternateContent>
      <p:sp>
        <p:nvSpPr>
          <p:cNvPr id="22" name="TextBox 21">
            <a:extLst>
              <a:ext uri="{FF2B5EF4-FFF2-40B4-BE49-F238E27FC236}">
                <a16:creationId xmlns:a16="http://schemas.microsoft.com/office/drawing/2014/main" id="{22411A5A-2234-4ED3-EE95-A29BBB77D696}"/>
              </a:ext>
            </a:extLst>
          </p:cNvPr>
          <p:cNvSpPr txBox="1"/>
          <p:nvPr/>
        </p:nvSpPr>
        <p:spPr>
          <a:xfrm>
            <a:off x="6527800" y="1289545"/>
            <a:ext cx="6776720" cy="369332"/>
          </a:xfrm>
          <a:prstGeom prst="rect">
            <a:avLst/>
          </a:prstGeom>
          <a:noFill/>
        </p:spPr>
        <p:txBody>
          <a:bodyPr wrap="square">
            <a:spAutoFit/>
          </a:bodyPr>
          <a:lstStyle/>
          <a:p>
            <a:r>
              <a:rPr lang="en-US" b="1" dirty="0">
                <a:solidFill>
                  <a:srgbClr val="1B2A4A"/>
                </a:solidFill>
                <a:latin typeface="Trebuchet MS" panose="020B0603020202020204" pitchFamily="34" charset="0"/>
              </a:rPr>
              <a:t>Phase 4 — Prediction</a:t>
            </a:r>
          </a:p>
        </p:txBody>
      </p:sp>
      <p:cxnSp>
        <p:nvCxnSpPr>
          <p:cNvPr id="23" name="Straight Connector 22">
            <a:extLst>
              <a:ext uri="{FF2B5EF4-FFF2-40B4-BE49-F238E27FC236}">
                <a16:creationId xmlns:a16="http://schemas.microsoft.com/office/drawing/2014/main" id="{638060D3-26C1-F7EA-B904-55F062A8201A}"/>
              </a:ext>
            </a:extLst>
          </p:cNvPr>
          <p:cNvCxnSpPr>
            <a:cxnSpLocks/>
          </p:cNvCxnSpPr>
          <p:nvPr/>
        </p:nvCxnSpPr>
        <p:spPr>
          <a:xfrm>
            <a:off x="5994400" y="1280160"/>
            <a:ext cx="0" cy="5269897"/>
          </a:xfrm>
          <a:prstGeom prst="line">
            <a:avLst/>
          </a:prstGeom>
        </p:spPr>
        <p:style>
          <a:lnRef idx="3">
            <a:schemeClr val="accent1"/>
          </a:lnRef>
          <a:fillRef idx="0">
            <a:schemeClr val="accent1"/>
          </a:fillRef>
          <a:effectRef idx="2">
            <a:schemeClr val="accent1"/>
          </a:effectRef>
          <a:fontRef idx="minor">
            <a:schemeClr val="tx1"/>
          </a:fontRef>
        </p:style>
      </p:cxnSp>
      <p:sp>
        <p:nvSpPr>
          <p:cNvPr id="26" name="TextBox 25">
            <a:extLst>
              <a:ext uri="{FF2B5EF4-FFF2-40B4-BE49-F238E27FC236}">
                <a16:creationId xmlns:a16="http://schemas.microsoft.com/office/drawing/2014/main" id="{D2C71407-80D1-4833-CD1E-B1EA51DAD39B}"/>
              </a:ext>
            </a:extLst>
          </p:cNvPr>
          <p:cNvSpPr txBox="1"/>
          <p:nvPr/>
        </p:nvSpPr>
        <p:spPr>
          <a:xfrm>
            <a:off x="6431284" y="4701346"/>
            <a:ext cx="5687059" cy="1969770"/>
          </a:xfrm>
          <a:prstGeom prst="rect">
            <a:avLst/>
          </a:prstGeom>
          <a:noFill/>
        </p:spPr>
        <p:txBody>
          <a:bodyPr wrap="square">
            <a:spAutoFit/>
          </a:bodyPr>
          <a:lstStyle/>
          <a:p>
            <a:pPr>
              <a:buNone/>
            </a:pPr>
            <a:r>
              <a:rPr lang="ja-JP" altLang="es-MX" dirty="0"/>
              <a:t>モデルは次の </a:t>
            </a:r>
            <a:r>
              <a:rPr lang="es-MX" altLang="ja-JP" b="1" dirty="0"/>
              <a:t>2</a:t>
            </a:r>
            <a:r>
              <a:rPr lang="ja-JP" altLang="es-MX" b="1" dirty="0"/>
              <a:t>つの情報源</a:t>
            </a:r>
            <a:r>
              <a:rPr lang="ja-JP" altLang="es-MX" dirty="0"/>
              <a:t> を組み合わせて推論する：</a:t>
            </a:r>
          </a:p>
          <a:p>
            <a:pPr rtl="0">
              <a:buNone/>
            </a:pPr>
            <a:endParaRPr lang="es-MX" altLang="ja-JP" sz="1600" dirty="0">
              <a:latin typeface="Courier New" panose="02070309020205020404" pitchFamily="49" charset="0"/>
            </a:endParaRPr>
          </a:p>
          <a:p>
            <a:pPr algn="ctr" rtl="0">
              <a:buNone/>
            </a:pPr>
            <a:r>
              <a:rPr lang="ja-JP" altLang="es-MX" sz="1600" dirty="0">
                <a:latin typeface="Courier New" panose="02070309020205020404" pitchFamily="49" charset="0"/>
              </a:rPr>
              <a:t>テキスト理解 </a:t>
            </a:r>
            <a:r>
              <a:rPr lang="es-MX" altLang="ja-JP" sz="1600" dirty="0">
                <a:latin typeface="Courier New" panose="02070309020205020404" pitchFamily="49" charset="0"/>
              </a:rPr>
              <a:t>(s) + </a:t>
            </a:r>
            <a:r>
              <a:rPr lang="es-MX" altLang="ja-JP" sz="1600" dirty="0" err="1">
                <a:latin typeface="Courier New" panose="02070309020205020404" pitchFamily="49" charset="0"/>
              </a:rPr>
              <a:t>Knowledge</a:t>
            </a:r>
            <a:r>
              <a:rPr lang="es-MX" altLang="ja-JP" sz="1600" dirty="0">
                <a:latin typeface="Courier New" panose="02070309020205020404" pitchFamily="49" charset="0"/>
              </a:rPr>
              <a:t> </a:t>
            </a:r>
            <a:r>
              <a:rPr lang="es-MX" altLang="ja-JP" sz="1600" dirty="0" err="1">
                <a:latin typeface="Courier New" panose="02070309020205020404" pitchFamily="49" charset="0"/>
              </a:rPr>
              <a:t>Graph</a:t>
            </a:r>
            <a:r>
              <a:rPr lang="es-MX" altLang="ja-JP" sz="1600" dirty="0">
                <a:latin typeface="Courier New" panose="02070309020205020404" pitchFamily="49" charset="0"/>
              </a:rPr>
              <a:t> </a:t>
            </a:r>
            <a:r>
              <a:rPr lang="ja-JP" altLang="es-MX" sz="1600" dirty="0">
                <a:latin typeface="Courier New" panose="02070309020205020404" pitchFamily="49" charset="0"/>
              </a:rPr>
              <a:t>推論 </a:t>
            </a:r>
            <a:r>
              <a:rPr lang="es-MX" altLang="ja-JP" sz="1600" dirty="0">
                <a:latin typeface="Courier New" panose="02070309020205020404" pitchFamily="49" charset="0"/>
              </a:rPr>
              <a:t>(g)</a:t>
            </a:r>
          </a:p>
          <a:p>
            <a:pPr>
              <a:buNone/>
            </a:pPr>
            <a:endParaRPr lang="es-MX" altLang="ja-JP" dirty="0"/>
          </a:p>
          <a:p>
            <a:pPr>
              <a:buNone/>
            </a:pPr>
            <a:r>
              <a:rPr lang="ja-JP" altLang="es-MX" dirty="0"/>
              <a:t>これにより、</a:t>
            </a:r>
            <a:br>
              <a:rPr lang="ja-JP" altLang="es-MX" dirty="0"/>
            </a:br>
            <a:r>
              <a:rPr lang="ja-JP" altLang="es-MX" b="1" dirty="0"/>
              <a:t>知識グラフに基づいたナラティブ推論</a:t>
            </a:r>
            <a:r>
              <a:rPr lang="ja-JP" altLang="es-MX" dirty="0"/>
              <a:t> が可能になる。</a:t>
            </a:r>
          </a:p>
        </p:txBody>
      </p:sp>
    </p:spTree>
    <p:extLst>
      <p:ext uri="{BB962C8B-B14F-4D97-AF65-F5344CB8AC3E}">
        <p14:creationId xmlns:p14="http://schemas.microsoft.com/office/powerpoint/2010/main" val="470877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6D7FC-67FA-B26F-A18B-CD155FE70E4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308F0B9-3575-B927-4FF8-6FF9B6E1F740}"/>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CB72F1A1-E607-95E8-F64F-B911BB405462}"/>
              </a:ext>
            </a:extLst>
          </p:cNvPr>
          <p:cNvSpPr>
            <a:spLocks noGrp="1"/>
          </p:cNvSpPr>
          <p:nvPr>
            <p:ph type="title"/>
          </p:nvPr>
        </p:nvSpPr>
        <p:spPr>
          <a:xfrm>
            <a:off x="423334" y="0"/>
            <a:ext cx="10515600" cy="1015662"/>
          </a:xfrm>
        </p:spPr>
        <p:txBody>
          <a:bodyPr>
            <a:normAutofit/>
          </a:bodyPr>
          <a:lstStyle/>
          <a:p>
            <a:r>
              <a:rPr lang="en-US" altLang="ja-JP" sz="3200" b="1" dirty="0">
                <a:solidFill>
                  <a:schemeClr val="bg1"/>
                </a:solidFill>
              </a:rPr>
              <a:t>Case Study</a:t>
            </a:r>
          </a:p>
        </p:txBody>
      </p:sp>
      <p:pic>
        <p:nvPicPr>
          <p:cNvPr id="4" name="Picture 3">
            <a:extLst>
              <a:ext uri="{FF2B5EF4-FFF2-40B4-BE49-F238E27FC236}">
                <a16:creationId xmlns:a16="http://schemas.microsoft.com/office/drawing/2014/main" id="{C80834F4-722A-A09F-6723-CCD7C715F8E1}"/>
              </a:ext>
            </a:extLst>
          </p:cNvPr>
          <p:cNvPicPr>
            <a:picLocks noChangeAspect="1"/>
          </p:cNvPicPr>
          <p:nvPr/>
        </p:nvPicPr>
        <p:blipFill>
          <a:blip r:embed="rId3"/>
          <a:stretch>
            <a:fillRect/>
          </a:stretch>
        </p:blipFill>
        <p:spPr>
          <a:xfrm>
            <a:off x="4951058" y="1168400"/>
            <a:ext cx="6780604" cy="5557520"/>
          </a:xfrm>
          <a:prstGeom prst="rect">
            <a:avLst/>
          </a:prstGeom>
        </p:spPr>
      </p:pic>
      <p:pic>
        <p:nvPicPr>
          <p:cNvPr id="8" name="Picture 7">
            <a:extLst>
              <a:ext uri="{FF2B5EF4-FFF2-40B4-BE49-F238E27FC236}">
                <a16:creationId xmlns:a16="http://schemas.microsoft.com/office/drawing/2014/main" id="{40857E90-0A55-2F40-F036-8A7AC3D16166}"/>
              </a:ext>
            </a:extLst>
          </p:cNvPr>
          <p:cNvPicPr>
            <a:picLocks noChangeAspect="1"/>
          </p:cNvPicPr>
          <p:nvPr/>
        </p:nvPicPr>
        <p:blipFill>
          <a:blip r:embed="rId3"/>
          <a:srcRect l="83864" b="89945"/>
          <a:stretch>
            <a:fillRect/>
          </a:stretch>
        </p:blipFill>
        <p:spPr>
          <a:xfrm>
            <a:off x="8595360" y="1168400"/>
            <a:ext cx="2743200" cy="558800"/>
          </a:xfrm>
          <a:prstGeom prst="rect">
            <a:avLst/>
          </a:prstGeom>
        </p:spPr>
      </p:pic>
      <p:sp>
        <p:nvSpPr>
          <p:cNvPr id="11" name="TextBox 10">
            <a:extLst>
              <a:ext uri="{FF2B5EF4-FFF2-40B4-BE49-F238E27FC236}">
                <a16:creationId xmlns:a16="http://schemas.microsoft.com/office/drawing/2014/main" id="{BCC511C2-AD8A-D2C3-3156-DC5A4C0576D9}"/>
              </a:ext>
            </a:extLst>
          </p:cNvPr>
          <p:cNvSpPr txBox="1"/>
          <p:nvPr/>
        </p:nvSpPr>
        <p:spPr>
          <a:xfrm>
            <a:off x="309880" y="1168400"/>
            <a:ext cx="4384040" cy="2246769"/>
          </a:xfrm>
          <a:prstGeom prst="rect">
            <a:avLst/>
          </a:prstGeom>
          <a:noFill/>
        </p:spPr>
        <p:txBody>
          <a:bodyPr wrap="square">
            <a:spAutoFit/>
          </a:bodyPr>
          <a:lstStyle/>
          <a:p>
            <a:r>
              <a:rPr lang="es-MX" sz="1400" dirty="0" err="1"/>
              <a:t>Context</a:t>
            </a:r>
            <a:r>
              <a:rPr lang="es-MX" sz="1400" dirty="0"/>
              <a:t>:</a:t>
            </a:r>
          </a:p>
          <a:p>
            <a:r>
              <a:rPr lang="es-MX" sz="1400" dirty="0"/>
              <a:t>s1: Caroline </a:t>
            </a:r>
            <a:r>
              <a:rPr lang="es-MX" sz="1400" dirty="0" err="1"/>
              <a:t>was</a:t>
            </a:r>
            <a:r>
              <a:rPr lang="es-MX" sz="1400" dirty="0"/>
              <a:t> a </a:t>
            </a:r>
            <a:r>
              <a:rPr lang="es-MX" sz="1400" dirty="0" err="1"/>
              <a:t>student</a:t>
            </a:r>
            <a:r>
              <a:rPr lang="es-MX" sz="1400" dirty="0"/>
              <a:t> in medical </a:t>
            </a:r>
            <a:r>
              <a:rPr lang="es-MX" sz="1400" dirty="0" err="1"/>
              <a:t>school</a:t>
            </a:r>
            <a:r>
              <a:rPr lang="es-MX" sz="1400" dirty="0"/>
              <a:t>.</a:t>
            </a:r>
          </a:p>
          <a:p>
            <a:r>
              <a:rPr lang="es-MX" sz="1400" dirty="0"/>
              <a:t>s2: Caroline </a:t>
            </a:r>
            <a:r>
              <a:rPr lang="es-MX" sz="1400" dirty="0" err="1"/>
              <a:t>worked</a:t>
            </a:r>
            <a:r>
              <a:rPr lang="es-MX" sz="1400" dirty="0"/>
              <a:t> </a:t>
            </a:r>
            <a:r>
              <a:rPr lang="es-MX" sz="1400" dirty="0" err="1"/>
              <a:t>very</a:t>
            </a:r>
            <a:r>
              <a:rPr lang="es-MX" sz="1400" dirty="0"/>
              <a:t> </a:t>
            </a:r>
            <a:r>
              <a:rPr lang="es-MX" sz="1400" dirty="0" err="1"/>
              <a:t>hard</a:t>
            </a:r>
            <a:r>
              <a:rPr lang="es-MX" sz="1400" dirty="0"/>
              <a:t> </a:t>
            </a:r>
            <a:r>
              <a:rPr lang="es-MX" sz="1400" dirty="0" err="1"/>
              <a:t>to</a:t>
            </a:r>
            <a:r>
              <a:rPr lang="es-MX" sz="1400" dirty="0"/>
              <a:t> </a:t>
            </a:r>
            <a:r>
              <a:rPr lang="es-MX" sz="1400" dirty="0" err="1"/>
              <a:t>get</a:t>
            </a:r>
            <a:r>
              <a:rPr lang="es-MX" sz="1400" dirty="0"/>
              <a:t> </a:t>
            </a:r>
            <a:r>
              <a:rPr lang="es-MX" sz="1400" dirty="0" err="1"/>
              <a:t>good</a:t>
            </a:r>
            <a:r>
              <a:rPr lang="es-MX" sz="1400" dirty="0"/>
              <a:t> grades.</a:t>
            </a:r>
          </a:p>
          <a:p>
            <a:r>
              <a:rPr lang="es-MX" sz="1400" dirty="0"/>
              <a:t>s3: </a:t>
            </a:r>
            <a:r>
              <a:rPr lang="es-MX" sz="1400" dirty="0" err="1"/>
              <a:t>One</a:t>
            </a:r>
            <a:r>
              <a:rPr lang="es-MX" sz="1400" dirty="0"/>
              <a:t> </a:t>
            </a:r>
            <a:r>
              <a:rPr lang="es-MX" sz="1400" dirty="0" err="1"/>
              <a:t>day</a:t>
            </a:r>
            <a:r>
              <a:rPr lang="es-MX" sz="1400" dirty="0"/>
              <a:t> Caroline </a:t>
            </a:r>
            <a:r>
              <a:rPr lang="es-MX" sz="1400" dirty="0" err="1"/>
              <a:t>failed</a:t>
            </a:r>
            <a:r>
              <a:rPr lang="es-MX" sz="1400" dirty="0"/>
              <a:t> a test </a:t>
            </a:r>
            <a:r>
              <a:rPr lang="es-MX" sz="1400" dirty="0" err="1"/>
              <a:t>by</a:t>
            </a:r>
            <a:r>
              <a:rPr lang="es-MX" sz="1400" dirty="0"/>
              <a:t> </a:t>
            </a:r>
            <a:r>
              <a:rPr lang="es-MX" sz="1400" dirty="0" err="1"/>
              <a:t>one</a:t>
            </a:r>
            <a:r>
              <a:rPr lang="es-MX" sz="1400" dirty="0"/>
              <a:t> </a:t>
            </a:r>
            <a:r>
              <a:rPr lang="es-MX" sz="1400" dirty="0" err="1"/>
              <a:t>point</a:t>
            </a:r>
            <a:r>
              <a:rPr lang="es-MX" sz="1400" dirty="0"/>
              <a:t>.</a:t>
            </a:r>
          </a:p>
          <a:p>
            <a:r>
              <a:rPr lang="es-MX" sz="1400" dirty="0"/>
              <a:t>s4: Caroline </a:t>
            </a:r>
            <a:r>
              <a:rPr lang="es-MX" sz="1400" dirty="0" err="1"/>
              <a:t>was</a:t>
            </a:r>
            <a:r>
              <a:rPr lang="es-MX" sz="1400" dirty="0"/>
              <a:t> </a:t>
            </a:r>
            <a:r>
              <a:rPr lang="es-MX" sz="1400" dirty="0" err="1"/>
              <a:t>very</a:t>
            </a:r>
            <a:r>
              <a:rPr lang="es-MX" sz="1400" dirty="0"/>
              <a:t> </a:t>
            </a:r>
            <a:r>
              <a:rPr lang="es-MX" sz="1400" dirty="0" err="1"/>
              <a:t>frustrated</a:t>
            </a:r>
            <a:r>
              <a:rPr lang="es-MX" sz="1400" dirty="0"/>
              <a:t> </a:t>
            </a:r>
            <a:r>
              <a:rPr lang="es-MX" sz="1400" dirty="0" err="1"/>
              <a:t>but</a:t>
            </a:r>
            <a:r>
              <a:rPr lang="es-MX" sz="1400" dirty="0"/>
              <a:t> </a:t>
            </a:r>
            <a:r>
              <a:rPr lang="es-MX" sz="1400" dirty="0" err="1"/>
              <a:t>she</a:t>
            </a:r>
            <a:r>
              <a:rPr lang="es-MX" sz="1400" dirty="0"/>
              <a:t> </a:t>
            </a:r>
            <a:r>
              <a:rPr lang="es-MX" sz="1400" dirty="0" err="1"/>
              <a:t>continued</a:t>
            </a:r>
            <a:r>
              <a:rPr lang="es-MX" sz="1400" dirty="0"/>
              <a:t> </a:t>
            </a:r>
            <a:r>
              <a:rPr lang="es-MX" sz="1400" dirty="0" err="1"/>
              <a:t>to</a:t>
            </a:r>
            <a:r>
              <a:rPr lang="es-MX" sz="1400" dirty="0"/>
              <a:t> </a:t>
            </a:r>
            <a:r>
              <a:rPr lang="es-MX" sz="1400" dirty="0" err="1"/>
              <a:t>study</a:t>
            </a:r>
            <a:r>
              <a:rPr lang="es-MX" sz="1400" dirty="0"/>
              <a:t> </a:t>
            </a:r>
            <a:r>
              <a:rPr lang="es-MX" sz="1400" dirty="0" err="1"/>
              <a:t>hard</a:t>
            </a:r>
            <a:r>
              <a:rPr lang="es-MX" sz="1400" dirty="0"/>
              <a:t>.</a:t>
            </a:r>
          </a:p>
          <a:p>
            <a:endParaRPr lang="es-MX" sz="1400" dirty="0"/>
          </a:p>
          <a:p>
            <a:r>
              <a:rPr lang="es-MX" sz="1400" dirty="0"/>
              <a:t>Candidate </a:t>
            </a:r>
            <a:r>
              <a:rPr lang="es-MX" sz="1400" dirty="0" err="1"/>
              <a:t>endings</a:t>
            </a:r>
            <a:r>
              <a:rPr lang="es-MX" sz="1400" dirty="0"/>
              <a:t>:</a:t>
            </a:r>
          </a:p>
          <a:p>
            <a:r>
              <a:rPr lang="es-MX" sz="1400" dirty="0"/>
              <a:t>0. </a:t>
            </a:r>
            <a:r>
              <a:rPr lang="es-MX" sz="1400" dirty="0" err="1"/>
              <a:t>But</a:t>
            </a:r>
            <a:r>
              <a:rPr lang="es-MX" sz="1400" dirty="0"/>
              <a:t> </a:t>
            </a:r>
            <a:r>
              <a:rPr lang="es-MX" sz="1400" dirty="0" err="1"/>
              <a:t>she</a:t>
            </a:r>
            <a:r>
              <a:rPr lang="es-MX" sz="1400" dirty="0"/>
              <a:t> </a:t>
            </a:r>
            <a:r>
              <a:rPr lang="es-MX" sz="1400" dirty="0" err="1"/>
              <a:t>gave</a:t>
            </a:r>
            <a:r>
              <a:rPr lang="es-MX" sz="1400" dirty="0"/>
              <a:t> up. 🤔</a:t>
            </a:r>
          </a:p>
          <a:p>
            <a:r>
              <a:rPr lang="es-MX" sz="1400" dirty="0"/>
              <a:t>1. </a:t>
            </a:r>
            <a:r>
              <a:rPr lang="es-MX" sz="1400" dirty="0" err="1"/>
              <a:t>Later</a:t>
            </a:r>
            <a:r>
              <a:rPr lang="es-MX" sz="1400" dirty="0"/>
              <a:t>, </a:t>
            </a:r>
            <a:r>
              <a:rPr lang="es-MX" sz="1400" dirty="0" err="1"/>
              <a:t>she</a:t>
            </a:r>
            <a:r>
              <a:rPr lang="es-MX" sz="1400" dirty="0"/>
              <a:t> </a:t>
            </a:r>
            <a:r>
              <a:rPr lang="es-MX" sz="1400" dirty="0" err="1"/>
              <a:t>passed</a:t>
            </a:r>
            <a:r>
              <a:rPr lang="es-MX" sz="1400" dirty="0"/>
              <a:t> </a:t>
            </a:r>
            <a:r>
              <a:rPr lang="es-MX" sz="1400" dirty="0" err="1"/>
              <a:t>the</a:t>
            </a:r>
            <a:r>
              <a:rPr lang="es-MX" sz="1400" dirty="0"/>
              <a:t> test. ✅</a:t>
            </a:r>
          </a:p>
        </p:txBody>
      </p:sp>
      <p:pic>
        <p:nvPicPr>
          <p:cNvPr id="14" name="Picture 13">
            <a:extLst>
              <a:ext uri="{FF2B5EF4-FFF2-40B4-BE49-F238E27FC236}">
                <a16:creationId xmlns:a16="http://schemas.microsoft.com/office/drawing/2014/main" id="{85207AC0-C240-5EA5-ABA4-5E667779AB6A}"/>
              </a:ext>
            </a:extLst>
          </p:cNvPr>
          <p:cNvPicPr>
            <a:picLocks noChangeAspect="1"/>
          </p:cNvPicPr>
          <p:nvPr/>
        </p:nvPicPr>
        <p:blipFill>
          <a:blip r:embed="rId4"/>
          <a:stretch>
            <a:fillRect/>
          </a:stretch>
        </p:blipFill>
        <p:spPr>
          <a:xfrm>
            <a:off x="309880" y="3740627"/>
            <a:ext cx="4319754" cy="2246769"/>
          </a:xfrm>
          <a:prstGeom prst="rect">
            <a:avLst/>
          </a:prstGeom>
        </p:spPr>
      </p:pic>
    </p:spTree>
    <p:extLst>
      <p:ext uri="{BB962C8B-B14F-4D97-AF65-F5344CB8AC3E}">
        <p14:creationId xmlns:p14="http://schemas.microsoft.com/office/powerpoint/2010/main" val="3109146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79B99-D1D9-2638-4CA1-63CE6C78328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BBFB062-5917-29F6-687C-43DB27DAEAE9}"/>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C796F821-4AAB-084A-830A-9E33DD9A0C36}"/>
              </a:ext>
            </a:extLst>
          </p:cNvPr>
          <p:cNvSpPr>
            <a:spLocks noGrp="1"/>
          </p:cNvSpPr>
          <p:nvPr>
            <p:ph type="title"/>
          </p:nvPr>
        </p:nvSpPr>
        <p:spPr>
          <a:xfrm>
            <a:off x="423334" y="0"/>
            <a:ext cx="10515600" cy="1015662"/>
          </a:xfrm>
        </p:spPr>
        <p:txBody>
          <a:bodyPr>
            <a:normAutofit/>
          </a:bodyPr>
          <a:lstStyle/>
          <a:p>
            <a:r>
              <a:rPr lang="en-US" altLang="ja-JP" sz="3200" b="1" dirty="0">
                <a:solidFill>
                  <a:schemeClr val="bg1"/>
                </a:solidFill>
              </a:rPr>
              <a:t>Results</a:t>
            </a:r>
          </a:p>
        </p:txBody>
      </p:sp>
      <p:graphicFrame>
        <p:nvGraphicFramePr>
          <p:cNvPr id="2" name="Table 1">
            <a:extLst>
              <a:ext uri="{FF2B5EF4-FFF2-40B4-BE49-F238E27FC236}">
                <a16:creationId xmlns:a16="http://schemas.microsoft.com/office/drawing/2014/main" id="{83EE5CF3-DEA1-4B6C-845E-123331DA59CA}"/>
              </a:ext>
            </a:extLst>
          </p:cNvPr>
          <p:cNvGraphicFramePr>
            <a:graphicFrameLocks noGrp="1"/>
          </p:cNvGraphicFramePr>
          <p:nvPr>
            <p:extLst>
              <p:ext uri="{D42A27DB-BD31-4B8C-83A1-F6EECF244321}">
                <p14:modId xmlns:p14="http://schemas.microsoft.com/office/powerpoint/2010/main" val="3901309608"/>
              </p:ext>
            </p:extLst>
          </p:nvPr>
        </p:nvGraphicFramePr>
        <p:xfrm>
          <a:off x="546100" y="2865458"/>
          <a:ext cx="11099800" cy="3383280"/>
        </p:xfrm>
        <a:graphic>
          <a:graphicData uri="http://schemas.openxmlformats.org/drawingml/2006/table">
            <a:tbl>
              <a:tblPr firstRow="1">
                <a:tableStyleId>{616DA210-FB5B-4158-B5E0-FEB733F419BA}</a:tableStyleId>
              </a:tblPr>
              <a:tblGrid>
                <a:gridCol w="2219960">
                  <a:extLst>
                    <a:ext uri="{9D8B030D-6E8A-4147-A177-3AD203B41FA5}">
                      <a16:colId xmlns:a16="http://schemas.microsoft.com/office/drawing/2014/main" val="2753407298"/>
                    </a:ext>
                  </a:extLst>
                </a:gridCol>
                <a:gridCol w="2219960">
                  <a:extLst>
                    <a:ext uri="{9D8B030D-6E8A-4147-A177-3AD203B41FA5}">
                      <a16:colId xmlns:a16="http://schemas.microsoft.com/office/drawing/2014/main" val="1184580937"/>
                    </a:ext>
                  </a:extLst>
                </a:gridCol>
                <a:gridCol w="2219960">
                  <a:extLst>
                    <a:ext uri="{9D8B030D-6E8A-4147-A177-3AD203B41FA5}">
                      <a16:colId xmlns:a16="http://schemas.microsoft.com/office/drawing/2014/main" val="4152976799"/>
                    </a:ext>
                  </a:extLst>
                </a:gridCol>
                <a:gridCol w="2219960">
                  <a:extLst>
                    <a:ext uri="{9D8B030D-6E8A-4147-A177-3AD203B41FA5}">
                      <a16:colId xmlns:a16="http://schemas.microsoft.com/office/drawing/2014/main" val="2153692223"/>
                    </a:ext>
                  </a:extLst>
                </a:gridCol>
                <a:gridCol w="2219960">
                  <a:extLst>
                    <a:ext uri="{9D8B030D-6E8A-4147-A177-3AD203B41FA5}">
                      <a16:colId xmlns:a16="http://schemas.microsoft.com/office/drawing/2014/main" val="1106960935"/>
                    </a:ext>
                  </a:extLst>
                </a:gridCol>
              </a:tblGrid>
              <a:tr h="0">
                <a:tc>
                  <a:txBody>
                    <a:bodyPr/>
                    <a:lstStyle/>
                    <a:p>
                      <a:pPr algn="ctr">
                        <a:buNone/>
                      </a:pPr>
                      <a:r>
                        <a:rPr lang="es-MX" dirty="0" err="1">
                          <a:solidFill>
                            <a:schemeClr val="bg1"/>
                          </a:solidFill>
                        </a:rPr>
                        <a:t>Model</a:t>
                      </a:r>
                      <a:endParaRPr lang="es-MX" dirty="0">
                        <a:solidFill>
                          <a:schemeClr val="bg1"/>
                        </a:solidFill>
                      </a:endParaRPr>
                    </a:p>
                  </a:txBody>
                  <a:tcPr anchor="ctr">
                    <a:solidFill>
                      <a:schemeClr val="accent2">
                        <a:lumMod val="50000"/>
                      </a:schemeClr>
                    </a:solidFill>
                  </a:tcPr>
                </a:tc>
                <a:tc>
                  <a:txBody>
                    <a:bodyPr/>
                    <a:lstStyle/>
                    <a:p>
                      <a:pPr algn="ctr">
                        <a:buNone/>
                      </a:pPr>
                      <a:r>
                        <a:rPr lang="es-MX" dirty="0" err="1">
                          <a:solidFill>
                            <a:schemeClr val="bg1"/>
                          </a:solidFill>
                        </a:rPr>
                        <a:t>Size</a:t>
                      </a:r>
                      <a:endParaRPr lang="es-MX" dirty="0">
                        <a:solidFill>
                          <a:schemeClr val="bg1"/>
                        </a:solidFill>
                      </a:endParaRPr>
                    </a:p>
                  </a:txBody>
                  <a:tcPr anchor="ctr">
                    <a:solidFill>
                      <a:schemeClr val="accent2">
                        <a:lumMod val="50000"/>
                      </a:schemeClr>
                    </a:solidFill>
                  </a:tcPr>
                </a:tc>
                <a:tc>
                  <a:txBody>
                    <a:bodyPr/>
                    <a:lstStyle/>
                    <a:p>
                      <a:pPr algn="ctr">
                        <a:buNone/>
                      </a:pPr>
                      <a:r>
                        <a:rPr lang="es-MX" dirty="0">
                          <a:solidFill>
                            <a:schemeClr val="bg1"/>
                          </a:solidFill>
                        </a:rPr>
                        <a:t>SCT-v1.0</a:t>
                      </a:r>
                    </a:p>
                  </a:txBody>
                  <a:tcPr anchor="ctr">
                    <a:solidFill>
                      <a:schemeClr val="accent2">
                        <a:lumMod val="50000"/>
                      </a:schemeClr>
                    </a:solidFill>
                  </a:tcPr>
                </a:tc>
                <a:tc>
                  <a:txBody>
                    <a:bodyPr/>
                    <a:lstStyle/>
                    <a:p>
                      <a:pPr algn="ctr">
                        <a:buNone/>
                      </a:pPr>
                      <a:r>
                        <a:rPr lang="es-MX" dirty="0">
                          <a:solidFill>
                            <a:schemeClr val="bg1"/>
                          </a:solidFill>
                        </a:rPr>
                        <a:t>SCT-v1.5</a:t>
                      </a:r>
                    </a:p>
                  </a:txBody>
                  <a:tcPr anchor="ctr">
                    <a:solidFill>
                      <a:schemeClr val="accent2">
                        <a:lumMod val="50000"/>
                      </a:schemeClr>
                    </a:solidFill>
                  </a:tcPr>
                </a:tc>
                <a:tc>
                  <a:txBody>
                    <a:bodyPr/>
                    <a:lstStyle/>
                    <a:p>
                      <a:pPr algn="ctr">
                        <a:buNone/>
                      </a:pPr>
                      <a:r>
                        <a:rPr lang="es-MX" dirty="0">
                          <a:solidFill>
                            <a:schemeClr val="bg1"/>
                          </a:solidFill>
                        </a:rPr>
                        <a:t>MCNC</a:t>
                      </a:r>
                    </a:p>
                  </a:txBody>
                  <a:tcPr anchor="ctr">
                    <a:solidFill>
                      <a:schemeClr val="accent2">
                        <a:lumMod val="50000"/>
                      </a:schemeClr>
                    </a:solidFill>
                  </a:tcPr>
                </a:tc>
                <a:extLst>
                  <a:ext uri="{0D108BD9-81ED-4DB2-BD59-A6C34878D82A}">
                    <a16:rowId xmlns:a16="http://schemas.microsoft.com/office/drawing/2014/main" val="3233013950"/>
                  </a:ext>
                </a:extLst>
              </a:tr>
              <a:tr h="0">
                <a:tc>
                  <a:txBody>
                    <a:bodyPr/>
                    <a:lstStyle/>
                    <a:p>
                      <a:pPr>
                        <a:buNone/>
                      </a:pPr>
                      <a:r>
                        <a:rPr lang="es-MX" dirty="0" err="1"/>
                        <a:t>RoBERTa</a:t>
                      </a:r>
                      <a:r>
                        <a:rPr lang="es-MX" dirty="0"/>
                        <a:t>-base</a:t>
                      </a:r>
                    </a:p>
                  </a:txBody>
                  <a:tcPr anchor="ctr">
                    <a:solidFill>
                      <a:schemeClr val="accent2">
                        <a:lumMod val="20000"/>
                        <a:lumOff val="80000"/>
                      </a:schemeClr>
                    </a:solidFill>
                  </a:tcPr>
                </a:tc>
                <a:tc>
                  <a:txBody>
                    <a:bodyPr/>
                    <a:lstStyle/>
                    <a:p>
                      <a:pPr>
                        <a:buNone/>
                      </a:pPr>
                      <a:r>
                        <a:rPr lang="es-MX" dirty="0"/>
                        <a:t>125M</a:t>
                      </a:r>
                    </a:p>
                  </a:txBody>
                  <a:tcPr anchor="ctr">
                    <a:solidFill>
                      <a:schemeClr val="accent2">
                        <a:lumMod val="20000"/>
                        <a:lumOff val="80000"/>
                      </a:schemeClr>
                    </a:solidFill>
                  </a:tcPr>
                </a:tc>
                <a:tc>
                  <a:txBody>
                    <a:bodyPr/>
                    <a:lstStyle/>
                    <a:p>
                      <a:pPr>
                        <a:buNone/>
                      </a:pPr>
                      <a:r>
                        <a:rPr lang="es-MX" dirty="0"/>
                        <a:t>92.75%</a:t>
                      </a:r>
                    </a:p>
                  </a:txBody>
                  <a:tcPr anchor="ctr">
                    <a:solidFill>
                      <a:schemeClr val="accent2">
                        <a:lumMod val="20000"/>
                        <a:lumOff val="80000"/>
                      </a:schemeClr>
                    </a:solidFill>
                  </a:tcPr>
                </a:tc>
                <a:tc>
                  <a:txBody>
                    <a:bodyPr/>
                    <a:lstStyle/>
                    <a:p>
                      <a:pPr>
                        <a:buNone/>
                      </a:pPr>
                      <a:r>
                        <a:rPr lang="es-MX" dirty="0"/>
                        <a:t>87.14%</a:t>
                      </a:r>
                    </a:p>
                  </a:txBody>
                  <a:tcPr anchor="ctr">
                    <a:solidFill>
                      <a:schemeClr val="accent2">
                        <a:lumMod val="20000"/>
                        <a:lumOff val="80000"/>
                      </a:schemeClr>
                    </a:solidFill>
                  </a:tcPr>
                </a:tc>
                <a:tc>
                  <a:txBody>
                    <a:bodyPr/>
                    <a:lstStyle/>
                    <a:p>
                      <a:pPr>
                        <a:buNone/>
                      </a:pPr>
                      <a:r>
                        <a:rPr lang="es-MX"/>
                        <a:t>61.28%</a:t>
                      </a:r>
                    </a:p>
                  </a:txBody>
                  <a:tcPr anchor="ctr">
                    <a:solidFill>
                      <a:schemeClr val="accent2">
                        <a:lumMod val="20000"/>
                        <a:lumOff val="80000"/>
                      </a:schemeClr>
                    </a:solidFill>
                  </a:tcPr>
                </a:tc>
                <a:extLst>
                  <a:ext uri="{0D108BD9-81ED-4DB2-BD59-A6C34878D82A}">
                    <a16:rowId xmlns:a16="http://schemas.microsoft.com/office/drawing/2014/main" val="3502449382"/>
                  </a:ext>
                </a:extLst>
              </a:tr>
              <a:tr h="0">
                <a:tc>
                  <a:txBody>
                    <a:bodyPr/>
                    <a:lstStyle/>
                    <a:p>
                      <a:pPr>
                        <a:buNone/>
                      </a:pPr>
                      <a:r>
                        <a:rPr lang="es-MX"/>
                        <a:t>EventGround-RoBERTa-base</a:t>
                      </a:r>
                    </a:p>
                  </a:txBody>
                  <a:tcPr anchor="ctr">
                    <a:solidFill>
                      <a:schemeClr val="accent2">
                        <a:lumMod val="20000"/>
                        <a:lumOff val="80000"/>
                      </a:schemeClr>
                    </a:solidFill>
                  </a:tcPr>
                </a:tc>
                <a:tc>
                  <a:txBody>
                    <a:bodyPr/>
                    <a:lstStyle/>
                    <a:p>
                      <a:pPr>
                        <a:buNone/>
                      </a:pPr>
                      <a:r>
                        <a:rPr lang="es-MX" dirty="0"/>
                        <a:t>126M</a:t>
                      </a:r>
                    </a:p>
                  </a:txBody>
                  <a:tcPr anchor="ctr">
                    <a:solidFill>
                      <a:schemeClr val="accent2">
                        <a:lumMod val="20000"/>
                        <a:lumOff val="80000"/>
                      </a:schemeClr>
                    </a:solidFill>
                  </a:tcPr>
                </a:tc>
                <a:tc>
                  <a:txBody>
                    <a:bodyPr/>
                    <a:lstStyle/>
                    <a:p>
                      <a:pPr>
                        <a:buNone/>
                      </a:pPr>
                      <a:r>
                        <a:rPr lang="es-MX" b="1" dirty="0"/>
                        <a:t>93.30% ↑</a:t>
                      </a:r>
                      <a:endParaRPr lang="es-MX" dirty="0"/>
                    </a:p>
                  </a:txBody>
                  <a:tcPr anchor="ctr">
                    <a:solidFill>
                      <a:schemeClr val="accent2">
                        <a:lumMod val="20000"/>
                        <a:lumOff val="80000"/>
                      </a:schemeClr>
                    </a:solidFill>
                  </a:tcPr>
                </a:tc>
                <a:tc>
                  <a:txBody>
                    <a:bodyPr/>
                    <a:lstStyle/>
                    <a:p>
                      <a:pPr>
                        <a:buNone/>
                      </a:pPr>
                      <a:r>
                        <a:rPr lang="es-MX" b="1" dirty="0"/>
                        <a:t>87.65% ↑</a:t>
                      </a:r>
                      <a:endParaRPr lang="es-MX" dirty="0"/>
                    </a:p>
                  </a:txBody>
                  <a:tcPr anchor="ctr">
                    <a:solidFill>
                      <a:schemeClr val="accent2">
                        <a:lumMod val="20000"/>
                        <a:lumOff val="80000"/>
                      </a:schemeClr>
                    </a:solidFill>
                  </a:tcPr>
                </a:tc>
                <a:tc>
                  <a:txBody>
                    <a:bodyPr/>
                    <a:lstStyle/>
                    <a:p>
                      <a:pPr>
                        <a:buNone/>
                      </a:pPr>
                      <a:r>
                        <a:rPr lang="es-MX" b="1" dirty="0"/>
                        <a:t>62.11% ↑</a:t>
                      </a:r>
                      <a:endParaRPr lang="es-MX" dirty="0"/>
                    </a:p>
                  </a:txBody>
                  <a:tcPr anchor="ctr">
                    <a:solidFill>
                      <a:schemeClr val="accent2">
                        <a:lumMod val="20000"/>
                        <a:lumOff val="80000"/>
                      </a:schemeClr>
                    </a:solidFill>
                  </a:tcPr>
                </a:tc>
                <a:extLst>
                  <a:ext uri="{0D108BD9-81ED-4DB2-BD59-A6C34878D82A}">
                    <a16:rowId xmlns:a16="http://schemas.microsoft.com/office/drawing/2014/main" val="3827788689"/>
                  </a:ext>
                </a:extLst>
              </a:tr>
              <a:tr h="0">
                <a:tc>
                  <a:txBody>
                    <a:bodyPr/>
                    <a:lstStyle/>
                    <a:p>
                      <a:pPr>
                        <a:buNone/>
                      </a:pPr>
                      <a:r>
                        <a:rPr lang="es-MX" dirty="0" err="1"/>
                        <a:t>RoBERTa-large</a:t>
                      </a:r>
                      <a:endParaRPr lang="es-MX" dirty="0"/>
                    </a:p>
                  </a:txBody>
                  <a:tcPr anchor="ctr">
                    <a:solidFill>
                      <a:schemeClr val="accent2">
                        <a:lumMod val="60000"/>
                        <a:lumOff val="40000"/>
                      </a:schemeClr>
                    </a:solidFill>
                  </a:tcPr>
                </a:tc>
                <a:tc>
                  <a:txBody>
                    <a:bodyPr/>
                    <a:lstStyle/>
                    <a:p>
                      <a:pPr>
                        <a:buNone/>
                      </a:pPr>
                      <a:r>
                        <a:rPr lang="es-MX"/>
                        <a:t>355M</a:t>
                      </a:r>
                    </a:p>
                  </a:txBody>
                  <a:tcPr anchor="ctr">
                    <a:solidFill>
                      <a:schemeClr val="accent2">
                        <a:lumMod val="60000"/>
                        <a:lumOff val="40000"/>
                      </a:schemeClr>
                    </a:solidFill>
                  </a:tcPr>
                </a:tc>
                <a:tc>
                  <a:txBody>
                    <a:bodyPr/>
                    <a:lstStyle/>
                    <a:p>
                      <a:pPr>
                        <a:buNone/>
                      </a:pPr>
                      <a:r>
                        <a:rPr lang="es-MX"/>
                        <a:t>96.74%</a:t>
                      </a:r>
                    </a:p>
                  </a:txBody>
                  <a:tcPr anchor="ctr">
                    <a:solidFill>
                      <a:schemeClr val="accent2">
                        <a:lumMod val="60000"/>
                        <a:lumOff val="40000"/>
                      </a:schemeClr>
                    </a:solidFill>
                  </a:tcPr>
                </a:tc>
                <a:tc>
                  <a:txBody>
                    <a:bodyPr/>
                    <a:lstStyle/>
                    <a:p>
                      <a:pPr>
                        <a:buNone/>
                      </a:pPr>
                      <a:r>
                        <a:rPr lang="es-MX" dirty="0"/>
                        <a:t>92.34%</a:t>
                      </a:r>
                    </a:p>
                  </a:txBody>
                  <a:tcPr anchor="ctr">
                    <a:solidFill>
                      <a:schemeClr val="accent2">
                        <a:lumMod val="60000"/>
                        <a:lumOff val="40000"/>
                      </a:schemeClr>
                    </a:solidFill>
                  </a:tcPr>
                </a:tc>
                <a:tc>
                  <a:txBody>
                    <a:bodyPr/>
                    <a:lstStyle/>
                    <a:p>
                      <a:pPr>
                        <a:buNone/>
                      </a:pPr>
                      <a:r>
                        <a:rPr lang="es-MX" dirty="0"/>
                        <a:t>63.01%</a:t>
                      </a:r>
                    </a:p>
                  </a:txBody>
                  <a:tcPr anchor="ctr">
                    <a:solidFill>
                      <a:schemeClr val="accent2">
                        <a:lumMod val="60000"/>
                        <a:lumOff val="40000"/>
                      </a:schemeClr>
                    </a:solidFill>
                  </a:tcPr>
                </a:tc>
                <a:extLst>
                  <a:ext uri="{0D108BD9-81ED-4DB2-BD59-A6C34878D82A}">
                    <a16:rowId xmlns:a16="http://schemas.microsoft.com/office/drawing/2014/main" val="1142777887"/>
                  </a:ext>
                </a:extLst>
              </a:tr>
              <a:tr h="0">
                <a:tc>
                  <a:txBody>
                    <a:bodyPr/>
                    <a:lstStyle/>
                    <a:p>
                      <a:pPr>
                        <a:buNone/>
                      </a:pPr>
                      <a:r>
                        <a:rPr lang="es-MX" dirty="0" err="1"/>
                        <a:t>EventGround-RoBERTa-large</a:t>
                      </a:r>
                      <a:endParaRPr lang="es-MX" dirty="0"/>
                    </a:p>
                  </a:txBody>
                  <a:tcPr anchor="ctr">
                    <a:solidFill>
                      <a:schemeClr val="accent2">
                        <a:lumMod val="60000"/>
                        <a:lumOff val="40000"/>
                      </a:schemeClr>
                    </a:solidFill>
                  </a:tcPr>
                </a:tc>
                <a:tc>
                  <a:txBody>
                    <a:bodyPr/>
                    <a:lstStyle/>
                    <a:p>
                      <a:pPr>
                        <a:buNone/>
                      </a:pPr>
                      <a:r>
                        <a:rPr lang="es-MX" dirty="0"/>
                        <a:t>358M</a:t>
                      </a:r>
                    </a:p>
                  </a:txBody>
                  <a:tcPr anchor="ctr">
                    <a:solidFill>
                      <a:schemeClr val="accent2">
                        <a:lumMod val="60000"/>
                        <a:lumOff val="40000"/>
                      </a:schemeClr>
                    </a:solidFill>
                  </a:tcPr>
                </a:tc>
                <a:tc>
                  <a:txBody>
                    <a:bodyPr/>
                    <a:lstStyle/>
                    <a:p>
                      <a:pPr>
                        <a:buNone/>
                      </a:pPr>
                      <a:r>
                        <a:rPr lang="es-MX" b="1" dirty="0"/>
                        <a:t>97.10% ↑</a:t>
                      </a:r>
                      <a:endParaRPr lang="es-MX" dirty="0"/>
                    </a:p>
                  </a:txBody>
                  <a:tcPr anchor="ctr">
                    <a:solidFill>
                      <a:schemeClr val="accent2">
                        <a:lumMod val="60000"/>
                        <a:lumOff val="40000"/>
                      </a:schemeClr>
                    </a:solidFill>
                  </a:tcPr>
                </a:tc>
                <a:tc>
                  <a:txBody>
                    <a:bodyPr/>
                    <a:lstStyle/>
                    <a:p>
                      <a:pPr>
                        <a:buNone/>
                      </a:pPr>
                      <a:r>
                        <a:rPr lang="es-MX" b="1" dirty="0"/>
                        <a:t>92.86% ↑</a:t>
                      </a:r>
                      <a:endParaRPr lang="es-MX" dirty="0"/>
                    </a:p>
                  </a:txBody>
                  <a:tcPr anchor="ctr">
                    <a:solidFill>
                      <a:schemeClr val="accent2">
                        <a:lumMod val="60000"/>
                        <a:lumOff val="40000"/>
                      </a:schemeClr>
                    </a:solidFill>
                  </a:tcPr>
                </a:tc>
                <a:tc>
                  <a:txBody>
                    <a:bodyPr/>
                    <a:lstStyle/>
                    <a:p>
                      <a:pPr>
                        <a:buNone/>
                      </a:pPr>
                      <a:r>
                        <a:rPr lang="es-MX" b="1" dirty="0"/>
                        <a:t>63.96% ↑</a:t>
                      </a:r>
                      <a:endParaRPr lang="es-MX" dirty="0"/>
                    </a:p>
                  </a:txBody>
                  <a:tcPr anchor="ctr">
                    <a:solidFill>
                      <a:schemeClr val="accent2">
                        <a:lumMod val="60000"/>
                        <a:lumOff val="40000"/>
                      </a:schemeClr>
                    </a:solidFill>
                  </a:tcPr>
                </a:tc>
                <a:extLst>
                  <a:ext uri="{0D108BD9-81ED-4DB2-BD59-A6C34878D82A}">
                    <a16:rowId xmlns:a16="http://schemas.microsoft.com/office/drawing/2014/main" val="1856488690"/>
                  </a:ext>
                </a:extLst>
              </a:tr>
              <a:tr h="0">
                <a:tc>
                  <a:txBody>
                    <a:bodyPr/>
                    <a:lstStyle/>
                    <a:p>
                      <a:pPr>
                        <a:buNone/>
                      </a:pPr>
                      <a:r>
                        <a:rPr lang="es-MX" dirty="0" err="1"/>
                        <a:t>DeBERTa-large</a:t>
                      </a:r>
                      <a:endParaRPr lang="es-MX" dirty="0"/>
                    </a:p>
                  </a:txBody>
                  <a:tcPr anchor="ctr">
                    <a:solidFill>
                      <a:schemeClr val="accent2">
                        <a:lumMod val="20000"/>
                        <a:lumOff val="80000"/>
                      </a:schemeClr>
                    </a:solidFill>
                  </a:tcPr>
                </a:tc>
                <a:tc>
                  <a:txBody>
                    <a:bodyPr/>
                    <a:lstStyle/>
                    <a:p>
                      <a:pPr>
                        <a:buNone/>
                      </a:pPr>
                      <a:r>
                        <a:rPr lang="es-MX" dirty="0"/>
                        <a:t>354M</a:t>
                      </a:r>
                    </a:p>
                  </a:txBody>
                  <a:tcPr anchor="ctr">
                    <a:solidFill>
                      <a:schemeClr val="accent2">
                        <a:lumMod val="20000"/>
                        <a:lumOff val="80000"/>
                      </a:schemeClr>
                    </a:solidFill>
                  </a:tcPr>
                </a:tc>
                <a:tc>
                  <a:txBody>
                    <a:bodyPr/>
                    <a:lstStyle/>
                    <a:p>
                      <a:pPr>
                        <a:buNone/>
                      </a:pPr>
                      <a:r>
                        <a:rPr lang="es-MX"/>
                        <a:t>98.13%</a:t>
                      </a:r>
                    </a:p>
                  </a:txBody>
                  <a:tcPr anchor="ctr">
                    <a:solidFill>
                      <a:schemeClr val="accent2">
                        <a:lumMod val="20000"/>
                        <a:lumOff val="80000"/>
                      </a:schemeClr>
                    </a:solidFill>
                  </a:tcPr>
                </a:tc>
                <a:tc>
                  <a:txBody>
                    <a:bodyPr/>
                    <a:lstStyle/>
                    <a:p>
                      <a:pPr>
                        <a:buNone/>
                      </a:pPr>
                      <a:r>
                        <a:rPr lang="es-MX"/>
                        <a:t>94.67%</a:t>
                      </a:r>
                    </a:p>
                  </a:txBody>
                  <a:tcPr anchor="ctr">
                    <a:solidFill>
                      <a:schemeClr val="accent2">
                        <a:lumMod val="20000"/>
                        <a:lumOff val="80000"/>
                      </a:schemeClr>
                    </a:solidFill>
                  </a:tcPr>
                </a:tc>
                <a:tc>
                  <a:txBody>
                    <a:bodyPr/>
                    <a:lstStyle/>
                    <a:p>
                      <a:pPr>
                        <a:buNone/>
                      </a:pPr>
                      <a:r>
                        <a:rPr lang="es-MX"/>
                        <a:t>65.67%</a:t>
                      </a:r>
                    </a:p>
                  </a:txBody>
                  <a:tcPr anchor="ctr">
                    <a:solidFill>
                      <a:schemeClr val="accent2">
                        <a:lumMod val="20000"/>
                        <a:lumOff val="80000"/>
                      </a:schemeClr>
                    </a:solidFill>
                  </a:tcPr>
                </a:tc>
                <a:extLst>
                  <a:ext uri="{0D108BD9-81ED-4DB2-BD59-A6C34878D82A}">
                    <a16:rowId xmlns:a16="http://schemas.microsoft.com/office/drawing/2014/main" val="313105947"/>
                  </a:ext>
                </a:extLst>
              </a:tr>
              <a:tr h="0">
                <a:tc>
                  <a:txBody>
                    <a:bodyPr/>
                    <a:lstStyle/>
                    <a:p>
                      <a:pPr>
                        <a:buNone/>
                      </a:pPr>
                      <a:r>
                        <a:rPr lang="es-MX" dirty="0" err="1"/>
                        <a:t>EventGround-DeBERTa-large</a:t>
                      </a:r>
                      <a:endParaRPr lang="es-MX" dirty="0"/>
                    </a:p>
                  </a:txBody>
                  <a:tcPr anchor="ctr">
                    <a:solidFill>
                      <a:schemeClr val="accent2">
                        <a:lumMod val="20000"/>
                        <a:lumOff val="80000"/>
                      </a:schemeClr>
                    </a:solidFill>
                  </a:tcPr>
                </a:tc>
                <a:tc>
                  <a:txBody>
                    <a:bodyPr/>
                    <a:lstStyle/>
                    <a:p>
                      <a:pPr>
                        <a:buNone/>
                      </a:pPr>
                      <a:r>
                        <a:rPr lang="es-MX"/>
                        <a:t>358M</a:t>
                      </a:r>
                    </a:p>
                  </a:txBody>
                  <a:tcPr anchor="ctr">
                    <a:solidFill>
                      <a:schemeClr val="accent2">
                        <a:lumMod val="20000"/>
                        <a:lumOff val="80000"/>
                      </a:schemeClr>
                    </a:solidFill>
                  </a:tcPr>
                </a:tc>
                <a:tc>
                  <a:txBody>
                    <a:bodyPr/>
                    <a:lstStyle/>
                    <a:p>
                      <a:pPr>
                        <a:buNone/>
                      </a:pPr>
                      <a:r>
                        <a:rPr lang="es-MX" b="1" dirty="0"/>
                        <a:t>98.29% ↑</a:t>
                      </a:r>
                      <a:endParaRPr lang="es-MX" dirty="0"/>
                    </a:p>
                  </a:txBody>
                  <a:tcPr anchor="ctr">
                    <a:solidFill>
                      <a:schemeClr val="accent2">
                        <a:lumMod val="20000"/>
                        <a:lumOff val="80000"/>
                      </a:schemeClr>
                    </a:solidFill>
                  </a:tcPr>
                </a:tc>
                <a:tc>
                  <a:txBody>
                    <a:bodyPr/>
                    <a:lstStyle/>
                    <a:p>
                      <a:pPr>
                        <a:buNone/>
                      </a:pPr>
                      <a:r>
                        <a:rPr lang="es-MX" b="1" dirty="0"/>
                        <a:t>95.01% ↑</a:t>
                      </a:r>
                      <a:endParaRPr lang="es-MX" dirty="0"/>
                    </a:p>
                  </a:txBody>
                  <a:tcPr anchor="ctr">
                    <a:solidFill>
                      <a:schemeClr val="accent2">
                        <a:lumMod val="20000"/>
                        <a:lumOff val="80000"/>
                      </a:schemeClr>
                    </a:solidFill>
                  </a:tcPr>
                </a:tc>
                <a:tc>
                  <a:txBody>
                    <a:bodyPr/>
                    <a:lstStyle/>
                    <a:p>
                      <a:pPr>
                        <a:buNone/>
                      </a:pPr>
                      <a:r>
                        <a:rPr lang="es-MX" b="1" dirty="0"/>
                        <a:t>66.05% ↑</a:t>
                      </a:r>
                      <a:endParaRPr lang="es-MX" dirty="0"/>
                    </a:p>
                  </a:txBody>
                  <a:tcPr anchor="ctr">
                    <a:solidFill>
                      <a:schemeClr val="accent2">
                        <a:lumMod val="20000"/>
                        <a:lumOff val="80000"/>
                      </a:schemeClr>
                    </a:solidFill>
                  </a:tcPr>
                </a:tc>
                <a:extLst>
                  <a:ext uri="{0D108BD9-81ED-4DB2-BD59-A6C34878D82A}">
                    <a16:rowId xmlns:a16="http://schemas.microsoft.com/office/drawing/2014/main" val="3623840208"/>
                  </a:ext>
                </a:extLst>
              </a:tr>
            </a:tbl>
          </a:graphicData>
        </a:graphic>
      </p:graphicFrame>
      <p:sp>
        <p:nvSpPr>
          <p:cNvPr id="8" name="TextBox 7">
            <a:extLst>
              <a:ext uri="{FF2B5EF4-FFF2-40B4-BE49-F238E27FC236}">
                <a16:creationId xmlns:a16="http://schemas.microsoft.com/office/drawing/2014/main" id="{EB1C28A3-72F1-AF80-7EE9-D5F4BDE516FE}"/>
              </a:ext>
            </a:extLst>
          </p:cNvPr>
          <p:cNvSpPr txBox="1"/>
          <p:nvPr/>
        </p:nvSpPr>
        <p:spPr>
          <a:xfrm>
            <a:off x="546100" y="1201896"/>
            <a:ext cx="11099800" cy="1477328"/>
          </a:xfrm>
          <a:prstGeom prst="rect">
            <a:avLst/>
          </a:prstGeom>
          <a:noFill/>
        </p:spPr>
        <p:txBody>
          <a:bodyPr wrap="square">
            <a:spAutoFit/>
          </a:bodyPr>
          <a:lstStyle/>
          <a:p>
            <a:pPr>
              <a:buNone/>
            </a:pPr>
            <a:r>
              <a:rPr lang="es-MX" altLang="ja-JP" dirty="0" err="1"/>
              <a:t>EventGround</a:t>
            </a:r>
            <a:r>
              <a:rPr lang="es-MX" altLang="ja-JP" dirty="0"/>
              <a:t> </a:t>
            </a:r>
            <a:r>
              <a:rPr lang="ja-JP" altLang="es-MX" dirty="0"/>
              <a:t>は、すべてのバックボーンモデルにおいて</a:t>
            </a:r>
            <a:r>
              <a:rPr lang="es-MX" altLang="ja-JP" b="1" dirty="0"/>
              <a:t>3</a:t>
            </a:r>
            <a:r>
              <a:rPr lang="ja-JP" altLang="es-MX" b="1" dirty="0"/>
              <a:t>つのナラティブ推論タスクすべてで性能を向上</a:t>
            </a:r>
            <a:r>
              <a:rPr lang="ja-JP" altLang="es-MX" dirty="0"/>
              <a:t>させている。</a:t>
            </a:r>
            <a:endParaRPr lang="en-US" altLang="ja-JP" dirty="0"/>
          </a:p>
          <a:p>
            <a:pPr>
              <a:buNone/>
            </a:pPr>
            <a:r>
              <a:rPr lang="en-US" altLang="ja-JP" dirty="0"/>
              <a:t>		</a:t>
            </a:r>
            <a:r>
              <a:rPr lang="ja-JP" altLang="es-MX" dirty="0"/>
              <a:t>追加されるパラメータは </a:t>
            </a:r>
            <a:r>
              <a:rPr lang="ja-JP" altLang="es-MX" b="1" dirty="0"/>
              <a:t>約</a:t>
            </a:r>
            <a:r>
              <a:rPr lang="es-MX" altLang="ja-JP" b="1" dirty="0"/>
              <a:t>3M</a:t>
            </a:r>
            <a:r>
              <a:rPr lang="ja-JP" altLang="es-MX" b="1" dirty="0"/>
              <a:t>のみ</a:t>
            </a:r>
            <a:r>
              <a:rPr lang="ja-JP" altLang="es-MX" dirty="0"/>
              <a:t>でありながら、</a:t>
            </a:r>
            <a:endParaRPr lang="en-US" altLang="ja-JP" dirty="0"/>
          </a:p>
          <a:p>
            <a:pPr>
              <a:buNone/>
            </a:pPr>
            <a:r>
              <a:rPr lang="en-US" altLang="ja-JP" b="1" dirty="0"/>
              <a:t>		</a:t>
            </a:r>
            <a:r>
              <a:rPr lang="es-MX" altLang="ja-JP" b="1" dirty="0"/>
              <a:t>+0.3% </a:t>
            </a:r>
            <a:r>
              <a:rPr lang="ja-JP" altLang="es-MX" b="1" dirty="0"/>
              <a:t>～ </a:t>
            </a:r>
            <a:r>
              <a:rPr lang="es-MX" altLang="ja-JP" b="1" dirty="0"/>
              <a:t>+2.2% </a:t>
            </a:r>
            <a:r>
              <a:rPr lang="ja-JP" altLang="es-MX" b="1" dirty="0"/>
              <a:t>の性能向上</a:t>
            </a:r>
            <a:endParaRPr lang="en-US" altLang="ja-JP" b="1" dirty="0"/>
          </a:p>
          <a:p>
            <a:pPr>
              <a:buNone/>
            </a:pPr>
            <a:r>
              <a:rPr lang="ja-JP" altLang="es-MX" dirty="0"/>
              <a:t>を達成している。</a:t>
            </a:r>
          </a:p>
        </p:txBody>
      </p:sp>
    </p:spTree>
    <p:extLst>
      <p:ext uri="{BB962C8B-B14F-4D97-AF65-F5344CB8AC3E}">
        <p14:creationId xmlns:p14="http://schemas.microsoft.com/office/powerpoint/2010/main" val="147218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B23B-0B78-3A8C-251A-4C7EB2A2BD2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1393684-7FBB-5F03-3A25-F654A7F8D72B}"/>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61EC0B48-CE46-F456-A4BD-398602AB2F70}"/>
              </a:ext>
            </a:extLst>
          </p:cNvPr>
          <p:cNvSpPr>
            <a:spLocks noGrp="1"/>
          </p:cNvSpPr>
          <p:nvPr>
            <p:ph type="title"/>
          </p:nvPr>
        </p:nvSpPr>
        <p:spPr>
          <a:xfrm>
            <a:off x="423334" y="0"/>
            <a:ext cx="10515600" cy="1015662"/>
          </a:xfrm>
        </p:spPr>
        <p:txBody>
          <a:bodyPr>
            <a:normAutofit/>
          </a:bodyPr>
          <a:lstStyle/>
          <a:p>
            <a:r>
              <a:rPr lang="en-US" altLang="ja-JP" sz="3200" b="1" dirty="0">
                <a:solidFill>
                  <a:schemeClr val="bg1"/>
                </a:solidFill>
              </a:rPr>
              <a:t>Results</a:t>
            </a:r>
          </a:p>
        </p:txBody>
      </p:sp>
      <p:sp>
        <p:nvSpPr>
          <p:cNvPr id="8" name="TextBox 7">
            <a:extLst>
              <a:ext uri="{FF2B5EF4-FFF2-40B4-BE49-F238E27FC236}">
                <a16:creationId xmlns:a16="http://schemas.microsoft.com/office/drawing/2014/main" id="{0F8E0640-5D4D-4A9B-D079-988FAEB6A7EA}"/>
              </a:ext>
            </a:extLst>
          </p:cNvPr>
          <p:cNvSpPr txBox="1"/>
          <p:nvPr/>
        </p:nvSpPr>
        <p:spPr>
          <a:xfrm>
            <a:off x="556260" y="1280958"/>
            <a:ext cx="11381740" cy="369332"/>
          </a:xfrm>
          <a:prstGeom prst="rect">
            <a:avLst/>
          </a:prstGeom>
          <a:noFill/>
        </p:spPr>
        <p:txBody>
          <a:bodyPr wrap="square">
            <a:spAutoFit/>
          </a:bodyPr>
          <a:lstStyle/>
          <a:p>
            <a:r>
              <a:rPr lang="ja-JP" altLang="es-MX" dirty="0"/>
              <a:t>各コンポーネントを一つずつ取り除いて、それぞれの寄与度を測定します</a:t>
            </a:r>
            <a:r>
              <a:rPr lang="ja-JP" altLang="es-MX" sz="1400" dirty="0"/>
              <a:t>（表</a:t>
            </a:r>
            <a:r>
              <a:rPr lang="es-MX" altLang="ja-JP" sz="1400" dirty="0"/>
              <a:t>4</a:t>
            </a:r>
            <a:r>
              <a:rPr lang="ja-JP" altLang="es-MX" sz="1400" dirty="0"/>
              <a:t>、</a:t>
            </a:r>
            <a:r>
              <a:rPr lang="es-MX" altLang="ja-JP" sz="1400" dirty="0"/>
              <a:t>SCT-v1.0</a:t>
            </a:r>
            <a:r>
              <a:rPr lang="ja-JP" altLang="es-MX" sz="1400" dirty="0"/>
              <a:t>、</a:t>
            </a:r>
            <a:r>
              <a:rPr lang="es-MX" altLang="ja-JP" sz="1400" dirty="0" err="1"/>
              <a:t>RoBERTa</a:t>
            </a:r>
            <a:r>
              <a:rPr lang="es-MX" altLang="ja-JP" sz="1400" dirty="0"/>
              <a:t>-base</a:t>
            </a:r>
            <a:r>
              <a:rPr lang="ja-JP" altLang="es-MX" sz="1400" dirty="0"/>
              <a:t>）</a:t>
            </a:r>
            <a:endParaRPr lang="ja-JP" altLang="es-MX" dirty="0"/>
          </a:p>
        </p:txBody>
      </p:sp>
      <p:graphicFrame>
        <p:nvGraphicFramePr>
          <p:cNvPr id="3" name="Table 2">
            <a:extLst>
              <a:ext uri="{FF2B5EF4-FFF2-40B4-BE49-F238E27FC236}">
                <a16:creationId xmlns:a16="http://schemas.microsoft.com/office/drawing/2014/main" id="{08CEDA82-6558-4A47-A001-FB3A7D952942}"/>
              </a:ext>
            </a:extLst>
          </p:cNvPr>
          <p:cNvGraphicFramePr>
            <a:graphicFrameLocks noGrp="1"/>
          </p:cNvGraphicFramePr>
          <p:nvPr>
            <p:extLst>
              <p:ext uri="{D42A27DB-BD31-4B8C-83A1-F6EECF244321}">
                <p14:modId xmlns:p14="http://schemas.microsoft.com/office/powerpoint/2010/main" val="2715662184"/>
              </p:ext>
            </p:extLst>
          </p:nvPr>
        </p:nvGraphicFramePr>
        <p:xfrm>
          <a:off x="168730" y="1915586"/>
          <a:ext cx="8481420" cy="4373374"/>
        </p:xfrm>
        <a:graphic>
          <a:graphicData uri="http://schemas.openxmlformats.org/drawingml/2006/table">
            <a:tbl>
              <a:tblPr firstRow="1" bandRow="1">
                <a:tableStyleId>{F5AB1C69-6EDB-4FF4-983F-18BD219EF322}</a:tableStyleId>
              </a:tblPr>
              <a:tblGrid>
                <a:gridCol w="2120355">
                  <a:extLst>
                    <a:ext uri="{9D8B030D-6E8A-4147-A177-3AD203B41FA5}">
                      <a16:colId xmlns:a16="http://schemas.microsoft.com/office/drawing/2014/main" val="3971633292"/>
                    </a:ext>
                  </a:extLst>
                </a:gridCol>
                <a:gridCol w="2120355">
                  <a:extLst>
                    <a:ext uri="{9D8B030D-6E8A-4147-A177-3AD203B41FA5}">
                      <a16:colId xmlns:a16="http://schemas.microsoft.com/office/drawing/2014/main" val="1102005218"/>
                    </a:ext>
                  </a:extLst>
                </a:gridCol>
                <a:gridCol w="2120355">
                  <a:extLst>
                    <a:ext uri="{9D8B030D-6E8A-4147-A177-3AD203B41FA5}">
                      <a16:colId xmlns:a16="http://schemas.microsoft.com/office/drawing/2014/main" val="1658767783"/>
                    </a:ext>
                  </a:extLst>
                </a:gridCol>
                <a:gridCol w="2120355">
                  <a:extLst>
                    <a:ext uri="{9D8B030D-6E8A-4147-A177-3AD203B41FA5}">
                      <a16:colId xmlns:a16="http://schemas.microsoft.com/office/drawing/2014/main" val="1020281021"/>
                    </a:ext>
                  </a:extLst>
                </a:gridCol>
              </a:tblGrid>
              <a:tr h="295006">
                <a:tc>
                  <a:txBody>
                    <a:bodyPr/>
                    <a:lstStyle/>
                    <a:p>
                      <a:pPr algn="ctr">
                        <a:buNone/>
                      </a:pPr>
                      <a:r>
                        <a:rPr lang="es-MX" sz="1500" dirty="0" err="1">
                          <a:solidFill>
                            <a:schemeClr val="bg1"/>
                          </a:solidFill>
                        </a:rPr>
                        <a:t>Configuration</a:t>
                      </a:r>
                      <a:endParaRPr lang="es-MX" sz="1500" dirty="0">
                        <a:solidFill>
                          <a:schemeClr val="bg1"/>
                        </a:solidFill>
                      </a:endParaRPr>
                    </a:p>
                  </a:txBody>
                  <a:tcPr marL="73751" marR="73751" marT="36876" marB="36876" anchor="ctr"/>
                </a:tc>
                <a:tc>
                  <a:txBody>
                    <a:bodyPr/>
                    <a:lstStyle/>
                    <a:p>
                      <a:pPr algn="ctr">
                        <a:buNone/>
                      </a:pPr>
                      <a:r>
                        <a:rPr lang="es-MX" sz="1500" dirty="0" err="1">
                          <a:solidFill>
                            <a:schemeClr val="bg1"/>
                          </a:solidFill>
                        </a:rPr>
                        <a:t>Accuracy</a:t>
                      </a:r>
                      <a:endParaRPr lang="es-MX" sz="1500" dirty="0">
                        <a:solidFill>
                          <a:schemeClr val="bg1"/>
                        </a:solidFill>
                      </a:endParaRPr>
                    </a:p>
                  </a:txBody>
                  <a:tcPr marL="73751" marR="73751" marT="36876" marB="36876" anchor="ctr"/>
                </a:tc>
                <a:tc>
                  <a:txBody>
                    <a:bodyPr/>
                    <a:lstStyle/>
                    <a:p>
                      <a:pPr algn="ctr">
                        <a:buNone/>
                      </a:pPr>
                      <a:r>
                        <a:rPr lang="es-MX" sz="1500" dirty="0">
                          <a:solidFill>
                            <a:schemeClr val="bg1"/>
                          </a:solidFill>
                        </a:rPr>
                        <a:t>Change vs </a:t>
                      </a:r>
                      <a:r>
                        <a:rPr lang="es-MX" sz="1500" dirty="0" err="1">
                          <a:solidFill>
                            <a:schemeClr val="bg1"/>
                          </a:solidFill>
                        </a:rPr>
                        <a:t>Baseline</a:t>
                      </a:r>
                      <a:endParaRPr lang="es-MX" sz="1500" dirty="0">
                        <a:solidFill>
                          <a:schemeClr val="bg1"/>
                        </a:solidFill>
                      </a:endParaRPr>
                    </a:p>
                  </a:txBody>
                  <a:tcPr marL="73751" marR="73751" marT="36876" marB="36876" anchor="ctr"/>
                </a:tc>
                <a:tc>
                  <a:txBody>
                    <a:bodyPr/>
                    <a:lstStyle/>
                    <a:p>
                      <a:pPr algn="ctr">
                        <a:buNone/>
                      </a:pPr>
                      <a:r>
                        <a:rPr lang="es-MX" sz="1500" dirty="0" err="1">
                          <a:solidFill>
                            <a:schemeClr val="bg1"/>
                          </a:solidFill>
                        </a:rPr>
                        <a:t>Interpretation</a:t>
                      </a:r>
                      <a:endParaRPr lang="es-MX" sz="1500" dirty="0">
                        <a:solidFill>
                          <a:schemeClr val="bg1"/>
                        </a:solidFill>
                      </a:endParaRPr>
                    </a:p>
                  </a:txBody>
                  <a:tcPr marL="73751" marR="73751" marT="36876" marB="36876" anchor="ctr"/>
                </a:tc>
                <a:extLst>
                  <a:ext uri="{0D108BD9-81ED-4DB2-BD59-A6C34878D82A}">
                    <a16:rowId xmlns:a16="http://schemas.microsoft.com/office/drawing/2014/main" val="570037869"/>
                  </a:ext>
                </a:extLst>
              </a:tr>
              <a:tr h="737515">
                <a:tc>
                  <a:txBody>
                    <a:bodyPr/>
                    <a:lstStyle/>
                    <a:p>
                      <a:pPr>
                        <a:buNone/>
                      </a:pPr>
                      <a:r>
                        <a:rPr lang="es-MX" sz="1500" b="1"/>
                        <a:t>w/o knowledge (baseline)</a:t>
                      </a:r>
                      <a:endParaRPr lang="es-MX" sz="1500"/>
                    </a:p>
                  </a:txBody>
                  <a:tcPr marL="73751" marR="73751" marT="36876" marB="36876" anchor="ctr"/>
                </a:tc>
                <a:tc>
                  <a:txBody>
                    <a:bodyPr/>
                    <a:lstStyle/>
                    <a:p>
                      <a:pPr>
                        <a:buNone/>
                      </a:pPr>
                      <a:r>
                        <a:rPr lang="es-MX" sz="1500" dirty="0"/>
                        <a:t>92.75%</a:t>
                      </a:r>
                    </a:p>
                  </a:txBody>
                  <a:tcPr marL="73751" marR="73751" marT="36876" marB="36876" anchor="ctr"/>
                </a:tc>
                <a:tc>
                  <a:txBody>
                    <a:bodyPr/>
                    <a:lstStyle/>
                    <a:p>
                      <a:pPr>
                        <a:buNone/>
                      </a:pPr>
                      <a:r>
                        <a:rPr lang="es-MX" sz="1500"/>
                        <a:t>—</a:t>
                      </a:r>
                    </a:p>
                  </a:txBody>
                  <a:tcPr marL="73751" marR="73751" marT="36876" marB="36876" anchor="ctr"/>
                </a:tc>
                <a:tc>
                  <a:txBody>
                    <a:bodyPr/>
                    <a:lstStyle/>
                    <a:p>
                      <a:pPr>
                        <a:buNone/>
                      </a:pPr>
                      <a:r>
                        <a:rPr lang="es-MX" sz="1400" dirty="0" err="1"/>
                        <a:t>Knowledge</a:t>
                      </a:r>
                      <a:r>
                        <a:rPr lang="es-MX" sz="1400" dirty="0"/>
                        <a:t> </a:t>
                      </a:r>
                      <a:r>
                        <a:rPr lang="es-MX" sz="1400" dirty="0" err="1"/>
                        <a:t>Graph</a:t>
                      </a:r>
                      <a:r>
                        <a:rPr lang="es-MX" sz="1400" dirty="0"/>
                        <a:t> </a:t>
                      </a:r>
                      <a:r>
                        <a:rPr lang="ja-JP" altLang="es-MX" sz="1400" dirty="0"/>
                        <a:t>を</a:t>
                      </a:r>
                      <a:r>
                        <a:rPr lang="zh-CN" altLang="es-MX" sz="1400" dirty="0"/>
                        <a:t>使用</a:t>
                      </a:r>
                      <a:r>
                        <a:rPr lang="ja-JP" altLang="es-MX" sz="1400" dirty="0"/>
                        <a:t>しない</a:t>
                      </a:r>
                      <a:r>
                        <a:rPr lang="zh-CN" altLang="es-MX" sz="1400" dirty="0"/>
                        <a:t>通常</a:t>
                      </a:r>
                      <a:r>
                        <a:rPr lang="ja-JP" altLang="es-MX" sz="1400" dirty="0"/>
                        <a:t>の</a:t>
                      </a:r>
                      <a:r>
                        <a:rPr lang="zh-CN" altLang="es-MX" sz="1400" dirty="0"/>
                        <a:t>言語</a:t>
                      </a:r>
                      <a:r>
                        <a:rPr lang="ja-JP" altLang="es-MX" sz="1400" dirty="0"/>
                        <a:t>モデル</a:t>
                      </a:r>
                      <a:endParaRPr lang="en-US" sz="1400" dirty="0"/>
                    </a:p>
                  </a:txBody>
                  <a:tcPr marL="73751" marR="73751" marT="36876" marB="36876" anchor="ctr"/>
                </a:tc>
                <a:extLst>
                  <a:ext uri="{0D108BD9-81ED-4DB2-BD59-A6C34878D82A}">
                    <a16:rowId xmlns:a16="http://schemas.microsoft.com/office/drawing/2014/main" val="402686026"/>
                  </a:ext>
                </a:extLst>
              </a:tr>
              <a:tr h="737515">
                <a:tc>
                  <a:txBody>
                    <a:bodyPr/>
                    <a:lstStyle/>
                    <a:p>
                      <a:pPr>
                        <a:buNone/>
                      </a:pPr>
                      <a:r>
                        <a:rPr lang="es-MX" sz="1500" b="1"/>
                        <a:t>w/o extraction</a:t>
                      </a:r>
                      <a:endParaRPr lang="es-MX" sz="1500"/>
                    </a:p>
                  </a:txBody>
                  <a:tcPr marL="73751" marR="73751" marT="36876" marB="36876" anchor="ctr"/>
                </a:tc>
                <a:tc>
                  <a:txBody>
                    <a:bodyPr/>
                    <a:lstStyle/>
                    <a:p>
                      <a:pPr>
                        <a:buNone/>
                      </a:pPr>
                      <a:r>
                        <a:rPr lang="es-MX" sz="1500"/>
                        <a:t>91.86%</a:t>
                      </a:r>
                    </a:p>
                  </a:txBody>
                  <a:tcPr marL="73751" marR="73751" marT="36876" marB="36876" anchor="ctr"/>
                </a:tc>
                <a:tc>
                  <a:txBody>
                    <a:bodyPr/>
                    <a:lstStyle/>
                    <a:p>
                      <a:pPr>
                        <a:buNone/>
                      </a:pPr>
                      <a:r>
                        <a:rPr lang="es-MX" sz="1500" b="1" dirty="0">
                          <a:solidFill>
                            <a:srgbClr val="FF0000"/>
                          </a:solidFill>
                        </a:rPr>
                        <a:t>−0.89</a:t>
                      </a:r>
                    </a:p>
                  </a:txBody>
                  <a:tcPr marL="73751" marR="73751" marT="36876" marB="36876" anchor="ctr"/>
                </a:tc>
                <a:tc>
                  <a:txBody>
                    <a:bodyPr/>
                    <a:lstStyle/>
                    <a:p>
                      <a:pPr>
                        <a:buNone/>
                      </a:pPr>
                      <a:r>
                        <a:rPr lang="ja-JP" altLang="es-MX" sz="1400" dirty="0"/>
                        <a:t>文全体を </a:t>
                      </a:r>
                      <a:r>
                        <a:rPr lang="es-MX" altLang="ja-JP" sz="1400" dirty="0"/>
                        <a:t>KG </a:t>
                      </a:r>
                      <a:r>
                        <a:rPr lang="ja-JP" altLang="es-MX" sz="1400" dirty="0"/>
                        <a:t>にマッピング → グラウンディングが失敗</a:t>
                      </a:r>
                      <a:endParaRPr lang="en-US" sz="1400" dirty="0"/>
                    </a:p>
                  </a:txBody>
                  <a:tcPr marL="73751" marR="73751" marT="36876" marB="36876" anchor="ctr"/>
                </a:tc>
                <a:extLst>
                  <a:ext uri="{0D108BD9-81ED-4DB2-BD59-A6C34878D82A}">
                    <a16:rowId xmlns:a16="http://schemas.microsoft.com/office/drawing/2014/main" val="3727374501"/>
                  </a:ext>
                </a:extLst>
              </a:tr>
              <a:tr h="516260">
                <a:tc>
                  <a:txBody>
                    <a:bodyPr/>
                    <a:lstStyle/>
                    <a:p>
                      <a:pPr>
                        <a:buNone/>
                      </a:pPr>
                      <a:r>
                        <a:rPr lang="es-MX" sz="1500" b="1"/>
                        <a:t>w/o normalization</a:t>
                      </a:r>
                      <a:endParaRPr lang="es-MX" sz="1500"/>
                    </a:p>
                  </a:txBody>
                  <a:tcPr marL="73751" marR="73751" marT="36876" marB="36876" anchor="ctr"/>
                </a:tc>
                <a:tc>
                  <a:txBody>
                    <a:bodyPr/>
                    <a:lstStyle/>
                    <a:p>
                      <a:pPr>
                        <a:buNone/>
                      </a:pPr>
                      <a:r>
                        <a:rPr lang="es-MX" sz="1500"/>
                        <a:t>92.43%</a:t>
                      </a:r>
                    </a:p>
                  </a:txBody>
                  <a:tcPr marL="73751" marR="73751" marT="36876" marB="36876" anchor="ctr"/>
                </a:tc>
                <a:tc>
                  <a:txBody>
                    <a:bodyPr/>
                    <a:lstStyle/>
                    <a:p>
                      <a:pPr>
                        <a:buNone/>
                      </a:pPr>
                      <a:r>
                        <a:rPr lang="es-MX" sz="1500" b="1" dirty="0">
                          <a:solidFill>
                            <a:srgbClr val="FF0000"/>
                          </a:solidFill>
                        </a:rPr>
                        <a:t>−0.32</a:t>
                      </a:r>
                    </a:p>
                  </a:txBody>
                  <a:tcPr marL="73751" marR="73751" marT="36876" marB="36876" anchor="ctr"/>
                </a:tc>
                <a:tc>
                  <a:txBody>
                    <a:bodyPr/>
                    <a:lstStyle/>
                    <a:p>
                      <a:pPr>
                        <a:buNone/>
                      </a:pPr>
                      <a:r>
                        <a:rPr lang="ja-JP" altLang="es-MX" sz="1400" dirty="0"/>
                        <a:t>プレースホルダーを使わない生のイベント</a:t>
                      </a:r>
                      <a:endParaRPr lang="en-US" sz="1400" dirty="0"/>
                    </a:p>
                  </a:txBody>
                  <a:tcPr marL="73751" marR="73751" marT="36876" marB="36876" anchor="ctr"/>
                </a:tc>
                <a:extLst>
                  <a:ext uri="{0D108BD9-81ED-4DB2-BD59-A6C34878D82A}">
                    <a16:rowId xmlns:a16="http://schemas.microsoft.com/office/drawing/2014/main" val="1688964191"/>
                  </a:ext>
                </a:extLst>
              </a:tr>
              <a:tr h="516260">
                <a:tc>
                  <a:txBody>
                    <a:bodyPr/>
                    <a:lstStyle/>
                    <a:p>
                      <a:pPr>
                        <a:buNone/>
                      </a:pPr>
                      <a:r>
                        <a:rPr lang="pl-PL" sz="1500" b="1"/>
                        <a:t>w/o PIE (normalized only)</a:t>
                      </a:r>
                      <a:endParaRPr lang="pl-PL" sz="1500"/>
                    </a:p>
                  </a:txBody>
                  <a:tcPr marL="73751" marR="73751" marT="36876" marB="36876" anchor="ctr"/>
                </a:tc>
                <a:tc>
                  <a:txBody>
                    <a:bodyPr/>
                    <a:lstStyle/>
                    <a:p>
                      <a:pPr>
                        <a:buNone/>
                      </a:pPr>
                      <a:r>
                        <a:rPr lang="es-MX" sz="1500"/>
                        <a:t>92.81%</a:t>
                      </a:r>
                    </a:p>
                  </a:txBody>
                  <a:tcPr marL="73751" marR="73751" marT="36876" marB="36876" anchor="ctr"/>
                </a:tc>
                <a:tc>
                  <a:txBody>
                    <a:bodyPr/>
                    <a:lstStyle/>
                    <a:p>
                      <a:pPr>
                        <a:buNone/>
                      </a:pPr>
                      <a:r>
                        <a:rPr lang="es-MX" sz="1500" dirty="0">
                          <a:solidFill>
                            <a:schemeClr val="accent6"/>
                          </a:solidFill>
                        </a:rPr>
                        <a:t>+0.06</a:t>
                      </a:r>
                    </a:p>
                  </a:txBody>
                  <a:tcPr marL="73751" marR="73751" marT="36876" marB="36876" anchor="ctr"/>
                </a:tc>
                <a:tc>
                  <a:txBody>
                    <a:bodyPr/>
                    <a:lstStyle/>
                    <a:p>
                      <a:pPr>
                        <a:buNone/>
                      </a:pPr>
                      <a:r>
                        <a:rPr lang="ja-JP" altLang="es-MX" sz="1400" dirty="0"/>
                        <a:t>改善はごくわずか</a:t>
                      </a:r>
                      <a:endParaRPr lang="es-MX" sz="1400" dirty="0"/>
                    </a:p>
                  </a:txBody>
                  <a:tcPr marL="73751" marR="73751" marT="36876" marB="36876" anchor="ctr"/>
                </a:tc>
                <a:extLst>
                  <a:ext uri="{0D108BD9-81ED-4DB2-BD59-A6C34878D82A}">
                    <a16:rowId xmlns:a16="http://schemas.microsoft.com/office/drawing/2014/main" val="1915890166"/>
                  </a:ext>
                </a:extLst>
              </a:tr>
              <a:tr h="516260">
                <a:tc>
                  <a:txBody>
                    <a:bodyPr/>
                    <a:lstStyle/>
                    <a:p>
                      <a:pPr>
                        <a:buNone/>
                      </a:pPr>
                      <a:r>
                        <a:rPr lang="es-MX" sz="1500" b="1"/>
                        <a:t>PIE – ARGM</a:t>
                      </a:r>
                      <a:endParaRPr lang="es-MX" sz="1500"/>
                    </a:p>
                  </a:txBody>
                  <a:tcPr marL="73751" marR="73751" marT="36876" marB="36876" anchor="ctr"/>
                </a:tc>
                <a:tc>
                  <a:txBody>
                    <a:bodyPr/>
                    <a:lstStyle/>
                    <a:p>
                      <a:pPr>
                        <a:buNone/>
                      </a:pPr>
                      <a:r>
                        <a:rPr lang="es-MX" sz="1500"/>
                        <a:t>93.17%</a:t>
                      </a:r>
                    </a:p>
                  </a:txBody>
                  <a:tcPr marL="73751" marR="73751" marT="36876" marB="36876" anchor="ctr"/>
                </a:tc>
                <a:tc>
                  <a:txBody>
                    <a:bodyPr/>
                    <a:lstStyle/>
                    <a:p>
                      <a:pPr>
                        <a:buNone/>
                      </a:pPr>
                      <a:r>
                        <a:rPr lang="es-MX" sz="1500" dirty="0">
                          <a:solidFill>
                            <a:schemeClr val="accent6"/>
                          </a:solidFill>
                        </a:rPr>
                        <a:t>+0.42</a:t>
                      </a:r>
                    </a:p>
                  </a:txBody>
                  <a:tcPr marL="73751" marR="73751" marT="36876" marB="36876" anchor="ctr"/>
                </a:tc>
                <a:tc>
                  <a:txBody>
                    <a:bodyPr/>
                    <a:lstStyle/>
                    <a:p>
                      <a:pPr>
                        <a:buNone/>
                      </a:pPr>
                      <a:r>
                        <a:rPr lang="ja-JP" altLang="es-MX" sz="1400" dirty="0"/>
                        <a:t>修飾語を削除 → マッチ率向上</a:t>
                      </a:r>
                      <a:endParaRPr lang="es-MX" sz="1400" dirty="0"/>
                    </a:p>
                  </a:txBody>
                  <a:tcPr marL="73751" marR="73751" marT="36876" marB="36876" anchor="ctr"/>
                </a:tc>
                <a:extLst>
                  <a:ext uri="{0D108BD9-81ED-4DB2-BD59-A6C34878D82A}">
                    <a16:rowId xmlns:a16="http://schemas.microsoft.com/office/drawing/2014/main" val="3040406804"/>
                  </a:ext>
                </a:extLst>
              </a:tr>
              <a:tr h="516260">
                <a:tc>
                  <a:txBody>
                    <a:bodyPr/>
                    <a:lstStyle/>
                    <a:p>
                      <a:pPr>
                        <a:buNone/>
                      </a:pPr>
                      <a:r>
                        <a:rPr lang="es-MX" sz="1500" b="1"/>
                        <a:t>PIE – ARG2,3,4</a:t>
                      </a:r>
                      <a:endParaRPr lang="es-MX" sz="1500"/>
                    </a:p>
                  </a:txBody>
                  <a:tcPr marL="73751" marR="73751" marT="36876" marB="36876" anchor="ctr"/>
                </a:tc>
                <a:tc>
                  <a:txBody>
                    <a:bodyPr/>
                    <a:lstStyle/>
                    <a:p>
                      <a:pPr>
                        <a:buNone/>
                      </a:pPr>
                      <a:r>
                        <a:rPr lang="es-MX" sz="1500"/>
                        <a:t>93.03%</a:t>
                      </a:r>
                    </a:p>
                  </a:txBody>
                  <a:tcPr marL="73751" marR="73751" marT="36876" marB="36876" anchor="ctr"/>
                </a:tc>
                <a:tc>
                  <a:txBody>
                    <a:bodyPr/>
                    <a:lstStyle/>
                    <a:p>
                      <a:pPr>
                        <a:buNone/>
                      </a:pPr>
                      <a:r>
                        <a:rPr lang="es-MX" sz="1500" dirty="0">
                          <a:solidFill>
                            <a:schemeClr val="accent6"/>
                          </a:solidFill>
                        </a:rPr>
                        <a:t>+0.28</a:t>
                      </a:r>
                    </a:p>
                  </a:txBody>
                  <a:tcPr marL="73751" marR="73751" marT="36876" marB="36876" anchor="ctr"/>
                </a:tc>
                <a:tc>
                  <a:txBody>
                    <a:bodyPr/>
                    <a:lstStyle/>
                    <a:p>
                      <a:pPr>
                        <a:buNone/>
                      </a:pPr>
                      <a:r>
                        <a:rPr lang="ja-JP" altLang="es-MX" sz="1400" dirty="0"/>
                        <a:t>二次的な引数を削除</a:t>
                      </a:r>
                      <a:endParaRPr lang="es-MX" sz="1400" dirty="0"/>
                    </a:p>
                  </a:txBody>
                  <a:tcPr marL="73751" marR="73751" marT="36876" marB="36876" anchor="ctr"/>
                </a:tc>
                <a:extLst>
                  <a:ext uri="{0D108BD9-81ED-4DB2-BD59-A6C34878D82A}">
                    <a16:rowId xmlns:a16="http://schemas.microsoft.com/office/drawing/2014/main" val="1150710834"/>
                  </a:ext>
                </a:extLst>
              </a:tr>
              <a:tr h="516260">
                <a:tc>
                  <a:txBody>
                    <a:bodyPr/>
                    <a:lstStyle/>
                    <a:p>
                      <a:pPr>
                        <a:buNone/>
                      </a:pPr>
                      <a:r>
                        <a:rPr lang="es-MX" sz="1500" b="1"/>
                        <a:t>PIE – ARG1 (full)</a:t>
                      </a:r>
                      <a:endParaRPr lang="es-MX" sz="1500"/>
                    </a:p>
                  </a:txBody>
                  <a:tcPr marL="73751" marR="73751" marT="36876" marB="36876" anchor="ctr"/>
                </a:tc>
                <a:tc>
                  <a:txBody>
                    <a:bodyPr/>
                    <a:lstStyle/>
                    <a:p>
                      <a:pPr>
                        <a:buNone/>
                      </a:pPr>
                      <a:r>
                        <a:rPr lang="es-MX" sz="1500" b="1"/>
                        <a:t>93.30%</a:t>
                      </a:r>
                      <a:endParaRPr lang="es-MX" sz="1500"/>
                    </a:p>
                  </a:txBody>
                  <a:tcPr marL="73751" marR="73751" marT="36876" marB="36876" anchor="ctr"/>
                </a:tc>
                <a:tc>
                  <a:txBody>
                    <a:bodyPr/>
                    <a:lstStyle/>
                    <a:p>
                      <a:pPr>
                        <a:buNone/>
                      </a:pPr>
                      <a:r>
                        <a:rPr lang="es-MX" sz="1500" b="1" dirty="0">
                          <a:solidFill>
                            <a:schemeClr val="accent3"/>
                          </a:solidFill>
                        </a:rPr>
                        <a:t>+0.55</a:t>
                      </a:r>
                      <a:endParaRPr lang="es-MX" sz="1500" dirty="0">
                        <a:solidFill>
                          <a:schemeClr val="accent3"/>
                        </a:solidFill>
                      </a:endParaRPr>
                    </a:p>
                  </a:txBody>
                  <a:tcPr marL="73751" marR="73751" marT="36876" marB="36876" anchor="ctr"/>
                </a:tc>
                <a:tc>
                  <a:txBody>
                    <a:bodyPr/>
                    <a:lstStyle/>
                    <a:p>
                      <a:pPr>
                        <a:buNone/>
                      </a:pPr>
                      <a:r>
                        <a:rPr lang="ja-JP" altLang="es-MX" sz="1400" dirty="0"/>
                        <a:t>フル </a:t>
                      </a:r>
                      <a:r>
                        <a:rPr lang="es-MX" altLang="ja-JP" sz="1400" dirty="0"/>
                        <a:t>PIE </a:t>
                      </a:r>
                      <a:r>
                        <a:rPr lang="ja-JP" altLang="es-MX" sz="1400" dirty="0"/>
                        <a:t>が最も高い性能</a:t>
                      </a:r>
                      <a:endParaRPr lang="en-US" sz="1400" dirty="0"/>
                    </a:p>
                  </a:txBody>
                  <a:tcPr marL="73751" marR="73751" marT="36876" marB="36876" anchor="ctr"/>
                </a:tc>
                <a:extLst>
                  <a:ext uri="{0D108BD9-81ED-4DB2-BD59-A6C34878D82A}">
                    <a16:rowId xmlns:a16="http://schemas.microsoft.com/office/drawing/2014/main" val="1711665028"/>
                  </a:ext>
                </a:extLst>
              </a:tr>
            </a:tbl>
          </a:graphicData>
        </a:graphic>
      </p:graphicFrame>
      <p:graphicFrame>
        <p:nvGraphicFramePr>
          <p:cNvPr id="4" name="Table 3">
            <a:extLst>
              <a:ext uri="{FF2B5EF4-FFF2-40B4-BE49-F238E27FC236}">
                <a16:creationId xmlns:a16="http://schemas.microsoft.com/office/drawing/2014/main" id="{D4DFD905-6B6F-0EB0-BD4E-3DEFA2CB6854}"/>
              </a:ext>
            </a:extLst>
          </p:cNvPr>
          <p:cNvGraphicFramePr>
            <a:graphicFrameLocks noGrp="1"/>
          </p:cNvGraphicFramePr>
          <p:nvPr>
            <p:extLst>
              <p:ext uri="{D42A27DB-BD31-4B8C-83A1-F6EECF244321}">
                <p14:modId xmlns:p14="http://schemas.microsoft.com/office/powerpoint/2010/main" val="3488059819"/>
              </p:ext>
            </p:extLst>
          </p:nvPr>
        </p:nvGraphicFramePr>
        <p:xfrm>
          <a:off x="8910321" y="2438400"/>
          <a:ext cx="2946400" cy="1981200"/>
        </p:xfrm>
        <a:graphic>
          <a:graphicData uri="http://schemas.openxmlformats.org/drawingml/2006/table">
            <a:tbl>
              <a:tblPr/>
              <a:tblGrid>
                <a:gridCol w="2946400">
                  <a:extLst>
                    <a:ext uri="{9D8B030D-6E8A-4147-A177-3AD203B41FA5}">
                      <a16:colId xmlns:a16="http://schemas.microsoft.com/office/drawing/2014/main" val="119011771"/>
                    </a:ext>
                  </a:extLst>
                </a:gridCol>
              </a:tblGrid>
              <a:tr h="0">
                <a:tc>
                  <a:txBody>
                    <a:bodyPr/>
                    <a:lstStyle/>
                    <a:p>
                      <a:pPr>
                        <a:buNone/>
                      </a:pPr>
                      <a:r>
                        <a:rPr lang="ja-JP" altLang="es-MX" sz="1400" b="1" dirty="0"/>
                        <a:t>重要なポイント</a:t>
                      </a:r>
                      <a:endParaRPr lang="zh-CN" altLang="es-MX" sz="1400" b="1" dirty="0"/>
                    </a:p>
                  </a:txBody>
                  <a:tcPr anchor="ctr">
                    <a:lnL>
                      <a:noFill/>
                    </a:lnL>
                    <a:lnR>
                      <a:noFill/>
                    </a:lnR>
                    <a:lnT>
                      <a:noFill/>
                    </a:lnT>
                    <a:lnB>
                      <a:noFill/>
                    </a:lnB>
                    <a:noFill/>
                  </a:tcPr>
                </a:tc>
                <a:extLst>
                  <a:ext uri="{0D108BD9-81ED-4DB2-BD59-A6C34878D82A}">
                    <a16:rowId xmlns:a16="http://schemas.microsoft.com/office/drawing/2014/main" val="1457181209"/>
                  </a:ext>
                </a:extLst>
              </a:tr>
              <a:tr h="0">
                <a:tc>
                  <a:txBody>
                    <a:bodyPr/>
                    <a:lstStyle/>
                    <a:p>
                      <a:pPr>
                        <a:buNone/>
                      </a:pPr>
                      <a:r>
                        <a:rPr lang="ja-JP" altLang="es-MX" sz="1400" b="1" dirty="0"/>
                        <a:t>イベント抽出</a:t>
                      </a:r>
                      <a:r>
                        <a:rPr lang="ja-JP" altLang="es-MX" sz="1400" dirty="0"/>
                        <a:t> と </a:t>
                      </a:r>
                      <a:r>
                        <a:rPr lang="ja-JP" altLang="es-MX" sz="1400" b="1" dirty="0"/>
                        <a:t>正規化</a:t>
                      </a:r>
                      <a:r>
                        <a:rPr lang="ja-JP" altLang="es-MX" sz="1400" dirty="0"/>
                        <a:t> の両方が重要であり、どちらかを除くと性能がベースライン以下に低下する。</a:t>
                      </a:r>
                    </a:p>
                  </a:txBody>
                  <a:tcPr anchor="ctr">
                    <a:lnL>
                      <a:noFill/>
                    </a:lnL>
                    <a:lnR>
                      <a:noFill/>
                    </a:lnR>
                    <a:lnT>
                      <a:noFill/>
                    </a:lnT>
                    <a:lnB>
                      <a:noFill/>
                    </a:lnB>
                    <a:noFill/>
                  </a:tcPr>
                </a:tc>
                <a:extLst>
                  <a:ext uri="{0D108BD9-81ED-4DB2-BD59-A6C34878D82A}">
                    <a16:rowId xmlns:a16="http://schemas.microsoft.com/office/drawing/2014/main" val="1612501246"/>
                  </a:ext>
                </a:extLst>
              </a:tr>
              <a:tr h="0">
                <a:tc>
                  <a:txBody>
                    <a:bodyPr/>
                    <a:lstStyle/>
                    <a:p>
                      <a:pPr>
                        <a:buNone/>
                      </a:pPr>
                      <a:r>
                        <a:rPr lang="es-MX" sz="1400" b="1" dirty="0" err="1"/>
                        <a:t>Progressive</a:t>
                      </a:r>
                      <a:r>
                        <a:rPr lang="es-MX" sz="1400" b="1" dirty="0"/>
                        <a:t> </a:t>
                      </a:r>
                      <a:r>
                        <a:rPr lang="es-MX" sz="1400" b="1" dirty="0" err="1"/>
                        <a:t>Event</a:t>
                      </a:r>
                      <a:r>
                        <a:rPr lang="es-MX" sz="1400" b="1" dirty="0"/>
                        <a:t> </a:t>
                      </a:r>
                      <a:r>
                        <a:rPr lang="es-MX" sz="1400" b="1" dirty="0" err="1"/>
                        <a:t>Abstraction</a:t>
                      </a:r>
                      <a:r>
                        <a:rPr lang="es-MX" sz="1400" b="1" dirty="0"/>
                        <a:t> (PIE)</a:t>
                      </a:r>
                      <a:r>
                        <a:rPr lang="es-MX" sz="1400" dirty="0"/>
                        <a:t> </a:t>
                      </a:r>
                      <a:r>
                        <a:rPr lang="ja-JP" altLang="es-MX" sz="1400" dirty="0"/>
                        <a:t>が</a:t>
                      </a:r>
                      <a:r>
                        <a:rPr lang="zh-CN" altLang="es-MX" sz="1400" dirty="0"/>
                        <a:t>最</a:t>
                      </a:r>
                      <a:r>
                        <a:rPr lang="ja-JP" altLang="es-MX" sz="1400" dirty="0"/>
                        <a:t>も</a:t>
                      </a:r>
                      <a:r>
                        <a:rPr lang="zh-CN" altLang="es-MX" sz="1400" dirty="0"/>
                        <a:t>大</a:t>
                      </a:r>
                      <a:r>
                        <a:rPr lang="ja-JP" altLang="es-MX" sz="1400" dirty="0"/>
                        <a:t>きな</a:t>
                      </a:r>
                      <a:r>
                        <a:rPr lang="zh-CN" altLang="es-MX" sz="1400" dirty="0"/>
                        <a:t>性能向上</a:t>
                      </a:r>
                      <a:r>
                        <a:rPr lang="ja-JP" altLang="es-MX" sz="1400" dirty="0"/>
                        <a:t>をもたらす。</a:t>
                      </a:r>
                    </a:p>
                  </a:txBody>
                  <a:tcPr anchor="ctr">
                    <a:lnL>
                      <a:noFill/>
                    </a:lnL>
                    <a:lnR>
                      <a:noFill/>
                    </a:lnR>
                    <a:lnT>
                      <a:noFill/>
                    </a:lnT>
                    <a:lnB>
                      <a:noFill/>
                    </a:lnB>
                    <a:noFill/>
                  </a:tcPr>
                </a:tc>
                <a:extLst>
                  <a:ext uri="{0D108BD9-81ED-4DB2-BD59-A6C34878D82A}">
                    <a16:rowId xmlns:a16="http://schemas.microsoft.com/office/drawing/2014/main" val="1232319138"/>
                  </a:ext>
                </a:extLst>
              </a:tr>
            </a:tbl>
          </a:graphicData>
        </a:graphic>
      </p:graphicFrame>
    </p:spTree>
    <p:extLst>
      <p:ext uri="{BB962C8B-B14F-4D97-AF65-F5344CB8AC3E}">
        <p14:creationId xmlns:p14="http://schemas.microsoft.com/office/powerpoint/2010/main" val="1635676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5F92F-E7D6-7FB8-4797-B42EC4742CA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BACF387-785D-7005-4F55-A9C4CB9EB251}"/>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6E3A3F92-7BF7-2F06-5742-BDEF7F3A3411}"/>
              </a:ext>
            </a:extLst>
          </p:cNvPr>
          <p:cNvSpPr>
            <a:spLocks noGrp="1"/>
          </p:cNvSpPr>
          <p:nvPr>
            <p:ph type="title"/>
          </p:nvPr>
        </p:nvSpPr>
        <p:spPr>
          <a:xfrm>
            <a:off x="423334" y="0"/>
            <a:ext cx="10515600" cy="1015662"/>
          </a:xfrm>
        </p:spPr>
        <p:txBody>
          <a:bodyPr>
            <a:normAutofit/>
          </a:bodyPr>
          <a:lstStyle/>
          <a:p>
            <a:r>
              <a:rPr lang="en-US" altLang="ja-JP" sz="3200" b="1" dirty="0">
                <a:solidFill>
                  <a:schemeClr val="bg1"/>
                </a:solidFill>
              </a:rPr>
              <a:t>Limitations</a:t>
            </a:r>
          </a:p>
        </p:txBody>
      </p:sp>
      <p:sp>
        <p:nvSpPr>
          <p:cNvPr id="4" name="TextBox 3">
            <a:extLst>
              <a:ext uri="{FF2B5EF4-FFF2-40B4-BE49-F238E27FC236}">
                <a16:creationId xmlns:a16="http://schemas.microsoft.com/office/drawing/2014/main" id="{F0A0E7E2-45A2-CC2A-0DCF-44F401958D1F}"/>
              </a:ext>
            </a:extLst>
          </p:cNvPr>
          <p:cNvSpPr txBox="1"/>
          <p:nvPr/>
        </p:nvSpPr>
        <p:spPr>
          <a:xfrm>
            <a:off x="423334" y="1451600"/>
            <a:ext cx="3671146" cy="5016758"/>
          </a:xfrm>
          <a:prstGeom prst="rect">
            <a:avLst/>
          </a:prstGeom>
          <a:solidFill>
            <a:schemeClr val="bg1"/>
          </a:solidFill>
          <a:ln>
            <a:solidFill>
              <a:schemeClr val="tx1"/>
            </a:solidFill>
          </a:ln>
        </p:spPr>
        <p:txBody>
          <a:bodyPr wrap="square">
            <a:spAutoFit/>
          </a:bodyPr>
          <a:lstStyle/>
          <a:p>
            <a:pPr>
              <a:buNone/>
            </a:pPr>
            <a:r>
              <a:rPr lang="es-MX" altLang="ja-JP" sz="1600" b="1" dirty="0"/>
              <a:t>1. </a:t>
            </a:r>
            <a:r>
              <a:rPr lang="ja-JP" altLang="es-MX" sz="1600" b="1" dirty="0"/>
              <a:t>正規化：人物のみ</a:t>
            </a:r>
          </a:p>
          <a:p>
            <a:pPr>
              <a:buNone/>
            </a:pPr>
            <a:endParaRPr lang="en-US" altLang="ja-JP" sz="1600" dirty="0"/>
          </a:p>
          <a:p>
            <a:pPr>
              <a:buNone/>
            </a:pPr>
            <a:r>
              <a:rPr lang="ja-JP" altLang="es-MX" sz="1600" dirty="0"/>
              <a:t>現在のシステムでは、</a:t>
            </a:r>
            <a:r>
              <a:rPr lang="ja-JP" altLang="es-MX" sz="1600" b="1" dirty="0"/>
              <a:t>人物を指すトークンのみ正規化</a:t>
            </a:r>
            <a:r>
              <a:rPr lang="ja-JP" altLang="es-MX" sz="1600" dirty="0"/>
              <a:t>されている。</a:t>
            </a:r>
          </a:p>
          <a:p>
            <a:pPr>
              <a:buNone/>
            </a:pPr>
            <a:endParaRPr lang="en-US" altLang="ja-JP" sz="1600" dirty="0"/>
          </a:p>
          <a:p>
            <a:pPr>
              <a:buNone/>
            </a:pPr>
            <a:r>
              <a:rPr lang="ja-JP" altLang="es-MX" sz="1600" dirty="0"/>
              <a:t>次のようなエンティティは正規化されていない：</a:t>
            </a:r>
            <a:endParaRPr lang="en-US" altLang="ja-JP" sz="1600" dirty="0"/>
          </a:p>
          <a:p>
            <a:pPr>
              <a:buNone/>
            </a:pPr>
            <a:endParaRPr lang="ja-JP" altLang="es-MX" sz="1600" dirty="0"/>
          </a:p>
          <a:p>
            <a:pPr marL="285750" indent="-285750">
              <a:buFont typeface="Arial" panose="020B0604020202020204" pitchFamily="34" charset="0"/>
              <a:buChar char="•"/>
            </a:pPr>
            <a:r>
              <a:rPr lang="ja-JP" altLang="es-MX" sz="1600" dirty="0"/>
              <a:t>組織</a:t>
            </a:r>
          </a:p>
          <a:p>
            <a:pPr marL="285750" indent="-285750">
              <a:buFont typeface="Arial" panose="020B0604020202020204" pitchFamily="34" charset="0"/>
              <a:buChar char="•"/>
            </a:pPr>
            <a:r>
              <a:rPr lang="ja-JP" altLang="es-MX" sz="1600" dirty="0"/>
              <a:t>場所</a:t>
            </a:r>
          </a:p>
          <a:p>
            <a:pPr marL="285750" indent="-285750">
              <a:buFont typeface="Arial" panose="020B0604020202020204" pitchFamily="34" charset="0"/>
              <a:buChar char="•"/>
            </a:pPr>
            <a:r>
              <a:rPr lang="ja-JP" altLang="es-MX" sz="1600" dirty="0"/>
              <a:t>製品</a:t>
            </a:r>
            <a:endParaRPr lang="en-US" altLang="ja-JP" sz="1600" dirty="0"/>
          </a:p>
          <a:p>
            <a:pPr marL="285750" indent="-285750">
              <a:buFont typeface="Arial" panose="020B0604020202020204" pitchFamily="34" charset="0"/>
              <a:buChar char="•"/>
            </a:pPr>
            <a:endParaRPr lang="ja-JP" altLang="es-MX" sz="1600" dirty="0"/>
          </a:p>
          <a:p>
            <a:pPr>
              <a:buNone/>
            </a:pPr>
            <a:r>
              <a:rPr lang="ja-JP" altLang="es-MX" sz="1600" dirty="0"/>
              <a:t>そのため、これらの引数では </a:t>
            </a:r>
            <a:r>
              <a:rPr lang="ja-JP" altLang="es-MX" sz="1600" b="1" dirty="0"/>
              <a:t>イベントのスパース性が依然として存在する</a:t>
            </a:r>
            <a:r>
              <a:rPr lang="ja-JP" altLang="es-MX" sz="1600" dirty="0"/>
              <a:t>。</a:t>
            </a:r>
          </a:p>
          <a:p>
            <a:pPr>
              <a:buNone/>
            </a:pPr>
            <a:endParaRPr lang="en-US" altLang="ja-JP" sz="1600" b="1" dirty="0"/>
          </a:p>
          <a:p>
            <a:pPr>
              <a:buNone/>
            </a:pPr>
            <a:r>
              <a:rPr lang="ja-JP" altLang="es-MX" sz="1600" b="1" dirty="0"/>
              <a:t>今後の研究</a:t>
            </a:r>
            <a:endParaRPr lang="ja-JP" altLang="es-MX" sz="1600" dirty="0"/>
          </a:p>
          <a:p>
            <a:pPr>
              <a:buNone/>
            </a:pPr>
            <a:r>
              <a:rPr lang="es-MX" altLang="ja-JP" sz="1600" dirty="0" err="1"/>
              <a:t>Named</a:t>
            </a:r>
            <a:r>
              <a:rPr lang="es-MX" altLang="ja-JP" sz="1600" dirty="0"/>
              <a:t> </a:t>
            </a:r>
            <a:r>
              <a:rPr lang="es-MX" altLang="ja-JP" sz="1600" dirty="0" err="1"/>
              <a:t>Entity</a:t>
            </a:r>
            <a:r>
              <a:rPr lang="es-MX" altLang="ja-JP" sz="1600" dirty="0"/>
              <a:t> </a:t>
            </a:r>
            <a:r>
              <a:rPr lang="es-MX" altLang="ja-JP" sz="1600" dirty="0" err="1"/>
              <a:t>Recognition</a:t>
            </a:r>
            <a:r>
              <a:rPr lang="es-MX" altLang="ja-JP" sz="1600" dirty="0"/>
              <a:t> (NER) </a:t>
            </a:r>
            <a:r>
              <a:rPr lang="ja-JP" altLang="es-MX" sz="1600" dirty="0"/>
              <a:t>を用いて他のエンティティにも正規化を拡張する。</a:t>
            </a:r>
          </a:p>
        </p:txBody>
      </p:sp>
      <p:sp>
        <p:nvSpPr>
          <p:cNvPr id="6" name="TextBox 5">
            <a:extLst>
              <a:ext uri="{FF2B5EF4-FFF2-40B4-BE49-F238E27FC236}">
                <a16:creationId xmlns:a16="http://schemas.microsoft.com/office/drawing/2014/main" id="{180B383F-FAB2-C7D9-400D-06A407DBC742}"/>
              </a:ext>
            </a:extLst>
          </p:cNvPr>
          <p:cNvSpPr txBox="1"/>
          <p:nvPr/>
        </p:nvSpPr>
        <p:spPr>
          <a:xfrm>
            <a:off x="4260427" y="1449051"/>
            <a:ext cx="3671146" cy="5016758"/>
          </a:xfrm>
          <a:prstGeom prst="rect">
            <a:avLst/>
          </a:prstGeom>
          <a:solidFill>
            <a:schemeClr val="bg1"/>
          </a:solidFill>
          <a:ln>
            <a:solidFill>
              <a:schemeClr val="tx1"/>
            </a:solidFill>
          </a:ln>
        </p:spPr>
        <p:txBody>
          <a:bodyPr wrap="square">
            <a:spAutoFit/>
          </a:bodyPr>
          <a:lstStyle/>
          <a:p>
            <a:pPr>
              <a:buNone/>
            </a:pPr>
            <a:r>
              <a:rPr lang="es-MX" altLang="ja-JP" sz="1600" b="1" dirty="0"/>
              <a:t>2. </a:t>
            </a:r>
            <a:r>
              <a:rPr lang="ja-JP" altLang="es-MX" sz="1600" b="1" dirty="0"/>
              <a:t>サブグラフ取得</a:t>
            </a:r>
            <a:endParaRPr lang="es-MX" altLang="ja-JP" sz="1600" b="1" dirty="0"/>
          </a:p>
          <a:p>
            <a:pPr>
              <a:buNone/>
            </a:pPr>
            <a:endParaRPr lang="es-MX" altLang="ja-JP" sz="1600" b="1" dirty="0"/>
          </a:p>
          <a:p>
            <a:pPr>
              <a:buNone/>
            </a:pPr>
            <a:r>
              <a:rPr lang="ja-JP" altLang="es-MX" sz="1600" dirty="0"/>
              <a:t>理論的に最適なサブグラフは </a:t>
            </a:r>
            <a:r>
              <a:rPr lang="es-MX" altLang="ja-JP" sz="1600" b="1" dirty="0"/>
              <a:t>Steiner </a:t>
            </a:r>
            <a:r>
              <a:rPr lang="es-MX" altLang="ja-JP" sz="1600" b="1" dirty="0" err="1"/>
              <a:t>Tree</a:t>
            </a:r>
            <a:r>
              <a:rPr lang="ja-JP" altLang="es-MX" sz="1600" dirty="0"/>
              <a:t> であるが、これは </a:t>
            </a:r>
            <a:r>
              <a:rPr lang="es-MX" altLang="ja-JP" sz="1600" b="1" dirty="0"/>
              <a:t>NP </a:t>
            </a:r>
            <a:r>
              <a:rPr lang="ja-JP" altLang="es-MX" sz="1600" b="1" dirty="0"/>
              <a:t>完全問題</a:t>
            </a:r>
            <a:r>
              <a:rPr lang="ja-JP" altLang="es-MX" sz="1600" dirty="0"/>
              <a:t>である。</a:t>
            </a:r>
            <a:endParaRPr lang="en-US" altLang="ja-JP" sz="1600" dirty="0"/>
          </a:p>
          <a:p>
            <a:pPr>
              <a:buNone/>
            </a:pPr>
            <a:endParaRPr lang="ja-JP" altLang="es-MX" sz="1600" dirty="0"/>
          </a:p>
          <a:p>
            <a:pPr>
              <a:buNone/>
            </a:pPr>
            <a:r>
              <a:rPr lang="ja-JP" altLang="es-MX" sz="1600" dirty="0"/>
              <a:t>本研究では </a:t>
            </a:r>
            <a:r>
              <a:rPr lang="ja-JP" altLang="es-MX" sz="1600" b="1" dirty="0"/>
              <a:t>最短経路 </a:t>
            </a:r>
            <a:r>
              <a:rPr lang="es-MX" altLang="ja-JP" sz="1600" b="1" dirty="0"/>
              <a:t>(</a:t>
            </a:r>
            <a:r>
              <a:rPr lang="es-MX" altLang="ja-JP" sz="1600" b="1" dirty="0" err="1"/>
              <a:t>shortest</a:t>
            </a:r>
            <a:r>
              <a:rPr lang="es-MX" altLang="ja-JP" sz="1600" b="1" dirty="0"/>
              <a:t> </a:t>
            </a:r>
            <a:r>
              <a:rPr lang="es-MX" altLang="ja-JP" sz="1600" b="1" dirty="0" err="1"/>
              <a:t>path</a:t>
            </a:r>
            <a:r>
              <a:rPr lang="es-MX" altLang="ja-JP" sz="1600" b="1" dirty="0"/>
              <a:t>)</a:t>
            </a:r>
            <a:r>
              <a:rPr lang="ja-JP" altLang="es-MX" sz="1600" dirty="0"/>
              <a:t> を用いた近似を採用している。</a:t>
            </a:r>
          </a:p>
          <a:p>
            <a:pPr>
              <a:buNone/>
            </a:pPr>
            <a:endParaRPr lang="en-US" altLang="ja-JP" sz="1600" dirty="0"/>
          </a:p>
          <a:p>
            <a:pPr>
              <a:buNone/>
            </a:pPr>
            <a:r>
              <a:rPr lang="ja-JP" altLang="es-MX" sz="1600" dirty="0"/>
              <a:t>そのため、</a:t>
            </a:r>
            <a:r>
              <a:rPr lang="ja-JP" altLang="es-MX" sz="1600" b="1" dirty="0"/>
              <a:t>重要だが明確ではない推論経路を見逃す可能性がある</a:t>
            </a:r>
            <a:r>
              <a:rPr lang="ja-JP" altLang="es-MX" sz="1600" dirty="0"/>
              <a:t>。</a:t>
            </a:r>
          </a:p>
          <a:p>
            <a:pPr>
              <a:buNone/>
            </a:pPr>
            <a:endParaRPr lang="en-US" altLang="ja-JP" sz="1600" b="1" dirty="0"/>
          </a:p>
          <a:p>
            <a:pPr>
              <a:buNone/>
            </a:pPr>
            <a:r>
              <a:rPr lang="ja-JP" altLang="es-MX" sz="1600" b="1" dirty="0"/>
              <a:t>今後の研究</a:t>
            </a:r>
            <a:endParaRPr lang="ja-JP" altLang="es-MX" sz="1600" dirty="0"/>
          </a:p>
          <a:p>
            <a:pPr>
              <a:buNone/>
            </a:pPr>
            <a:r>
              <a:rPr lang="ja-JP" altLang="es-MX" sz="1600" dirty="0"/>
              <a:t>強化学習や学習ベースの経路選択による</a:t>
            </a:r>
            <a:endParaRPr lang="en-US" altLang="ja-JP" sz="1600" dirty="0"/>
          </a:p>
          <a:p>
            <a:pPr>
              <a:buNone/>
            </a:pPr>
            <a:r>
              <a:rPr lang="ja-JP" altLang="es-MX" sz="1600" dirty="0"/>
              <a:t>より高度なサブグラフ検索を検討する。</a:t>
            </a:r>
            <a:endParaRPr lang="en-US" altLang="ja-JP" sz="1600" dirty="0"/>
          </a:p>
          <a:p>
            <a:pPr>
              <a:buNone/>
            </a:pPr>
            <a:endParaRPr lang="en-US" altLang="ja-JP" sz="1600" dirty="0"/>
          </a:p>
          <a:p>
            <a:pPr>
              <a:buNone/>
            </a:pPr>
            <a:endParaRPr lang="en-US" altLang="ja-JP" sz="1600" dirty="0"/>
          </a:p>
          <a:p>
            <a:pPr>
              <a:buNone/>
            </a:pPr>
            <a:endParaRPr lang="ja-JP" altLang="es-MX" sz="1600" dirty="0"/>
          </a:p>
        </p:txBody>
      </p:sp>
      <p:sp>
        <p:nvSpPr>
          <p:cNvPr id="11" name="Rectangle 10">
            <a:extLst>
              <a:ext uri="{FF2B5EF4-FFF2-40B4-BE49-F238E27FC236}">
                <a16:creationId xmlns:a16="http://schemas.microsoft.com/office/drawing/2014/main" id="{054B83EC-BB98-30D7-2E19-5FC9E5B50C0C}"/>
              </a:ext>
            </a:extLst>
          </p:cNvPr>
          <p:cNvSpPr/>
          <p:nvPr/>
        </p:nvSpPr>
        <p:spPr>
          <a:xfrm>
            <a:off x="423334" y="1449051"/>
            <a:ext cx="3671145" cy="410229"/>
          </a:xfrm>
          <a:prstGeom prst="rect">
            <a:avLst/>
          </a:prstGeom>
          <a:solidFill>
            <a:schemeClr val="tx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MX" dirty="0"/>
          </a:p>
        </p:txBody>
      </p:sp>
      <p:sp>
        <p:nvSpPr>
          <p:cNvPr id="10" name="TextBox 9">
            <a:extLst>
              <a:ext uri="{FF2B5EF4-FFF2-40B4-BE49-F238E27FC236}">
                <a16:creationId xmlns:a16="http://schemas.microsoft.com/office/drawing/2014/main" id="{9C09894D-FB79-C596-A5BE-1C7490512EB1}"/>
              </a:ext>
            </a:extLst>
          </p:cNvPr>
          <p:cNvSpPr txBox="1"/>
          <p:nvPr/>
        </p:nvSpPr>
        <p:spPr>
          <a:xfrm>
            <a:off x="8097521" y="1449051"/>
            <a:ext cx="3671145" cy="5016758"/>
          </a:xfrm>
          <a:prstGeom prst="rect">
            <a:avLst/>
          </a:prstGeom>
          <a:solidFill>
            <a:schemeClr val="bg1"/>
          </a:solidFill>
          <a:ln>
            <a:solidFill>
              <a:schemeClr val="tx1"/>
            </a:solidFill>
          </a:ln>
        </p:spPr>
        <p:txBody>
          <a:bodyPr wrap="square">
            <a:spAutoFit/>
          </a:bodyPr>
          <a:lstStyle/>
          <a:p>
            <a:pPr>
              <a:buNone/>
            </a:pPr>
            <a:r>
              <a:rPr lang="es-MX" altLang="ja-JP" sz="1600" b="1" dirty="0"/>
              <a:t>3. </a:t>
            </a:r>
            <a:r>
              <a:rPr lang="es-MX" altLang="ja-JP" sz="1600" b="1" dirty="0" err="1"/>
              <a:t>Knowledge</a:t>
            </a:r>
            <a:r>
              <a:rPr lang="es-MX" altLang="ja-JP" sz="1600" b="1" dirty="0"/>
              <a:t> </a:t>
            </a:r>
            <a:r>
              <a:rPr lang="es-MX" altLang="ja-JP" sz="1600" b="1" dirty="0" err="1"/>
              <a:t>Graph</a:t>
            </a:r>
            <a:r>
              <a:rPr lang="es-MX" altLang="ja-JP" sz="1600" b="1" dirty="0"/>
              <a:t> </a:t>
            </a:r>
            <a:r>
              <a:rPr lang="ja-JP" altLang="es-MX" sz="1600" b="1" dirty="0"/>
              <a:t>の完全性</a:t>
            </a:r>
            <a:endParaRPr lang="en-US" altLang="ja-JP" sz="1600" b="1" dirty="0"/>
          </a:p>
          <a:p>
            <a:pPr>
              <a:buNone/>
            </a:pPr>
            <a:endParaRPr lang="ja-JP" altLang="es-MX" sz="1600" b="1" dirty="0"/>
          </a:p>
          <a:p>
            <a:pPr>
              <a:buNone/>
            </a:pPr>
            <a:r>
              <a:rPr lang="es-MX" altLang="ja-JP" sz="1600" dirty="0"/>
              <a:t>ASER </a:t>
            </a:r>
            <a:r>
              <a:rPr lang="ja-JP" altLang="es-MX" sz="1600" dirty="0"/>
              <a:t>の </a:t>
            </a:r>
            <a:r>
              <a:rPr lang="es-MX" altLang="ja-JP" sz="1600" dirty="0" err="1"/>
              <a:t>Knowledge</a:t>
            </a:r>
            <a:r>
              <a:rPr lang="es-MX" altLang="ja-JP" sz="1600" dirty="0"/>
              <a:t> </a:t>
            </a:r>
            <a:r>
              <a:rPr lang="es-MX" altLang="ja-JP" sz="1600" dirty="0" err="1"/>
              <a:t>Graph</a:t>
            </a:r>
            <a:r>
              <a:rPr lang="es-MX" altLang="ja-JP" sz="1600" dirty="0"/>
              <a:t> </a:t>
            </a:r>
            <a:r>
              <a:rPr lang="ja-JP" altLang="es-MX" sz="1600" dirty="0"/>
              <a:t>は </a:t>
            </a:r>
            <a:r>
              <a:rPr lang="ja-JP" altLang="es-MX" sz="1600" b="1" dirty="0"/>
              <a:t>完全ではない</a:t>
            </a:r>
            <a:r>
              <a:rPr lang="ja-JP" altLang="es-MX" sz="1600" dirty="0"/>
              <a:t>。</a:t>
            </a:r>
          </a:p>
          <a:p>
            <a:pPr>
              <a:buNone/>
            </a:pPr>
            <a:endParaRPr lang="es-MX" altLang="ja-JP" sz="1600" dirty="0"/>
          </a:p>
          <a:p>
            <a:pPr>
              <a:buNone/>
            </a:pPr>
            <a:r>
              <a:rPr lang="es-MX" altLang="ja-JP" sz="1600" dirty="0"/>
              <a:t>PIE </a:t>
            </a:r>
            <a:r>
              <a:rPr lang="ja-JP" altLang="es-MX" sz="1600" dirty="0"/>
              <a:t>によりイベント一致率は </a:t>
            </a:r>
            <a:r>
              <a:rPr lang="es-MX" altLang="ja-JP" sz="1600" b="1" dirty="0"/>
              <a:t>97%</a:t>
            </a:r>
            <a:r>
              <a:rPr lang="ja-JP" altLang="es-MX" sz="1600" dirty="0"/>
              <a:t> まで向上するが、それでも </a:t>
            </a:r>
            <a:r>
              <a:rPr lang="ja-JP" altLang="es-MX" sz="1600" b="1" dirty="0"/>
              <a:t>約</a:t>
            </a:r>
            <a:r>
              <a:rPr lang="es-MX" altLang="ja-JP" sz="1600" b="1" dirty="0"/>
              <a:t>3%</a:t>
            </a:r>
            <a:r>
              <a:rPr lang="ja-JP" altLang="es-MX" sz="1600" b="1" dirty="0"/>
              <a:t>のイベントはマッチしない</a:t>
            </a:r>
            <a:r>
              <a:rPr lang="ja-JP" altLang="es-MX" sz="1600" dirty="0"/>
              <a:t>。</a:t>
            </a:r>
            <a:endParaRPr lang="en-US" altLang="ja-JP" sz="1600" dirty="0"/>
          </a:p>
          <a:p>
            <a:pPr>
              <a:buNone/>
            </a:pPr>
            <a:endParaRPr lang="ja-JP" altLang="es-MX" sz="1600" dirty="0"/>
          </a:p>
          <a:p>
            <a:pPr>
              <a:buNone/>
            </a:pPr>
            <a:r>
              <a:rPr lang="ja-JP" altLang="es-MX" sz="1600" dirty="0"/>
              <a:t>つまり、推論性能は</a:t>
            </a:r>
            <a:br>
              <a:rPr lang="ja-JP" altLang="es-MX" sz="1600" dirty="0"/>
            </a:br>
            <a:r>
              <a:rPr lang="es-MX" altLang="ja-JP" sz="1600" b="1" dirty="0" err="1"/>
              <a:t>Knowledge</a:t>
            </a:r>
            <a:r>
              <a:rPr lang="es-MX" altLang="ja-JP" sz="1600" b="1" dirty="0"/>
              <a:t> </a:t>
            </a:r>
            <a:r>
              <a:rPr lang="es-MX" altLang="ja-JP" sz="1600" b="1" dirty="0" err="1"/>
              <a:t>Graph</a:t>
            </a:r>
            <a:r>
              <a:rPr lang="es-MX" altLang="ja-JP" sz="1600" b="1" dirty="0"/>
              <a:t> </a:t>
            </a:r>
            <a:r>
              <a:rPr lang="ja-JP" altLang="es-MX" sz="1600" b="1" dirty="0"/>
              <a:t>に含まれる知識の量に依存する</a:t>
            </a:r>
            <a:r>
              <a:rPr lang="ja-JP" altLang="es-MX" sz="1600" dirty="0"/>
              <a:t>。</a:t>
            </a:r>
            <a:endParaRPr lang="en-US" altLang="ja-JP" sz="1600" dirty="0"/>
          </a:p>
          <a:p>
            <a:pPr>
              <a:buNone/>
            </a:pPr>
            <a:endParaRPr lang="en-US" altLang="ja-JP" sz="1600" b="1" dirty="0"/>
          </a:p>
          <a:p>
            <a:pPr>
              <a:buNone/>
            </a:pPr>
            <a:r>
              <a:rPr lang="ja-JP" altLang="es-MX" sz="1600" b="1" dirty="0"/>
              <a:t>今後の研究</a:t>
            </a:r>
            <a:endParaRPr lang="ja-JP" altLang="es-MX" sz="1600" dirty="0"/>
          </a:p>
          <a:p>
            <a:pPr>
              <a:buNone/>
            </a:pPr>
            <a:r>
              <a:rPr lang="es-MX" altLang="ja-JP" sz="1600" dirty="0" err="1"/>
              <a:t>Knowledge</a:t>
            </a:r>
            <a:r>
              <a:rPr lang="es-MX" altLang="ja-JP" sz="1600" dirty="0"/>
              <a:t> </a:t>
            </a:r>
            <a:r>
              <a:rPr lang="es-MX" altLang="ja-JP" sz="1600" dirty="0" err="1"/>
              <a:t>Graph</a:t>
            </a:r>
            <a:r>
              <a:rPr lang="es-MX" altLang="ja-JP" sz="1600" dirty="0"/>
              <a:t> </a:t>
            </a:r>
            <a:r>
              <a:rPr lang="ja-JP" altLang="es-MX" sz="1600" dirty="0"/>
              <a:t>に加えて</a:t>
            </a:r>
            <a:br>
              <a:rPr lang="ja-JP" altLang="es-MX" sz="1600" dirty="0"/>
            </a:br>
            <a:r>
              <a:rPr lang="ja-JP" altLang="es-MX" sz="1600" b="1" dirty="0"/>
              <a:t>非構造テキストからの </a:t>
            </a:r>
            <a:r>
              <a:rPr lang="es-MX" altLang="ja-JP" sz="1600" b="1" dirty="0"/>
              <a:t>dense </a:t>
            </a:r>
            <a:r>
              <a:rPr lang="es-MX" altLang="ja-JP" sz="1600" b="1" dirty="0" err="1"/>
              <a:t>retrieval</a:t>
            </a:r>
            <a:r>
              <a:rPr lang="ja-JP" altLang="es-MX" sz="1600" dirty="0"/>
              <a:t> を組み合わせる。</a:t>
            </a:r>
            <a:endParaRPr lang="en-US" altLang="ja-JP" sz="1600" dirty="0"/>
          </a:p>
          <a:p>
            <a:pPr>
              <a:buNone/>
            </a:pPr>
            <a:endParaRPr lang="en-US" altLang="ja-JP" sz="1600" dirty="0"/>
          </a:p>
          <a:p>
            <a:pPr>
              <a:buNone/>
            </a:pPr>
            <a:endParaRPr lang="en-US" altLang="ja-JP" sz="1600" dirty="0"/>
          </a:p>
          <a:p>
            <a:pPr>
              <a:buNone/>
            </a:pPr>
            <a:endParaRPr lang="ja-JP" altLang="es-MX" sz="1600" dirty="0"/>
          </a:p>
        </p:txBody>
      </p:sp>
      <p:sp>
        <p:nvSpPr>
          <p:cNvPr id="12" name="Rectangle 11">
            <a:extLst>
              <a:ext uri="{FF2B5EF4-FFF2-40B4-BE49-F238E27FC236}">
                <a16:creationId xmlns:a16="http://schemas.microsoft.com/office/drawing/2014/main" id="{1AA75B4C-2A8C-6174-A558-65A9E872DE41}"/>
              </a:ext>
            </a:extLst>
          </p:cNvPr>
          <p:cNvSpPr/>
          <p:nvPr/>
        </p:nvSpPr>
        <p:spPr>
          <a:xfrm>
            <a:off x="4267199" y="1449051"/>
            <a:ext cx="3671145" cy="410229"/>
          </a:xfrm>
          <a:prstGeom prst="rect">
            <a:avLst/>
          </a:prstGeom>
          <a:solidFill>
            <a:schemeClr val="tx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MX" dirty="0"/>
          </a:p>
        </p:txBody>
      </p:sp>
      <p:sp>
        <p:nvSpPr>
          <p:cNvPr id="14" name="Rectangle 13">
            <a:extLst>
              <a:ext uri="{FF2B5EF4-FFF2-40B4-BE49-F238E27FC236}">
                <a16:creationId xmlns:a16="http://schemas.microsoft.com/office/drawing/2014/main" id="{840224B6-EEB5-BAAB-A4DC-83F91C3C6BCD}"/>
              </a:ext>
            </a:extLst>
          </p:cNvPr>
          <p:cNvSpPr/>
          <p:nvPr/>
        </p:nvSpPr>
        <p:spPr>
          <a:xfrm>
            <a:off x="8097521" y="1449050"/>
            <a:ext cx="3671145" cy="410229"/>
          </a:xfrm>
          <a:prstGeom prst="rect">
            <a:avLst/>
          </a:prstGeom>
          <a:solidFill>
            <a:schemeClr val="tx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MX" dirty="0"/>
          </a:p>
        </p:txBody>
      </p:sp>
    </p:spTree>
    <p:extLst>
      <p:ext uri="{BB962C8B-B14F-4D97-AF65-F5344CB8AC3E}">
        <p14:creationId xmlns:p14="http://schemas.microsoft.com/office/powerpoint/2010/main" val="3093623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4582A-A5FC-0055-FA37-3F0F1D0CF1C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8A3C32A-E196-EC17-02D9-EA128EF385DB}"/>
              </a:ext>
            </a:extLst>
          </p:cNvPr>
          <p:cNvSpPr/>
          <p:nvPr/>
        </p:nvSpPr>
        <p:spPr>
          <a:xfrm>
            <a:off x="0" y="0"/>
            <a:ext cx="12192000" cy="1015662"/>
          </a:xfrm>
          <a:prstGeom prst="rect">
            <a:avLst/>
          </a:prstGeom>
          <a:solidFill>
            <a:schemeClr val="tx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Title 1">
            <a:extLst>
              <a:ext uri="{FF2B5EF4-FFF2-40B4-BE49-F238E27FC236}">
                <a16:creationId xmlns:a16="http://schemas.microsoft.com/office/drawing/2014/main" id="{B23887AD-266D-7364-92F2-73F93EDAD178}"/>
              </a:ext>
            </a:extLst>
          </p:cNvPr>
          <p:cNvSpPr>
            <a:spLocks noGrp="1"/>
          </p:cNvSpPr>
          <p:nvPr>
            <p:ph type="title"/>
          </p:nvPr>
        </p:nvSpPr>
        <p:spPr>
          <a:xfrm>
            <a:off x="423334" y="0"/>
            <a:ext cx="10515600" cy="1015662"/>
          </a:xfrm>
        </p:spPr>
        <p:txBody>
          <a:bodyPr>
            <a:normAutofit/>
          </a:bodyPr>
          <a:lstStyle/>
          <a:p>
            <a:r>
              <a:rPr lang="en-US" altLang="ja-JP" sz="3200" b="1" dirty="0">
                <a:solidFill>
                  <a:schemeClr val="bg1"/>
                </a:solidFill>
              </a:rPr>
              <a:t>Conclusion</a:t>
            </a:r>
          </a:p>
        </p:txBody>
      </p:sp>
      <p:sp>
        <p:nvSpPr>
          <p:cNvPr id="3" name="TextBox 2">
            <a:extLst>
              <a:ext uri="{FF2B5EF4-FFF2-40B4-BE49-F238E27FC236}">
                <a16:creationId xmlns:a16="http://schemas.microsoft.com/office/drawing/2014/main" id="{4B97B2C3-5891-1448-7EF5-40A8993F886A}"/>
              </a:ext>
            </a:extLst>
          </p:cNvPr>
          <p:cNvSpPr txBox="1"/>
          <p:nvPr/>
        </p:nvSpPr>
        <p:spPr>
          <a:xfrm>
            <a:off x="579120" y="1407726"/>
            <a:ext cx="10789920" cy="3724096"/>
          </a:xfrm>
          <a:prstGeom prst="rect">
            <a:avLst/>
          </a:prstGeom>
          <a:noFill/>
        </p:spPr>
        <p:txBody>
          <a:bodyPr wrap="square">
            <a:spAutoFit/>
          </a:bodyPr>
          <a:lstStyle/>
          <a:p>
            <a:r>
              <a:rPr lang="ja-JP" altLang="es-MX" sz="2000" dirty="0"/>
              <a:t>本研究では、テキスト中のイベントを </a:t>
            </a:r>
            <a:r>
              <a:rPr lang="es-MX" altLang="ja-JP" sz="2000" b="1" dirty="0" err="1"/>
              <a:t>Knowledge</a:t>
            </a:r>
            <a:r>
              <a:rPr lang="es-MX" altLang="ja-JP" sz="2000" b="1" dirty="0"/>
              <a:t> </a:t>
            </a:r>
            <a:r>
              <a:rPr lang="es-MX" altLang="ja-JP" sz="2000" b="1" dirty="0" err="1"/>
              <a:t>Graph</a:t>
            </a:r>
            <a:r>
              <a:rPr lang="es-MX" altLang="ja-JP" sz="2000" b="1" dirty="0"/>
              <a:t> (ASER)</a:t>
            </a:r>
            <a:r>
              <a:rPr lang="ja-JP" altLang="es-MX" sz="2000" dirty="0"/>
              <a:t> に対応付けて推論を行う </a:t>
            </a:r>
            <a:r>
              <a:rPr lang="es-MX" altLang="ja-JP" sz="2000" b="1" dirty="0" err="1"/>
              <a:t>EventGround</a:t>
            </a:r>
            <a:r>
              <a:rPr lang="es-MX" altLang="ja-JP" sz="2000" b="1" dirty="0"/>
              <a:t> </a:t>
            </a:r>
            <a:r>
              <a:rPr lang="ja-JP" altLang="es-MX" sz="2000" b="1" dirty="0"/>
              <a:t>フレームワーク</a:t>
            </a:r>
            <a:r>
              <a:rPr lang="ja-JP" altLang="es-MX" sz="2000" dirty="0"/>
              <a:t>を提案した。この手法は、</a:t>
            </a:r>
            <a:r>
              <a:rPr lang="ja-JP" altLang="es-MX" sz="2000" b="1" dirty="0"/>
              <a:t>言語モデル、</a:t>
            </a:r>
            <a:r>
              <a:rPr lang="es-MX" altLang="ja-JP" sz="2000" b="1" dirty="0" err="1"/>
              <a:t>Knowledge</a:t>
            </a:r>
            <a:r>
              <a:rPr lang="es-MX" altLang="ja-JP" sz="2000" b="1" dirty="0"/>
              <a:t> </a:t>
            </a:r>
            <a:r>
              <a:rPr lang="es-MX" altLang="ja-JP" sz="2000" b="1" dirty="0" err="1"/>
              <a:t>Graph</a:t>
            </a:r>
            <a:r>
              <a:rPr lang="ja-JP" altLang="es-MX" sz="2000" b="1" dirty="0"/>
              <a:t>、そして </a:t>
            </a:r>
            <a:r>
              <a:rPr lang="es-MX" altLang="ja-JP" sz="2000" b="1" dirty="0" err="1"/>
              <a:t>Graph</a:t>
            </a:r>
            <a:r>
              <a:rPr lang="es-MX" altLang="ja-JP" sz="2000" b="1" dirty="0"/>
              <a:t> Neural Network</a:t>
            </a:r>
            <a:r>
              <a:rPr lang="ja-JP" altLang="es-MX" sz="2000" dirty="0"/>
              <a:t> を組み合わせることで、物語中の出来事に関する推論を可能にする。</a:t>
            </a:r>
          </a:p>
          <a:p>
            <a:endParaRPr lang="es-MX" altLang="ja-JP" sz="2000" dirty="0"/>
          </a:p>
          <a:p>
            <a:r>
              <a:rPr lang="ja-JP" altLang="es-MX" sz="2000" dirty="0"/>
              <a:t>また、</a:t>
            </a:r>
            <a:r>
              <a:rPr lang="es-MX" altLang="ja-JP" sz="2000" b="1" dirty="0" err="1"/>
              <a:t>Progressive</a:t>
            </a:r>
            <a:r>
              <a:rPr lang="es-MX" altLang="ja-JP" sz="2000" b="1" dirty="0"/>
              <a:t> </a:t>
            </a:r>
            <a:r>
              <a:rPr lang="es-MX" altLang="ja-JP" sz="2000" b="1" dirty="0" err="1"/>
              <a:t>Event</a:t>
            </a:r>
            <a:r>
              <a:rPr lang="es-MX" altLang="ja-JP" sz="2000" b="1" dirty="0"/>
              <a:t> </a:t>
            </a:r>
            <a:r>
              <a:rPr lang="es-MX" altLang="ja-JP" sz="2000" b="1" dirty="0" err="1"/>
              <a:t>Abstraction</a:t>
            </a:r>
            <a:r>
              <a:rPr lang="es-MX" altLang="ja-JP" sz="2000" b="1" dirty="0"/>
              <a:t> (PIE)</a:t>
            </a:r>
            <a:r>
              <a:rPr lang="ja-JP" altLang="es-MX" sz="2000" dirty="0"/>
              <a:t> によってイベントの抽象化を行うことで、テキストイベントと </a:t>
            </a:r>
            <a:r>
              <a:rPr lang="es-MX" altLang="ja-JP" sz="2000" dirty="0" err="1"/>
              <a:t>Knowledge</a:t>
            </a:r>
            <a:r>
              <a:rPr lang="es-MX" altLang="ja-JP" sz="2000" dirty="0"/>
              <a:t> </a:t>
            </a:r>
            <a:r>
              <a:rPr lang="es-MX" altLang="ja-JP" sz="2000" dirty="0" err="1"/>
              <a:t>Graph</a:t>
            </a:r>
            <a:r>
              <a:rPr lang="es-MX" altLang="ja-JP" sz="2000" dirty="0"/>
              <a:t> </a:t>
            </a:r>
            <a:r>
              <a:rPr lang="ja-JP" altLang="es-MX" sz="2000" dirty="0"/>
              <a:t>のイベントの一致率を向上させ、ナラティブ推論タスクの性能を改善した。</a:t>
            </a:r>
          </a:p>
          <a:p>
            <a:endParaRPr lang="es-MX" altLang="ja-JP" sz="2000" dirty="0"/>
          </a:p>
          <a:p>
            <a:r>
              <a:rPr lang="ja-JP" altLang="es-MX" sz="2000" dirty="0"/>
              <a:t>さらに、</a:t>
            </a:r>
            <a:r>
              <a:rPr lang="es-MX" altLang="ja-JP" sz="2000" dirty="0" err="1"/>
              <a:t>Knowledge</a:t>
            </a:r>
            <a:r>
              <a:rPr lang="es-MX" altLang="ja-JP" sz="2000" dirty="0"/>
              <a:t> </a:t>
            </a:r>
            <a:r>
              <a:rPr lang="es-MX" altLang="ja-JP" sz="2000" dirty="0" err="1"/>
              <a:t>Graph</a:t>
            </a:r>
            <a:r>
              <a:rPr lang="es-MX" altLang="ja-JP" sz="2000" dirty="0"/>
              <a:t> </a:t>
            </a:r>
            <a:r>
              <a:rPr lang="ja-JP" altLang="es-MX" sz="2000" dirty="0"/>
              <a:t>上の推論経路を利用することで、モデルの予測を </a:t>
            </a:r>
            <a:r>
              <a:rPr lang="ja-JP" altLang="es-MX" sz="2000" b="1" dirty="0"/>
              <a:t>解釈可能な形で説明できる</a:t>
            </a:r>
            <a:r>
              <a:rPr lang="ja-JP" altLang="es-MX" sz="2000" dirty="0"/>
              <a:t>点も重要な利点である。</a:t>
            </a:r>
          </a:p>
          <a:p>
            <a:endParaRPr lang="ja-JP" altLang="es-MX" sz="1600" dirty="0"/>
          </a:p>
        </p:txBody>
      </p:sp>
    </p:spTree>
    <p:extLst>
      <p:ext uri="{BB962C8B-B14F-4D97-AF65-F5344CB8AC3E}">
        <p14:creationId xmlns:p14="http://schemas.microsoft.com/office/powerpoint/2010/main" val="1556303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JAP1">
      <a:majorFont>
        <a:latin typeface="Aptos Display"/>
        <a:ea typeface="Noto Sans JP"/>
        <a:cs typeface=""/>
      </a:majorFont>
      <a:minorFont>
        <a:latin typeface="Aptos"/>
        <a:ea typeface="Noto Sans JP"/>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621</TotalTime>
  <Words>8384</Words>
  <Application>Microsoft Office PowerPoint</Application>
  <PresentationFormat>Widescreen</PresentationFormat>
  <Paragraphs>809</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Aptos</vt:lpstr>
      <vt:lpstr>Aptos Display</vt:lpstr>
      <vt:lpstr>Arial</vt:lpstr>
      <vt:lpstr>Calibri</vt:lpstr>
      <vt:lpstr>Cambria Math</vt:lpstr>
      <vt:lpstr>Consolas</vt:lpstr>
      <vt:lpstr>Courier New</vt:lpstr>
      <vt:lpstr>Trebuchet MS</vt:lpstr>
      <vt:lpstr>Office Theme</vt:lpstr>
      <vt:lpstr>EventGround: Narrative Reasoning by Grounding to Eventuality-Centric Knowledge Graphs</vt:lpstr>
      <vt:lpstr>Narrative Reasoning</vt:lpstr>
      <vt:lpstr>Two Existing Paradigms</vt:lpstr>
      <vt:lpstr>EventGround</vt:lpstr>
      <vt:lpstr>Problem 1: Event Representation</vt:lpstr>
      <vt:lpstr>Problem 2: Event Sparsity</vt:lpstr>
      <vt:lpstr>Step 1: Event Extraction – Semantic Role Labeling</vt:lpstr>
      <vt:lpstr>Step 2: Event Normalization: Fixing Co-reference</vt:lpstr>
      <vt:lpstr>Step 3: Partial Information Extraction (PIE)</vt:lpstr>
      <vt:lpstr>Step 4 — Event Matching &amp; KG Grounding</vt:lpstr>
      <vt:lpstr>Step 5 — Subgraph Construction</vt:lpstr>
      <vt:lpstr>Step 6 — RGCN-Based Reasoning</vt:lpstr>
      <vt:lpstr>Step 6 — RGCN-Based Reasoning</vt:lpstr>
      <vt:lpstr>Case Study</vt:lpstr>
      <vt:lpstr>Results</vt:lpstr>
      <vt:lpstr>Results</vt:lpstr>
      <vt:lpstr>Limitations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Lopez Chapa</dc:creator>
  <cp:lastModifiedBy>Jose Lopez Chapa</cp:lastModifiedBy>
  <cp:revision>17</cp:revision>
  <dcterms:created xsi:type="dcterms:W3CDTF">2026-03-16T16:56:46Z</dcterms:created>
  <dcterms:modified xsi:type="dcterms:W3CDTF">2026-03-17T03:18:26Z</dcterms:modified>
</cp:coreProperties>
</file>