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3"/>
  </p:notesMasterIdLst>
  <p:sldIdLst>
    <p:sldId id="257" r:id="rId2"/>
    <p:sldId id="274" r:id="rId3"/>
    <p:sldId id="276" r:id="rId4"/>
    <p:sldId id="277" r:id="rId5"/>
    <p:sldId id="278" r:id="rId6"/>
    <p:sldId id="279" r:id="rId7"/>
    <p:sldId id="280" r:id="rId8"/>
    <p:sldId id="281" r:id="rId9"/>
    <p:sldId id="282" r:id="rId10"/>
    <p:sldId id="285" r:id="rId11"/>
    <p:sldId id="286" r:id="rId12"/>
  </p:sldIdLst>
  <p:sldSz cx="12192000" cy="6858000"/>
  <p:notesSz cx="6858000" cy="9144000"/>
  <p:defaultTextStyle>
    <a:defPPr>
      <a:defRPr lang="es-MX"/>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D7AC3CCA-C797-4891-BE02-D94E43425B78}" styleName="Medium Style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2173" autoAdjust="0"/>
    <p:restoredTop sz="94660"/>
  </p:normalViewPr>
  <p:slideViewPr>
    <p:cSldViewPr snapToGrid="0">
      <p:cViewPr varScale="1">
        <p:scale>
          <a:sx n="120" d="100"/>
          <a:sy n="120" d="100"/>
        </p:scale>
        <p:origin x="396" y="9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MX"/>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BB22A5C-127C-4468-A389-124EB9F6CEEE}" type="datetimeFigureOut">
              <a:rPr lang="es-MX" smtClean="0"/>
              <a:t>12/05/2026</a:t>
            </a:fld>
            <a:endParaRPr lang="es-MX"/>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s-MX"/>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s-MX"/>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s-MX"/>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EBDF6BD-12D2-4C4A-ACD0-FD15DD810405}" type="slidenum">
              <a:rPr lang="es-MX" smtClean="0"/>
              <a:t>‹#›</a:t>
            </a:fld>
            <a:endParaRPr lang="es-MX"/>
          </a:p>
        </p:txBody>
      </p:sp>
    </p:spTree>
    <p:extLst>
      <p:ext uri="{BB962C8B-B14F-4D97-AF65-F5344CB8AC3E}">
        <p14:creationId xmlns:p14="http://schemas.microsoft.com/office/powerpoint/2010/main" val="426508356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
        <p:cNvGrpSpPr/>
        <p:nvPr/>
      </p:nvGrpSpPr>
      <p:grpSpPr>
        <a:xfrm>
          <a:off x="0" y="0"/>
          <a:ext cx="0" cy="0"/>
          <a:chOff x="0" y="0"/>
          <a:chExt cx="0" cy="0"/>
        </a:xfrm>
      </p:grpSpPr>
      <p:sp>
        <p:nvSpPr>
          <p:cNvPr id="12" name="Google Shape;12;g3d1eafd1ad1_0_21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 name="Google Shape;13;g3d1eafd1ad1_0_214: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14" name="Google Shape;14;g3d1eafd1ad1_0_214: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AD3E66-3299-BDAB-9EB6-55CD0DEE9E4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A1776A1-06E9-BDB6-AAF9-A299EEF66E2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37E396F-E7F1-1883-164B-B8B45FC86A45}"/>
              </a:ext>
            </a:extLst>
          </p:cNvPr>
          <p:cNvSpPr>
            <a:spLocks noGrp="1"/>
          </p:cNvSpPr>
          <p:nvPr>
            <p:ph type="body" idx="1"/>
          </p:nvPr>
        </p:nvSpPr>
        <p:spPr/>
        <p:txBody>
          <a:bodyPr/>
          <a:lstStyle/>
          <a:p>
            <a:r>
              <a:rPr lang="en-US" dirty="0"/>
              <a:t>"Before we get into the problem, ill just explain briefly </a:t>
            </a:r>
            <a:r>
              <a:rPr lang="en-US" dirty="0" err="1"/>
              <a:t>whar</a:t>
            </a:r>
            <a:r>
              <a:rPr lang="en-US" dirty="0"/>
              <a:t> an AI coding agent actually is — because the rest of the proposal builds on this.</a:t>
            </a:r>
          </a:p>
          <a:p>
            <a:endParaRPr lang="en-US" dirty="0"/>
          </a:p>
          <a:p>
            <a:r>
              <a:rPr lang="en-US" dirty="0"/>
              <a:t>Claude Code is an agent that operates inside a terminal session. You describe a task in natural language — something like 'refactor this module' or 'fix the authentication bug' — and the agent takes over. It reads files, writes code, runs commands, debugs errors, and iterates. It acts autonomously over multiple steps, not just generating a single response.</a:t>
            </a:r>
          </a:p>
          <a:p>
            <a:endParaRPr lang="en-US" dirty="0"/>
          </a:p>
          <a:p>
            <a:r>
              <a:rPr lang="en-US" dirty="0"/>
              <a:t>Each session is structured as a back-and-forth conversation, and that conversation is saved as a JSONL file on disk. So there is a record — the data exists.</a:t>
            </a:r>
          </a:p>
          <a:p>
            <a:endParaRPr lang="en-US" dirty="0"/>
          </a:p>
          <a:p>
            <a:r>
              <a:rPr lang="en-US" dirty="0"/>
              <a:t>But here is the fundamental gap, and this is really the starting point of everything that follows: every new session starts completely fresh. The agent has no access to what happened last time. It doesn't know which decisions were made, which approaches failed, or which tools were already configured. The developer has to re-explain all of that context from scratch, every single time.</a:t>
            </a:r>
          </a:p>
          <a:p>
            <a:endParaRPr lang="en-US" dirty="0"/>
          </a:p>
          <a:p>
            <a:r>
              <a:rPr lang="en-US" dirty="0"/>
              <a:t>That's the problem we're trying to solve."</a:t>
            </a:r>
          </a:p>
          <a:p>
            <a:endParaRPr lang="en-US" dirty="0"/>
          </a:p>
        </p:txBody>
      </p:sp>
      <p:sp>
        <p:nvSpPr>
          <p:cNvPr id="4" name="Slide Number Placeholder 3">
            <a:extLst>
              <a:ext uri="{FF2B5EF4-FFF2-40B4-BE49-F238E27FC236}">
                <a16:creationId xmlns:a16="http://schemas.microsoft.com/office/drawing/2014/main" id="{185AFD7F-9626-9FB4-0B69-26E4F50ABE67}"/>
              </a:ext>
            </a:extLst>
          </p:cNvPr>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399102643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E4BE72-D1C1-8CCB-4941-AA64030FF26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E50F870-D886-0AE7-04F8-68F5DE35653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83C7BEC-721E-B94F-0C76-EAB31465B8B1}"/>
              </a:ext>
            </a:extLst>
          </p:cNvPr>
          <p:cNvSpPr>
            <a:spLocks noGrp="1"/>
          </p:cNvSpPr>
          <p:nvPr>
            <p:ph type="body" idx="1"/>
          </p:nvPr>
        </p:nvSpPr>
        <p:spPr/>
        <p:txBody>
          <a:bodyPr/>
          <a:lstStyle/>
          <a:p>
            <a:r>
              <a:rPr lang="en-US" dirty="0"/>
              <a:t>"Before we get into the problem, ill just explain briefly </a:t>
            </a:r>
            <a:r>
              <a:rPr lang="en-US" dirty="0" err="1"/>
              <a:t>whar</a:t>
            </a:r>
            <a:r>
              <a:rPr lang="en-US" dirty="0"/>
              <a:t> an AI coding agent actually is — because the rest of the proposal builds on this.</a:t>
            </a:r>
          </a:p>
          <a:p>
            <a:endParaRPr lang="en-US" dirty="0"/>
          </a:p>
          <a:p>
            <a:r>
              <a:rPr lang="en-US" dirty="0"/>
              <a:t>Claude Code is an agent that operates inside a terminal session. You describe a task in natural language — something like 'refactor this module' or 'fix the authentication bug' — and the agent takes over. It reads files, writes code, runs commands, debugs errors, and iterates. It acts autonomously over multiple steps, not just generating a single response.</a:t>
            </a:r>
          </a:p>
          <a:p>
            <a:endParaRPr lang="en-US" dirty="0"/>
          </a:p>
          <a:p>
            <a:r>
              <a:rPr lang="en-US" dirty="0"/>
              <a:t>Each session is structured as a back-and-forth conversation, and that conversation is saved as a JSONL file on disk. So there is a record — the data exists.</a:t>
            </a:r>
          </a:p>
          <a:p>
            <a:endParaRPr lang="en-US" dirty="0"/>
          </a:p>
          <a:p>
            <a:r>
              <a:rPr lang="en-US" dirty="0"/>
              <a:t>But here is the fundamental gap, and this is really the starting point of everything that follows: every new session starts completely fresh. The agent has no access to what happened last time. It doesn't know which decisions were made, which approaches failed, or which tools were already configured. The developer has to re-explain all of that context from scratch, every single time.</a:t>
            </a:r>
          </a:p>
          <a:p>
            <a:endParaRPr lang="en-US" dirty="0"/>
          </a:p>
          <a:p>
            <a:r>
              <a:rPr lang="en-US" dirty="0"/>
              <a:t>That's the problem we're trying to solve."</a:t>
            </a:r>
          </a:p>
          <a:p>
            <a:endParaRPr lang="en-US" dirty="0"/>
          </a:p>
        </p:txBody>
      </p:sp>
      <p:sp>
        <p:nvSpPr>
          <p:cNvPr id="4" name="Slide Number Placeholder 3">
            <a:extLst>
              <a:ext uri="{FF2B5EF4-FFF2-40B4-BE49-F238E27FC236}">
                <a16:creationId xmlns:a16="http://schemas.microsoft.com/office/drawing/2014/main" id="{A17B2C01-96CA-E763-C293-FEB84A44EEAF}"/>
              </a:ext>
            </a:extLst>
          </p:cNvPr>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203884038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B329CE-E8AC-407E-9729-EE38B780883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8052C4B-F7C5-BD13-EC80-188F9392C9B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A29C4ED-F8A5-D860-8052-C351C4EACFE0}"/>
              </a:ext>
            </a:extLst>
          </p:cNvPr>
          <p:cNvSpPr>
            <a:spLocks noGrp="1"/>
          </p:cNvSpPr>
          <p:nvPr>
            <p:ph type="body" idx="1"/>
          </p:nvPr>
        </p:nvSpPr>
        <p:spPr/>
        <p:txBody>
          <a:bodyPr/>
          <a:lstStyle/>
          <a:p>
            <a:r>
              <a:rPr lang="en-US" dirty="0"/>
              <a:t>"Before we get into the problem, ill just explain briefly </a:t>
            </a:r>
            <a:r>
              <a:rPr lang="en-US" dirty="0" err="1"/>
              <a:t>whar</a:t>
            </a:r>
            <a:r>
              <a:rPr lang="en-US" dirty="0"/>
              <a:t> an AI coding agent actually is — because the rest of the proposal builds on this.</a:t>
            </a:r>
          </a:p>
          <a:p>
            <a:endParaRPr lang="en-US" dirty="0"/>
          </a:p>
          <a:p>
            <a:r>
              <a:rPr lang="en-US" dirty="0"/>
              <a:t>Claude Code is an agent that operates inside a terminal session. You describe a task in natural language — something like 'refactor this module' or 'fix the authentication bug' — and the agent takes over. It reads files, writes code, runs commands, debugs errors, and iterates. It acts autonomously over multiple steps, not just generating a single response.</a:t>
            </a:r>
          </a:p>
          <a:p>
            <a:endParaRPr lang="en-US" dirty="0"/>
          </a:p>
          <a:p>
            <a:r>
              <a:rPr lang="en-US" dirty="0"/>
              <a:t>Each session is structured as a back-and-forth conversation, and that conversation is saved as a JSONL file on disk. So there is a record — the data exists.</a:t>
            </a:r>
          </a:p>
          <a:p>
            <a:endParaRPr lang="en-US" dirty="0"/>
          </a:p>
          <a:p>
            <a:r>
              <a:rPr lang="en-US" dirty="0"/>
              <a:t>But here is the fundamental gap, and this is really the starting point of everything that follows: every new session starts completely fresh. The agent has no access to what happened last time. It doesn't know which decisions were made, which approaches failed, or which tools were already configured. The developer has to re-explain all of that context from scratch, every single time.</a:t>
            </a:r>
          </a:p>
          <a:p>
            <a:endParaRPr lang="en-US" dirty="0"/>
          </a:p>
          <a:p>
            <a:r>
              <a:rPr lang="en-US" dirty="0"/>
              <a:t>That's the problem we're trying to solve."</a:t>
            </a:r>
          </a:p>
          <a:p>
            <a:endParaRPr lang="en-US" dirty="0"/>
          </a:p>
        </p:txBody>
      </p:sp>
      <p:sp>
        <p:nvSpPr>
          <p:cNvPr id="4" name="Slide Number Placeholder 3">
            <a:extLst>
              <a:ext uri="{FF2B5EF4-FFF2-40B4-BE49-F238E27FC236}">
                <a16:creationId xmlns:a16="http://schemas.microsoft.com/office/drawing/2014/main" id="{43345870-6D53-F63D-A46B-A24E973B231C}"/>
              </a:ext>
            </a:extLst>
          </p:cNvPr>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289732226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8496F5-73F0-93BD-1569-11375EAC1C9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080666C-1985-E46F-B7DE-A3339EF3720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012A3FC-7947-805A-3CB8-2674148CDF15}"/>
              </a:ext>
            </a:extLst>
          </p:cNvPr>
          <p:cNvSpPr>
            <a:spLocks noGrp="1"/>
          </p:cNvSpPr>
          <p:nvPr>
            <p:ph type="body" idx="1"/>
          </p:nvPr>
        </p:nvSpPr>
        <p:spPr/>
        <p:txBody>
          <a:bodyPr/>
          <a:lstStyle/>
          <a:p>
            <a:r>
              <a:rPr lang="en-US" dirty="0"/>
              <a:t>"Before we get into the problem, ill just explain briefly </a:t>
            </a:r>
            <a:r>
              <a:rPr lang="en-US" dirty="0" err="1"/>
              <a:t>whar</a:t>
            </a:r>
            <a:r>
              <a:rPr lang="en-US" dirty="0"/>
              <a:t> an AI coding agent actually is — because the rest of the proposal builds on this.</a:t>
            </a:r>
          </a:p>
          <a:p>
            <a:endParaRPr lang="en-US" dirty="0"/>
          </a:p>
          <a:p>
            <a:r>
              <a:rPr lang="en-US" dirty="0"/>
              <a:t>Claude Code is an agent that operates inside a terminal session. You describe a task in natural language — something like 'refactor this module' or 'fix the authentication bug' — and the agent takes over. It reads files, writes code, runs commands, debugs errors, and iterates. It acts autonomously over multiple steps, not just generating a single response.</a:t>
            </a:r>
          </a:p>
          <a:p>
            <a:endParaRPr lang="en-US" dirty="0"/>
          </a:p>
          <a:p>
            <a:r>
              <a:rPr lang="en-US" dirty="0"/>
              <a:t>Each session is structured as a back-and-forth conversation, and that conversation is saved as a JSONL file on disk. So there is a record — the data exists.</a:t>
            </a:r>
          </a:p>
          <a:p>
            <a:endParaRPr lang="en-US" dirty="0"/>
          </a:p>
          <a:p>
            <a:r>
              <a:rPr lang="en-US" dirty="0"/>
              <a:t>But here is the fundamental gap, and this is really the starting point of everything that follows: every new session starts completely fresh. The agent has no access to what happened last time. It doesn't know which decisions were made, which approaches failed, or which tools were already configured. The developer has to re-explain all of that context from scratch, every single time.</a:t>
            </a:r>
          </a:p>
          <a:p>
            <a:endParaRPr lang="en-US" dirty="0"/>
          </a:p>
          <a:p>
            <a:r>
              <a:rPr lang="en-US" dirty="0"/>
              <a:t>That's the problem we're trying to solve."</a:t>
            </a:r>
          </a:p>
          <a:p>
            <a:endParaRPr lang="en-US" dirty="0"/>
          </a:p>
        </p:txBody>
      </p:sp>
      <p:sp>
        <p:nvSpPr>
          <p:cNvPr id="4" name="Slide Number Placeholder 3">
            <a:extLst>
              <a:ext uri="{FF2B5EF4-FFF2-40B4-BE49-F238E27FC236}">
                <a16:creationId xmlns:a16="http://schemas.microsoft.com/office/drawing/2014/main" id="{E0C75264-131C-9A9E-689A-C81901F07D97}"/>
              </a:ext>
            </a:extLst>
          </p:cNvPr>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26122416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F52567-671A-0B7D-D7C2-81B999AC4E5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6102DF6-5ABA-8477-AE53-DF8F7A0C8D8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AEFA492-75CA-10C4-884E-6F04E739E946}"/>
              </a:ext>
            </a:extLst>
          </p:cNvPr>
          <p:cNvSpPr>
            <a:spLocks noGrp="1"/>
          </p:cNvSpPr>
          <p:nvPr>
            <p:ph type="body" idx="1"/>
          </p:nvPr>
        </p:nvSpPr>
        <p:spPr/>
        <p:txBody>
          <a:bodyPr/>
          <a:lstStyle/>
          <a:p>
            <a:r>
              <a:rPr lang="en-US" dirty="0"/>
              <a:t>"Before we get into the problem, ill just explain briefly </a:t>
            </a:r>
            <a:r>
              <a:rPr lang="en-US" dirty="0" err="1"/>
              <a:t>whar</a:t>
            </a:r>
            <a:r>
              <a:rPr lang="en-US" dirty="0"/>
              <a:t> an AI coding agent actually is — because the rest of the proposal builds on this.</a:t>
            </a:r>
          </a:p>
          <a:p>
            <a:endParaRPr lang="en-US" dirty="0"/>
          </a:p>
          <a:p>
            <a:r>
              <a:rPr lang="en-US" dirty="0"/>
              <a:t>Claude Code is an agent that operates inside a terminal session. You describe a task in natural language — something like 'refactor this module' or 'fix the authentication bug' — and the agent takes over. It reads files, writes code, runs commands, debugs errors, and iterates. It acts autonomously over multiple steps, not just generating a single response.</a:t>
            </a:r>
          </a:p>
          <a:p>
            <a:endParaRPr lang="en-US" dirty="0"/>
          </a:p>
          <a:p>
            <a:r>
              <a:rPr lang="en-US" dirty="0"/>
              <a:t>Each session is structured as a back-and-forth conversation, and that conversation is saved as a JSONL file on disk. So there is a record — the data exists.</a:t>
            </a:r>
          </a:p>
          <a:p>
            <a:endParaRPr lang="en-US" dirty="0"/>
          </a:p>
          <a:p>
            <a:r>
              <a:rPr lang="en-US" dirty="0"/>
              <a:t>But here is the fundamental gap, and this is really the starting point of everything that follows: every new session starts completely fresh. The agent has no access to what happened last time. It doesn't know which decisions were made, which approaches failed, or which tools were already configured. The developer has to re-explain all of that context from scratch, every single time.</a:t>
            </a:r>
          </a:p>
          <a:p>
            <a:endParaRPr lang="en-US" dirty="0"/>
          </a:p>
          <a:p>
            <a:r>
              <a:rPr lang="en-US" dirty="0"/>
              <a:t>That's the problem we're trying to solve."</a:t>
            </a:r>
          </a:p>
          <a:p>
            <a:endParaRPr lang="en-US" dirty="0"/>
          </a:p>
        </p:txBody>
      </p:sp>
      <p:sp>
        <p:nvSpPr>
          <p:cNvPr id="4" name="Slide Number Placeholder 3">
            <a:extLst>
              <a:ext uri="{FF2B5EF4-FFF2-40B4-BE49-F238E27FC236}">
                <a16:creationId xmlns:a16="http://schemas.microsoft.com/office/drawing/2014/main" id="{AFBAF28E-988E-1671-C71C-F7B50B53830E}"/>
              </a:ext>
            </a:extLst>
          </p:cNvPr>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25116458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51663A-8BB3-E385-4BC9-2E7D00F98AA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4FF586D-4E06-4250-2FB3-BEDE530A0AD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973E6D2-3EEB-76DF-44D2-17CACD0BB029}"/>
              </a:ext>
            </a:extLst>
          </p:cNvPr>
          <p:cNvSpPr>
            <a:spLocks noGrp="1"/>
          </p:cNvSpPr>
          <p:nvPr>
            <p:ph type="body" idx="1"/>
          </p:nvPr>
        </p:nvSpPr>
        <p:spPr/>
        <p:txBody>
          <a:bodyPr/>
          <a:lstStyle/>
          <a:p>
            <a:r>
              <a:rPr lang="en-US" dirty="0"/>
              <a:t>"Before we get into the problem, ill just explain briefly </a:t>
            </a:r>
            <a:r>
              <a:rPr lang="en-US" dirty="0" err="1"/>
              <a:t>whar</a:t>
            </a:r>
            <a:r>
              <a:rPr lang="en-US" dirty="0"/>
              <a:t> an AI coding agent actually is — because the rest of the proposal builds on this.</a:t>
            </a:r>
          </a:p>
          <a:p>
            <a:endParaRPr lang="en-US" dirty="0"/>
          </a:p>
          <a:p>
            <a:r>
              <a:rPr lang="en-US" dirty="0"/>
              <a:t>Claude Code is an agent that operates inside a terminal session. You describe a task in natural language — something like 'refactor this module' or 'fix the authentication bug' — and the agent takes over. It reads files, writes code, runs commands, debugs errors, and iterates. It acts autonomously over multiple steps, not just generating a single response.</a:t>
            </a:r>
          </a:p>
          <a:p>
            <a:endParaRPr lang="en-US" dirty="0"/>
          </a:p>
          <a:p>
            <a:r>
              <a:rPr lang="en-US" dirty="0"/>
              <a:t>Each session is structured as a back-and-forth conversation, and that conversation is saved as a JSONL file on disk. So there is a record — the data exists.</a:t>
            </a:r>
          </a:p>
          <a:p>
            <a:endParaRPr lang="en-US" dirty="0"/>
          </a:p>
          <a:p>
            <a:r>
              <a:rPr lang="en-US" dirty="0"/>
              <a:t>But here is the fundamental gap, and this is really the starting point of everything that follows: every new session starts completely fresh. The agent has no access to what happened last time. It doesn't know which decisions were made, which approaches failed, or which tools were already configured. The developer has to re-explain all of that context from scratch, every single time.</a:t>
            </a:r>
          </a:p>
          <a:p>
            <a:endParaRPr lang="en-US" dirty="0"/>
          </a:p>
          <a:p>
            <a:r>
              <a:rPr lang="en-US" dirty="0"/>
              <a:t>That's the problem we're trying to solve."</a:t>
            </a:r>
          </a:p>
          <a:p>
            <a:endParaRPr lang="en-US" dirty="0"/>
          </a:p>
        </p:txBody>
      </p:sp>
      <p:sp>
        <p:nvSpPr>
          <p:cNvPr id="4" name="Slide Number Placeholder 3">
            <a:extLst>
              <a:ext uri="{FF2B5EF4-FFF2-40B4-BE49-F238E27FC236}">
                <a16:creationId xmlns:a16="http://schemas.microsoft.com/office/drawing/2014/main" id="{D39D2F8E-BF4A-232D-BA7D-A92F310A741A}"/>
              </a:ext>
            </a:extLst>
          </p:cNvPr>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90892274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A85A49-3D84-5A6E-1650-082C18BE2B1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AF61C2D-8E75-57BE-312F-4DA8F872098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7A99B52-5FAF-2C92-3652-5CE3C623FC6E}"/>
              </a:ext>
            </a:extLst>
          </p:cNvPr>
          <p:cNvSpPr>
            <a:spLocks noGrp="1"/>
          </p:cNvSpPr>
          <p:nvPr>
            <p:ph type="body" idx="1"/>
          </p:nvPr>
        </p:nvSpPr>
        <p:spPr/>
        <p:txBody>
          <a:bodyPr/>
          <a:lstStyle/>
          <a:p>
            <a:r>
              <a:rPr lang="en-US" dirty="0"/>
              <a:t>"Before we get into the problem, ill just explain briefly </a:t>
            </a:r>
            <a:r>
              <a:rPr lang="en-US" dirty="0" err="1"/>
              <a:t>whar</a:t>
            </a:r>
            <a:r>
              <a:rPr lang="en-US" dirty="0"/>
              <a:t> an AI coding agent actually is — because the rest of the proposal builds on this.</a:t>
            </a:r>
          </a:p>
          <a:p>
            <a:endParaRPr lang="en-US" dirty="0"/>
          </a:p>
          <a:p>
            <a:r>
              <a:rPr lang="en-US" dirty="0"/>
              <a:t>Claude Code is an agent that operates inside a terminal session. You describe a task in natural language — something like 'refactor this module' or 'fix the authentication bug' — and the agent takes over. It reads files, writes code, runs commands, debugs errors, and iterates. It acts autonomously over multiple steps, not just generating a single response.</a:t>
            </a:r>
          </a:p>
          <a:p>
            <a:endParaRPr lang="en-US" dirty="0"/>
          </a:p>
          <a:p>
            <a:r>
              <a:rPr lang="en-US" dirty="0"/>
              <a:t>Each session is structured as a back-and-forth conversation, and that conversation is saved as a JSONL file on disk. So there is a record — the data exists.</a:t>
            </a:r>
          </a:p>
          <a:p>
            <a:endParaRPr lang="en-US" dirty="0"/>
          </a:p>
          <a:p>
            <a:r>
              <a:rPr lang="en-US" dirty="0"/>
              <a:t>But here is the fundamental gap, and this is really the starting point of everything that follows: every new session starts completely fresh. The agent has no access to what happened last time. It doesn't know which decisions were made, which approaches failed, or which tools were already configured. The developer has to re-explain all of that context from scratch, every single time.</a:t>
            </a:r>
          </a:p>
          <a:p>
            <a:endParaRPr lang="en-US" dirty="0"/>
          </a:p>
          <a:p>
            <a:r>
              <a:rPr lang="en-US" dirty="0"/>
              <a:t>That's the problem we're trying to solve."</a:t>
            </a:r>
          </a:p>
          <a:p>
            <a:endParaRPr lang="en-US" dirty="0"/>
          </a:p>
        </p:txBody>
      </p:sp>
      <p:sp>
        <p:nvSpPr>
          <p:cNvPr id="4" name="Slide Number Placeholder 3">
            <a:extLst>
              <a:ext uri="{FF2B5EF4-FFF2-40B4-BE49-F238E27FC236}">
                <a16:creationId xmlns:a16="http://schemas.microsoft.com/office/drawing/2014/main" id="{68EE5F82-CF96-6BC8-B724-C834AC2F69AC}"/>
              </a:ext>
            </a:extLst>
          </p:cNvPr>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93767129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E87849-F333-29CA-0112-56D2BC41371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EE44F08-4D51-A8FE-2ED8-CDF84B52914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3A0BAFD-4B4A-EF39-A1EE-D8A845410E9D}"/>
              </a:ext>
            </a:extLst>
          </p:cNvPr>
          <p:cNvSpPr>
            <a:spLocks noGrp="1"/>
          </p:cNvSpPr>
          <p:nvPr>
            <p:ph type="body" idx="1"/>
          </p:nvPr>
        </p:nvSpPr>
        <p:spPr/>
        <p:txBody>
          <a:bodyPr/>
          <a:lstStyle/>
          <a:p>
            <a:r>
              <a:rPr lang="en-US" dirty="0"/>
              <a:t>"Before we get into the problem, ill just explain briefly </a:t>
            </a:r>
            <a:r>
              <a:rPr lang="en-US" dirty="0" err="1"/>
              <a:t>whar</a:t>
            </a:r>
            <a:r>
              <a:rPr lang="en-US" dirty="0"/>
              <a:t> an AI coding agent actually is — because the rest of the proposal builds on this.</a:t>
            </a:r>
          </a:p>
          <a:p>
            <a:endParaRPr lang="en-US" dirty="0"/>
          </a:p>
          <a:p>
            <a:r>
              <a:rPr lang="en-US" dirty="0"/>
              <a:t>Claude Code is an agent that operates inside a terminal session. You describe a task in natural language — something like 'refactor this module' or 'fix the authentication bug' — and the agent takes over. It reads files, writes code, runs commands, debugs errors, and iterates. It acts autonomously over multiple steps, not just generating a single response.</a:t>
            </a:r>
          </a:p>
          <a:p>
            <a:endParaRPr lang="en-US" dirty="0"/>
          </a:p>
          <a:p>
            <a:r>
              <a:rPr lang="en-US" dirty="0"/>
              <a:t>Each session is structured as a back-and-forth conversation, and that conversation is saved as a JSONL file on disk. So there is a record — the data exists.</a:t>
            </a:r>
          </a:p>
          <a:p>
            <a:endParaRPr lang="en-US" dirty="0"/>
          </a:p>
          <a:p>
            <a:r>
              <a:rPr lang="en-US" dirty="0"/>
              <a:t>But here is the fundamental gap, and this is really the starting point of everything that follows: every new session starts completely fresh. The agent has no access to what happened last time. It doesn't know which decisions were made, which approaches failed, or which tools were already configured. The developer has to re-explain all of that context from scratch, every single time.</a:t>
            </a:r>
          </a:p>
          <a:p>
            <a:endParaRPr lang="en-US" dirty="0"/>
          </a:p>
          <a:p>
            <a:r>
              <a:rPr lang="en-US" dirty="0"/>
              <a:t>That's the problem we're trying to solve."</a:t>
            </a:r>
          </a:p>
          <a:p>
            <a:endParaRPr lang="en-US" dirty="0"/>
          </a:p>
        </p:txBody>
      </p:sp>
      <p:sp>
        <p:nvSpPr>
          <p:cNvPr id="4" name="Slide Number Placeholder 3">
            <a:extLst>
              <a:ext uri="{FF2B5EF4-FFF2-40B4-BE49-F238E27FC236}">
                <a16:creationId xmlns:a16="http://schemas.microsoft.com/office/drawing/2014/main" id="{01E03DB3-E4BF-416B-EC51-CAC41DA40191}"/>
              </a:ext>
            </a:extLst>
          </p:cNvPr>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410722554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B1400D-0B6A-A0B5-82A5-A21923F30BE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238A213-A27F-E9DC-060C-1D9BE2AC3BD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4FF8865-71AB-898A-3C0F-0BB879B4D571}"/>
              </a:ext>
            </a:extLst>
          </p:cNvPr>
          <p:cNvSpPr>
            <a:spLocks noGrp="1"/>
          </p:cNvSpPr>
          <p:nvPr>
            <p:ph type="body" idx="1"/>
          </p:nvPr>
        </p:nvSpPr>
        <p:spPr/>
        <p:txBody>
          <a:bodyPr/>
          <a:lstStyle/>
          <a:p>
            <a:r>
              <a:rPr lang="en-US" dirty="0"/>
              <a:t>"Before we get into the problem, ill just explain briefly </a:t>
            </a:r>
            <a:r>
              <a:rPr lang="en-US" dirty="0" err="1"/>
              <a:t>whar</a:t>
            </a:r>
            <a:r>
              <a:rPr lang="en-US" dirty="0"/>
              <a:t> an AI coding agent actually is — because the rest of the proposal builds on this.</a:t>
            </a:r>
          </a:p>
          <a:p>
            <a:endParaRPr lang="en-US" dirty="0"/>
          </a:p>
          <a:p>
            <a:r>
              <a:rPr lang="en-US" dirty="0"/>
              <a:t>Claude Code is an agent that operates inside a terminal session. You describe a task in natural language — something like 'refactor this module' or 'fix the authentication bug' — and the agent takes over. It reads files, writes code, runs commands, debugs errors, and iterates. It acts autonomously over multiple steps, not just generating a single response.</a:t>
            </a:r>
          </a:p>
          <a:p>
            <a:endParaRPr lang="en-US" dirty="0"/>
          </a:p>
          <a:p>
            <a:r>
              <a:rPr lang="en-US" dirty="0"/>
              <a:t>Each session is structured as a back-and-forth conversation, and that conversation is saved as a JSONL file on disk. So there is a record — the data exists.</a:t>
            </a:r>
          </a:p>
          <a:p>
            <a:endParaRPr lang="en-US" dirty="0"/>
          </a:p>
          <a:p>
            <a:r>
              <a:rPr lang="en-US" dirty="0"/>
              <a:t>But here is the fundamental gap, and this is really the starting point of everything that follows: every new session starts completely fresh. The agent has no access to what happened last time. It doesn't know which decisions were made, which approaches failed, or which tools were already configured. The developer has to re-explain all of that context from scratch, every single time.</a:t>
            </a:r>
          </a:p>
          <a:p>
            <a:endParaRPr lang="en-US" dirty="0"/>
          </a:p>
          <a:p>
            <a:r>
              <a:rPr lang="en-US" dirty="0"/>
              <a:t>That's the problem we're trying to solve."</a:t>
            </a:r>
          </a:p>
          <a:p>
            <a:endParaRPr lang="en-US" dirty="0"/>
          </a:p>
        </p:txBody>
      </p:sp>
      <p:sp>
        <p:nvSpPr>
          <p:cNvPr id="4" name="Slide Number Placeholder 3">
            <a:extLst>
              <a:ext uri="{FF2B5EF4-FFF2-40B4-BE49-F238E27FC236}">
                <a16:creationId xmlns:a16="http://schemas.microsoft.com/office/drawing/2014/main" id="{EF13218D-2156-DAAC-10FD-02F856EA877F}"/>
              </a:ext>
            </a:extLst>
          </p:cNvPr>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29489922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DBAA62-3CD2-9781-ADA6-C678E7DB082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0D2F496-425A-FF15-C050-FFA90A28851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4EF58F6-46A7-8866-CB89-DC2C3E7651F4}"/>
              </a:ext>
            </a:extLst>
          </p:cNvPr>
          <p:cNvSpPr>
            <a:spLocks noGrp="1"/>
          </p:cNvSpPr>
          <p:nvPr>
            <p:ph type="body" idx="1"/>
          </p:nvPr>
        </p:nvSpPr>
        <p:spPr/>
        <p:txBody>
          <a:bodyPr/>
          <a:lstStyle/>
          <a:p>
            <a:r>
              <a:rPr lang="en-US" dirty="0"/>
              <a:t>"Before we get into the problem, ill just explain briefly </a:t>
            </a:r>
            <a:r>
              <a:rPr lang="en-US" dirty="0" err="1"/>
              <a:t>whar</a:t>
            </a:r>
            <a:r>
              <a:rPr lang="en-US" dirty="0"/>
              <a:t> an AI coding agent actually is — because the rest of the proposal builds on this.</a:t>
            </a:r>
          </a:p>
          <a:p>
            <a:endParaRPr lang="en-US" dirty="0"/>
          </a:p>
          <a:p>
            <a:r>
              <a:rPr lang="en-US" dirty="0"/>
              <a:t>Claude Code is an agent that operates inside a terminal session. You describe a task in natural language — something like 'refactor this module' or 'fix the authentication bug' — and the agent takes over. It reads files, writes code, runs commands, debugs errors, and iterates. It acts autonomously over multiple steps, not just generating a single response.</a:t>
            </a:r>
          </a:p>
          <a:p>
            <a:endParaRPr lang="en-US" dirty="0"/>
          </a:p>
          <a:p>
            <a:r>
              <a:rPr lang="en-US" dirty="0"/>
              <a:t>Each session is structured as a back-and-forth conversation, and that conversation is saved as a JSONL file on disk. So there is a record — the data exists.</a:t>
            </a:r>
          </a:p>
          <a:p>
            <a:endParaRPr lang="en-US" dirty="0"/>
          </a:p>
          <a:p>
            <a:r>
              <a:rPr lang="en-US" dirty="0"/>
              <a:t>But here is the fundamental gap, and this is really the starting point of everything that follows: every new session starts completely fresh. The agent has no access to what happened last time. It doesn't know which decisions were made, which approaches failed, or which tools were already configured. The developer has to re-explain all of that context from scratch, every single time.</a:t>
            </a:r>
          </a:p>
          <a:p>
            <a:endParaRPr lang="en-US" dirty="0"/>
          </a:p>
          <a:p>
            <a:r>
              <a:rPr lang="en-US" dirty="0"/>
              <a:t>That's the problem we're trying to solve."</a:t>
            </a:r>
          </a:p>
          <a:p>
            <a:endParaRPr lang="en-US" dirty="0"/>
          </a:p>
        </p:txBody>
      </p:sp>
      <p:sp>
        <p:nvSpPr>
          <p:cNvPr id="4" name="Slide Number Placeholder 3">
            <a:extLst>
              <a:ext uri="{FF2B5EF4-FFF2-40B4-BE49-F238E27FC236}">
                <a16:creationId xmlns:a16="http://schemas.microsoft.com/office/drawing/2014/main" id="{DD820A52-6877-5AFA-5422-C64F57B999B8}"/>
              </a:ext>
            </a:extLst>
          </p:cNvPr>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211815526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32C594-BA39-AFF0-BC21-6D4FF36476D9}"/>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s-MX"/>
          </a:p>
        </p:txBody>
      </p:sp>
      <p:sp>
        <p:nvSpPr>
          <p:cNvPr id="3" name="Subtitle 2">
            <a:extLst>
              <a:ext uri="{FF2B5EF4-FFF2-40B4-BE49-F238E27FC236}">
                <a16:creationId xmlns:a16="http://schemas.microsoft.com/office/drawing/2014/main" id="{52953908-704C-66A4-888E-8E545E5F2AC5}"/>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s-MX"/>
          </a:p>
        </p:txBody>
      </p:sp>
      <p:sp>
        <p:nvSpPr>
          <p:cNvPr id="4" name="Date Placeholder 3">
            <a:extLst>
              <a:ext uri="{FF2B5EF4-FFF2-40B4-BE49-F238E27FC236}">
                <a16:creationId xmlns:a16="http://schemas.microsoft.com/office/drawing/2014/main" id="{37942555-89D2-DBA5-BEFE-4DD7951210E2}"/>
              </a:ext>
            </a:extLst>
          </p:cNvPr>
          <p:cNvSpPr>
            <a:spLocks noGrp="1"/>
          </p:cNvSpPr>
          <p:nvPr>
            <p:ph type="dt" sz="half" idx="10"/>
          </p:nvPr>
        </p:nvSpPr>
        <p:spPr/>
        <p:txBody>
          <a:bodyPr/>
          <a:lstStyle/>
          <a:p>
            <a:fld id="{3AE35353-1C00-4CC9-8174-F8702C044143}" type="datetimeFigureOut">
              <a:rPr lang="es-MX" smtClean="0"/>
              <a:t>12/05/2026</a:t>
            </a:fld>
            <a:endParaRPr lang="es-MX"/>
          </a:p>
        </p:txBody>
      </p:sp>
      <p:sp>
        <p:nvSpPr>
          <p:cNvPr id="5" name="Footer Placeholder 4">
            <a:extLst>
              <a:ext uri="{FF2B5EF4-FFF2-40B4-BE49-F238E27FC236}">
                <a16:creationId xmlns:a16="http://schemas.microsoft.com/office/drawing/2014/main" id="{7F38C057-16B9-1DD9-1684-834C774E44B7}"/>
              </a:ext>
            </a:extLst>
          </p:cNvPr>
          <p:cNvSpPr>
            <a:spLocks noGrp="1"/>
          </p:cNvSpPr>
          <p:nvPr>
            <p:ph type="ftr" sz="quarter" idx="11"/>
          </p:nvPr>
        </p:nvSpPr>
        <p:spPr/>
        <p:txBody>
          <a:bodyPr/>
          <a:lstStyle/>
          <a:p>
            <a:endParaRPr lang="es-MX"/>
          </a:p>
        </p:txBody>
      </p:sp>
      <p:sp>
        <p:nvSpPr>
          <p:cNvPr id="6" name="Slide Number Placeholder 5">
            <a:extLst>
              <a:ext uri="{FF2B5EF4-FFF2-40B4-BE49-F238E27FC236}">
                <a16:creationId xmlns:a16="http://schemas.microsoft.com/office/drawing/2014/main" id="{9261D28D-2A03-B5A8-81A9-862072238C33}"/>
              </a:ext>
            </a:extLst>
          </p:cNvPr>
          <p:cNvSpPr>
            <a:spLocks noGrp="1"/>
          </p:cNvSpPr>
          <p:nvPr>
            <p:ph type="sldNum" sz="quarter" idx="12"/>
          </p:nvPr>
        </p:nvSpPr>
        <p:spPr/>
        <p:txBody>
          <a:bodyPr/>
          <a:lstStyle/>
          <a:p>
            <a:fld id="{4DC9D719-CCE4-44A4-BFD8-C621F96BE8CC}" type="slidenum">
              <a:rPr lang="es-MX" smtClean="0"/>
              <a:t>‹#›</a:t>
            </a:fld>
            <a:endParaRPr lang="es-MX"/>
          </a:p>
        </p:txBody>
      </p:sp>
    </p:spTree>
    <p:extLst>
      <p:ext uri="{BB962C8B-B14F-4D97-AF65-F5344CB8AC3E}">
        <p14:creationId xmlns:p14="http://schemas.microsoft.com/office/powerpoint/2010/main" val="263326411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6E97FD-9FAE-D573-7AEE-1A87BD1CA7DC}"/>
              </a:ext>
            </a:extLst>
          </p:cNvPr>
          <p:cNvSpPr>
            <a:spLocks noGrp="1"/>
          </p:cNvSpPr>
          <p:nvPr>
            <p:ph type="title"/>
          </p:nvPr>
        </p:nvSpPr>
        <p:spPr/>
        <p:txBody>
          <a:bodyPr/>
          <a:lstStyle/>
          <a:p>
            <a:r>
              <a:rPr lang="en-US"/>
              <a:t>Click to edit Master title style</a:t>
            </a:r>
            <a:endParaRPr lang="es-MX"/>
          </a:p>
        </p:txBody>
      </p:sp>
      <p:sp>
        <p:nvSpPr>
          <p:cNvPr id="3" name="Content Placeholder 2">
            <a:extLst>
              <a:ext uri="{FF2B5EF4-FFF2-40B4-BE49-F238E27FC236}">
                <a16:creationId xmlns:a16="http://schemas.microsoft.com/office/drawing/2014/main" id="{7AB461F7-BBDD-0C43-B4F2-A61897E821BA}"/>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s-MX"/>
          </a:p>
        </p:txBody>
      </p:sp>
      <p:sp>
        <p:nvSpPr>
          <p:cNvPr id="4" name="Date Placeholder 3">
            <a:extLst>
              <a:ext uri="{FF2B5EF4-FFF2-40B4-BE49-F238E27FC236}">
                <a16:creationId xmlns:a16="http://schemas.microsoft.com/office/drawing/2014/main" id="{5C3F1226-C85E-5112-2B5E-39834527C203}"/>
              </a:ext>
            </a:extLst>
          </p:cNvPr>
          <p:cNvSpPr>
            <a:spLocks noGrp="1"/>
          </p:cNvSpPr>
          <p:nvPr>
            <p:ph type="dt" sz="half" idx="10"/>
          </p:nvPr>
        </p:nvSpPr>
        <p:spPr/>
        <p:txBody>
          <a:bodyPr/>
          <a:lstStyle/>
          <a:p>
            <a:fld id="{3AE35353-1C00-4CC9-8174-F8702C044143}" type="datetimeFigureOut">
              <a:rPr lang="es-MX" smtClean="0"/>
              <a:t>12/05/2026</a:t>
            </a:fld>
            <a:endParaRPr lang="es-MX"/>
          </a:p>
        </p:txBody>
      </p:sp>
      <p:sp>
        <p:nvSpPr>
          <p:cNvPr id="5" name="Footer Placeholder 4">
            <a:extLst>
              <a:ext uri="{FF2B5EF4-FFF2-40B4-BE49-F238E27FC236}">
                <a16:creationId xmlns:a16="http://schemas.microsoft.com/office/drawing/2014/main" id="{4BFC08D1-2250-AED0-611F-6822C738D0C5}"/>
              </a:ext>
            </a:extLst>
          </p:cNvPr>
          <p:cNvSpPr>
            <a:spLocks noGrp="1"/>
          </p:cNvSpPr>
          <p:nvPr>
            <p:ph type="ftr" sz="quarter" idx="11"/>
          </p:nvPr>
        </p:nvSpPr>
        <p:spPr/>
        <p:txBody>
          <a:bodyPr/>
          <a:lstStyle/>
          <a:p>
            <a:endParaRPr lang="es-MX"/>
          </a:p>
        </p:txBody>
      </p:sp>
      <p:sp>
        <p:nvSpPr>
          <p:cNvPr id="6" name="Slide Number Placeholder 5">
            <a:extLst>
              <a:ext uri="{FF2B5EF4-FFF2-40B4-BE49-F238E27FC236}">
                <a16:creationId xmlns:a16="http://schemas.microsoft.com/office/drawing/2014/main" id="{4526C321-4EDA-399C-2561-2627EB6EF94D}"/>
              </a:ext>
            </a:extLst>
          </p:cNvPr>
          <p:cNvSpPr>
            <a:spLocks noGrp="1"/>
          </p:cNvSpPr>
          <p:nvPr>
            <p:ph type="sldNum" sz="quarter" idx="12"/>
          </p:nvPr>
        </p:nvSpPr>
        <p:spPr/>
        <p:txBody>
          <a:bodyPr/>
          <a:lstStyle/>
          <a:p>
            <a:fld id="{4DC9D719-CCE4-44A4-BFD8-C621F96BE8CC}" type="slidenum">
              <a:rPr lang="es-MX" smtClean="0"/>
              <a:t>‹#›</a:t>
            </a:fld>
            <a:endParaRPr lang="es-MX"/>
          </a:p>
        </p:txBody>
      </p:sp>
    </p:spTree>
    <p:extLst>
      <p:ext uri="{BB962C8B-B14F-4D97-AF65-F5344CB8AC3E}">
        <p14:creationId xmlns:p14="http://schemas.microsoft.com/office/powerpoint/2010/main" val="288176098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72692F-E9D4-9FAC-3503-53039678F8F0}"/>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s-MX"/>
          </a:p>
        </p:txBody>
      </p:sp>
      <p:sp>
        <p:nvSpPr>
          <p:cNvPr id="3" name="Text Placeholder 2">
            <a:extLst>
              <a:ext uri="{FF2B5EF4-FFF2-40B4-BE49-F238E27FC236}">
                <a16:creationId xmlns:a16="http://schemas.microsoft.com/office/drawing/2014/main" id="{3AE7AC4B-8A45-CE40-A708-3FCA4C729B31}"/>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AA039AA3-EE74-198D-3190-9EA5F45E1DCF}"/>
              </a:ext>
            </a:extLst>
          </p:cNvPr>
          <p:cNvSpPr>
            <a:spLocks noGrp="1"/>
          </p:cNvSpPr>
          <p:nvPr>
            <p:ph type="dt" sz="half" idx="10"/>
          </p:nvPr>
        </p:nvSpPr>
        <p:spPr/>
        <p:txBody>
          <a:bodyPr/>
          <a:lstStyle/>
          <a:p>
            <a:fld id="{3AE35353-1C00-4CC9-8174-F8702C044143}" type="datetimeFigureOut">
              <a:rPr lang="es-MX" smtClean="0"/>
              <a:t>12/05/2026</a:t>
            </a:fld>
            <a:endParaRPr lang="es-MX"/>
          </a:p>
        </p:txBody>
      </p:sp>
      <p:sp>
        <p:nvSpPr>
          <p:cNvPr id="5" name="Footer Placeholder 4">
            <a:extLst>
              <a:ext uri="{FF2B5EF4-FFF2-40B4-BE49-F238E27FC236}">
                <a16:creationId xmlns:a16="http://schemas.microsoft.com/office/drawing/2014/main" id="{5A66D1FC-2DD1-0991-3D5B-40E36FA43D88}"/>
              </a:ext>
            </a:extLst>
          </p:cNvPr>
          <p:cNvSpPr>
            <a:spLocks noGrp="1"/>
          </p:cNvSpPr>
          <p:nvPr>
            <p:ph type="ftr" sz="quarter" idx="11"/>
          </p:nvPr>
        </p:nvSpPr>
        <p:spPr/>
        <p:txBody>
          <a:bodyPr/>
          <a:lstStyle/>
          <a:p>
            <a:endParaRPr lang="es-MX"/>
          </a:p>
        </p:txBody>
      </p:sp>
      <p:sp>
        <p:nvSpPr>
          <p:cNvPr id="6" name="Slide Number Placeholder 5">
            <a:extLst>
              <a:ext uri="{FF2B5EF4-FFF2-40B4-BE49-F238E27FC236}">
                <a16:creationId xmlns:a16="http://schemas.microsoft.com/office/drawing/2014/main" id="{4BF9610B-76EC-3CE9-CFA4-0E2FD03F5E7C}"/>
              </a:ext>
            </a:extLst>
          </p:cNvPr>
          <p:cNvSpPr>
            <a:spLocks noGrp="1"/>
          </p:cNvSpPr>
          <p:nvPr>
            <p:ph type="sldNum" sz="quarter" idx="12"/>
          </p:nvPr>
        </p:nvSpPr>
        <p:spPr/>
        <p:txBody>
          <a:bodyPr/>
          <a:lstStyle/>
          <a:p>
            <a:fld id="{4DC9D719-CCE4-44A4-BFD8-C621F96BE8CC}" type="slidenum">
              <a:rPr lang="es-MX" smtClean="0"/>
              <a:t>‹#›</a:t>
            </a:fld>
            <a:endParaRPr lang="es-MX"/>
          </a:p>
        </p:txBody>
      </p:sp>
    </p:spTree>
    <p:extLst>
      <p:ext uri="{BB962C8B-B14F-4D97-AF65-F5344CB8AC3E}">
        <p14:creationId xmlns:p14="http://schemas.microsoft.com/office/powerpoint/2010/main" val="280573863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460060-382F-8D29-41D9-D5BF74EB3DEB}"/>
              </a:ext>
            </a:extLst>
          </p:cNvPr>
          <p:cNvSpPr>
            <a:spLocks noGrp="1"/>
          </p:cNvSpPr>
          <p:nvPr>
            <p:ph type="title"/>
          </p:nvPr>
        </p:nvSpPr>
        <p:spPr/>
        <p:txBody>
          <a:bodyPr/>
          <a:lstStyle/>
          <a:p>
            <a:r>
              <a:rPr lang="en-US"/>
              <a:t>Click to edit Master title style</a:t>
            </a:r>
            <a:endParaRPr lang="es-MX"/>
          </a:p>
        </p:txBody>
      </p:sp>
      <p:sp>
        <p:nvSpPr>
          <p:cNvPr id="3" name="Content Placeholder 2">
            <a:extLst>
              <a:ext uri="{FF2B5EF4-FFF2-40B4-BE49-F238E27FC236}">
                <a16:creationId xmlns:a16="http://schemas.microsoft.com/office/drawing/2014/main" id="{87A5266E-135F-6CA0-A530-9587A2340766}"/>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s-MX"/>
          </a:p>
        </p:txBody>
      </p:sp>
      <p:sp>
        <p:nvSpPr>
          <p:cNvPr id="4" name="Content Placeholder 3">
            <a:extLst>
              <a:ext uri="{FF2B5EF4-FFF2-40B4-BE49-F238E27FC236}">
                <a16:creationId xmlns:a16="http://schemas.microsoft.com/office/drawing/2014/main" id="{2C99E63D-B53F-4567-50EE-23225C731F0B}"/>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s-MX"/>
          </a:p>
        </p:txBody>
      </p:sp>
      <p:sp>
        <p:nvSpPr>
          <p:cNvPr id="5" name="Date Placeholder 4">
            <a:extLst>
              <a:ext uri="{FF2B5EF4-FFF2-40B4-BE49-F238E27FC236}">
                <a16:creationId xmlns:a16="http://schemas.microsoft.com/office/drawing/2014/main" id="{2DA895C6-150D-09C2-4718-356431EFC055}"/>
              </a:ext>
            </a:extLst>
          </p:cNvPr>
          <p:cNvSpPr>
            <a:spLocks noGrp="1"/>
          </p:cNvSpPr>
          <p:nvPr>
            <p:ph type="dt" sz="half" idx="10"/>
          </p:nvPr>
        </p:nvSpPr>
        <p:spPr/>
        <p:txBody>
          <a:bodyPr/>
          <a:lstStyle/>
          <a:p>
            <a:fld id="{3AE35353-1C00-4CC9-8174-F8702C044143}" type="datetimeFigureOut">
              <a:rPr lang="es-MX" smtClean="0"/>
              <a:t>12/05/2026</a:t>
            </a:fld>
            <a:endParaRPr lang="es-MX"/>
          </a:p>
        </p:txBody>
      </p:sp>
      <p:sp>
        <p:nvSpPr>
          <p:cNvPr id="6" name="Footer Placeholder 5">
            <a:extLst>
              <a:ext uri="{FF2B5EF4-FFF2-40B4-BE49-F238E27FC236}">
                <a16:creationId xmlns:a16="http://schemas.microsoft.com/office/drawing/2014/main" id="{44FA8662-C4E2-F106-183E-E1BB939DF23C}"/>
              </a:ext>
            </a:extLst>
          </p:cNvPr>
          <p:cNvSpPr>
            <a:spLocks noGrp="1"/>
          </p:cNvSpPr>
          <p:nvPr>
            <p:ph type="ftr" sz="quarter" idx="11"/>
          </p:nvPr>
        </p:nvSpPr>
        <p:spPr/>
        <p:txBody>
          <a:bodyPr/>
          <a:lstStyle/>
          <a:p>
            <a:endParaRPr lang="es-MX"/>
          </a:p>
        </p:txBody>
      </p:sp>
      <p:sp>
        <p:nvSpPr>
          <p:cNvPr id="7" name="Slide Number Placeholder 6">
            <a:extLst>
              <a:ext uri="{FF2B5EF4-FFF2-40B4-BE49-F238E27FC236}">
                <a16:creationId xmlns:a16="http://schemas.microsoft.com/office/drawing/2014/main" id="{382F6CB2-4C51-9A42-136E-8F6766D403B1}"/>
              </a:ext>
            </a:extLst>
          </p:cNvPr>
          <p:cNvSpPr>
            <a:spLocks noGrp="1"/>
          </p:cNvSpPr>
          <p:nvPr>
            <p:ph type="sldNum" sz="quarter" idx="12"/>
          </p:nvPr>
        </p:nvSpPr>
        <p:spPr/>
        <p:txBody>
          <a:bodyPr/>
          <a:lstStyle/>
          <a:p>
            <a:fld id="{4DC9D719-CCE4-44A4-BFD8-C621F96BE8CC}" type="slidenum">
              <a:rPr lang="es-MX" smtClean="0"/>
              <a:t>‹#›</a:t>
            </a:fld>
            <a:endParaRPr lang="es-MX"/>
          </a:p>
        </p:txBody>
      </p:sp>
    </p:spTree>
    <p:extLst>
      <p:ext uri="{BB962C8B-B14F-4D97-AF65-F5344CB8AC3E}">
        <p14:creationId xmlns:p14="http://schemas.microsoft.com/office/powerpoint/2010/main" val="85295172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1ACC0E-3D59-9572-118C-9116EBB646CD}"/>
              </a:ext>
            </a:extLst>
          </p:cNvPr>
          <p:cNvSpPr>
            <a:spLocks noGrp="1"/>
          </p:cNvSpPr>
          <p:nvPr>
            <p:ph type="title"/>
          </p:nvPr>
        </p:nvSpPr>
        <p:spPr>
          <a:xfrm>
            <a:off x="839788" y="365125"/>
            <a:ext cx="10515600" cy="1325563"/>
          </a:xfrm>
        </p:spPr>
        <p:txBody>
          <a:bodyPr/>
          <a:lstStyle/>
          <a:p>
            <a:r>
              <a:rPr lang="en-US"/>
              <a:t>Click to edit Master title style</a:t>
            </a:r>
            <a:endParaRPr lang="es-MX"/>
          </a:p>
        </p:txBody>
      </p:sp>
      <p:sp>
        <p:nvSpPr>
          <p:cNvPr id="3" name="Text Placeholder 2">
            <a:extLst>
              <a:ext uri="{FF2B5EF4-FFF2-40B4-BE49-F238E27FC236}">
                <a16:creationId xmlns:a16="http://schemas.microsoft.com/office/drawing/2014/main" id="{DC0C5544-4021-D68B-BCEE-9FC8E1003391}"/>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4B0EB75C-C9F0-DA09-D50F-DB661A602A6C}"/>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s-MX"/>
          </a:p>
        </p:txBody>
      </p:sp>
      <p:sp>
        <p:nvSpPr>
          <p:cNvPr id="5" name="Text Placeholder 4">
            <a:extLst>
              <a:ext uri="{FF2B5EF4-FFF2-40B4-BE49-F238E27FC236}">
                <a16:creationId xmlns:a16="http://schemas.microsoft.com/office/drawing/2014/main" id="{281C8F55-F7E0-8757-31B7-BBB5F9DAB4B9}"/>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D511230-7297-E406-7AD6-9A77D114E20E}"/>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s-MX"/>
          </a:p>
        </p:txBody>
      </p:sp>
      <p:sp>
        <p:nvSpPr>
          <p:cNvPr id="7" name="Date Placeholder 6">
            <a:extLst>
              <a:ext uri="{FF2B5EF4-FFF2-40B4-BE49-F238E27FC236}">
                <a16:creationId xmlns:a16="http://schemas.microsoft.com/office/drawing/2014/main" id="{EA0C5DD3-9326-F11B-EA99-5AB19FD98CD1}"/>
              </a:ext>
            </a:extLst>
          </p:cNvPr>
          <p:cNvSpPr>
            <a:spLocks noGrp="1"/>
          </p:cNvSpPr>
          <p:nvPr>
            <p:ph type="dt" sz="half" idx="10"/>
          </p:nvPr>
        </p:nvSpPr>
        <p:spPr/>
        <p:txBody>
          <a:bodyPr/>
          <a:lstStyle/>
          <a:p>
            <a:fld id="{3AE35353-1C00-4CC9-8174-F8702C044143}" type="datetimeFigureOut">
              <a:rPr lang="es-MX" smtClean="0"/>
              <a:t>12/05/2026</a:t>
            </a:fld>
            <a:endParaRPr lang="es-MX"/>
          </a:p>
        </p:txBody>
      </p:sp>
      <p:sp>
        <p:nvSpPr>
          <p:cNvPr id="8" name="Footer Placeholder 7">
            <a:extLst>
              <a:ext uri="{FF2B5EF4-FFF2-40B4-BE49-F238E27FC236}">
                <a16:creationId xmlns:a16="http://schemas.microsoft.com/office/drawing/2014/main" id="{6CBB92B5-A1EA-358D-FC8F-FA18796B14AA}"/>
              </a:ext>
            </a:extLst>
          </p:cNvPr>
          <p:cNvSpPr>
            <a:spLocks noGrp="1"/>
          </p:cNvSpPr>
          <p:nvPr>
            <p:ph type="ftr" sz="quarter" idx="11"/>
          </p:nvPr>
        </p:nvSpPr>
        <p:spPr/>
        <p:txBody>
          <a:bodyPr/>
          <a:lstStyle/>
          <a:p>
            <a:endParaRPr lang="es-MX"/>
          </a:p>
        </p:txBody>
      </p:sp>
      <p:sp>
        <p:nvSpPr>
          <p:cNvPr id="9" name="Slide Number Placeholder 8">
            <a:extLst>
              <a:ext uri="{FF2B5EF4-FFF2-40B4-BE49-F238E27FC236}">
                <a16:creationId xmlns:a16="http://schemas.microsoft.com/office/drawing/2014/main" id="{3F81ED8D-B1AD-393C-2ECF-0197C6612989}"/>
              </a:ext>
            </a:extLst>
          </p:cNvPr>
          <p:cNvSpPr>
            <a:spLocks noGrp="1"/>
          </p:cNvSpPr>
          <p:nvPr>
            <p:ph type="sldNum" sz="quarter" idx="12"/>
          </p:nvPr>
        </p:nvSpPr>
        <p:spPr/>
        <p:txBody>
          <a:bodyPr/>
          <a:lstStyle/>
          <a:p>
            <a:fld id="{4DC9D719-CCE4-44A4-BFD8-C621F96BE8CC}" type="slidenum">
              <a:rPr lang="es-MX" smtClean="0"/>
              <a:t>‹#›</a:t>
            </a:fld>
            <a:endParaRPr lang="es-MX"/>
          </a:p>
        </p:txBody>
      </p:sp>
    </p:spTree>
    <p:extLst>
      <p:ext uri="{BB962C8B-B14F-4D97-AF65-F5344CB8AC3E}">
        <p14:creationId xmlns:p14="http://schemas.microsoft.com/office/powerpoint/2010/main" val="405343718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A6536F-88E4-3485-4C11-A9A0F1507265}"/>
              </a:ext>
            </a:extLst>
          </p:cNvPr>
          <p:cNvSpPr>
            <a:spLocks noGrp="1"/>
          </p:cNvSpPr>
          <p:nvPr>
            <p:ph type="title"/>
          </p:nvPr>
        </p:nvSpPr>
        <p:spPr/>
        <p:txBody>
          <a:bodyPr/>
          <a:lstStyle/>
          <a:p>
            <a:r>
              <a:rPr lang="en-US"/>
              <a:t>Click to edit Master title style</a:t>
            </a:r>
            <a:endParaRPr lang="es-MX"/>
          </a:p>
        </p:txBody>
      </p:sp>
      <p:sp>
        <p:nvSpPr>
          <p:cNvPr id="3" name="Date Placeholder 2">
            <a:extLst>
              <a:ext uri="{FF2B5EF4-FFF2-40B4-BE49-F238E27FC236}">
                <a16:creationId xmlns:a16="http://schemas.microsoft.com/office/drawing/2014/main" id="{4701035B-1FAC-4D78-6A28-683D7CAFEBD2}"/>
              </a:ext>
            </a:extLst>
          </p:cNvPr>
          <p:cNvSpPr>
            <a:spLocks noGrp="1"/>
          </p:cNvSpPr>
          <p:nvPr>
            <p:ph type="dt" sz="half" idx="10"/>
          </p:nvPr>
        </p:nvSpPr>
        <p:spPr/>
        <p:txBody>
          <a:bodyPr/>
          <a:lstStyle/>
          <a:p>
            <a:fld id="{3AE35353-1C00-4CC9-8174-F8702C044143}" type="datetimeFigureOut">
              <a:rPr lang="es-MX" smtClean="0"/>
              <a:t>12/05/2026</a:t>
            </a:fld>
            <a:endParaRPr lang="es-MX"/>
          </a:p>
        </p:txBody>
      </p:sp>
      <p:sp>
        <p:nvSpPr>
          <p:cNvPr id="4" name="Footer Placeholder 3">
            <a:extLst>
              <a:ext uri="{FF2B5EF4-FFF2-40B4-BE49-F238E27FC236}">
                <a16:creationId xmlns:a16="http://schemas.microsoft.com/office/drawing/2014/main" id="{D80F09C1-C05A-C74B-6FC5-0C12768FEB20}"/>
              </a:ext>
            </a:extLst>
          </p:cNvPr>
          <p:cNvSpPr>
            <a:spLocks noGrp="1"/>
          </p:cNvSpPr>
          <p:nvPr>
            <p:ph type="ftr" sz="quarter" idx="11"/>
          </p:nvPr>
        </p:nvSpPr>
        <p:spPr/>
        <p:txBody>
          <a:bodyPr/>
          <a:lstStyle/>
          <a:p>
            <a:endParaRPr lang="es-MX"/>
          </a:p>
        </p:txBody>
      </p:sp>
      <p:sp>
        <p:nvSpPr>
          <p:cNvPr id="5" name="Slide Number Placeholder 4">
            <a:extLst>
              <a:ext uri="{FF2B5EF4-FFF2-40B4-BE49-F238E27FC236}">
                <a16:creationId xmlns:a16="http://schemas.microsoft.com/office/drawing/2014/main" id="{E032A7E7-0F32-E209-13C5-644FDD31B1D7}"/>
              </a:ext>
            </a:extLst>
          </p:cNvPr>
          <p:cNvSpPr>
            <a:spLocks noGrp="1"/>
          </p:cNvSpPr>
          <p:nvPr>
            <p:ph type="sldNum" sz="quarter" idx="12"/>
          </p:nvPr>
        </p:nvSpPr>
        <p:spPr/>
        <p:txBody>
          <a:bodyPr/>
          <a:lstStyle/>
          <a:p>
            <a:fld id="{4DC9D719-CCE4-44A4-BFD8-C621F96BE8CC}" type="slidenum">
              <a:rPr lang="es-MX" smtClean="0"/>
              <a:t>‹#›</a:t>
            </a:fld>
            <a:endParaRPr lang="es-MX"/>
          </a:p>
        </p:txBody>
      </p:sp>
    </p:spTree>
    <p:extLst>
      <p:ext uri="{BB962C8B-B14F-4D97-AF65-F5344CB8AC3E}">
        <p14:creationId xmlns:p14="http://schemas.microsoft.com/office/powerpoint/2010/main" val="353370020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44992D2-07D8-17AC-2897-43CBFDCDB0FD}"/>
              </a:ext>
            </a:extLst>
          </p:cNvPr>
          <p:cNvSpPr>
            <a:spLocks noGrp="1"/>
          </p:cNvSpPr>
          <p:nvPr>
            <p:ph type="dt" sz="half" idx="10"/>
          </p:nvPr>
        </p:nvSpPr>
        <p:spPr/>
        <p:txBody>
          <a:bodyPr/>
          <a:lstStyle/>
          <a:p>
            <a:fld id="{3AE35353-1C00-4CC9-8174-F8702C044143}" type="datetimeFigureOut">
              <a:rPr lang="es-MX" smtClean="0"/>
              <a:t>12/05/2026</a:t>
            </a:fld>
            <a:endParaRPr lang="es-MX"/>
          </a:p>
        </p:txBody>
      </p:sp>
      <p:sp>
        <p:nvSpPr>
          <p:cNvPr id="3" name="Footer Placeholder 2">
            <a:extLst>
              <a:ext uri="{FF2B5EF4-FFF2-40B4-BE49-F238E27FC236}">
                <a16:creationId xmlns:a16="http://schemas.microsoft.com/office/drawing/2014/main" id="{5022CF47-10AD-4C52-BF38-535054EDF4DE}"/>
              </a:ext>
            </a:extLst>
          </p:cNvPr>
          <p:cNvSpPr>
            <a:spLocks noGrp="1"/>
          </p:cNvSpPr>
          <p:nvPr>
            <p:ph type="ftr" sz="quarter" idx="11"/>
          </p:nvPr>
        </p:nvSpPr>
        <p:spPr/>
        <p:txBody>
          <a:bodyPr/>
          <a:lstStyle/>
          <a:p>
            <a:endParaRPr lang="es-MX"/>
          </a:p>
        </p:txBody>
      </p:sp>
      <p:sp>
        <p:nvSpPr>
          <p:cNvPr id="4" name="Slide Number Placeholder 3">
            <a:extLst>
              <a:ext uri="{FF2B5EF4-FFF2-40B4-BE49-F238E27FC236}">
                <a16:creationId xmlns:a16="http://schemas.microsoft.com/office/drawing/2014/main" id="{0C835249-E9DD-9E37-8074-58765427075C}"/>
              </a:ext>
            </a:extLst>
          </p:cNvPr>
          <p:cNvSpPr>
            <a:spLocks noGrp="1"/>
          </p:cNvSpPr>
          <p:nvPr>
            <p:ph type="sldNum" sz="quarter" idx="12"/>
          </p:nvPr>
        </p:nvSpPr>
        <p:spPr/>
        <p:txBody>
          <a:bodyPr/>
          <a:lstStyle/>
          <a:p>
            <a:fld id="{4DC9D719-CCE4-44A4-BFD8-C621F96BE8CC}" type="slidenum">
              <a:rPr lang="es-MX" smtClean="0"/>
              <a:t>‹#›</a:t>
            </a:fld>
            <a:endParaRPr lang="es-MX"/>
          </a:p>
        </p:txBody>
      </p:sp>
    </p:spTree>
    <p:extLst>
      <p:ext uri="{BB962C8B-B14F-4D97-AF65-F5344CB8AC3E}">
        <p14:creationId xmlns:p14="http://schemas.microsoft.com/office/powerpoint/2010/main" val="33902831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0D2770-6CEB-6792-A1F3-C58C330C299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s-MX"/>
          </a:p>
        </p:txBody>
      </p:sp>
      <p:sp>
        <p:nvSpPr>
          <p:cNvPr id="3" name="Content Placeholder 2">
            <a:extLst>
              <a:ext uri="{FF2B5EF4-FFF2-40B4-BE49-F238E27FC236}">
                <a16:creationId xmlns:a16="http://schemas.microsoft.com/office/drawing/2014/main" id="{DDE8CEC1-59DA-F060-BBFB-595C7117E0C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s-MX"/>
          </a:p>
        </p:txBody>
      </p:sp>
      <p:sp>
        <p:nvSpPr>
          <p:cNvPr id="4" name="Text Placeholder 3">
            <a:extLst>
              <a:ext uri="{FF2B5EF4-FFF2-40B4-BE49-F238E27FC236}">
                <a16:creationId xmlns:a16="http://schemas.microsoft.com/office/drawing/2014/main" id="{BE3BFDE2-C43F-B054-A363-2D29B4B9149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EF6EA15-757F-FE99-6848-820A0B7A36D3}"/>
              </a:ext>
            </a:extLst>
          </p:cNvPr>
          <p:cNvSpPr>
            <a:spLocks noGrp="1"/>
          </p:cNvSpPr>
          <p:nvPr>
            <p:ph type="dt" sz="half" idx="10"/>
          </p:nvPr>
        </p:nvSpPr>
        <p:spPr/>
        <p:txBody>
          <a:bodyPr/>
          <a:lstStyle/>
          <a:p>
            <a:fld id="{3AE35353-1C00-4CC9-8174-F8702C044143}" type="datetimeFigureOut">
              <a:rPr lang="es-MX" smtClean="0"/>
              <a:t>12/05/2026</a:t>
            </a:fld>
            <a:endParaRPr lang="es-MX"/>
          </a:p>
        </p:txBody>
      </p:sp>
      <p:sp>
        <p:nvSpPr>
          <p:cNvPr id="6" name="Footer Placeholder 5">
            <a:extLst>
              <a:ext uri="{FF2B5EF4-FFF2-40B4-BE49-F238E27FC236}">
                <a16:creationId xmlns:a16="http://schemas.microsoft.com/office/drawing/2014/main" id="{D02871BF-9E68-1B32-FAF1-C37DD9A60515}"/>
              </a:ext>
            </a:extLst>
          </p:cNvPr>
          <p:cNvSpPr>
            <a:spLocks noGrp="1"/>
          </p:cNvSpPr>
          <p:nvPr>
            <p:ph type="ftr" sz="quarter" idx="11"/>
          </p:nvPr>
        </p:nvSpPr>
        <p:spPr/>
        <p:txBody>
          <a:bodyPr/>
          <a:lstStyle/>
          <a:p>
            <a:endParaRPr lang="es-MX"/>
          </a:p>
        </p:txBody>
      </p:sp>
      <p:sp>
        <p:nvSpPr>
          <p:cNvPr id="7" name="Slide Number Placeholder 6">
            <a:extLst>
              <a:ext uri="{FF2B5EF4-FFF2-40B4-BE49-F238E27FC236}">
                <a16:creationId xmlns:a16="http://schemas.microsoft.com/office/drawing/2014/main" id="{BB0C08C6-7D73-0CD8-24D9-7FED8DC0FD5D}"/>
              </a:ext>
            </a:extLst>
          </p:cNvPr>
          <p:cNvSpPr>
            <a:spLocks noGrp="1"/>
          </p:cNvSpPr>
          <p:nvPr>
            <p:ph type="sldNum" sz="quarter" idx="12"/>
          </p:nvPr>
        </p:nvSpPr>
        <p:spPr/>
        <p:txBody>
          <a:bodyPr/>
          <a:lstStyle/>
          <a:p>
            <a:fld id="{4DC9D719-CCE4-44A4-BFD8-C621F96BE8CC}" type="slidenum">
              <a:rPr lang="es-MX" smtClean="0"/>
              <a:t>‹#›</a:t>
            </a:fld>
            <a:endParaRPr lang="es-MX"/>
          </a:p>
        </p:txBody>
      </p:sp>
    </p:spTree>
    <p:extLst>
      <p:ext uri="{BB962C8B-B14F-4D97-AF65-F5344CB8AC3E}">
        <p14:creationId xmlns:p14="http://schemas.microsoft.com/office/powerpoint/2010/main" val="363364163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9A1D97-CBBB-34D5-D8A0-1B53BA0C3D6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s-MX"/>
          </a:p>
        </p:txBody>
      </p:sp>
      <p:sp>
        <p:nvSpPr>
          <p:cNvPr id="3" name="Picture Placeholder 2">
            <a:extLst>
              <a:ext uri="{FF2B5EF4-FFF2-40B4-BE49-F238E27FC236}">
                <a16:creationId xmlns:a16="http://schemas.microsoft.com/office/drawing/2014/main" id="{494E4C1F-03D2-9B64-F7B3-4653B7209FEA}"/>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MX"/>
          </a:p>
        </p:txBody>
      </p:sp>
      <p:sp>
        <p:nvSpPr>
          <p:cNvPr id="4" name="Text Placeholder 3">
            <a:extLst>
              <a:ext uri="{FF2B5EF4-FFF2-40B4-BE49-F238E27FC236}">
                <a16:creationId xmlns:a16="http://schemas.microsoft.com/office/drawing/2014/main" id="{364EA25E-5B35-7E22-FC5F-CDB8BD27E67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A6F9602-3157-F068-385A-A374C3F9513F}"/>
              </a:ext>
            </a:extLst>
          </p:cNvPr>
          <p:cNvSpPr>
            <a:spLocks noGrp="1"/>
          </p:cNvSpPr>
          <p:nvPr>
            <p:ph type="dt" sz="half" idx="10"/>
          </p:nvPr>
        </p:nvSpPr>
        <p:spPr/>
        <p:txBody>
          <a:bodyPr/>
          <a:lstStyle/>
          <a:p>
            <a:fld id="{3AE35353-1C00-4CC9-8174-F8702C044143}" type="datetimeFigureOut">
              <a:rPr lang="es-MX" smtClean="0"/>
              <a:t>12/05/2026</a:t>
            </a:fld>
            <a:endParaRPr lang="es-MX"/>
          </a:p>
        </p:txBody>
      </p:sp>
      <p:sp>
        <p:nvSpPr>
          <p:cNvPr id="6" name="Footer Placeholder 5">
            <a:extLst>
              <a:ext uri="{FF2B5EF4-FFF2-40B4-BE49-F238E27FC236}">
                <a16:creationId xmlns:a16="http://schemas.microsoft.com/office/drawing/2014/main" id="{BC0D2B96-78F7-BDD3-3EB3-34F1CB6B5BED}"/>
              </a:ext>
            </a:extLst>
          </p:cNvPr>
          <p:cNvSpPr>
            <a:spLocks noGrp="1"/>
          </p:cNvSpPr>
          <p:nvPr>
            <p:ph type="ftr" sz="quarter" idx="11"/>
          </p:nvPr>
        </p:nvSpPr>
        <p:spPr/>
        <p:txBody>
          <a:bodyPr/>
          <a:lstStyle/>
          <a:p>
            <a:endParaRPr lang="es-MX"/>
          </a:p>
        </p:txBody>
      </p:sp>
      <p:sp>
        <p:nvSpPr>
          <p:cNvPr id="7" name="Slide Number Placeholder 6">
            <a:extLst>
              <a:ext uri="{FF2B5EF4-FFF2-40B4-BE49-F238E27FC236}">
                <a16:creationId xmlns:a16="http://schemas.microsoft.com/office/drawing/2014/main" id="{B1BFCF1E-3CE1-CB47-D421-C5A30D1EF39C}"/>
              </a:ext>
            </a:extLst>
          </p:cNvPr>
          <p:cNvSpPr>
            <a:spLocks noGrp="1"/>
          </p:cNvSpPr>
          <p:nvPr>
            <p:ph type="sldNum" sz="quarter" idx="12"/>
          </p:nvPr>
        </p:nvSpPr>
        <p:spPr/>
        <p:txBody>
          <a:bodyPr/>
          <a:lstStyle/>
          <a:p>
            <a:fld id="{4DC9D719-CCE4-44A4-BFD8-C621F96BE8CC}" type="slidenum">
              <a:rPr lang="es-MX" smtClean="0"/>
              <a:t>‹#›</a:t>
            </a:fld>
            <a:endParaRPr lang="es-MX"/>
          </a:p>
        </p:txBody>
      </p:sp>
    </p:spTree>
    <p:extLst>
      <p:ext uri="{BB962C8B-B14F-4D97-AF65-F5344CB8AC3E}">
        <p14:creationId xmlns:p14="http://schemas.microsoft.com/office/powerpoint/2010/main" val="388457426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918C4A-085B-E6AA-5E64-E6560523B353}"/>
              </a:ext>
            </a:extLst>
          </p:cNvPr>
          <p:cNvSpPr>
            <a:spLocks noGrp="1"/>
          </p:cNvSpPr>
          <p:nvPr>
            <p:ph type="title"/>
          </p:nvPr>
        </p:nvSpPr>
        <p:spPr/>
        <p:txBody>
          <a:bodyPr/>
          <a:lstStyle/>
          <a:p>
            <a:r>
              <a:rPr lang="en-US"/>
              <a:t>Click to edit Master title style</a:t>
            </a:r>
            <a:endParaRPr lang="es-MX"/>
          </a:p>
        </p:txBody>
      </p:sp>
      <p:sp>
        <p:nvSpPr>
          <p:cNvPr id="3" name="Vertical Text Placeholder 2">
            <a:extLst>
              <a:ext uri="{FF2B5EF4-FFF2-40B4-BE49-F238E27FC236}">
                <a16:creationId xmlns:a16="http://schemas.microsoft.com/office/drawing/2014/main" id="{A9CE904E-D138-ABF7-DA0B-66A9ABA18012}"/>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s-MX"/>
          </a:p>
        </p:txBody>
      </p:sp>
      <p:sp>
        <p:nvSpPr>
          <p:cNvPr id="4" name="Date Placeholder 3">
            <a:extLst>
              <a:ext uri="{FF2B5EF4-FFF2-40B4-BE49-F238E27FC236}">
                <a16:creationId xmlns:a16="http://schemas.microsoft.com/office/drawing/2014/main" id="{9AE13320-7341-91B2-A344-4476643B9AF3}"/>
              </a:ext>
            </a:extLst>
          </p:cNvPr>
          <p:cNvSpPr>
            <a:spLocks noGrp="1"/>
          </p:cNvSpPr>
          <p:nvPr>
            <p:ph type="dt" sz="half" idx="10"/>
          </p:nvPr>
        </p:nvSpPr>
        <p:spPr/>
        <p:txBody>
          <a:bodyPr/>
          <a:lstStyle/>
          <a:p>
            <a:fld id="{3AE35353-1C00-4CC9-8174-F8702C044143}" type="datetimeFigureOut">
              <a:rPr lang="es-MX" smtClean="0"/>
              <a:t>12/05/2026</a:t>
            </a:fld>
            <a:endParaRPr lang="es-MX"/>
          </a:p>
        </p:txBody>
      </p:sp>
      <p:sp>
        <p:nvSpPr>
          <p:cNvPr id="5" name="Footer Placeholder 4">
            <a:extLst>
              <a:ext uri="{FF2B5EF4-FFF2-40B4-BE49-F238E27FC236}">
                <a16:creationId xmlns:a16="http://schemas.microsoft.com/office/drawing/2014/main" id="{1311C314-C164-65AA-FD5F-7E08056BCA1B}"/>
              </a:ext>
            </a:extLst>
          </p:cNvPr>
          <p:cNvSpPr>
            <a:spLocks noGrp="1"/>
          </p:cNvSpPr>
          <p:nvPr>
            <p:ph type="ftr" sz="quarter" idx="11"/>
          </p:nvPr>
        </p:nvSpPr>
        <p:spPr/>
        <p:txBody>
          <a:bodyPr/>
          <a:lstStyle/>
          <a:p>
            <a:endParaRPr lang="es-MX"/>
          </a:p>
        </p:txBody>
      </p:sp>
      <p:sp>
        <p:nvSpPr>
          <p:cNvPr id="6" name="Slide Number Placeholder 5">
            <a:extLst>
              <a:ext uri="{FF2B5EF4-FFF2-40B4-BE49-F238E27FC236}">
                <a16:creationId xmlns:a16="http://schemas.microsoft.com/office/drawing/2014/main" id="{563586DE-CF2B-E087-EDED-3430DB0ABAC9}"/>
              </a:ext>
            </a:extLst>
          </p:cNvPr>
          <p:cNvSpPr>
            <a:spLocks noGrp="1"/>
          </p:cNvSpPr>
          <p:nvPr>
            <p:ph type="sldNum" sz="quarter" idx="12"/>
          </p:nvPr>
        </p:nvSpPr>
        <p:spPr/>
        <p:txBody>
          <a:bodyPr/>
          <a:lstStyle/>
          <a:p>
            <a:fld id="{4DC9D719-CCE4-44A4-BFD8-C621F96BE8CC}" type="slidenum">
              <a:rPr lang="es-MX" smtClean="0"/>
              <a:t>‹#›</a:t>
            </a:fld>
            <a:endParaRPr lang="es-MX"/>
          </a:p>
        </p:txBody>
      </p:sp>
    </p:spTree>
    <p:extLst>
      <p:ext uri="{BB962C8B-B14F-4D97-AF65-F5344CB8AC3E}">
        <p14:creationId xmlns:p14="http://schemas.microsoft.com/office/powerpoint/2010/main" val="325869132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3F7B7EBA-FBB2-6B21-B506-4BB8A55F2C22}"/>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s-MX"/>
          </a:p>
        </p:txBody>
      </p:sp>
      <p:sp>
        <p:nvSpPr>
          <p:cNvPr id="3" name="Vertical Text Placeholder 2">
            <a:extLst>
              <a:ext uri="{FF2B5EF4-FFF2-40B4-BE49-F238E27FC236}">
                <a16:creationId xmlns:a16="http://schemas.microsoft.com/office/drawing/2014/main" id="{26D37364-A6BB-E0F4-8B47-DF3B75BDE15B}"/>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s-MX"/>
          </a:p>
        </p:txBody>
      </p:sp>
      <p:sp>
        <p:nvSpPr>
          <p:cNvPr id="4" name="Date Placeholder 3">
            <a:extLst>
              <a:ext uri="{FF2B5EF4-FFF2-40B4-BE49-F238E27FC236}">
                <a16:creationId xmlns:a16="http://schemas.microsoft.com/office/drawing/2014/main" id="{C26F8B66-5105-610B-1CEC-881BA57A9087}"/>
              </a:ext>
            </a:extLst>
          </p:cNvPr>
          <p:cNvSpPr>
            <a:spLocks noGrp="1"/>
          </p:cNvSpPr>
          <p:nvPr>
            <p:ph type="dt" sz="half" idx="10"/>
          </p:nvPr>
        </p:nvSpPr>
        <p:spPr/>
        <p:txBody>
          <a:bodyPr/>
          <a:lstStyle/>
          <a:p>
            <a:fld id="{3AE35353-1C00-4CC9-8174-F8702C044143}" type="datetimeFigureOut">
              <a:rPr lang="es-MX" smtClean="0"/>
              <a:t>12/05/2026</a:t>
            </a:fld>
            <a:endParaRPr lang="es-MX"/>
          </a:p>
        </p:txBody>
      </p:sp>
      <p:sp>
        <p:nvSpPr>
          <p:cNvPr id="5" name="Footer Placeholder 4">
            <a:extLst>
              <a:ext uri="{FF2B5EF4-FFF2-40B4-BE49-F238E27FC236}">
                <a16:creationId xmlns:a16="http://schemas.microsoft.com/office/drawing/2014/main" id="{D5266E60-DDB6-CB77-70E2-A1BF850D0788}"/>
              </a:ext>
            </a:extLst>
          </p:cNvPr>
          <p:cNvSpPr>
            <a:spLocks noGrp="1"/>
          </p:cNvSpPr>
          <p:nvPr>
            <p:ph type="ftr" sz="quarter" idx="11"/>
          </p:nvPr>
        </p:nvSpPr>
        <p:spPr/>
        <p:txBody>
          <a:bodyPr/>
          <a:lstStyle/>
          <a:p>
            <a:endParaRPr lang="es-MX"/>
          </a:p>
        </p:txBody>
      </p:sp>
      <p:sp>
        <p:nvSpPr>
          <p:cNvPr id="6" name="Slide Number Placeholder 5">
            <a:extLst>
              <a:ext uri="{FF2B5EF4-FFF2-40B4-BE49-F238E27FC236}">
                <a16:creationId xmlns:a16="http://schemas.microsoft.com/office/drawing/2014/main" id="{59B10CB3-86CC-4B9F-7A37-8775F1F35151}"/>
              </a:ext>
            </a:extLst>
          </p:cNvPr>
          <p:cNvSpPr>
            <a:spLocks noGrp="1"/>
          </p:cNvSpPr>
          <p:nvPr>
            <p:ph type="sldNum" sz="quarter" idx="12"/>
          </p:nvPr>
        </p:nvSpPr>
        <p:spPr/>
        <p:txBody>
          <a:bodyPr/>
          <a:lstStyle/>
          <a:p>
            <a:fld id="{4DC9D719-CCE4-44A4-BFD8-C621F96BE8CC}" type="slidenum">
              <a:rPr lang="es-MX" smtClean="0"/>
              <a:t>‹#›</a:t>
            </a:fld>
            <a:endParaRPr lang="es-MX"/>
          </a:p>
        </p:txBody>
      </p:sp>
    </p:spTree>
    <p:extLst>
      <p:ext uri="{BB962C8B-B14F-4D97-AF65-F5344CB8AC3E}">
        <p14:creationId xmlns:p14="http://schemas.microsoft.com/office/powerpoint/2010/main" val="353327301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DEFAULT">
  <p:cSld name="DEFAULT">
    <p:bg>
      <p:bgPr>
        <a:solidFill>
          <a:schemeClr val="lt1"/>
        </a:solidFill>
        <a:effectLst/>
      </p:bgPr>
    </p:bg>
    <p:spTree>
      <p:nvGrpSpPr>
        <p:cNvPr id="1" name="Shape 10"/>
        <p:cNvGrpSpPr/>
        <p:nvPr/>
      </p:nvGrpSpPr>
      <p:grpSpPr>
        <a:xfrm>
          <a:off x="0" y="0"/>
          <a:ext cx="0" cy="0"/>
          <a:chOff x="0" y="0"/>
          <a:chExt cx="0" cy="0"/>
        </a:xfrm>
      </p:grpSpPr>
    </p:spTree>
    <p:extLst>
      <p:ext uri="{BB962C8B-B14F-4D97-AF65-F5344CB8AC3E}">
        <p14:creationId xmlns:p14="http://schemas.microsoft.com/office/powerpoint/2010/main" val="148630508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2E1681A-9A75-FEC4-E64D-5815CFDB2E9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s-MX"/>
          </a:p>
        </p:txBody>
      </p:sp>
      <p:sp>
        <p:nvSpPr>
          <p:cNvPr id="3" name="Text Placeholder 2">
            <a:extLst>
              <a:ext uri="{FF2B5EF4-FFF2-40B4-BE49-F238E27FC236}">
                <a16:creationId xmlns:a16="http://schemas.microsoft.com/office/drawing/2014/main" id="{E2ED69CE-8B41-9C48-7257-33CD302FD72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s-MX"/>
          </a:p>
        </p:txBody>
      </p:sp>
      <p:sp>
        <p:nvSpPr>
          <p:cNvPr id="4" name="Date Placeholder 3">
            <a:extLst>
              <a:ext uri="{FF2B5EF4-FFF2-40B4-BE49-F238E27FC236}">
                <a16:creationId xmlns:a16="http://schemas.microsoft.com/office/drawing/2014/main" id="{90C04FBE-8E5C-A65C-1866-C63EF11D66B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3AE35353-1C00-4CC9-8174-F8702C044143}" type="datetimeFigureOut">
              <a:rPr lang="es-MX" smtClean="0"/>
              <a:t>12/05/2026</a:t>
            </a:fld>
            <a:endParaRPr lang="es-MX"/>
          </a:p>
        </p:txBody>
      </p:sp>
      <p:sp>
        <p:nvSpPr>
          <p:cNvPr id="5" name="Footer Placeholder 4">
            <a:extLst>
              <a:ext uri="{FF2B5EF4-FFF2-40B4-BE49-F238E27FC236}">
                <a16:creationId xmlns:a16="http://schemas.microsoft.com/office/drawing/2014/main" id="{A9F52031-75D8-6CC8-2A1F-4DF128A4BB8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s-MX"/>
          </a:p>
        </p:txBody>
      </p:sp>
      <p:sp>
        <p:nvSpPr>
          <p:cNvPr id="6" name="Slide Number Placeholder 5">
            <a:extLst>
              <a:ext uri="{FF2B5EF4-FFF2-40B4-BE49-F238E27FC236}">
                <a16:creationId xmlns:a16="http://schemas.microsoft.com/office/drawing/2014/main" id="{049188B8-1255-5E28-7AB2-637D2DA8301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4DC9D719-CCE4-44A4-BFD8-C621F96BE8CC}" type="slidenum">
              <a:rPr lang="es-MX" smtClean="0"/>
              <a:t>‹#›</a:t>
            </a:fld>
            <a:endParaRPr lang="es-MX"/>
          </a:p>
        </p:txBody>
      </p:sp>
    </p:spTree>
    <p:extLst>
      <p:ext uri="{BB962C8B-B14F-4D97-AF65-F5344CB8AC3E}">
        <p14:creationId xmlns:p14="http://schemas.microsoft.com/office/powerpoint/2010/main" val="310610464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MX"/>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7.xml"/><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9.xml"/><Relationship Id="rId1" Type="http://schemas.openxmlformats.org/officeDocument/2006/relationships/slideLayout" Target="../slideLayouts/slideLayout12.xml"/><Relationship Id="rId4" Type="http://schemas.openxmlformats.org/officeDocument/2006/relationships/image" Target="../media/image7.pn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1.xml"/><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5"/>
        <p:cNvGrpSpPr/>
        <p:nvPr/>
      </p:nvGrpSpPr>
      <p:grpSpPr>
        <a:xfrm>
          <a:off x="0" y="0"/>
          <a:ext cx="0" cy="0"/>
          <a:chOff x="0" y="0"/>
          <a:chExt cx="0" cy="0"/>
        </a:xfrm>
      </p:grpSpPr>
      <p:sp>
        <p:nvSpPr>
          <p:cNvPr id="16" name="Google Shape;16;g3d1eafd1ad1_0_214"/>
          <p:cNvSpPr txBox="1"/>
          <p:nvPr/>
        </p:nvSpPr>
        <p:spPr>
          <a:xfrm>
            <a:off x="755667" y="1951713"/>
            <a:ext cx="10275200" cy="861734"/>
          </a:xfrm>
          <a:prstGeom prst="rect">
            <a:avLst/>
          </a:prstGeom>
          <a:noFill/>
          <a:ln>
            <a:noFill/>
          </a:ln>
        </p:spPr>
        <p:txBody>
          <a:bodyPr spcFirstLastPara="1" wrap="square" lIns="121900" tIns="121900" rIns="121900" bIns="121900" anchor="t" anchorCtr="0">
            <a:spAutoFit/>
          </a:bodyPr>
          <a:lstStyle/>
          <a:p>
            <a:r>
              <a:rPr lang="en-US" sz="4000" b="1" dirty="0">
                <a:solidFill>
                  <a:srgbClr val="1A2E2C"/>
                </a:solidFill>
                <a:latin typeface="Georgia"/>
                <a:ea typeface="Georgia"/>
                <a:cs typeface="Georgia"/>
                <a:sym typeface="Georgia"/>
              </a:rPr>
              <a:t>The Latent Structure of Dictionaries</a:t>
            </a:r>
            <a:endParaRPr sz="900" dirty="0"/>
          </a:p>
        </p:txBody>
      </p:sp>
      <p:sp>
        <p:nvSpPr>
          <p:cNvPr id="17" name="Google Shape;17;g3d1eafd1ad1_0_214"/>
          <p:cNvSpPr txBox="1"/>
          <p:nvPr/>
        </p:nvSpPr>
        <p:spPr>
          <a:xfrm>
            <a:off x="755667" y="3956934"/>
            <a:ext cx="10600800" cy="1723508"/>
          </a:xfrm>
          <a:prstGeom prst="rect">
            <a:avLst/>
          </a:prstGeom>
          <a:noFill/>
          <a:ln>
            <a:noFill/>
          </a:ln>
        </p:spPr>
        <p:txBody>
          <a:bodyPr spcFirstLastPara="1" wrap="square" lIns="121900" tIns="121900" rIns="121900" bIns="121900" anchor="t" anchorCtr="0">
            <a:spAutoFit/>
          </a:bodyPr>
          <a:lstStyle/>
          <a:p>
            <a:r>
              <a:rPr lang="en-US" sz="2400" dirty="0" err="1"/>
              <a:t>情報経営システム工学</a:t>
            </a:r>
            <a:r>
              <a:rPr lang="en-US" sz="2400" dirty="0"/>
              <a:t>　4年</a:t>
            </a:r>
            <a:endParaRPr sz="2400" dirty="0"/>
          </a:p>
          <a:p>
            <a:r>
              <a:rPr lang="en-US" sz="2400" dirty="0" err="1"/>
              <a:t>ロペスチャパホセ</a:t>
            </a:r>
            <a:endParaRPr sz="2400" dirty="0"/>
          </a:p>
          <a:p>
            <a:endParaRPr sz="2400" dirty="0"/>
          </a:p>
          <a:p>
            <a:pPr algn="r"/>
            <a:r>
              <a:rPr lang="ja-JP" altLang="es-MX" sz="2400" dirty="0">
                <a:latin typeface="+mj-lt"/>
              </a:rPr>
              <a:t>５</a:t>
            </a:r>
            <a:r>
              <a:rPr lang="en-US" sz="2400" dirty="0">
                <a:latin typeface="+mj-lt"/>
              </a:rPr>
              <a:t>月</a:t>
            </a:r>
            <a:r>
              <a:rPr lang="ja-JP" altLang="es-MX" sz="2400" dirty="0">
                <a:latin typeface="+mj-lt"/>
              </a:rPr>
              <a:t>１２</a:t>
            </a:r>
            <a:r>
              <a:rPr lang="en-US" sz="2400" dirty="0">
                <a:latin typeface="+mj-lt"/>
              </a:rPr>
              <a:t>日</a:t>
            </a:r>
            <a:r>
              <a:rPr lang="ja-JP" altLang="es-MX" sz="2400" dirty="0">
                <a:latin typeface="+mj-lt"/>
              </a:rPr>
              <a:t>２０２６</a:t>
            </a:r>
            <a:r>
              <a:rPr lang="en-US" sz="2400" dirty="0">
                <a:latin typeface="+mj-lt"/>
              </a:rPr>
              <a:t>年</a:t>
            </a:r>
            <a:endParaRPr sz="2400" dirty="0">
              <a:latin typeface="+mj-lt"/>
            </a:endParaRPr>
          </a:p>
        </p:txBody>
      </p:sp>
      <p:sp>
        <p:nvSpPr>
          <p:cNvPr id="3" name="TextBox 2">
            <a:extLst>
              <a:ext uri="{FF2B5EF4-FFF2-40B4-BE49-F238E27FC236}">
                <a16:creationId xmlns:a16="http://schemas.microsoft.com/office/drawing/2014/main" id="{824B59D6-D786-22B6-B8D1-4E6220468F09}"/>
              </a:ext>
            </a:extLst>
          </p:cNvPr>
          <p:cNvSpPr txBox="1"/>
          <p:nvPr/>
        </p:nvSpPr>
        <p:spPr>
          <a:xfrm>
            <a:off x="884583" y="2716400"/>
            <a:ext cx="6094674" cy="369332"/>
          </a:xfrm>
          <a:prstGeom prst="rect">
            <a:avLst/>
          </a:prstGeom>
          <a:noFill/>
        </p:spPr>
        <p:txBody>
          <a:bodyPr wrap="square">
            <a:spAutoFit/>
          </a:bodyPr>
          <a:lstStyle/>
          <a:p>
            <a:r>
              <a:rPr lang="es-MX" dirty="0"/>
              <a:t>Vincent-Lamarre et al. (2014)</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DFD596-9EC7-AAA9-15B1-7F1B04195FB0}"/>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7FB79AC9-7D69-4686-6A2E-CB533F48D0FB}"/>
              </a:ext>
            </a:extLst>
          </p:cNvPr>
          <p:cNvSpPr/>
          <p:nvPr/>
        </p:nvSpPr>
        <p:spPr>
          <a:xfrm>
            <a:off x="0" y="0"/>
            <a:ext cx="12192000" cy="877824"/>
          </a:xfrm>
          <a:prstGeom prst="rect">
            <a:avLst/>
          </a:prstGeom>
          <a:solidFill>
            <a:srgbClr val="0D1B2A"/>
          </a:solidFill>
          <a:ln w="12700">
            <a:solidFill>
              <a:srgbClr val="0D1B2A"/>
            </a:solidFill>
            <a:prstDash val="solid"/>
          </a:ln>
        </p:spPr>
        <p:txBody>
          <a:bodyPr/>
          <a:lstStyle/>
          <a:p>
            <a:endParaRPr lang="es-MX" sz="2400"/>
          </a:p>
        </p:txBody>
      </p:sp>
      <p:sp>
        <p:nvSpPr>
          <p:cNvPr id="3" name="Text 1">
            <a:extLst>
              <a:ext uri="{FF2B5EF4-FFF2-40B4-BE49-F238E27FC236}">
                <a16:creationId xmlns:a16="http://schemas.microsoft.com/office/drawing/2014/main" id="{C9741DCF-27E1-D570-4F28-59F3621A2EA3}"/>
              </a:ext>
            </a:extLst>
          </p:cNvPr>
          <p:cNvSpPr/>
          <p:nvPr/>
        </p:nvSpPr>
        <p:spPr>
          <a:xfrm>
            <a:off x="365760" y="0"/>
            <a:ext cx="11460480" cy="877824"/>
          </a:xfrm>
          <a:prstGeom prst="rect">
            <a:avLst/>
          </a:prstGeom>
          <a:noFill/>
          <a:ln/>
        </p:spPr>
        <p:txBody>
          <a:bodyPr wrap="square" rtlCol="0" anchor="ctr"/>
          <a:lstStyle/>
          <a:p>
            <a:r>
              <a:rPr lang="es-MX" altLang="ja-JP" sz="2933" b="1" dirty="0">
                <a:solidFill>
                  <a:srgbClr val="FFFFFF"/>
                </a:solidFill>
                <a:latin typeface="Georgia" pitchFamily="34" charset="0"/>
                <a:ea typeface="Georgia" pitchFamily="34" charset="-122"/>
                <a:cs typeface="Georgia" pitchFamily="34" charset="-120"/>
              </a:rPr>
              <a:t>Step 0</a:t>
            </a:r>
            <a:r>
              <a:rPr lang="ja-JP" altLang="es-MX" sz="2933" b="1" dirty="0">
                <a:solidFill>
                  <a:srgbClr val="FFFFFF"/>
                </a:solidFill>
                <a:latin typeface="Georgia" pitchFamily="34" charset="0"/>
                <a:ea typeface="Georgia" pitchFamily="34" charset="-122"/>
                <a:cs typeface="Georgia" pitchFamily="34" charset="-120"/>
              </a:rPr>
              <a:t>：</a:t>
            </a:r>
            <a:r>
              <a:rPr lang="es-MX" altLang="ja-JP" sz="2933" b="1" dirty="0">
                <a:solidFill>
                  <a:srgbClr val="FFFFFF"/>
                </a:solidFill>
                <a:latin typeface="Georgia" pitchFamily="34" charset="0"/>
                <a:ea typeface="Georgia" pitchFamily="34" charset="-122"/>
                <a:cs typeface="Georgia" pitchFamily="34" charset="-120"/>
              </a:rPr>
              <a:t>Building </a:t>
            </a:r>
            <a:r>
              <a:rPr lang="es-MX" altLang="ja-JP" sz="2933" b="1" dirty="0" err="1">
                <a:solidFill>
                  <a:srgbClr val="FFFFFF"/>
                </a:solidFill>
                <a:latin typeface="Georgia" pitchFamily="34" charset="0"/>
                <a:ea typeface="Georgia" pitchFamily="34" charset="-122"/>
                <a:cs typeface="Georgia" pitchFamily="34" charset="-120"/>
              </a:rPr>
              <a:t>the</a:t>
            </a:r>
            <a:r>
              <a:rPr lang="es-MX" altLang="ja-JP" sz="2933" b="1" dirty="0">
                <a:solidFill>
                  <a:srgbClr val="FFFFFF"/>
                </a:solidFill>
                <a:latin typeface="Georgia" pitchFamily="34" charset="0"/>
                <a:ea typeface="Georgia" pitchFamily="34" charset="-122"/>
                <a:cs typeface="Georgia" pitchFamily="34" charset="-120"/>
              </a:rPr>
              <a:t> </a:t>
            </a:r>
            <a:r>
              <a:rPr lang="es-MX" altLang="ja-JP" sz="2933" b="1" dirty="0" err="1">
                <a:solidFill>
                  <a:srgbClr val="FFFFFF"/>
                </a:solidFill>
                <a:latin typeface="Georgia" pitchFamily="34" charset="0"/>
                <a:ea typeface="Georgia" pitchFamily="34" charset="-122"/>
                <a:cs typeface="Georgia" pitchFamily="34" charset="-120"/>
              </a:rPr>
              <a:t>graph</a:t>
            </a:r>
            <a:endParaRPr lang="en-US" sz="2933" dirty="0"/>
          </a:p>
        </p:txBody>
      </p:sp>
      <p:sp>
        <p:nvSpPr>
          <p:cNvPr id="4" name="Text 2">
            <a:extLst>
              <a:ext uri="{FF2B5EF4-FFF2-40B4-BE49-F238E27FC236}">
                <a16:creationId xmlns:a16="http://schemas.microsoft.com/office/drawing/2014/main" id="{FF7D2A7A-0E4D-60E7-0557-4235EF3B88AD}"/>
              </a:ext>
            </a:extLst>
          </p:cNvPr>
          <p:cNvSpPr/>
          <p:nvPr/>
        </p:nvSpPr>
        <p:spPr>
          <a:xfrm>
            <a:off x="371061" y="1738210"/>
            <a:ext cx="11216640" cy="176491"/>
          </a:xfrm>
          <a:prstGeom prst="rect">
            <a:avLst/>
          </a:prstGeom>
          <a:noFill/>
          <a:ln/>
        </p:spPr>
        <p:txBody>
          <a:bodyPr wrap="square" rtlCol="0" anchor="ctr"/>
          <a:lstStyle/>
          <a:p>
            <a:r>
              <a:rPr lang="en-US" sz="2400" b="1" dirty="0"/>
              <a:t>What do we want to build</a:t>
            </a:r>
            <a:r>
              <a:rPr lang="en-US" sz="2133" b="1" dirty="0">
                <a:solidFill>
                  <a:srgbClr val="2E2E2E"/>
                </a:solidFill>
                <a:latin typeface="Georgia" pitchFamily="34" charset="0"/>
                <a:ea typeface="Georgia" pitchFamily="34" charset="-122"/>
                <a:cs typeface="Georgia" pitchFamily="34" charset="-120"/>
              </a:rPr>
              <a:t>？</a:t>
            </a:r>
            <a:endParaRPr lang="en-US" sz="2133" dirty="0"/>
          </a:p>
        </p:txBody>
      </p:sp>
      <p:sp>
        <p:nvSpPr>
          <p:cNvPr id="5" name="Text 3">
            <a:extLst>
              <a:ext uri="{FF2B5EF4-FFF2-40B4-BE49-F238E27FC236}">
                <a16:creationId xmlns:a16="http://schemas.microsoft.com/office/drawing/2014/main" id="{E7FFB9B4-0206-A3A7-75F4-2633B6BD8A11}"/>
              </a:ext>
            </a:extLst>
          </p:cNvPr>
          <p:cNvSpPr/>
          <p:nvPr/>
        </p:nvSpPr>
        <p:spPr>
          <a:xfrm>
            <a:off x="371061" y="3108635"/>
            <a:ext cx="5491701" cy="640727"/>
          </a:xfrm>
          <a:prstGeom prst="rect">
            <a:avLst/>
          </a:prstGeom>
          <a:noFill/>
          <a:ln/>
        </p:spPr>
        <p:txBody>
          <a:bodyPr wrap="square" rtlCol="0" anchor="ctr"/>
          <a:lstStyle/>
          <a:p>
            <a:pPr algn="just"/>
            <a:r>
              <a:rPr lang="en-US" sz="1600" dirty="0"/>
              <a:t>We want a structure that captures, for every word in words it depends on to be defined, and which other words depend on it. </a:t>
            </a:r>
          </a:p>
          <a:p>
            <a:pPr algn="just"/>
            <a:endParaRPr lang="en-US" sz="1600" dirty="0"/>
          </a:p>
          <a:p>
            <a:pPr algn="just"/>
            <a:r>
              <a:rPr lang="en-US" sz="1600" dirty="0"/>
              <a:t>We want to be able to ask questions like: </a:t>
            </a:r>
          </a:p>
          <a:p>
            <a:pPr marL="342900" indent="-342900" algn="just">
              <a:buFont typeface="+mj-lt"/>
              <a:buAutoNum type="arabicPeriod"/>
            </a:pPr>
            <a:r>
              <a:rPr lang="es-MX" altLang="ja-JP" sz="1600" dirty="0"/>
              <a:t>I</a:t>
            </a:r>
            <a:r>
              <a:rPr lang="en-US" sz="1600" dirty="0"/>
              <a:t>s this word used by anyone the dictionary, which other else? </a:t>
            </a:r>
          </a:p>
          <a:p>
            <a:pPr marL="342900" indent="-342900">
              <a:buFont typeface="+mj-lt"/>
              <a:buAutoNum type="arabicPeriod"/>
            </a:pPr>
            <a:r>
              <a:rPr lang="en-US" sz="1600" dirty="0"/>
              <a:t>How many words need this word in their definition? </a:t>
            </a:r>
          </a:p>
          <a:p>
            <a:pPr marL="342900" indent="-342900">
              <a:buFont typeface="+mj-lt"/>
              <a:buAutoNum type="arabicPeriod"/>
            </a:pPr>
            <a:r>
              <a:rPr lang="en-US" sz="1600" dirty="0"/>
              <a:t>Are there groups of words that define each other in circles? </a:t>
            </a:r>
            <a:endParaRPr lang="en-US" sz="1733" dirty="0">
              <a:solidFill>
                <a:srgbClr val="404040"/>
              </a:solidFill>
              <a:latin typeface="Calibri" pitchFamily="34" charset="0"/>
              <a:ea typeface="Calibri" pitchFamily="34" charset="-122"/>
              <a:cs typeface="Calibri" pitchFamily="34" charset="-120"/>
            </a:endParaRPr>
          </a:p>
        </p:txBody>
      </p:sp>
      <p:sp>
        <p:nvSpPr>
          <p:cNvPr id="7" name="Text 2">
            <a:extLst>
              <a:ext uri="{FF2B5EF4-FFF2-40B4-BE49-F238E27FC236}">
                <a16:creationId xmlns:a16="http://schemas.microsoft.com/office/drawing/2014/main" id="{EA546079-ECFB-B9C8-1A93-B4C64C0A0F41}"/>
              </a:ext>
            </a:extLst>
          </p:cNvPr>
          <p:cNvSpPr/>
          <p:nvPr/>
        </p:nvSpPr>
        <p:spPr>
          <a:xfrm>
            <a:off x="6096000" y="1704422"/>
            <a:ext cx="11216640" cy="244068"/>
          </a:xfrm>
          <a:prstGeom prst="rect">
            <a:avLst/>
          </a:prstGeom>
          <a:noFill/>
          <a:ln/>
        </p:spPr>
        <p:txBody>
          <a:bodyPr wrap="square" rtlCol="0" anchor="ctr"/>
          <a:lstStyle/>
          <a:p>
            <a:r>
              <a:rPr lang="en-US" sz="2400" b="1" dirty="0"/>
              <a:t>How dictionary data actually looks</a:t>
            </a:r>
            <a:r>
              <a:rPr lang="ja-JP" altLang="es-MX" sz="2400" b="1" dirty="0"/>
              <a:t> </a:t>
            </a:r>
            <a:r>
              <a:rPr lang="es-MX" altLang="ja-JP" sz="2400" b="1" dirty="0" err="1"/>
              <a:t>like</a:t>
            </a:r>
            <a:r>
              <a:rPr lang="es-MX" altLang="ja-JP" sz="2400" b="1" dirty="0"/>
              <a:t>.</a:t>
            </a:r>
            <a:endParaRPr lang="en-US" sz="2133" dirty="0"/>
          </a:p>
        </p:txBody>
      </p:sp>
      <p:sp>
        <p:nvSpPr>
          <p:cNvPr id="20" name="Text 3">
            <a:extLst>
              <a:ext uri="{FF2B5EF4-FFF2-40B4-BE49-F238E27FC236}">
                <a16:creationId xmlns:a16="http://schemas.microsoft.com/office/drawing/2014/main" id="{BFAB3CE8-CBA0-02A0-42E5-318F83BAAF63}"/>
              </a:ext>
            </a:extLst>
          </p:cNvPr>
          <p:cNvSpPr/>
          <p:nvPr/>
        </p:nvSpPr>
        <p:spPr>
          <a:xfrm>
            <a:off x="6096000" y="1982278"/>
            <a:ext cx="5491701" cy="640727"/>
          </a:xfrm>
          <a:prstGeom prst="rect">
            <a:avLst/>
          </a:prstGeom>
          <a:noFill/>
          <a:ln/>
        </p:spPr>
        <p:txBody>
          <a:bodyPr wrap="square" rtlCol="0" anchor="ctr"/>
          <a:lstStyle/>
          <a:p>
            <a:pPr algn="just"/>
            <a:r>
              <a:rPr lang="en-US" sz="1600" dirty="0"/>
              <a:t>The Longman Dictionary of Contemporary English</a:t>
            </a:r>
            <a:endParaRPr lang="en-US" sz="1733" dirty="0">
              <a:solidFill>
                <a:srgbClr val="404040"/>
              </a:solidFill>
              <a:latin typeface="Calibri" pitchFamily="34" charset="0"/>
              <a:ea typeface="Calibri" pitchFamily="34" charset="-122"/>
              <a:cs typeface="Calibri" pitchFamily="34" charset="-120"/>
            </a:endParaRPr>
          </a:p>
        </p:txBody>
      </p:sp>
      <p:pic>
        <p:nvPicPr>
          <p:cNvPr id="22" name="Picture 21">
            <a:extLst>
              <a:ext uri="{FF2B5EF4-FFF2-40B4-BE49-F238E27FC236}">
                <a16:creationId xmlns:a16="http://schemas.microsoft.com/office/drawing/2014/main" id="{E27E8ECF-BD34-C04F-E120-70E67B474BDD}"/>
              </a:ext>
            </a:extLst>
          </p:cNvPr>
          <p:cNvPicPr>
            <a:picLocks noChangeAspect="1"/>
          </p:cNvPicPr>
          <p:nvPr/>
        </p:nvPicPr>
        <p:blipFill>
          <a:blip r:embed="rId3"/>
          <a:stretch>
            <a:fillRect/>
          </a:stretch>
        </p:blipFill>
        <p:spPr>
          <a:xfrm>
            <a:off x="6193104" y="2656793"/>
            <a:ext cx="5776852" cy="3163236"/>
          </a:xfrm>
          <a:prstGeom prst="rect">
            <a:avLst/>
          </a:prstGeom>
        </p:spPr>
      </p:pic>
    </p:spTree>
    <p:extLst>
      <p:ext uri="{BB962C8B-B14F-4D97-AF65-F5344CB8AC3E}">
        <p14:creationId xmlns:p14="http://schemas.microsoft.com/office/powerpoint/2010/main" val="4272636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E81C5E-E144-AAB3-EAD0-53DCDD6DD3A6}"/>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A1A4675F-E6B4-854D-8F6C-1C39BE8722FD}"/>
              </a:ext>
            </a:extLst>
          </p:cNvPr>
          <p:cNvSpPr/>
          <p:nvPr/>
        </p:nvSpPr>
        <p:spPr>
          <a:xfrm>
            <a:off x="0" y="0"/>
            <a:ext cx="12192000" cy="877824"/>
          </a:xfrm>
          <a:prstGeom prst="rect">
            <a:avLst/>
          </a:prstGeom>
          <a:solidFill>
            <a:srgbClr val="0D1B2A"/>
          </a:solidFill>
          <a:ln w="12700">
            <a:solidFill>
              <a:srgbClr val="0D1B2A"/>
            </a:solidFill>
            <a:prstDash val="solid"/>
          </a:ln>
        </p:spPr>
        <p:txBody>
          <a:bodyPr/>
          <a:lstStyle/>
          <a:p>
            <a:endParaRPr lang="es-MX" sz="2400"/>
          </a:p>
        </p:txBody>
      </p:sp>
      <p:sp>
        <p:nvSpPr>
          <p:cNvPr id="3" name="Text 1">
            <a:extLst>
              <a:ext uri="{FF2B5EF4-FFF2-40B4-BE49-F238E27FC236}">
                <a16:creationId xmlns:a16="http://schemas.microsoft.com/office/drawing/2014/main" id="{72931BA3-C37D-13AA-8C78-0A86120426B8}"/>
              </a:ext>
            </a:extLst>
          </p:cNvPr>
          <p:cNvSpPr/>
          <p:nvPr/>
        </p:nvSpPr>
        <p:spPr>
          <a:xfrm>
            <a:off x="365760" y="0"/>
            <a:ext cx="11460480" cy="877824"/>
          </a:xfrm>
          <a:prstGeom prst="rect">
            <a:avLst/>
          </a:prstGeom>
          <a:noFill/>
          <a:ln/>
        </p:spPr>
        <p:txBody>
          <a:bodyPr wrap="square" rtlCol="0" anchor="ctr"/>
          <a:lstStyle/>
          <a:p>
            <a:r>
              <a:rPr lang="es-MX" altLang="ja-JP" sz="2933" b="1" dirty="0">
                <a:solidFill>
                  <a:srgbClr val="FFFFFF"/>
                </a:solidFill>
                <a:latin typeface="Georgia" pitchFamily="34" charset="0"/>
                <a:ea typeface="Georgia" pitchFamily="34" charset="-122"/>
                <a:cs typeface="Georgia" pitchFamily="34" charset="-120"/>
              </a:rPr>
              <a:t>Step 0</a:t>
            </a:r>
            <a:r>
              <a:rPr lang="ja-JP" altLang="es-MX" sz="2933" b="1" dirty="0">
                <a:solidFill>
                  <a:srgbClr val="FFFFFF"/>
                </a:solidFill>
                <a:latin typeface="Georgia" pitchFamily="34" charset="0"/>
                <a:ea typeface="Georgia" pitchFamily="34" charset="-122"/>
                <a:cs typeface="Georgia" pitchFamily="34" charset="-120"/>
              </a:rPr>
              <a:t>：</a:t>
            </a:r>
            <a:r>
              <a:rPr lang="es-MX" altLang="ja-JP" sz="2933" b="1" dirty="0">
                <a:solidFill>
                  <a:srgbClr val="FFFFFF"/>
                </a:solidFill>
                <a:latin typeface="Georgia" pitchFamily="34" charset="0"/>
                <a:ea typeface="Georgia" pitchFamily="34" charset="-122"/>
                <a:cs typeface="Georgia" pitchFamily="34" charset="-120"/>
              </a:rPr>
              <a:t>Building </a:t>
            </a:r>
            <a:r>
              <a:rPr lang="es-MX" altLang="ja-JP" sz="2933" b="1" dirty="0" err="1">
                <a:solidFill>
                  <a:srgbClr val="FFFFFF"/>
                </a:solidFill>
                <a:latin typeface="Georgia" pitchFamily="34" charset="0"/>
                <a:ea typeface="Georgia" pitchFamily="34" charset="-122"/>
                <a:cs typeface="Georgia" pitchFamily="34" charset="-120"/>
              </a:rPr>
              <a:t>the</a:t>
            </a:r>
            <a:r>
              <a:rPr lang="es-MX" altLang="ja-JP" sz="2933" b="1" dirty="0">
                <a:solidFill>
                  <a:srgbClr val="FFFFFF"/>
                </a:solidFill>
                <a:latin typeface="Georgia" pitchFamily="34" charset="0"/>
                <a:ea typeface="Georgia" pitchFamily="34" charset="-122"/>
                <a:cs typeface="Georgia" pitchFamily="34" charset="-120"/>
              </a:rPr>
              <a:t> </a:t>
            </a:r>
            <a:r>
              <a:rPr lang="es-MX" altLang="ja-JP" sz="2933" b="1" dirty="0" err="1">
                <a:solidFill>
                  <a:srgbClr val="FFFFFF"/>
                </a:solidFill>
                <a:latin typeface="Georgia" pitchFamily="34" charset="0"/>
                <a:ea typeface="Georgia" pitchFamily="34" charset="-122"/>
                <a:cs typeface="Georgia" pitchFamily="34" charset="-120"/>
              </a:rPr>
              <a:t>graph</a:t>
            </a:r>
            <a:endParaRPr lang="en-US" sz="2933" dirty="0"/>
          </a:p>
        </p:txBody>
      </p:sp>
      <p:sp>
        <p:nvSpPr>
          <p:cNvPr id="4" name="Text 2">
            <a:extLst>
              <a:ext uri="{FF2B5EF4-FFF2-40B4-BE49-F238E27FC236}">
                <a16:creationId xmlns:a16="http://schemas.microsoft.com/office/drawing/2014/main" id="{7B9B6925-840C-0D1E-BD01-A26F6A9951FD}"/>
              </a:ext>
            </a:extLst>
          </p:cNvPr>
          <p:cNvSpPr/>
          <p:nvPr/>
        </p:nvSpPr>
        <p:spPr>
          <a:xfrm>
            <a:off x="365760" y="1325516"/>
            <a:ext cx="11216640" cy="176491"/>
          </a:xfrm>
          <a:prstGeom prst="rect">
            <a:avLst/>
          </a:prstGeom>
          <a:noFill/>
          <a:ln/>
        </p:spPr>
        <p:txBody>
          <a:bodyPr wrap="square" rtlCol="0" anchor="ctr"/>
          <a:lstStyle/>
          <a:p>
            <a:r>
              <a:rPr lang="en-US" sz="2400" b="1" dirty="0"/>
              <a:t>Preprocessing </a:t>
            </a:r>
            <a:endParaRPr lang="en-US" sz="2133" dirty="0"/>
          </a:p>
        </p:txBody>
      </p:sp>
      <p:sp>
        <p:nvSpPr>
          <p:cNvPr id="5" name="Text 3">
            <a:extLst>
              <a:ext uri="{FF2B5EF4-FFF2-40B4-BE49-F238E27FC236}">
                <a16:creationId xmlns:a16="http://schemas.microsoft.com/office/drawing/2014/main" id="{55F1A8FF-4706-1F75-53A0-022AF7A52779}"/>
              </a:ext>
            </a:extLst>
          </p:cNvPr>
          <p:cNvSpPr/>
          <p:nvPr/>
        </p:nvSpPr>
        <p:spPr>
          <a:xfrm>
            <a:off x="365760" y="4190242"/>
            <a:ext cx="7095097" cy="640727"/>
          </a:xfrm>
          <a:prstGeom prst="rect">
            <a:avLst/>
          </a:prstGeom>
          <a:noFill/>
          <a:ln/>
        </p:spPr>
        <p:txBody>
          <a:bodyPr wrap="square" rtlCol="0" anchor="ctr"/>
          <a:lstStyle/>
          <a:p>
            <a:pPr algn="just"/>
            <a:r>
              <a:rPr lang="en-US" sz="1300" b="1" dirty="0"/>
              <a:t>Step 1 — Tokenization</a:t>
            </a:r>
            <a:endParaRPr lang="en-US" sz="1300" dirty="0"/>
          </a:p>
          <a:p>
            <a:pPr algn="just"/>
            <a:r>
              <a:rPr lang="en-US" sz="1300" dirty="0"/>
              <a:t>Split the raw definition string into individual words. Lowercase everything. Punctuation and hyphens are treated as separators.</a:t>
            </a:r>
          </a:p>
          <a:p>
            <a:pPr algn="just"/>
            <a:endParaRPr lang="en-US" sz="1300" dirty="0"/>
          </a:p>
          <a:p>
            <a:pPr algn="just"/>
            <a:r>
              <a:rPr lang="en-US" sz="1300" b="1" dirty="0"/>
              <a:t>Step 2 — Stop word removal</a:t>
            </a:r>
            <a:endParaRPr lang="en-US" sz="1300" dirty="0"/>
          </a:p>
          <a:p>
            <a:pPr algn="just"/>
            <a:r>
              <a:rPr lang="en-US" sz="1300" dirty="0"/>
              <a:t>Remove function words that carry no definitional meaning — articles, prepositions, conjunctions, pronouns, auxiliaries.</a:t>
            </a:r>
          </a:p>
          <a:p>
            <a:pPr algn="just"/>
            <a:endParaRPr lang="en-US" sz="1300" dirty="0"/>
          </a:p>
          <a:p>
            <a:pPr algn="just"/>
            <a:r>
              <a:rPr lang="en-US" sz="1300" b="1" dirty="0"/>
              <a:t>Step 3 — Lemmatization</a:t>
            </a:r>
            <a:endParaRPr lang="en-US" sz="1300" dirty="0"/>
          </a:p>
          <a:p>
            <a:pPr algn="just"/>
            <a:r>
              <a:rPr lang="en-US" sz="1300" dirty="0"/>
              <a:t>Reduce every word to its base form so that different conjugations of the same word map to the same node. Why this matters</a:t>
            </a:r>
            <a:r>
              <a:rPr lang="en-US" sz="1300" i="1" dirty="0"/>
              <a:t>:</a:t>
            </a:r>
            <a:r>
              <a:rPr lang="en-US" sz="1300" dirty="0"/>
              <a:t> If "runs," "running," and "ran" are treated as separate nodes, the same concept splits into three disconnected points in the graph. Lemmatization collapses them into one.</a:t>
            </a:r>
          </a:p>
          <a:p>
            <a:pPr algn="just"/>
            <a:endParaRPr lang="en-US" sz="1300" dirty="0"/>
          </a:p>
          <a:p>
            <a:pPr algn="just"/>
            <a:r>
              <a:rPr lang="en-US" sz="1300" b="1" dirty="0"/>
              <a:t>Step 4 — Vocabulary filtering</a:t>
            </a:r>
            <a:endParaRPr lang="en-US" sz="1300" dirty="0"/>
          </a:p>
          <a:p>
            <a:pPr algn="just"/>
            <a:r>
              <a:rPr lang="en-US" sz="1300" dirty="0"/>
              <a:t>Keep only words that have their own entry in the dictionary. If a definition uses a word with no entry — a proper noun, abbreviation, or rare term — that word is dropped. No node, no edge.</a:t>
            </a:r>
          </a:p>
          <a:p>
            <a:pPr algn="just"/>
            <a:r>
              <a:rPr lang="en-US" sz="1300" dirty="0"/>
              <a:t>This keeps the graph self-contained: every node in the graph can itself be looked up and defined.</a:t>
            </a:r>
          </a:p>
          <a:p>
            <a:pPr algn="just"/>
            <a:endParaRPr lang="en-US" sz="1300" dirty="0"/>
          </a:p>
          <a:p>
            <a:pPr algn="just"/>
            <a:r>
              <a:rPr lang="en-US" sz="1300" b="1" dirty="0"/>
              <a:t>Step 5 — First sense only</a:t>
            </a:r>
            <a:endParaRPr lang="en-US" sz="1300" dirty="0"/>
          </a:p>
          <a:p>
            <a:pPr algn="just"/>
            <a:r>
              <a:rPr lang="en-US" sz="1300" dirty="0"/>
              <a:t>Each word has only one definition processed — the first one listed. "Bank" means financial institution, not riverbank. This makes the graph tractable but loses polysemy. The paper acknowledges this as a limitation.</a:t>
            </a:r>
          </a:p>
          <a:p>
            <a:pPr algn="just"/>
            <a:endParaRPr lang="en-US" sz="1300" dirty="0"/>
          </a:p>
          <a:p>
            <a:pPr algn="just"/>
            <a:endParaRPr lang="en-US" sz="1300" dirty="0"/>
          </a:p>
          <a:p>
            <a:pPr algn="just"/>
            <a:br>
              <a:rPr lang="en-US" sz="1300" dirty="0"/>
            </a:br>
            <a:endParaRPr lang="en-US" sz="1300" dirty="0"/>
          </a:p>
        </p:txBody>
      </p:sp>
      <p:graphicFrame>
        <p:nvGraphicFramePr>
          <p:cNvPr id="9" name="Table 8">
            <a:extLst>
              <a:ext uri="{FF2B5EF4-FFF2-40B4-BE49-F238E27FC236}">
                <a16:creationId xmlns:a16="http://schemas.microsoft.com/office/drawing/2014/main" id="{F6DB1E62-155D-0CD8-5173-92AD7A977798}"/>
              </a:ext>
            </a:extLst>
          </p:cNvPr>
          <p:cNvGraphicFramePr>
            <a:graphicFrameLocks noGrp="1"/>
          </p:cNvGraphicFramePr>
          <p:nvPr>
            <p:extLst>
              <p:ext uri="{D42A27DB-BD31-4B8C-83A1-F6EECF244321}">
                <p14:modId xmlns:p14="http://schemas.microsoft.com/office/powerpoint/2010/main" val="4205553419"/>
              </p:ext>
            </p:extLst>
          </p:nvPr>
        </p:nvGraphicFramePr>
        <p:xfrm>
          <a:off x="8003023" y="3396264"/>
          <a:ext cx="2023010" cy="1097280"/>
        </p:xfrm>
        <a:graphic>
          <a:graphicData uri="http://schemas.openxmlformats.org/drawingml/2006/table">
            <a:tbl>
              <a:tblPr>
                <a:tableStyleId>{D7AC3CCA-C797-4891-BE02-D94E43425B78}</a:tableStyleId>
              </a:tblPr>
              <a:tblGrid>
                <a:gridCol w="1011505">
                  <a:extLst>
                    <a:ext uri="{9D8B030D-6E8A-4147-A177-3AD203B41FA5}">
                      <a16:colId xmlns:a16="http://schemas.microsoft.com/office/drawing/2014/main" val="4070109177"/>
                    </a:ext>
                  </a:extLst>
                </a:gridCol>
                <a:gridCol w="1011505">
                  <a:extLst>
                    <a:ext uri="{9D8B030D-6E8A-4147-A177-3AD203B41FA5}">
                      <a16:colId xmlns:a16="http://schemas.microsoft.com/office/drawing/2014/main" val="1408703725"/>
                    </a:ext>
                  </a:extLst>
                </a:gridCol>
              </a:tblGrid>
              <a:tr h="211500">
                <a:tc>
                  <a:txBody>
                    <a:bodyPr/>
                    <a:lstStyle/>
                    <a:p>
                      <a:pPr algn="ctr">
                        <a:buNone/>
                      </a:pPr>
                      <a:r>
                        <a:rPr lang="es-MX" sz="1200" b="1" dirty="0" err="1"/>
                        <a:t>Before</a:t>
                      </a:r>
                      <a:endParaRPr lang="es-MX" sz="1200" b="1" dirty="0"/>
                    </a:p>
                  </a:txBody>
                  <a:tcPr anchor="ctr"/>
                </a:tc>
                <a:tc>
                  <a:txBody>
                    <a:bodyPr/>
                    <a:lstStyle/>
                    <a:p>
                      <a:pPr algn="ctr">
                        <a:buNone/>
                      </a:pPr>
                      <a:r>
                        <a:rPr lang="es-MX" sz="1200" b="1" dirty="0"/>
                        <a:t>After</a:t>
                      </a:r>
                    </a:p>
                  </a:txBody>
                  <a:tcPr anchor="ctr"/>
                </a:tc>
                <a:extLst>
                  <a:ext uri="{0D108BD9-81ED-4DB2-BD59-A6C34878D82A}">
                    <a16:rowId xmlns:a16="http://schemas.microsoft.com/office/drawing/2014/main" val="374480295"/>
                  </a:ext>
                </a:extLst>
              </a:tr>
              <a:tr h="211500">
                <a:tc>
                  <a:txBody>
                    <a:bodyPr/>
                    <a:lstStyle/>
                    <a:p>
                      <a:pPr>
                        <a:buNone/>
                      </a:pPr>
                      <a:r>
                        <a:rPr lang="es-MX" sz="1200" dirty="0" err="1"/>
                        <a:t>runs</a:t>
                      </a:r>
                      <a:endParaRPr lang="es-MX" sz="1200" dirty="0"/>
                    </a:p>
                  </a:txBody>
                  <a:tcPr anchor="ctr">
                    <a:solidFill>
                      <a:schemeClr val="bg1"/>
                    </a:solidFill>
                  </a:tcPr>
                </a:tc>
                <a:tc>
                  <a:txBody>
                    <a:bodyPr/>
                    <a:lstStyle/>
                    <a:p>
                      <a:pPr>
                        <a:buNone/>
                      </a:pPr>
                      <a:r>
                        <a:rPr lang="es-MX" sz="1200"/>
                        <a:t>run</a:t>
                      </a:r>
                    </a:p>
                  </a:txBody>
                  <a:tcPr anchor="ctr">
                    <a:solidFill>
                      <a:schemeClr val="bg1"/>
                    </a:solidFill>
                  </a:tcPr>
                </a:tc>
                <a:extLst>
                  <a:ext uri="{0D108BD9-81ED-4DB2-BD59-A6C34878D82A}">
                    <a16:rowId xmlns:a16="http://schemas.microsoft.com/office/drawing/2014/main" val="4178296427"/>
                  </a:ext>
                </a:extLst>
              </a:tr>
              <a:tr h="211500">
                <a:tc>
                  <a:txBody>
                    <a:bodyPr/>
                    <a:lstStyle/>
                    <a:p>
                      <a:pPr>
                        <a:buNone/>
                      </a:pPr>
                      <a:r>
                        <a:rPr lang="es-MX" sz="1200" dirty="0"/>
                        <a:t>running</a:t>
                      </a:r>
                    </a:p>
                  </a:txBody>
                  <a:tcPr anchor="ctr">
                    <a:solidFill>
                      <a:schemeClr val="bg1"/>
                    </a:solidFill>
                  </a:tcPr>
                </a:tc>
                <a:tc>
                  <a:txBody>
                    <a:bodyPr/>
                    <a:lstStyle/>
                    <a:p>
                      <a:pPr>
                        <a:buNone/>
                      </a:pPr>
                      <a:r>
                        <a:rPr lang="es-MX" sz="1200" dirty="0"/>
                        <a:t>run</a:t>
                      </a:r>
                    </a:p>
                  </a:txBody>
                  <a:tcPr anchor="ctr">
                    <a:solidFill>
                      <a:schemeClr val="bg1"/>
                    </a:solidFill>
                  </a:tcPr>
                </a:tc>
                <a:extLst>
                  <a:ext uri="{0D108BD9-81ED-4DB2-BD59-A6C34878D82A}">
                    <a16:rowId xmlns:a16="http://schemas.microsoft.com/office/drawing/2014/main" val="1968446398"/>
                  </a:ext>
                </a:extLst>
              </a:tr>
              <a:tr h="211500">
                <a:tc>
                  <a:txBody>
                    <a:bodyPr/>
                    <a:lstStyle/>
                    <a:p>
                      <a:pPr>
                        <a:buNone/>
                      </a:pPr>
                      <a:r>
                        <a:rPr lang="es-MX" sz="1200"/>
                        <a:t>ran</a:t>
                      </a:r>
                    </a:p>
                  </a:txBody>
                  <a:tcPr anchor="ctr">
                    <a:solidFill>
                      <a:schemeClr val="bg1"/>
                    </a:solidFill>
                  </a:tcPr>
                </a:tc>
                <a:tc>
                  <a:txBody>
                    <a:bodyPr/>
                    <a:lstStyle/>
                    <a:p>
                      <a:pPr>
                        <a:buNone/>
                      </a:pPr>
                      <a:r>
                        <a:rPr lang="es-MX" sz="1200" dirty="0"/>
                        <a:t>run</a:t>
                      </a:r>
                    </a:p>
                  </a:txBody>
                  <a:tcPr anchor="ctr">
                    <a:solidFill>
                      <a:schemeClr val="bg1"/>
                    </a:solidFill>
                  </a:tcPr>
                </a:tc>
                <a:extLst>
                  <a:ext uri="{0D108BD9-81ED-4DB2-BD59-A6C34878D82A}">
                    <a16:rowId xmlns:a16="http://schemas.microsoft.com/office/drawing/2014/main" val="1575694085"/>
                  </a:ext>
                </a:extLst>
              </a:tr>
            </a:tbl>
          </a:graphicData>
        </a:graphic>
      </p:graphicFrame>
      <p:sp>
        <p:nvSpPr>
          <p:cNvPr id="11" name="TextBox 10">
            <a:extLst>
              <a:ext uri="{FF2B5EF4-FFF2-40B4-BE49-F238E27FC236}">
                <a16:creationId xmlns:a16="http://schemas.microsoft.com/office/drawing/2014/main" id="{5270EB01-6466-8E2A-14A5-D87BA4653037}"/>
              </a:ext>
            </a:extLst>
          </p:cNvPr>
          <p:cNvSpPr txBox="1"/>
          <p:nvPr/>
        </p:nvSpPr>
        <p:spPr>
          <a:xfrm>
            <a:off x="7881641" y="1949699"/>
            <a:ext cx="4100639" cy="461665"/>
          </a:xfrm>
          <a:prstGeom prst="rect">
            <a:avLst/>
          </a:prstGeom>
          <a:noFill/>
        </p:spPr>
        <p:txBody>
          <a:bodyPr wrap="square">
            <a:spAutoFit/>
          </a:bodyPr>
          <a:lstStyle/>
          <a:p>
            <a:r>
              <a:rPr lang="en-US" sz="1200" i="1" dirty="0"/>
              <a:t>"A dog is a domesticated four-legged animal"</a:t>
            </a:r>
            <a:r>
              <a:rPr lang="en-US" sz="1200" dirty="0"/>
              <a:t> →</a:t>
            </a:r>
            <a:br>
              <a:rPr lang="en-US" sz="1200" dirty="0"/>
            </a:br>
            <a:r>
              <a:rPr lang="en-US" sz="1200" dirty="0"/>
              <a:t> ["a", "dog", "is", "a", "domesticated", "four-legged", "animal"]</a:t>
            </a:r>
          </a:p>
        </p:txBody>
      </p:sp>
      <p:sp>
        <p:nvSpPr>
          <p:cNvPr id="13" name="TextBox 12">
            <a:extLst>
              <a:ext uri="{FF2B5EF4-FFF2-40B4-BE49-F238E27FC236}">
                <a16:creationId xmlns:a16="http://schemas.microsoft.com/office/drawing/2014/main" id="{970FFDAB-1269-E280-73E4-F3ED1D7F83DC}"/>
              </a:ext>
            </a:extLst>
          </p:cNvPr>
          <p:cNvSpPr txBox="1"/>
          <p:nvPr/>
        </p:nvSpPr>
        <p:spPr>
          <a:xfrm>
            <a:off x="7881641" y="2697161"/>
            <a:ext cx="4367675" cy="461665"/>
          </a:xfrm>
          <a:prstGeom prst="rect">
            <a:avLst/>
          </a:prstGeom>
          <a:noFill/>
        </p:spPr>
        <p:txBody>
          <a:bodyPr wrap="square">
            <a:spAutoFit/>
          </a:bodyPr>
          <a:lstStyle/>
          <a:p>
            <a:r>
              <a:rPr lang="en-US" sz="1200" dirty="0"/>
              <a:t>["a", "dog", "is", "a", "domesticated", "four-legged", "animal"] → ["domesticated", "four-legged", "animal"]</a:t>
            </a:r>
          </a:p>
        </p:txBody>
      </p:sp>
      <p:cxnSp>
        <p:nvCxnSpPr>
          <p:cNvPr id="15" name="Straight Connector 14">
            <a:extLst>
              <a:ext uri="{FF2B5EF4-FFF2-40B4-BE49-F238E27FC236}">
                <a16:creationId xmlns:a16="http://schemas.microsoft.com/office/drawing/2014/main" id="{5555D09B-A641-27FB-82B9-F6B6EDEA008C}"/>
              </a:ext>
            </a:extLst>
          </p:cNvPr>
          <p:cNvCxnSpPr>
            <a:cxnSpLocks/>
          </p:cNvCxnSpPr>
          <p:nvPr/>
        </p:nvCxnSpPr>
        <p:spPr>
          <a:xfrm>
            <a:off x="7695526" y="1734309"/>
            <a:ext cx="72828" cy="4911866"/>
          </a:xfrm>
          <a:prstGeom prst="line">
            <a:avLst/>
          </a:prstGeom>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98500045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8DD3FD-635F-74D3-E3F0-9643439F6B39}"/>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C6516957-0B50-0FD4-BA18-3BCA151E5EFB}"/>
              </a:ext>
            </a:extLst>
          </p:cNvPr>
          <p:cNvSpPr/>
          <p:nvPr/>
        </p:nvSpPr>
        <p:spPr>
          <a:xfrm>
            <a:off x="0" y="0"/>
            <a:ext cx="12192000" cy="877824"/>
          </a:xfrm>
          <a:prstGeom prst="rect">
            <a:avLst/>
          </a:prstGeom>
          <a:solidFill>
            <a:srgbClr val="0D1B2A"/>
          </a:solidFill>
          <a:ln w="12700">
            <a:solidFill>
              <a:srgbClr val="0D1B2A"/>
            </a:solidFill>
            <a:prstDash val="solid"/>
          </a:ln>
        </p:spPr>
        <p:txBody>
          <a:bodyPr/>
          <a:lstStyle/>
          <a:p>
            <a:endParaRPr lang="es-MX" sz="2400"/>
          </a:p>
        </p:txBody>
      </p:sp>
      <p:sp>
        <p:nvSpPr>
          <p:cNvPr id="3" name="Text 1">
            <a:extLst>
              <a:ext uri="{FF2B5EF4-FFF2-40B4-BE49-F238E27FC236}">
                <a16:creationId xmlns:a16="http://schemas.microsoft.com/office/drawing/2014/main" id="{AA9A5512-E0B9-8D04-140A-7C5D547A7666}"/>
              </a:ext>
            </a:extLst>
          </p:cNvPr>
          <p:cNvSpPr/>
          <p:nvPr/>
        </p:nvSpPr>
        <p:spPr>
          <a:xfrm>
            <a:off x="365760" y="0"/>
            <a:ext cx="11460480" cy="877824"/>
          </a:xfrm>
          <a:prstGeom prst="rect">
            <a:avLst/>
          </a:prstGeom>
          <a:noFill/>
          <a:ln/>
        </p:spPr>
        <p:txBody>
          <a:bodyPr wrap="square" rtlCol="0" anchor="ctr"/>
          <a:lstStyle/>
          <a:p>
            <a:r>
              <a:rPr lang="es-MX" altLang="ja-JP" sz="2933" b="1" dirty="0">
                <a:solidFill>
                  <a:srgbClr val="FFFFFF"/>
                </a:solidFill>
                <a:latin typeface="Georgia" pitchFamily="34" charset="0"/>
                <a:ea typeface="Georgia" pitchFamily="34" charset="-122"/>
                <a:cs typeface="Georgia" pitchFamily="34" charset="-120"/>
              </a:rPr>
              <a:t>Step 0</a:t>
            </a:r>
            <a:r>
              <a:rPr lang="ja-JP" altLang="es-MX" sz="2933" b="1" dirty="0">
                <a:solidFill>
                  <a:srgbClr val="FFFFFF"/>
                </a:solidFill>
                <a:latin typeface="Georgia" pitchFamily="34" charset="0"/>
                <a:ea typeface="Georgia" pitchFamily="34" charset="-122"/>
                <a:cs typeface="Georgia" pitchFamily="34" charset="-120"/>
              </a:rPr>
              <a:t>：</a:t>
            </a:r>
            <a:r>
              <a:rPr lang="es-MX" altLang="ja-JP" sz="2933" b="1" dirty="0">
                <a:solidFill>
                  <a:srgbClr val="FFFFFF"/>
                </a:solidFill>
                <a:latin typeface="Georgia" pitchFamily="34" charset="0"/>
                <a:ea typeface="Georgia" pitchFamily="34" charset="-122"/>
                <a:cs typeface="Georgia" pitchFamily="34" charset="-120"/>
              </a:rPr>
              <a:t>Building </a:t>
            </a:r>
            <a:r>
              <a:rPr lang="es-MX" altLang="ja-JP" sz="2933" b="1" dirty="0" err="1">
                <a:solidFill>
                  <a:srgbClr val="FFFFFF"/>
                </a:solidFill>
                <a:latin typeface="Georgia" pitchFamily="34" charset="0"/>
                <a:ea typeface="Georgia" pitchFamily="34" charset="-122"/>
                <a:cs typeface="Georgia" pitchFamily="34" charset="-120"/>
              </a:rPr>
              <a:t>the</a:t>
            </a:r>
            <a:r>
              <a:rPr lang="es-MX" altLang="ja-JP" sz="2933" b="1" dirty="0">
                <a:solidFill>
                  <a:srgbClr val="FFFFFF"/>
                </a:solidFill>
                <a:latin typeface="Georgia" pitchFamily="34" charset="0"/>
                <a:ea typeface="Georgia" pitchFamily="34" charset="-122"/>
                <a:cs typeface="Georgia" pitchFamily="34" charset="-120"/>
              </a:rPr>
              <a:t> </a:t>
            </a:r>
            <a:r>
              <a:rPr lang="es-MX" altLang="ja-JP" sz="2933" b="1" dirty="0" err="1">
                <a:solidFill>
                  <a:srgbClr val="FFFFFF"/>
                </a:solidFill>
                <a:latin typeface="Georgia" pitchFamily="34" charset="0"/>
                <a:ea typeface="Georgia" pitchFamily="34" charset="-122"/>
                <a:cs typeface="Georgia" pitchFamily="34" charset="-120"/>
              </a:rPr>
              <a:t>graph</a:t>
            </a:r>
            <a:endParaRPr lang="en-US" sz="2933" dirty="0"/>
          </a:p>
        </p:txBody>
      </p:sp>
      <p:pic>
        <p:nvPicPr>
          <p:cNvPr id="8" name="Picture 7">
            <a:extLst>
              <a:ext uri="{FF2B5EF4-FFF2-40B4-BE49-F238E27FC236}">
                <a16:creationId xmlns:a16="http://schemas.microsoft.com/office/drawing/2014/main" id="{99712623-814C-E182-10C2-0B64FE3EE361}"/>
              </a:ext>
            </a:extLst>
          </p:cNvPr>
          <p:cNvPicPr>
            <a:picLocks noChangeAspect="1"/>
          </p:cNvPicPr>
          <p:nvPr/>
        </p:nvPicPr>
        <p:blipFill>
          <a:blip r:embed="rId3"/>
          <a:srcRect b="51982"/>
          <a:stretch>
            <a:fillRect/>
          </a:stretch>
        </p:blipFill>
        <p:spPr>
          <a:xfrm>
            <a:off x="2328967" y="1092814"/>
            <a:ext cx="7534061" cy="2587921"/>
          </a:xfrm>
          <a:prstGeom prst="rect">
            <a:avLst/>
          </a:prstGeom>
        </p:spPr>
      </p:pic>
      <p:pic>
        <p:nvPicPr>
          <p:cNvPr id="10" name="Picture 9">
            <a:extLst>
              <a:ext uri="{FF2B5EF4-FFF2-40B4-BE49-F238E27FC236}">
                <a16:creationId xmlns:a16="http://schemas.microsoft.com/office/drawing/2014/main" id="{F43E087D-B789-1A28-C000-2AA1C7B651AF}"/>
              </a:ext>
            </a:extLst>
          </p:cNvPr>
          <p:cNvPicPr>
            <a:picLocks noChangeAspect="1"/>
          </p:cNvPicPr>
          <p:nvPr/>
        </p:nvPicPr>
        <p:blipFill>
          <a:blip r:embed="rId3"/>
          <a:srcRect t="47687"/>
          <a:stretch>
            <a:fillRect/>
          </a:stretch>
        </p:blipFill>
        <p:spPr>
          <a:xfrm>
            <a:off x="2328968" y="3895725"/>
            <a:ext cx="7534061" cy="2819400"/>
          </a:xfrm>
          <a:prstGeom prst="rect">
            <a:avLst/>
          </a:prstGeom>
        </p:spPr>
      </p:pic>
    </p:spTree>
    <p:extLst>
      <p:ext uri="{BB962C8B-B14F-4D97-AF65-F5344CB8AC3E}">
        <p14:creationId xmlns:p14="http://schemas.microsoft.com/office/powerpoint/2010/main" val="22705655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DBB482-785E-A719-E527-CE2D2440F75C}"/>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C83889CD-1045-3E59-70EE-4CA38FA48E21}"/>
              </a:ext>
            </a:extLst>
          </p:cNvPr>
          <p:cNvSpPr/>
          <p:nvPr/>
        </p:nvSpPr>
        <p:spPr>
          <a:xfrm>
            <a:off x="0" y="0"/>
            <a:ext cx="12192000" cy="877824"/>
          </a:xfrm>
          <a:prstGeom prst="rect">
            <a:avLst/>
          </a:prstGeom>
          <a:solidFill>
            <a:srgbClr val="0D1B2A"/>
          </a:solidFill>
          <a:ln w="12700">
            <a:solidFill>
              <a:srgbClr val="0D1B2A"/>
            </a:solidFill>
            <a:prstDash val="solid"/>
          </a:ln>
        </p:spPr>
        <p:txBody>
          <a:bodyPr/>
          <a:lstStyle/>
          <a:p>
            <a:endParaRPr lang="es-MX" sz="2400"/>
          </a:p>
        </p:txBody>
      </p:sp>
      <p:sp>
        <p:nvSpPr>
          <p:cNvPr id="3" name="Text 1">
            <a:extLst>
              <a:ext uri="{FF2B5EF4-FFF2-40B4-BE49-F238E27FC236}">
                <a16:creationId xmlns:a16="http://schemas.microsoft.com/office/drawing/2014/main" id="{711CE4FE-EE53-D1F8-337A-1412F757F2CF}"/>
              </a:ext>
            </a:extLst>
          </p:cNvPr>
          <p:cNvSpPr/>
          <p:nvPr/>
        </p:nvSpPr>
        <p:spPr>
          <a:xfrm>
            <a:off x="365760" y="0"/>
            <a:ext cx="11460480" cy="877824"/>
          </a:xfrm>
          <a:prstGeom prst="rect">
            <a:avLst/>
          </a:prstGeom>
          <a:noFill/>
          <a:ln/>
        </p:spPr>
        <p:txBody>
          <a:bodyPr wrap="square" rtlCol="0" anchor="ctr"/>
          <a:lstStyle/>
          <a:p>
            <a:r>
              <a:rPr lang="es-MX" altLang="ja-JP" sz="2933" b="1" dirty="0">
                <a:solidFill>
                  <a:srgbClr val="FFFFFF"/>
                </a:solidFill>
                <a:latin typeface="Georgia" pitchFamily="34" charset="0"/>
                <a:ea typeface="Georgia" pitchFamily="34" charset="-122"/>
                <a:cs typeface="Georgia" pitchFamily="34" charset="-120"/>
              </a:rPr>
              <a:t>Step 0</a:t>
            </a:r>
            <a:r>
              <a:rPr lang="ja-JP" altLang="es-MX" sz="2933" b="1" dirty="0">
                <a:solidFill>
                  <a:srgbClr val="FFFFFF"/>
                </a:solidFill>
                <a:latin typeface="Georgia" pitchFamily="34" charset="0"/>
                <a:ea typeface="Georgia" pitchFamily="34" charset="-122"/>
                <a:cs typeface="Georgia" pitchFamily="34" charset="-120"/>
              </a:rPr>
              <a:t>：</a:t>
            </a:r>
            <a:r>
              <a:rPr lang="es-MX" altLang="ja-JP" sz="2933" b="1" dirty="0">
                <a:solidFill>
                  <a:srgbClr val="FFFFFF"/>
                </a:solidFill>
                <a:latin typeface="Georgia" pitchFamily="34" charset="0"/>
                <a:ea typeface="Georgia" pitchFamily="34" charset="-122"/>
                <a:cs typeface="Georgia" pitchFamily="34" charset="-120"/>
              </a:rPr>
              <a:t>Building </a:t>
            </a:r>
            <a:r>
              <a:rPr lang="es-MX" altLang="ja-JP" sz="2933" b="1" dirty="0" err="1">
                <a:solidFill>
                  <a:srgbClr val="FFFFFF"/>
                </a:solidFill>
                <a:latin typeface="Georgia" pitchFamily="34" charset="0"/>
                <a:ea typeface="Georgia" pitchFamily="34" charset="-122"/>
                <a:cs typeface="Georgia" pitchFamily="34" charset="-120"/>
              </a:rPr>
              <a:t>the</a:t>
            </a:r>
            <a:r>
              <a:rPr lang="es-MX" altLang="ja-JP" sz="2933" b="1" dirty="0">
                <a:solidFill>
                  <a:srgbClr val="FFFFFF"/>
                </a:solidFill>
                <a:latin typeface="Georgia" pitchFamily="34" charset="0"/>
                <a:ea typeface="Georgia" pitchFamily="34" charset="-122"/>
                <a:cs typeface="Georgia" pitchFamily="34" charset="-120"/>
              </a:rPr>
              <a:t> </a:t>
            </a:r>
            <a:r>
              <a:rPr lang="es-MX" altLang="ja-JP" sz="2933" b="1" dirty="0" err="1">
                <a:solidFill>
                  <a:srgbClr val="FFFFFF"/>
                </a:solidFill>
                <a:latin typeface="Georgia" pitchFamily="34" charset="0"/>
                <a:ea typeface="Georgia" pitchFamily="34" charset="-122"/>
                <a:cs typeface="Georgia" pitchFamily="34" charset="-120"/>
              </a:rPr>
              <a:t>graph</a:t>
            </a:r>
            <a:endParaRPr lang="en-US" sz="2933" dirty="0"/>
          </a:p>
        </p:txBody>
      </p:sp>
      <p:pic>
        <p:nvPicPr>
          <p:cNvPr id="2050" name="Picture 2" descr="Illustration of a dictionary graph using data for a tiny (but complete)...  | Download Scientific Diagram">
            <a:extLst>
              <a:ext uri="{FF2B5EF4-FFF2-40B4-BE49-F238E27FC236}">
                <a16:creationId xmlns:a16="http://schemas.microsoft.com/office/drawing/2014/main" id="{F3DC225E-FFAA-8FB6-409F-91CCB2A95FB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833687" y="1304925"/>
            <a:ext cx="6524625" cy="52197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8291208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47C83C-CE74-AEAE-E681-5A2A2631016E}"/>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5D946F68-8A63-82CF-1896-D9376B0E34AE}"/>
              </a:ext>
            </a:extLst>
          </p:cNvPr>
          <p:cNvSpPr/>
          <p:nvPr/>
        </p:nvSpPr>
        <p:spPr>
          <a:xfrm>
            <a:off x="0" y="0"/>
            <a:ext cx="12192000" cy="877824"/>
          </a:xfrm>
          <a:prstGeom prst="rect">
            <a:avLst/>
          </a:prstGeom>
          <a:solidFill>
            <a:srgbClr val="0D1B2A"/>
          </a:solidFill>
          <a:ln w="12700">
            <a:solidFill>
              <a:srgbClr val="0D1B2A"/>
            </a:solidFill>
            <a:prstDash val="solid"/>
          </a:ln>
        </p:spPr>
        <p:txBody>
          <a:bodyPr/>
          <a:lstStyle/>
          <a:p>
            <a:endParaRPr lang="es-MX" sz="2400"/>
          </a:p>
        </p:txBody>
      </p:sp>
      <p:sp>
        <p:nvSpPr>
          <p:cNvPr id="3" name="Text 1">
            <a:extLst>
              <a:ext uri="{FF2B5EF4-FFF2-40B4-BE49-F238E27FC236}">
                <a16:creationId xmlns:a16="http://schemas.microsoft.com/office/drawing/2014/main" id="{BCBFB4B9-BD95-3B5F-4CAA-2FEDF11F1E3E}"/>
              </a:ext>
            </a:extLst>
          </p:cNvPr>
          <p:cNvSpPr/>
          <p:nvPr/>
        </p:nvSpPr>
        <p:spPr>
          <a:xfrm>
            <a:off x="365760" y="0"/>
            <a:ext cx="11460480" cy="877824"/>
          </a:xfrm>
          <a:prstGeom prst="rect">
            <a:avLst/>
          </a:prstGeom>
          <a:noFill/>
          <a:ln/>
        </p:spPr>
        <p:txBody>
          <a:bodyPr wrap="square" rtlCol="0" anchor="ctr"/>
          <a:lstStyle/>
          <a:p>
            <a:r>
              <a:rPr lang="es-MX" altLang="ja-JP" sz="2933" b="1" dirty="0">
                <a:solidFill>
                  <a:srgbClr val="FFFFFF"/>
                </a:solidFill>
                <a:latin typeface="Georgia" pitchFamily="34" charset="0"/>
                <a:ea typeface="Georgia" pitchFamily="34" charset="-122"/>
                <a:cs typeface="Georgia" pitchFamily="34" charset="-120"/>
              </a:rPr>
              <a:t>Step 1</a:t>
            </a:r>
            <a:r>
              <a:rPr lang="ja-JP" altLang="es-MX" sz="2933" b="1" dirty="0">
                <a:solidFill>
                  <a:srgbClr val="FFFFFF"/>
                </a:solidFill>
                <a:latin typeface="Georgia" pitchFamily="34" charset="0"/>
                <a:ea typeface="Georgia" pitchFamily="34" charset="-122"/>
                <a:cs typeface="Georgia" pitchFamily="34" charset="-120"/>
              </a:rPr>
              <a:t>：</a:t>
            </a:r>
            <a:r>
              <a:rPr lang="es-MX" altLang="ja-JP" sz="2933" b="1" dirty="0">
                <a:solidFill>
                  <a:srgbClr val="FFFFFF"/>
                </a:solidFill>
                <a:latin typeface="Georgia" pitchFamily="34" charset="0"/>
                <a:ea typeface="Georgia" pitchFamily="34" charset="-122"/>
                <a:cs typeface="Georgia" pitchFamily="34" charset="-120"/>
              </a:rPr>
              <a:t>Kernel</a:t>
            </a:r>
            <a:endParaRPr lang="en-US" sz="2933" dirty="0"/>
          </a:p>
        </p:txBody>
      </p:sp>
      <p:sp>
        <p:nvSpPr>
          <p:cNvPr id="5" name="TextBox 4">
            <a:extLst>
              <a:ext uri="{FF2B5EF4-FFF2-40B4-BE49-F238E27FC236}">
                <a16:creationId xmlns:a16="http://schemas.microsoft.com/office/drawing/2014/main" id="{2B88A7C5-D4A9-97CE-DEE7-532F81505649}"/>
              </a:ext>
            </a:extLst>
          </p:cNvPr>
          <p:cNvSpPr txBox="1"/>
          <p:nvPr/>
        </p:nvSpPr>
        <p:spPr>
          <a:xfrm>
            <a:off x="5314949" y="2271380"/>
            <a:ext cx="6619875" cy="4647426"/>
          </a:xfrm>
          <a:prstGeom prst="rect">
            <a:avLst/>
          </a:prstGeom>
          <a:noFill/>
        </p:spPr>
        <p:txBody>
          <a:bodyPr wrap="square">
            <a:spAutoFit/>
          </a:bodyPr>
          <a:lstStyle/>
          <a:p>
            <a:pPr algn="just"/>
            <a:r>
              <a:rPr lang="en-US" sz="1600" b="1" dirty="0"/>
              <a:t>Intuition</a:t>
            </a:r>
            <a:endParaRPr lang="en-US" sz="1400" dirty="0"/>
          </a:p>
          <a:p>
            <a:pPr algn="just"/>
            <a:r>
              <a:rPr lang="en-US" sz="1400" dirty="0"/>
              <a:t>Imagine you are trying to keep only the words that matter for the definitional system. </a:t>
            </a:r>
          </a:p>
          <a:p>
            <a:pPr algn="just"/>
            <a:endParaRPr lang="en-US" sz="1400" dirty="0"/>
          </a:p>
          <a:p>
            <a:pPr algn="just"/>
            <a:r>
              <a:rPr lang="en-US" sz="1400" dirty="0"/>
              <a:t>A word that never appears in any other word's definition is useless to the </a:t>
            </a:r>
            <a:r>
              <a:rPr lang="es-MX" altLang="ja-JP" sz="1400" dirty="0" err="1"/>
              <a:t>network</a:t>
            </a:r>
            <a:r>
              <a:rPr lang="en-US" sz="1400" dirty="0"/>
              <a:t>, it consumes definitions but contributes nothing. </a:t>
            </a:r>
          </a:p>
          <a:p>
            <a:pPr algn="just"/>
            <a:endParaRPr lang="en-US" sz="1400" dirty="0"/>
          </a:p>
          <a:p>
            <a:pPr algn="just"/>
            <a:r>
              <a:rPr lang="en-US" sz="1400" dirty="0"/>
              <a:t>You can remove it without affecting anything else. Strip those words away, and some words that previously had arrows pointing into them from the removed words may now also be useless. Remove those too. Keep going until you cannot remove anything else. What remains is the </a:t>
            </a:r>
            <a:r>
              <a:rPr lang="en-US" sz="1400" b="1" dirty="0"/>
              <a:t>Kernel</a:t>
            </a:r>
            <a:r>
              <a:rPr lang="en-US" sz="1400" dirty="0"/>
              <a:t>.</a:t>
            </a:r>
          </a:p>
          <a:p>
            <a:pPr algn="just"/>
            <a:endParaRPr lang="en-US" sz="1400" dirty="0"/>
          </a:p>
          <a:p>
            <a:pPr algn="just"/>
            <a:endParaRPr lang="en-US" sz="1400" dirty="0"/>
          </a:p>
          <a:p>
            <a:pPr algn="just"/>
            <a:r>
              <a:rPr lang="en-US" sz="1600" b="1" dirty="0"/>
              <a:t>Why the Kernel is unique</a:t>
            </a:r>
            <a:endParaRPr lang="en-US" sz="1600" dirty="0"/>
          </a:p>
          <a:p>
            <a:pPr algn="just"/>
            <a:r>
              <a:rPr lang="en-US" sz="1400" dirty="0"/>
              <a:t>No matter what order you remove words, you always end up with the same Kernel.</a:t>
            </a:r>
          </a:p>
          <a:p>
            <a:pPr algn="just"/>
            <a:endParaRPr lang="en-US" sz="1400" dirty="0"/>
          </a:p>
          <a:p>
            <a:pPr algn="just"/>
            <a:r>
              <a:rPr lang="en-US" sz="1400" dirty="0"/>
              <a:t>Removing a word with in-degree zero cannot change whether any other word has in-degree zero except by potentially exposing new zeros. The final stable state is always identical regardless of removal order.</a:t>
            </a:r>
          </a:p>
          <a:p>
            <a:endParaRPr lang="en-US" sz="1400" dirty="0"/>
          </a:p>
          <a:p>
            <a:r>
              <a:rPr lang="en-US" sz="1400" i="1" dirty="0"/>
              <a:t>Every dictionary has exactly one Kernel.  </a:t>
            </a:r>
            <a:r>
              <a:rPr lang="en-US" sz="1400" dirty="0">
                <a:solidFill>
                  <a:srgbClr val="FF0000"/>
                </a:solidFill>
              </a:rPr>
              <a:t>It’s about </a:t>
            </a:r>
            <a:r>
              <a:rPr lang="en-US" sz="1400" b="1" dirty="0">
                <a:solidFill>
                  <a:srgbClr val="FF0000"/>
                </a:solidFill>
              </a:rPr>
              <a:t>10%</a:t>
            </a:r>
            <a:r>
              <a:rPr lang="en-US" sz="1400" dirty="0">
                <a:solidFill>
                  <a:srgbClr val="FF0000"/>
                </a:solidFill>
              </a:rPr>
              <a:t> of the dictionary</a:t>
            </a:r>
          </a:p>
          <a:p>
            <a:pPr algn="just"/>
            <a:endParaRPr lang="en-US" sz="1200" dirty="0"/>
          </a:p>
        </p:txBody>
      </p:sp>
      <p:sp>
        <p:nvSpPr>
          <p:cNvPr id="6" name="TextBox 5">
            <a:extLst>
              <a:ext uri="{FF2B5EF4-FFF2-40B4-BE49-F238E27FC236}">
                <a16:creationId xmlns:a16="http://schemas.microsoft.com/office/drawing/2014/main" id="{4F39DCB2-57A9-842A-8C38-36819E0D1CC7}"/>
              </a:ext>
            </a:extLst>
          </p:cNvPr>
          <p:cNvSpPr txBox="1"/>
          <p:nvPr/>
        </p:nvSpPr>
        <p:spPr>
          <a:xfrm>
            <a:off x="432435" y="1085850"/>
            <a:ext cx="11292840" cy="1107996"/>
          </a:xfrm>
          <a:prstGeom prst="rect">
            <a:avLst/>
          </a:prstGeom>
          <a:noFill/>
        </p:spPr>
        <p:txBody>
          <a:bodyPr wrap="square">
            <a:spAutoFit/>
          </a:bodyPr>
          <a:lstStyle/>
          <a:p>
            <a:pPr algn="just"/>
            <a:r>
              <a:rPr lang="en-US" b="1" dirty="0"/>
              <a:t>What is the kernel?</a:t>
            </a:r>
            <a:endParaRPr lang="en-US" sz="1600" dirty="0"/>
          </a:p>
          <a:p>
            <a:pPr algn="just"/>
            <a:r>
              <a:rPr lang="en-US" sz="1600" dirty="0"/>
              <a:t>The Kernel is the minimum vocabulary through which the dictionary defines itself. It tells you which words are part of the dictionary's self-sustaining definitional core. The other 90% of words are peripheral — they enrich the vocabulary but the definitional machinery does not depend on them. </a:t>
            </a:r>
          </a:p>
        </p:txBody>
      </p:sp>
      <p:pic>
        <p:nvPicPr>
          <p:cNvPr id="11" name="Picture 10">
            <a:extLst>
              <a:ext uri="{FF2B5EF4-FFF2-40B4-BE49-F238E27FC236}">
                <a16:creationId xmlns:a16="http://schemas.microsoft.com/office/drawing/2014/main" id="{2E4D17E7-EFA0-9717-D4A7-01F520E27EC7}"/>
              </a:ext>
            </a:extLst>
          </p:cNvPr>
          <p:cNvPicPr>
            <a:picLocks noChangeAspect="1"/>
          </p:cNvPicPr>
          <p:nvPr/>
        </p:nvPicPr>
        <p:blipFill>
          <a:blip r:embed="rId3"/>
          <a:stretch>
            <a:fillRect/>
          </a:stretch>
        </p:blipFill>
        <p:spPr>
          <a:xfrm>
            <a:off x="533400" y="2271380"/>
            <a:ext cx="4581962" cy="4477510"/>
          </a:xfrm>
          <a:prstGeom prst="rect">
            <a:avLst/>
          </a:prstGeom>
        </p:spPr>
      </p:pic>
    </p:spTree>
    <p:extLst>
      <p:ext uri="{BB962C8B-B14F-4D97-AF65-F5344CB8AC3E}">
        <p14:creationId xmlns:p14="http://schemas.microsoft.com/office/powerpoint/2010/main" val="397525937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BD7E79-8BF1-EB27-8149-7C34075E822C}"/>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49D16DA4-5E85-9210-D1D3-3BEA02549CAF}"/>
              </a:ext>
            </a:extLst>
          </p:cNvPr>
          <p:cNvSpPr/>
          <p:nvPr/>
        </p:nvSpPr>
        <p:spPr>
          <a:xfrm>
            <a:off x="0" y="0"/>
            <a:ext cx="12192000" cy="877824"/>
          </a:xfrm>
          <a:prstGeom prst="rect">
            <a:avLst/>
          </a:prstGeom>
          <a:solidFill>
            <a:srgbClr val="0D1B2A"/>
          </a:solidFill>
          <a:ln w="12700">
            <a:solidFill>
              <a:srgbClr val="0D1B2A"/>
            </a:solidFill>
            <a:prstDash val="solid"/>
          </a:ln>
        </p:spPr>
        <p:txBody>
          <a:bodyPr/>
          <a:lstStyle/>
          <a:p>
            <a:endParaRPr lang="es-MX" sz="2400"/>
          </a:p>
        </p:txBody>
      </p:sp>
      <p:sp>
        <p:nvSpPr>
          <p:cNvPr id="3" name="Text 1">
            <a:extLst>
              <a:ext uri="{FF2B5EF4-FFF2-40B4-BE49-F238E27FC236}">
                <a16:creationId xmlns:a16="http://schemas.microsoft.com/office/drawing/2014/main" id="{4A49ADD8-DC33-8EF0-4150-B2EEDE63A0F2}"/>
              </a:ext>
            </a:extLst>
          </p:cNvPr>
          <p:cNvSpPr/>
          <p:nvPr/>
        </p:nvSpPr>
        <p:spPr>
          <a:xfrm>
            <a:off x="365760" y="0"/>
            <a:ext cx="11460480" cy="877824"/>
          </a:xfrm>
          <a:prstGeom prst="rect">
            <a:avLst/>
          </a:prstGeom>
          <a:noFill/>
          <a:ln/>
        </p:spPr>
        <p:txBody>
          <a:bodyPr wrap="square" rtlCol="0" anchor="ctr"/>
          <a:lstStyle/>
          <a:p>
            <a:r>
              <a:rPr lang="es-MX" altLang="ja-JP" sz="2933" b="1" dirty="0">
                <a:solidFill>
                  <a:srgbClr val="FFFFFF"/>
                </a:solidFill>
                <a:latin typeface="Georgia" pitchFamily="34" charset="0"/>
                <a:ea typeface="Georgia" pitchFamily="34" charset="-122"/>
                <a:cs typeface="Georgia" pitchFamily="34" charset="-120"/>
              </a:rPr>
              <a:t>Step 1</a:t>
            </a:r>
            <a:r>
              <a:rPr lang="ja-JP" altLang="es-MX" sz="2933" b="1" dirty="0">
                <a:solidFill>
                  <a:srgbClr val="FFFFFF"/>
                </a:solidFill>
                <a:latin typeface="Georgia" pitchFamily="34" charset="0"/>
                <a:ea typeface="Georgia" pitchFamily="34" charset="-122"/>
                <a:cs typeface="Georgia" pitchFamily="34" charset="-120"/>
              </a:rPr>
              <a:t>：</a:t>
            </a:r>
            <a:r>
              <a:rPr lang="es-MX" altLang="ja-JP" sz="2933" b="1" dirty="0">
                <a:solidFill>
                  <a:srgbClr val="FFFFFF"/>
                </a:solidFill>
                <a:latin typeface="Georgia" pitchFamily="34" charset="0"/>
                <a:ea typeface="Georgia" pitchFamily="34" charset="-122"/>
                <a:cs typeface="Georgia" pitchFamily="34" charset="-120"/>
              </a:rPr>
              <a:t>Kernel</a:t>
            </a:r>
            <a:endParaRPr lang="en-US" sz="2933" dirty="0"/>
          </a:p>
        </p:txBody>
      </p:sp>
      <p:pic>
        <p:nvPicPr>
          <p:cNvPr id="7" name="Picture 6">
            <a:extLst>
              <a:ext uri="{FF2B5EF4-FFF2-40B4-BE49-F238E27FC236}">
                <a16:creationId xmlns:a16="http://schemas.microsoft.com/office/drawing/2014/main" id="{F7937A7A-5625-A62C-D94E-8D9AEE873108}"/>
              </a:ext>
            </a:extLst>
          </p:cNvPr>
          <p:cNvPicPr>
            <a:picLocks noChangeAspect="1"/>
          </p:cNvPicPr>
          <p:nvPr/>
        </p:nvPicPr>
        <p:blipFill>
          <a:blip r:embed="rId3"/>
          <a:stretch>
            <a:fillRect/>
          </a:stretch>
        </p:blipFill>
        <p:spPr>
          <a:xfrm>
            <a:off x="365759" y="2019362"/>
            <a:ext cx="11460481" cy="3601616"/>
          </a:xfrm>
          <a:prstGeom prst="rect">
            <a:avLst/>
          </a:prstGeom>
        </p:spPr>
      </p:pic>
      <p:sp>
        <p:nvSpPr>
          <p:cNvPr id="8" name="Multiplication Sign 7">
            <a:extLst>
              <a:ext uri="{FF2B5EF4-FFF2-40B4-BE49-F238E27FC236}">
                <a16:creationId xmlns:a16="http://schemas.microsoft.com/office/drawing/2014/main" id="{E3F2E000-2C44-1883-D675-0899E4EEA848}"/>
              </a:ext>
            </a:extLst>
          </p:cNvPr>
          <p:cNvSpPr/>
          <p:nvPr/>
        </p:nvSpPr>
        <p:spPr>
          <a:xfrm>
            <a:off x="9020175" y="3000375"/>
            <a:ext cx="1390650" cy="1343025"/>
          </a:xfrm>
          <a:prstGeom prst="mathMultiply">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9" name="Multiplication Sign 8">
            <a:extLst>
              <a:ext uri="{FF2B5EF4-FFF2-40B4-BE49-F238E27FC236}">
                <a16:creationId xmlns:a16="http://schemas.microsoft.com/office/drawing/2014/main" id="{46E856B1-1448-9CE2-5E9D-932BAABBAB3F}"/>
              </a:ext>
            </a:extLst>
          </p:cNvPr>
          <p:cNvSpPr/>
          <p:nvPr/>
        </p:nvSpPr>
        <p:spPr>
          <a:xfrm>
            <a:off x="4905375" y="3000375"/>
            <a:ext cx="1390650" cy="1343025"/>
          </a:xfrm>
          <a:prstGeom prst="mathMultiply">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a:p>
        </p:txBody>
      </p:sp>
    </p:spTree>
    <p:extLst>
      <p:ext uri="{BB962C8B-B14F-4D97-AF65-F5344CB8AC3E}">
        <p14:creationId xmlns:p14="http://schemas.microsoft.com/office/powerpoint/2010/main" val="8086744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057E8B-B683-EC70-9E37-E29A76C3FBF5}"/>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F77D586E-E6D9-8579-C3B6-FA33C250DDCD}"/>
              </a:ext>
            </a:extLst>
          </p:cNvPr>
          <p:cNvSpPr/>
          <p:nvPr/>
        </p:nvSpPr>
        <p:spPr>
          <a:xfrm>
            <a:off x="0" y="0"/>
            <a:ext cx="12192000" cy="877824"/>
          </a:xfrm>
          <a:prstGeom prst="rect">
            <a:avLst/>
          </a:prstGeom>
          <a:solidFill>
            <a:srgbClr val="0D1B2A"/>
          </a:solidFill>
          <a:ln w="12700">
            <a:solidFill>
              <a:srgbClr val="0D1B2A"/>
            </a:solidFill>
            <a:prstDash val="solid"/>
          </a:ln>
        </p:spPr>
        <p:txBody>
          <a:bodyPr/>
          <a:lstStyle/>
          <a:p>
            <a:endParaRPr lang="es-MX" sz="2400"/>
          </a:p>
        </p:txBody>
      </p:sp>
      <p:sp>
        <p:nvSpPr>
          <p:cNvPr id="3" name="Text 1">
            <a:extLst>
              <a:ext uri="{FF2B5EF4-FFF2-40B4-BE49-F238E27FC236}">
                <a16:creationId xmlns:a16="http://schemas.microsoft.com/office/drawing/2014/main" id="{27D68381-DAC0-79B8-1621-47FA37F6D0F1}"/>
              </a:ext>
            </a:extLst>
          </p:cNvPr>
          <p:cNvSpPr/>
          <p:nvPr/>
        </p:nvSpPr>
        <p:spPr>
          <a:xfrm>
            <a:off x="365760" y="0"/>
            <a:ext cx="11460480" cy="877824"/>
          </a:xfrm>
          <a:prstGeom prst="rect">
            <a:avLst/>
          </a:prstGeom>
          <a:noFill/>
          <a:ln/>
        </p:spPr>
        <p:txBody>
          <a:bodyPr wrap="square" rtlCol="0" anchor="ctr"/>
          <a:lstStyle/>
          <a:p>
            <a:r>
              <a:rPr lang="es-MX" altLang="ja-JP" sz="2933" b="1" dirty="0">
                <a:solidFill>
                  <a:srgbClr val="FFFFFF"/>
                </a:solidFill>
                <a:latin typeface="Georgia" pitchFamily="34" charset="0"/>
                <a:ea typeface="Georgia" pitchFamily="34" charset="-122"/>
                <a:cs typeface="Georgia" pitchFamily="34" charset="-120"/>
              </a:rPr>
              <a:t>Step 2</a:t>
            </a:r>
            <a:r>
              <a:rPr lang="ja-JP" altLang="es-MX" sz="2933" b="1" dirty="0">
                <a:solidFill>
                  <a:srgbClr val="FFFFFF"/>
                </a:solidFill>
                <a:latin typeface="Georgia" pitchFamily="34" charset="0"/>
                <a:ea typeface="Georgia" pitchFamily="34" charset="-122"/>
                <a:cs typeface="Georgia" pitchFamily="34" charset="-120"/>
              </a:rPr>
              <a:t>：</a:t>
            </a:r>
            <a:r>
              <a:rPr lang="es-MX" altLang="ja-JP" sz="2933" b="1" dirty="0">
                <a:solidFill>
                  <a:srgbClr val="FFFFFF"/>
                </a:solidFill>
                <a:latin typeface="Georgia" pitchFamily="34" charset="0"/>
                <a:ea typeface="Georgia" pitchFamily="34" charset="-122"/>
                <a:cs typeface="Georgia" pitchFamily="34" charset="-120"/>
              </a:rPr>
              <a:t>Core</a:t>
            </a:r>
            <a:endParaRPr lang="en-US" sz="2933" dirty="0"/>
          </a:p>
        </p:txBody>
      </p:sp>
      <p:sp>
        <p:nvSpPr>
          <p:cNvPr id="5" name="TextBox 4">
            <a:extLst>
              <a:ext uri="{FF2B5EF4-FFF2-40B4-BE49-F238E27FC236}">
                <a16:creationId xmlns:a16="http://schemas.microsoft.com/office/drawing/2014/main" id="{5096CD62-CFE7-AE42-A4BD-8D8564381F76}"/>
              </a:ext>
            </a:extLst>
          </p:cNvPr>
          <p:cNvSpPr txBox="1"/>
          <p:nvPr/>
        </p:nvSpPr>
        <p:spPr>
          <a:xfrm>
            <a:off x="365760" y="1366897"/>
            <a:ext cx="11460480" cy="4616648"/>
          </a:xfrm>
          <a:prstGeom prst="rect">
            <a:avLst/>
          </a:prstGeom>
          <a:noFill/>
        </p:spPr>
        <p:txBody>
          <a:bodyPr wrap="square">
            <a:spAutoFit/>
          </a:bodyPr>
          <a:lstStyle/>
          <a:p>
            <a:pPr algn="just"/>
            <a:r>
              <a:rPr lang="en-US" b="1" dirty="0"/>
              <a:t>What is the Core?</a:t>
            </a:r>
            <a:endParaRPr lang="en-US" sz="1600" dirty="0"/>
          </a:p>
          <a:p>
            <a:pPr algn="just"/>
            <a:r>
              <a:rPr lang="en-US" sz="1600" dirty="0"/>
              <a:t>The Core is the giant Strongly Connected Component (SCC) at the center of the Kernel. An </a:t>
            </a:r>
            <a:r>
              <a:rPr lang="en-US" sz="1600" b="1" u="sng" dirty="0"/>
              <a:t>SCC</a:t>
            </a:r>
            <a:r>
              <a:rPr lang="en-US" sz="1600" dirty="0"/>
              <a:t> is a set of nodes where every node is reachable from every other node by following directed edges. After all dead-end words have been stripped away, one group remains where every word can reach every other word by following definition arrows in any direction, from any starting point. That group is the Core.  </a:t>
            </a:r>
            <a:r>
              <a:rPr lang="en-US" sz="1600" dirty="0">
                <a:solidFill>
                  <a:srgbClr val="FF0000"/>
                </a:solidFill>
              </a:rPr>
              <a:t>Around 75% of the Kernel and about 8% of the dictionary.</a:t>
            </a:r>
          </a:p>
          <a:p>
            <a:endParaRPr lang="en-US" sz="1600" dirty="0"/>
          </a:p>
          <a:p>
            <a:endParaRPr lang="en-US" sz="1600" dirty="0"/>
          </a:p>
          <a:p>
            <a:r>
              <a:rPr lang="en-US" b="1" dirty="0"/>
              <a:t>Why the Core is special</a:t>
            </a:r>
            <a:endParaRPr lang="en-US" sz="1600" dirty="0"/>
          </a:p>
          <a:p>
            <a:pPr marL="342900" indent="-342900">
              <a:buFont typeface="+mj-lt"/>
              <a:buAutoNum type="arabicPeriod"/>
            </a:pPr>
            <a:r>
              <a:rPr lang="en-US" sz="1600" b="1" dirty="0"/>
              <a:t>Self-contained.</a:t>
            </a:r>
            <a:r>
              <a:rPr lang="en-US" sz="1600" dirty="0"/>
              <a:t> No word inside the Core needs anything from outside the Core to be defined. </a:t>
            </a:r>
          </a:p>
          <a:p>
            <a:pPr marL="342900" indent="-342900">
              <a:buFont typeface="+mj-lt"/>
              <a:buAutoNum type="arabicPeriod"/>
            </a:pPr>
            <a:r>
              <a:rPr lang="en-US" sz="1600" b="1" dirty="0"/>
              <a:t>Mutually reachable</a:t>
            </a:r>
            <a:r>
              <a:rPr lang="en-US" sz="1600" dirty="0"/>
              <a:t>. You can navigate from any word to any other word inside it by following arrows. </a:t>
            </a:r>
          </a:p>
          <a:p>
            <a:pPr marL="342900" indent="-342900">
              <a:buFont typeface="+mj-lt"/>
              <a:buAutoNum type="arabicPeriod"/>
            </a:pPr>
            <a:r>
              <a:rPr lang="en-US" sz="1600" b="1" dirty="0"/>
              <a:t>Most abstract layer</a:t>
            </a:r>
            <a:r>
              <a:rPr lang="en-US" sz="1600" dirty="0"/>
              <a:t>. Core words tend to be the most frequent, earliest-acquired, and most abstract words in the language — "make," "know," "go," "say," "good," "time," "place." </a:t>
            </a:r>
          </a:p>
          <a:p>
            <a:endParaRPr lang="en-US" sz="1600" dirty="0"/>
          </a:p>
          <a:p>
            <a:endParaRPr lang="en-US" sz="1600" dirty="0"/>
          </a:p>
          <a:p>
            <a:r>
              <a:rPr lang="en-US" b="1" dirty="0"/>
              <a:t>What does the Core tells you?</a:t>
            </a:r>
            <a:endParaRPr lang="en-US" dirty="0"/>
          </a:p>
          <a:p>
            <a:r>
              <a:rPr lang="en-US" sz="1600" dirty="0"/>
              <a:t>The words inside the core sit at the definitional center of everything and corresponds precisely to the words humans learn earliest and use most frequently. </a:t>
            </a:r>
          </a:p>
          <a:p>
            <a:pPr algn="just"/>
            <a:endParaRPr lang="en-US" sz="1600" dirty="0"/>
          </a:p>
        </p:txBody>
      </p:sp>
    </p:spTree>
    <p:extLst>
      <p:ext uri="{BB962C8B-B14F-4D97-AF65-F5344CB8AC3E}">
        <p14:creationId xmlns:p14="http://schemas.microsoft.com/office/powerpoint/2010/main" val="244619806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EB4D27-AF8D-59CC-7097-1B13664D971B}"/>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DD68C26B-A116-CDBA-325E-B4AEB993D392}"/>
              </a:ext>
            </a:extLst>
          </p:cNvPr>
          <p:cNvSpPr/>
          <p:nvPr/>
        </p:nvSpPr>
        <p:spPr>
          <a:xfrm>
            <a:off x="0" y="0"/>
            <a:ext cx="12192000" cy="877824"/>
          </a:xfrm>
          <a:prstGeom prst="rect">
            <a:avLst/>
          </a:prstGeom>
          <a:solidFill>
            <a:srgbClr val="0D1B2A"/>
          </a:solidFill>
          <a:ln w="12700">
            <a:solidFill>
              <a:srgbClr val="0D1B2A"/>
            </a:solidFill>
            <a:prstDash val="solid"/>
          </a:ln>
        </p:spPr>
        <p:txBody>
          <a:bodyPr/>
          <a:lstStyle/>
          <a:p>
            <a:endParaRPr lang="es-MX" sz="2400"/>
          </a:p>
        </p:txBody>
      </p:sp>
      <p:sp>
        <p:nvSpPr>
          <p:cNvPr id="3" name="Text 1">
            <a:extLst>
              <a:ext uri="{FF2B5EF4-FFF2-40B4-BE49-F238E27FC236}">
                <a16:creationId xmlns:a16="http://schemas.microsoft.com/office/drawing/2014/main" id="{2F1A6D04-C462-4769-D504-0A5D2B2D21AF}"/>
              </a:ext>
            </a:extLst>
          </p:cNvPr>
          <p:cNvSpPr/>
          <p:nvPr/>
        </p:nvSpPr>
        <p:spPr>
          <a:xfrm>
            <a:off x="365760" y="0"/>
            <a:ext cx="11460480" cy="877824"/>
          </a:xfrm>
          <a:prstGeom prst="rect">
            <a:avLst/>
          </a:prstGeom>
          <a:noFill/>
          <a:ln/>
        </p:spPr>
        <p:txBody>
          <a:bodyPr wrap="square" rtlCol="0" anchor="ctr"/>
          <a:lstStyle/>
          <a:p>
            <a:r>
              <a:rPr lang="es-MX" altLang="ja-JP" sz="2933" b="1" dirty="0">
                <a:solidFill>
                  <a:srgbClr val="FFFFFF"/>
                </a:solidFill>
                <a:latin typeface="Georgia" pitchFamily="34" charset="0"/>
                <a:ea typeface="Georgia" pitchFamily="34" charset="-122"/>
                <a:cs typeface="Georgia" pitchFamily="34" charset="-120"/>
              </a:rPr>
              <a:t>Step 2</a:t>
            </a:r>
            <a:r>
              <a:rPr lang="ja-JP" altLang="es-MX" sz="2933" b="1" dirty="0">
                <a:solidFill>
                  <a:srgbClr val="FFFFFF"/>
                </a:solidFill>
                <a:latin typeface="Georgia" pitchFamily="34" charset="0"/>
                <a:ea typeface="Georgia" pitchFamily="34" charset="-122"/>
                <a:cs typeface="Georgia" pitchFamily="34" charset="-120"/>
              </a:rPr>
              <a:t>：</a:t>
            </a:r>
            <a:r>
              <a:rPr lang="es-MX" altLang="ja-JP" sz="2933" b="1" dirty="0">
                <a:solidFill>
                  <a:srgbClr val="FFFFFF"/>
                </a:solidFill>
                <a:latin typeface="Georgia" pitchFamily="34" charset="0"/>
                <a:ea typeface="Georgia" pitchFamily="34" charset="-122"/>
                <a:cs typeface="Georgia" pitchFamily="34" charset="-120"/>
              </a:rPr>
              <a:t>Core</a:t>
            </a:r>
            <a:endParaRPr lang="en-US" sz="2933" dirty="0"/>
          </a:p>
        </p:txBody>
      </p:sp>
      <p:pic>
        <p:nvPicPr>
          <p:cNvPr id="12" name="Picture 11">
            <a:extLst>
              <a:ext uri="{FF2B5EF4-FFF2-40B4-BE49-F238E27FC236}">
                <a16:creationId xmlns:a16="http://schemas.microsoft.com/office/drawing/2014/main" id="{098599C3-1748-F753-48DB-570C2F1128C5}"/>
              </a:ext>
            </a:extLst>
          </p:cNvPr>
          <p:cNvPicPr>
            <a:picLocks noChangeAspect="1"/>
          </p:cNvPicPr>
          <p:nvPr/>
        </p:nvPicPr>
        <p:blipFill>
          <a:blip r:embed="rId3"/>
          <a:stretch>
            <a:fillRect/>
          </a:stretch>
        </p:blipFill>
        <p:spPr>
          <a:xfrm>
            <a:off x="8832353" y="1000075"/>
            <a:ext cx="2993887" cy="5757982"/>
          </a:xfrm>
          <a:prstGeom prst="rect">
            <a:avLst/>
          </a:prstGeom>
        </p:spPr>
      </p:pic>
      <p:pic>
        <p:nvPicPr>
          <p:cNvPr id="14" name="Picture 13">
            <a:extLst>
              <a:ext uri="{FF2B5EF4-FFF2-40B4-BE49-F238E27FC236}">
                <a16:creationId xmlns:a16="http://schemas.microsoft.com/office/drawing/2014/main" id="{BD452477-098C-3E11-6A9D-4D21A18227C2}"/>
              </a:ext>
            </a:extLst>
          </p:cNvPr>
          <p:cNvPicPr>
            <a:picLocks noChangeAspect="1"/>
          </p:cNvPicPr>
          <p:nvPr/>
        </p:nvPicPr>
        <p:blipFill>
          <a:blip r:embed="rId4"/>
          <a:stretch>
            <a:fillRect/>
          </a:stretch>
        </p:blipFill>
        <p:spPr>
          <a:xfrm>
            <a:off x="4549842" y="992124"/>
            <a:ext cx="4013629" cy="5757982"/>
          </a:xfrm>
          <a:prstGeom prst="rect">
            <a:avLst/>
          </a:prstGeom>
        </p:spPr>
      </p:pic>
      <p:sp>
        <p:nvSpPr>
          <p:cNvPr id="16" name="TextBox 15">
            <a:extLst>
              <a:ext uri="{FF2B5EF4-FFF2-40B4-BE49-F238E27FC236}">
                <a16:creationId xmlns:a16="http://schemas.microsoft.com/office/drawing/2014/main" id="{4599F48E-D8E3-08E3-3FFE-0F0713485DE0}"/>
              </a:ext>
            </a:extLst>
          </p:cNvPr>
          <p:cNvSpPr txBox="1"/>
          <p:nvPr/>
        </p:nvSpPr>
        <p:spPr>
          <a:xfrm>
            <a:off x="202406" y="1131903"/>
            <a:ext cx="3902869" cy="5693866"/>
          </a:xfrm>
          <a:prstGeom prst="rect">
            <a:avLst/>
          </a:prstGeom>
          <a:noFill/>
        </p:spPr>
        <p:txBody>
          <a:bodyPr wrap="square">
            <a:spAutoFit/>
          </a:bodyPr>
          <a:lstStyle/>
          <a:p>
            <a:r>
              <a:rPr lang="en-US" sz="1400" dirty="0"/>
              <a:t>To construct the Core, there are two main approaches:</a:t>
            </a:r>
          </a:p>
          <a:p>
            <a:endParaRPr lang="en-US" sz="1400" dirty="0"/>
          </a:p>
          <a:p>
            <a:pPr marL="285750" indent="-285750">
              <a:buFont typeface="Arial" panose="020B0604020202020204" pitchFamily="34" charset="0"/>
              <a:buChar char="•"/>
            </a:pPr>
            <a:r>
              <a:rPr lang="en-US" sz="1400" b="1" dirty="0"/>
              <a:t>Tarjan's</a:t>
            </a:r>
            <a:r>
              <a:rPr lang="en-US" sz="1400" dirty="0"/>
              <a:t> — one pass through the graph. Tracks two numbers per word: discovery time and </a:t>
            </a:r>
            <a:r>
              <a:rPr lang="en-US" sz="1400" dirty="0" err="1"/>
              <a:t>lowlink</a:t>
            </a:r>
            <a:r>
              <a:rPr lang="en-US" sz="1400" dirty="0"/>
              <a:t>. When a word's </a:t>
            </a:r>
            <a:r>
              <a:rPr lang="en-US" sz="1400" dirty="0" err="1"/>
              <a:t>lowlink</a:t>
            </a:r>
            <a:r>
              <a:rPr lang="en-US" sz="1400" dirty="0"/>
              <a:t> equals its own discovery time, an SCC boundary is detected and the group is popped off the stack immediately.</a:t>
            </a:r>
          </a:p>
          <a:p>
            <a:pPr marL="285750" indent="-285750">
              <a:buFont typeface="Arial" panose="020B0604020202020204" pitchFamily="34" charset="0"/>
              <a:buChar char="•"/>
            </a:pPr>
            <a:endParaRPr lang="en-US" sz="1400" dirty="0"/>
          </a:p>
          <a:p>
            <a:pPr marL="285750" indent="-285750">
              <a:buFont typeface="Arial" panose="020B0604020202020204" pitchFamily="34" charset="0"/>
              <a:buChar char="•"/>
            </a:pPr>
            <a:r>
              <a:rPr lang="en-US" sz="1400" b="1" dirty="0"/>
              <a:t>Kosaraju's</a:t>
            </a:r>
            <a:r>
              <a:rPr lang="en-US" sz="1400" dirty="0"/>
              <a:t> — two passes. First pass records the order words finish being explored. Second pass reverses all arrows and walks the graph again using that finishing order. Everything reachable in the reversed graph from each starting point is one SCC.</a:t>
            </a:r>
          </a:p>
          <a:p>
            <a:endParaRPr lang="en-US" sz="1400" dirty="0"/>
          </a:p>
          <a:p>
            <a:r>
              <a:rPr lang="en-US" sz="1400" b="1" dirty="0"/>
              <a:t>The practical difference</a:t>
            </a:r>
            <a:endParaRPr lang="en-US" sz="1400" dirty="0"/>
          </a:p>
          <a:p>
            <a:r>
              <a:rPr lang="en-US" sz="1400" dirty="0"/>
              <a:t>Tarjan needs one traversal and a stack. Kosaraju needs two traversals and a reversed copy of the graph. Tarjan is generally preferred in NLP research because it avoids storing the reversed graph, which matters at dictionary scale with millions of edges.</a:t>
            </a:r>
          </a:p>
          <a:p>
            <a:endParaRPr lang="en-US" sz="1400" dirty="0"/>
          </a:p>
        </p:txBody>
      </p:sp>
    </p:spTree>
    <p:extLst>
      <p:ext uri="{BB962C8B-B14F-4D97-AF65-F5344CB8AC3E}">
        <p14:creationId xmlns:p14="http://schemas.microsoft.com/office/powerpoint/2010/main" val="306113789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E87FA2-5E75-B67D-0EFD-528504EC2C4A}"/>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EAD5F753-5E27-AE85-7C3A-9C1F63F32C20}"/>
              </a:ext>
            </a:extLst>
          </p:cNvPr>
          <p:cNvSpPr/>
          <p:nvPr/>
        </p:nvSpPr>
        <p:spPr>
          <a:xfrm>
            <a:off x="0" y="0"/>
            <a:ext cx="12192000" cy="877824"/>
          </a:xfrm>
          <a:prstGeom prst="rect">
            <a:avLst/>
          </a:prstGeom>
          <a:solidFill>
            <a:srgbClr val="0D1B2A"/>
          </a:solidFill>
          <a:ln w="12700">
            <a:solidFill>
              <a:srgbClr val="0D1B2A"/>
            </a:solidFill>
            <a:prstDash val="solid"/>
          </a:ln>
        </p:spPr>
        <p:txBody>
          <a:bodyPr/>
          <a:lstStyle/>
          <a:p>
            <a:endParaRPr lang="es-MX" sz="2400"/>
          </a:p>
        </p:txBody>
      </p:sp>
      <p:sp>
        <p:nvSpPr>
          <p:cNvPr id="3" name="Text 1">
            <a:extLst>
              <a:ext uri="{FF2B5EF4-FFF2-40B4-BE49-F238E27FC236}">
                <a16:creationId xmlns:a16="http://schemas.microsoft.com/office/drawing/2014/main" id="{C0CBD080-25C3-2DCA-FAA0-8D1E6E6100A9}"/>
              </a:ext>
            </a:extLst>
          </p:cNvPr>
          <p:cNvSpPr/>
          <p:nvPr/>
        </p:nvSpPr>
        <p:spPr>
          <a:xfrm>
            <a:off x="365760" y="0"/>
            <a:ext cx="11460480" cy="877824"/>
          </a:xfrm>
          <a:prstGeom prst="rect">
            <a:avLst/>
          </a:prstGeom>
          <a:noFill/>
          <a:ln/>
        </p:spPr>
        <p:txBody>
          <a:bodyPr wrap="square" rtlCol="0" anchor="ctr"/>
          <a:lstStyle/>
          <a:p>
            <a:r>
              <a:rPr lang="es-MX" altLang="ja-JP" sz="2933" b="1" dirty="0">
                <a:solidFill>
                  <a:srgbClr val="FFFFFF"/>
                </a:solidFill>
                <a:latin typeface="Georgia" pitchFamily="34" charset="0"/>
                <a:ea typeface="Georgia" pitchFamily="34" charset="-122"/>
                <a:cs typeface="Georgia" pitchFamily="34" charset="-120"/>
              </a:rPr>
              <a:t>Step 3</a:t>
            </a:r>
            <a:r>
              <a:rPr lang="ja-JP" altLang="es-MX" sz="2933" b="1" dirty="0">
                <a:solidFill>
                  <a:srgbClr val="FFFFFF"/>
                </a:solidFill>
                <a:latin typeface="Georgia" pitchFamily="34" charset="0"/>
                <a:ea typeface="Georgia" pitchFamily="34" charset="-122"/>
                <a:cs typeface="Georgia" pitchFamily="34" charset="-120"/>
              </a:rPr>
              <a:t>：</a:t>
            </a:r>
            <a:r>
              <a:rPr lang="es-MX" altLang="ja-JP" sz="2933" b="1" dirty="0" err="1">
                <a:solidFill>
                  <a:srgbClr val="FFFFFF"/>
                </a:solidFill>
                <a:latin typeface="Georgia" pitchFamily="34" charset="0"/>
                <a:ea typeface="Georgia" pitchFamily="34" charset="-122"/>
                <a:cs typeface="Georgia" pitchFamily="34" charset="-120"/>
              </a:rPr>
              <a:t>MinSet</a:t>
            </a:r>
            <a:endParaRPr lang="en-US" sz="2933" dirty="0"/>
          </a:p>
        </p:txBody>
      </p:sp>
      <p:sp>
        <p:nvSpPr>
          <p:cNvPr id="5" name="TextBox 4">
            <a:extLst>
              <a:ext uri="{FF2B5EF4-FFF2-40B4-BE49-F238E27FC236}">
                <a16:creationId xmlns:a16="http://schemas.microsoft.com/office/drawing/2014/main" id="{AE51DB93-3932-F856-75AC-046205483DB9}"/>
              </a:ext>
            </a:extLst>
          </p:cNvPr>
          <p:cNvSpPr txBox="1"/>
          <p:nvPr/>
        </p:nvSpPr>
        <p:spPr>
          <a:xfrm>
            <a:off x="365760" y="1185922"/>
            <a:ext cx="11460480" cy="6032421"/>
          </a:xfrm>
          <a:prstGeom prst="rect">
            <a:avLst/>
          </a:prstGeom>
          <a:noFill/>
        </p:spPr>
        <p:txBody>
          <a:bodyPr wrap="square">
            <a:spAutoFit/>
          </a:bodyPr>
          <a:lstStyle/>
          <a:p>
            <a:pPr algn="just"/>
            <a:r>
              <a:rPr lang="en-US" sz="1600" b="1" dirty="0"/>
              <a:t>What is the </a:t>
            </a:r>
            <a:r>
              <a:rPr lang="en-US" sz="1600" b="1" dirty="0" err="1"/>
              <a:t>MinSet</a:t>
            </a:r>
            <a:r>
              <a:rPr lang="en-US" sz="1600" b="1" dirty="0"/>
              <a:t>?</a:t>
            </a:r>
            <a:endParaRPr lang="en-US" sz="1600" dirty="0"/>
          </a:p>
          <a:p>
            <a:pPr algn="just"/>
            <a:r>
              <a:rPr lang="en-US" sz="1400" dirty="0"/>
              <a:t>The </a:t>
            </a:r>
            <a:r>
              <a:rPr lang="en-US" sz="1400" dirty="0" err="1"/>
              <a:t>MinSet</a:t>
            </a:r>
            <a:r>
              <a:rPr lang="en-US" sz="1400" dirty="0"/>
              <a:t> is the smallest possible set of words that must be learned from real-world experience — not from definitions — for every other word in the dictionary to become learnable by definition alone.  </a:t>
            </a:r>
            <a:r>
              <a:rPr lang="en-US" sz="1400" dirty="0">
                <a:solidFill>
                  <a:srgbClr val="FF0000"/>
                </a:solidFill>
              </a:rPr>
              <a:t>Roughly 1% of the dictionary.</a:t>
            </a:r>
          </a:p>
          <a:p>
            <a:endParaRPr lang="en-US" sz="1400" dirty="0"/>
          </a:p>
          <a:p>
            <a:r>
              <a:rPr lang="en-US" sz="1600" b="1" dirty="0"/>
              <a:t>How it works mathematically</a:t>
            </a:r>
            <a:endParaRPr lang="en-US" sz="1600" dirty="0"/>
          </a:p>
          <a:p>
            <a:r>
              <a:rPr lang="en-US" sz="1400" dirty="0"/>
              <a:t>Every cycle needs at least one word removed to be broken. The </a:t>
            </a:r>
            <a:r>
              <a:rPr lang="en-US" sz="1400" dirty="0" err="1"/>
              <a:t>MinSet</a:t>
            </a:r>
            <a:r>
              <a:rPr lang="en-US" sz="1400" dirty="0"/>
              <a:t> is the smallest set of words that, if removed from the graph, eliminates every cycle simultaneously. Once those words are removed — meaning grounded in experience — every remaining word can be reached through definition chains that no longer loop. The entire vocabulary becomes learnable from those grounded foundations.</a:t>
            </a:r>
          </a:p>
          <a:p>
            <a:endParaRPr lang="en-US" sz="1400" dirty="0"/>
          </a:p>
          <a:p>
            <a:r>
              <a:rPr lang="en-US" sz="1600" b="1" dirty="0"/>
              <a:t>How are </a:t>
            </a:r>
            <a:r>
              <a:rPr lang="en-US" sz="1600" b="1" dirty="0" err="1"/>
              <a:t>MinSets</a:t>
            </a:r>
            <a:r>
              <a:rPr lang="en-US" sz="1600" b="1" dirty="0"/>
              <a:t> found?</a:t>
            </a:r>
            <a:endParaRPr lang="en-US" sz="1600" dirty="0"/>
          </a:p>
          <a:p>
            <a:r>
              <a:rPr lang="en-US" sz="1400" dirty="0"/>
              <a:t>Two approaches depending on dictionary size:</a:t>
            </a:r>
          </a:p>
          <a:p>
            <a:pPr marL="285750" indent="-285750">
              <a:buFont typeface="Arial" panose="020B0604020202020204" pitchFamily="34" charset="0"/>
              <a:buChar char="•"/>
            </a:pPr>
            <a:r>
              <a:rPr lang="en-US" sz="1400" b="1" dirty="0"/>
              <a:t>Exact — CPLEX (small dictionaries)</a:t>
            </a:r>
            <a:r>
              <a:rPr lang="en-US" sz="1400" dirty="0"/>
              <a:t> A mathematical optimization solver. You give it the variables (one per word, 0 or 1), the objective (minimize total words selected), and the constraints (every cycle must lose at least one word). CPLEX searches the solution space using branch and bound — pruning combinations it can prove will never beat the current best — until it finds the provably optimal </a:t>
            </a:r>
            <a:r>
              <a:rPr lang="en-US" sz="1400" dirty="0" err="1"/>
              <a:t>MinSet</a:t>
            </a:r>
            <a:r>
              <a:rPr lang="en-US" sz="1400" dirty="0"/>
              <a:t>.</a:t>
            </a:r>
          </a:p>
          <a:p>
            <a:endParaRPr lang="en-US" sz="1400" dirty="0"/>
          </a:p>
          <a:p>
            <a:pPr marL="285750" indent="-285750">
              <a:buFont typeface="Arial" panose="020B0604020202020204" pitchFamily="34" charset="0"/>
              <a:buChar char="•"/>
            </a:pPr>
            <a:r>
              <a:rPr lang="en-US" sz="1400" b="1" dirty="0"/>
              <a:t>Approximate — greedy (large dictionaries)</a:t>
            </a:r>
            <a:r>
              <a:rPr lang="en-US" sz="1400" dirty="0"/>
              <a:t> Repeatedly pick the word participating in the most remaining cycles and remove it. Not guaranteed to be the absolute minimum but close enough, and runs in a fraction of the time. Used for Webster (~248,000 words).</a:t>
            </a:r>
          </a:p>
          <a:p>
            <a:endParaRPr lang="en-US" sz="1400" dirty="0"/>
          </a:p>
          <a:p>
            <a:r>
              <a:rPr lang="en-US" sz="1600" b="1" dirty="0"/>
              <a:t>Why NP-hard?</a:t>
            </a:r>
            <a:endParaRPr lang="en-US" sz="1600" dirty="0"/>
          </a:p>
          <a:p>
            <a:r>
              <a:rPr lang="en-US" sz="1400" dirty="0"/>
              <a:t>The number of cycles grows exponentially with graph size. A dictionary Kernel has potentially millions of overlapping cycles. Finding the smallest set covering all of them simultaneously requires checking an exponential number of combinations in the worst case — no known algorithm guarantees the exact minimum in polynomial time. Even CPLEX, with all its pruning, took days of compute time for the larger dictionaries.</a:t>
            </a:r>
          </a:p>
          <a:p>
            <a:endParaRPr lang="en-US" sz="1400" dirty="0"/>
          </a:p>
          <a:p>
            <a:endParaRPr lang="en-US" sz="1400" dirty="0"/>
          </a:p>
          <a:p>
            <a:endParaRPr lang="en-US" sz="1400" dirty="0"/>
          </a:p>
          <a:p>
            <a:endParaRPr lang="en-US" sz="1400" dirty="0"/>
          </a:p>
          <a:p>
            <a:endParaRPr lang="en-US" sz="1400" dirty="0"/>
          </a:p>
        </p:txBody>
      </p:sp>
    </p:spTree>
    <p:extLst>
      <p:ext uri="{BB962C8B-B14F-4D97-AF65-F5344CB8AC3E}">
        <p14:creationId xmlns:p14="http://schemas.microsoft.com/office/powerpoint/2010/main" val="162059613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7A324E-5B99-6435-5CA2-591CE2F40693}"/>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577CBC25-D03C-6BEF-D5F9-D93455E61D4B}"/>
              </a:ext>
            </a:extLst>
          </p:cNvPr>
          <p:cNvSpPr/>
          <p:nvPr/>
        </p:nvSpPr>
        <p:spPr>
          <a:xfrm>
            <a:off x="0" y="0"/>
            <a:ext cx="12192000" cy="877824"/>
          </a:xfrm>
          <a:prstGeom prst="rect">
            <a:avLst/>
          </a:prstGeom>
          <a:solidFill>
            <a:srgbClr val="0D1B2A"/>
          </a:solidFill>
          <a:ln w="12700">
            <a:solidFill>
              <a:srgbClr val="0D1B2A"/>
            </a:solidFill>
            <a:prstDash val="solid"/>
          </a:ln>
        </p:spPr>
        <p:txBody>
          <a:bodyPr/>
          <a:lstStyle/>
          <a:p>
            <a:endParaRPr lang="es-MX" sz="2400"/>
          </a:p>
        </p:txBody>
      </p:sp>
      <p:sp>
        <p:nvSpPr>
          <p:cNvPr id="3" name="Text 1">
            <a:extLst>
              <a:ext uri="{FF2B5EF4-FFF2-40B4-BE49-F238E27FC236}">
                <a16:creationId xmlns:a16="http://schemas.microsoft.com/office/drawing/2014/main" id="{1D667420-3517-2750-B6FC-3F6FC0B6C075}"/>
              </a:ext>
            </a:extLst>
          </p:cNvPr>
          <p:cNvSpPr/>
          <p:nvPr/>
        </p:nvSpPr>
        <p:spPr>
          <a:xfrm>
            <a:off x="365760" y="0"/>
            <a:ext cx="11460480" cy="877824"/>
          </a:xfrm>
          <a:prstGeom prst="rect">
            <a:avLst/>
          </a:prstGeom>
          <a:noFill/>
          <a:ln/>
        </p:spPr>
        <p:txBody>
          <a:bodyPr wrap="square" rtlCol="0" anchor="ctr"/>
          <a:lstStyle/>
          <a:p>
            <a:r>
              <a:rPr lang="es-MX" altLang="ja-JP" sz="2933" b="1" dirty="0">
                <a:solidFill>
                  <a:srgbClr val="FFFFFF"/>
                </a:solidFill>
                <a:latin typeface="Georgia" pitchFamily="34" charset="0"/>
                <a:ea typeface="Georgia" pitchFamily="34" charset="-122"/>
                <a:cs typeface="Georgia" pitchFamily="34" charset="-120"/>
              </a:rPr>
              <a:t>Step 3</a:t>
            </a:r>
            <a:r>
              <a:rPr lang="ja-JP" altLang="es-MX" sz="2933" b="1" dirty="0">
                <a:solidFill>
                  <a:srgbClr val="FFFFFF"/>
                </a:solidFill>
                <a:latin typeface="Georgia" pitchFamily="34" charset="0"/>
                <a:ea typeface="Georgia" pitchFamily="34" charset="-122"/>
                <a:cs typeface="Georgia" pitchFamily="34" charset="-120"/>
              </a:rPr>
              <a:t>：</a:t>
            </a:r>
            <a:r>
              <a:rPr lang="es-MX" altLang="ja-JP" sz="2933" b="1" dirty="0" err="1">
                <a:solidFill>
                  <a:srgbClr val="FFFFFF"/>
                </a:solidFill>
                <a:latin typeface="Georgia" pitchFamily="34" charset="0"/>
                <a:ea typeface="Georgia" pitchFamily="34" charset="-122"/>
                <a:cs typeface="Georgia" pitchFamily="34" charset="-120"/>
              </a:rPr>
              <a:t>MinSet</a:t>
            </a:r>
            <a:endParaRPr lang="en-US" sz="2933" dirty="0"/>
          </a:p>
        </p:txBody>
      </p:sp>
      <p:sp>
        <p:nvSpPr>
          <p:cNvPr id="5" name="TextBox 4">
            <a:extLst>
              <a:ext uri="{FF2B5EF4-FFF2-40B4-BE49-F238E27FC236}">
                <a16:creationId xmlns:a16="http://schemas.microsoft.com/office/drawing/2014/main" id="{E973305B-3E2F-A9CB-0EF1-B45312F92522}"/>
              </a:ext>
            </a:extLst>
          </p:cNvPr>
          <p:cNvSpPr txBox="1"/>
          <p:nvPr/>
        </p:nvSpPr>
        <p:spPr>
          <a:xfrm>
            <a:off x="179070" y="976484"/>
            <a:ext cx="11460480" cy="1569660"/>
          </a:xfrm>
          <a:prstGeom prst="rect">
            <a:avLst/>
          </a:prstGeom>
          <a:noFill/>
        </p:spPr>
        <p:txBody>
          <a:bodyPr wrap="square">
            <a:spAutoFit/>
          </a:bodyPr>
          <a:lstStyle/>
          <a:p>
            <a:pPr algn="just"/>
            <a:r>
              <a:rPr lang="en-US" sz="1600" dirty="0"/>
              <a:t>Fast:	</a:t>
            </a:r>
            <a:r>
              <a:rPr lang="en-US" sz="1600" u="sng" dirty="0"/>
              <a:t>Moving</a:t>
            </a:r>
            <a:r>
              <a:rPr lang="en-US" sz="1600" dirty="0"/>
              <a:t> at </a:t>
            </a:r>
            <a:r>
              <a:rPr lang="en-US" sz="1600" u="sng" dirty="0"/>
              <a:t>high</a:t>
            </a:r>
            <a:r>
              <a:rPr lang="en-US" sz="1600" dirty="0"/>
              <a:t> </a:t>
            </a:r>
            <a:r>
              <a:rPr lang="en-US" sz="1600" u="sng" dirty="0"/>
              <a:t>speed</a:t>
            </a:r>
          </a:p>
          <a:p>
            <a:pPr algn="just"/>
            <a:r>
              <a:rPr lang="en-US" sz="1600" dirty="0"/>
              <a:t>Speed:	The </a:t>
            </a:r>
            <a:r>
              <a:rPr lang="en-US" sz="1600" u="sng" dirty="0"/>
              <a:t>rate</a:t>
            </a:r>
            <a:r>
              <a:rPr lang="en-US" sz="1600" dirty="0"/>
              <a:t> at which something </a:t>
            </a:r>
            <a:r>
              <a:rPr lang="en-US" sz="1600" u="sng" dirty="0"/>
              <a:t>moves</a:t>
            </a:r>
            <a:r>
              <a:rPr lang="en-US" sz="1600" dirty="0"/>
              <a:t> </a:t>
            </a:r>
            <a:r>
              <a:rPr lang="en-US" sz="1600" u="sng" dirty="0"/>
              <a:t>fast</a:t>
            </a:r>
          </a:p>
          <a:p>
            <a:pPr algn="just"/>
            <a:r>
              <a:rPr lang="en-US" sz="1600" dirty="0"/>
              <a:t>Moving:	</a:t>
            </a:r>
            <a:r>
              <a:rPr lang="en-US" sz="1600" u="sng" dirty="0"/>
              <a:t>Changing</a:t>
            </a:r>
            <a:r>
              <a:rPr lang="en-US" sz="1600" dirty="0"/>
              <a:t> </a:t>
            </a:r>
            <a:r>
              <a:rPr lang="en-US" sz="1600" u="sng" dirty="0"/>
              <a:t>position</a:t>
            </a:r>
            <a:r>
              <a:rPr lang="en-US" sz="1600" dirty="0"/>
              <a:t> at a </a:t>
            </a:r>
            <a:r>
              <a:rPr lang="en-US" sz="1600" u="sng" dirty="0"/>
              <a:t>speed</a:t>
            </a:r>
          </a:p>
          <a:p>
            <a:endParaRPr lang="en-US" sz="1600" dirty="0"/>
          </a:p>
          <a:p>
            <a:endParaRPr lang="en-US" sz="1600" dirty="0"/>
          </a:p>
          <a:p>
            <a:endParaRPr lang="en-US" sz="1600" dirty="0"/>
          </a:p>
        </p:txBody>
      </p:sp>
      <p:pic>
        <p:nvPicPr>
          <p:cNvPr id="6" name="Picture 5">
            <a:extLst>
              <a:ext uri="{FF2B5EF4-FFF2-40B4-BE49-F238E27FC236}">
                <a16:creationId xmlns:a16="http://schemas.microsoft.com/office/drawing/2014/main" id="{6F919A8C-09F4-57E0-9C1D-6C7F98F69BC5}"/>
              </a:ext>
            </a:extLst>
          </p:cNvPr>
          <p:cNvPicPr>
            <a:picLocks noChangeAspect="1"/>
          </p:cNvPicPr>
          <p:nvPr/>
        </p:nvPicPr>
        <p:blipFill>
          <a:blip r:embed="rId3"/>
          <a:srcRect b="60602"/>
          <a:stretch>
            <a:fillRect/>
          </a:stretch>
        </p:blipFill>
        <p:spPr>
          <a:xfrm>
            <a:off x="2247900" y="1897933"/>
            <a:ext cx="9944100" cy="1714024"/>
          </a:xfrm>
          <a:prstGeom prst="rect">
            <a:avLst/>
          </a:prstGeom>
        </p:spPr>
      </p:pic>
      <p:pic>
        <p:nvPicPr>
          <p:cNvPr id="8" name="Picture 7">
            <a:extLst>
              <a:ext uri="{FF2B5EF4-FFF2-40B4-BE49-F238E27FC236}">
                <a16:creationId xmlns:a16="http://schemas.microsoft.com/office/drawing/2014/main" id="{75CCAB23-3062-9765-83E7-A91B6751BEDA}"/>
              </a:ext>
            </a:extLst>
          </p:cNvPr>
          <p:cNvPicPr>
            <a:picLocks noChangeAspect="1"/>
          </p:cNvPicPr>
          <p:nvPr/>
        </p:nvPicPr>
        <p:blipFill>
          <a:blip r:embed="rId3"/>
          <a:srcRect l="5062" t="47857" r="68250" b="29143"/>
          <a:stretch>
            <a:fillRect/>
          </a:stretch>
        </p:blipFill>
        <p:spPr>
          <a:xfrm>
            <a:off x="2855878" y="3566253"/>
            <a:ext cx="2747362" cy="1035891"/>
          </a:xfrm>
          <a:prstGeom prst="rect">
            <a:avLst/>
          </a:prstGeom>
        </p:spPr>
      </p:pic>
      <p:pic>
        <p:nvPicPr>
          <p:cNvPr id="10" name="Picture 9">
            <a:extLst>
              <a:ext uri="{FF2B5EF4-FFF2-40B4-BE49-F238E27FC236}">
                <a16:creationId xmlns:a16="http://schemas.microsoft.com/office/drawing/2014/main" id="{AE7302DE-AE2F-3483-DE2B-4ED8F432AF65}"/>
              </a:ext>
            </a:extLst>
          </p:cNvPr>
          <p:cNvPicPr>
            <a:picLocks noChangeAspect="1"/>
          </p:cNvPicPr>
          <p:nvPr/>
        </p:nvPicPr>
        <p:blipFill>
          <a:blip r:embed="rId3"/>
          <a:srcRect l="37125" t="53714" b="35929"/>
          <a:stretch>
            <a:fillRect/>
          </a:stretch>
        </p:blipFill>
        <p:spPr>
          <a:xfrm>
            <a:off x="5786120" y="3911063"/>
            <a:ext cx="6405880" cy="461636"/>
          </a:xfrm>
          <a:prstGeom prst="rect">
            <a:avLst/>
          </a:prstGeom>
        </p:spPr>
      </p:pic>
      <p:pic>
        <p:nvPicPr>
          <p:cNvPr id="13" name="Picture 12">
            <a:extLst>
              <a:ext uri="{FF2B5EF4-FFF2-40B4-BE49-F238E27FC236}">
                <a16:creationId xmlns:a16="http://schemas.microsoft.com/office/drawing/2014/main" id="{F86032B7-1E60-A424-0AC9-ACA9D6E21414}"/>
              </a:ext>
            </a:extLst>
          </p:cNvPr>
          <p:cNvPicPr>
            <a:picLocks noChangeAspect="1"/>
          </p:cNvPicPr>
          <p:nvPr/>
        </p:nvPicPr>
        <p:blipFill>
          <a:blip r:embed="rId3"/>
          <a:srcRect l="36327" t="77078" r="798" b="-318"/>
          <a:stretch>
            <a:fillRect/>
          </a:stretch>
        </p:blipFill>
        <p:spPr>
          <a:xfrm>
            <a:off x="5699125" y="5047998"/>
            <a:ext cx="6405880" cy="1035891"/>
          </a:xfrm>
          <a:prstGeom prst="rect">
            <a:avLst/>
          </a:prstGeom>
        </p:spPr>
      </p:pic>
      <p:sp>
        <p:nvSpPr>
          <p:cNvPr id="15" name="Multiplication Sign 14">
            <a:extLst>
              <a:ext uri="{FF2B5EF4-FFF2-40B4-BE49-F238E27FC236}">
                <a16:creationId xmlns:a16="http://schemas.microsoft.com/office/drawing/2014/main" id="{D06CA83E-E734-CC25-7C00-D027C96FB9A0}"/>
              </a:ext>
            </a:extLst>
          </p:cNvPr>
          <p:cNvSpPr/>
          <p:nvPr/>
        </p:nvSpPr>
        <p:spPr>
          <a:xfrm>
            <a:off x="5981700" y="5299243"/>
            <a:ext cx="628650" cy="533400"/>
          </a:xfrm>
          <a:prstGeom prst="mathMultiply">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16" name="Multiplication Sign 15">
            <a:extLst>
              <a:ext uri="{FF2B5EF4-FFF2-40B4-BE49-F238E27FC236}">
                <a16:creationId xmlns:a16="http://schemas.microsoft.com/office/drawing/2014/main" id="{C985EFBF-6C97-FDB3-015A-6F9037E81A72}"/>
              </a:ext>
            </a:extLst>
          </p:cNvPr>
          <p:cNvSpPr/>
          <p:nvPr/>
        </p:nvSpPr>
        <p:spPr>
          <a:xfrm>
            <a:off x="10906125" y="5299243"/>
            <a:ext cx="628650" cy="533400"/>
          </a:xfrm>
          <a:prstGeom prst="mathMultiply">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17" name="Rectangle 1">
            <a:extLst>
              <a:ext uri="{FF2B5EF4-FFF2-40B4-BE49-F238E27FC236}">
                <a16:creationId xmlns:a16="http://schemas.microsoft.com/office/drawing/2014/main" id="{F3C051AB-3970-1AA0-D8A8-576ED806228E}"/>
              </a:ext>
            </a:extLst>
          </p:cNvPr>
          <p:cNvSpPr>
            <a:spLocks noChangeArrowheads="1"/>
          </p:cNvSpPr>
          <p:nvPr/>
        </p:nvSpPr>
        <p:spPr bwMode="auto">
          <a:xfrm>
            <a:off x="438785" y="4716136"/>
            <a:ext cx="4690110" cy="18158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buFontTx/>
              <a:buNone/>
              <a:tabLst/>
            </a:pPr>
            <a:r>
              <a:rPr kumimoji="0" lang="es-MX" altLang="es-MX" sz="1400" b="0" i="0" u="none" strike="noStrike" cap="none" normalizeH="0" baseline="0" dirty="0" err="1">
                <a:ln>
                  <a:noFill/>
                </a:ln>
                <a:solidFill>
                  <a:schemeClr val="tx1"/>
                </a:solidFill>
                <a:effectLst/>
                <a:latin typeface="Arial" panose="020B0604020202020204" pitchFamily="34" charset="0"/>
              </a:rPr>
              <a:t>Removing</a:t>
            </a:r>
            <a:r>
              <a:rPr kumimoji="0" lang="es-MX" altLang="es-MX" sz="1400" b="0" i="0" u="none" strike="noStrike" cap="none" normalizeH="0" baseline="0" dirty="0">
                <a:ln>
                  <a:noFill/>
                </a:ln>
                <a:solidFill>
                  <a:schemeClr val="tx1"/>
                </a:solidFill>
                <a:effectLst/>
                <a:latin typeface="Arial" panose="020B0604020202020204" pitchFamily="34" charset="0"/>
              </a:rPr>
              <a:t> "</a:t>
            </a:r>
            <a:r>
              <a:rPr kumimoji="0" lang="es-MX" altLang="es-MX" sz="1400" b="0" i="0" u="none" strike="noStrike" cap="none" normalizeH="0" baseline="0" dirty="0" err="1">
                <a:ln>
                  <a:noFill/>
                </a:ln>
                <a:solidFill>
                  <a:schemeClr val="tx1"/>
                </a:solidFill>
                <a:effectLst/>
                <a:latin typeface="Arial" panose="020B0604020202020204" pitchFamily="34" charset="0"/>
              </a:rPr>
              <a:t>fast</a:t>
            </a:r>
            <a:r>
              <a:rPr kumimoji="0" lang="es-MX" altLang="es-MX" sz="1400" b="0" i="0" u="none" strike="noStrike" cap="none" normalizeH="0" baseline="0" dirty="0">
                <a:ln>
                  <a:noFill/>
                </a:ln>
                <a:solidFill>
                  <a:schemeClr val="tx1"/>
                </a:solidFill>
                <a:effectLst/>
                <a:latin typeface="Arial" panose="020B0604020202020204" pitchFamily="34" charset="0"/>
              </a:rPr>
              <a:t>" </a:t>
            </a:r>
            <a:r>
              <a:rPr kumimoji="0" lang="es-MX" altLang="es-MX" sz="1400" b="0" i="0" u="none" strike="noStrike" cap="none" normalizeH="0" baseline="0" dirty="0" err="1">
                <a:ln>
                  <a:noFill/>
                </a:ln>
                <a:solidFill>
                  <a:schemeClr val="tx1"/>
                </a:solidFill>
                <a:effectLst/>
                <a:latin typeface="Arial" panose="020B0604020202020204" pitchFamily="34" charset="0"/>
              </a:rPr>
              <a:t>from</a:t>
            </a:r>
            <a:r>
              <a:rPr kumimoji="0" lang="es-MX" altLang="es-MX" sz="1400" b="0" i="0" u="none" strike="noStrike" cap="none" normalizeH="0" baseline="0" dirty="0">
                <a:ln>
                  <a:noFill/>
                </a:ln>
                <a:solidFill>
                  <a:schemeClr val="tx1"/>
                </a:solidFill>
                <a:effectLst/>
                <a:latin typeface="Arial" panose="020B0604020202020204" pitchFamily="34" charset="0"/>
              </a:rPr>
              <a:t> </a:t>
            </a:r>
            <a:r>
              <a:rPr kumimoji="0" lang="es-MX" altLang="es-MX" sz="1400" b="0" i="0" u="none" strike="noStrike" cap="none" normalizeH="0" baseline="0" dirty="0" err="1">
                <a:ln>
                  <a:noFill/>
                </a:ln>
                <a:solidFill>
                  <a:schemeClr val="tx1"/>
                </a:solidFill>
                <a:effectLst/>
                <a:latin typeface="Arial" panose="020B0604020202020204" pitchFamily="34" charset="0"/>
              </a:rPr>
              <a:t>the</a:t>
            </a:r>
            <a:r>
              <a:rPr kumimoji="0" lang="es-MX" altLang="es-MX" sz="1400" b="0" i="0" u="none" strike="noStrike" cap="none" normalizeH="0" baseline="0" dirty="0">
                <a:ln>
                  <a:noFill/>
                </a:ln>
                <a:solidFill>
                  <a:schemeClr val="tx1"/>
                </a:solidFill>
                <a:effectLst/>
                <a:latin typeface="Arial" panose="020B0604020202020204" pitchFamily="34" charset="0"/>
              </a:rPr>
              <a:t> </a:t>
            </a:r>
            <a:r>
              <a:rPr kumimoji="0" lang="es-MX" altLang="es-MX" sz="1400" b="0" i="0" u="none" strike="noStrike" cap="none" normalizeH="0" baseline="0" dirty="0" err="1">
                <a:ln>
                  <a:noFill/>
                </a:ln>
                <a:solidFill>
                  <a:schemeClr val="tx1"/>
                </a:solidFill>
                <a:effectLst/>
                <a:latin typeface="Arial" panose="020B0604020202020204" pitchFamily="34" charset="0"/>
              </a:rPr>
              <a:t>graph</a:t>
            </a:r>
            <a:r>
              <a:rPr kumimoji="0" lang="es-MX" altLang="es-MX" sz="1400" b="0" i="0" u="none" strike="noStrike" cap="none" normalizeH="0" baseline="0" dirty="0">
                <a:ln>
                  <a:noFill/>
                </a:ln>
                <a:solidFill>
                  <a:schemeClr val="tx1"/>
                </a:solidFill>
                <a:effectLst/>
                <a:latin typeface="Arial" panose="020B0604020202020204" pitchFamily="34" charset="0"/>
              </a:rPr>
              <a:t> </a:t>
            </a:r>
            <a:r>
              <a:rPr kumimoji="0" lang="es-MX" altLang="es-MX" sz="1400" b="0" i="0" u="none" strike="noStrike" cap="none" normalizeH="0" baseline="0" dirty="0" err="1">
                <a:ln>
                  <a:noFill/>
                </a:ln>
                <a:solidFill>
                  <a:schemeClr val="tx1"/>
                </a:solidFill>
                <a:effectLst/>
                <a:latin typeface="Arial" panose="020B0604020202020204" pitchFamily="34" charset="0"/>
              </a:rPr>
              <a:t>means</a:t>
            </a:r>
            <a:r>
              <a:rPr kumimoji="0" lang="es-MX" altLang="es-MX" sz="1400" b="0" i="0" u="none" strike="noStrike" cap="none" normalizeH="0" baseline="0" dirty="0">
                <a:ln>
                  <a:noFill/>
                </a:ln>
                <a:solidFill>
                  <a:schemeClr val="tx1"/>
                </a:solidFill>
                <a:effectLst/>
                <a:latin typeface="Arial" panose="020B0604020202020204" pitchFamily="34" charset="0"/>
              </a:rPr>
              <a:t> </a:t>
            </a:r>
            <a:r>
              <a:rPr kumimoji="0" lang="es-MX" altLang="es-MX" sz="1400" b="0" i="0" u="none" strike="noStrike" cap="none" normalizeH="0" baseline="0" dirty="0" err="1">
                <a:ln>
                  <a:noFill/>
                </a:ln>
                <a:solidFill>
                  <a:schemeClr val="tx1"/>
                </a:solidFill>
                <a:effectLst/>
                <a:latin typeface="Arial" panose="020B0604020202020204" pitchFamily="34" charset="0"/>
              </a:rPr>
              <a:t>it</a:t>
            </a:r>
            <a:r>
              <a:rPr kumimoji="0" lang="es-MX" altLang="es-MX" sz="1400" b="0" i="0" u="none" strike="noStrike" cap="none" normalizeH="0" baseline="0" dirty="0">
                <a:ln>
                  <a:noFill/>
                </a:ln>
                <a:solidFill>
                  <a:schemeClr val="tx1"/>
                </a:solidFill>
                <a:effectLst/>
                <a:latin typeface="Arial" panose="020B0604020202020204" pitchFamily="34" charset="0"/>
              </a:rPr>
              <a:t> </a:t>
            </a:r>
            <a:r>
              <a:rPr kumimoji="0" lang="es-MX" altLang="es-MX" sz="1400" b="0" i="0" u="none" strike="noStrike" cap="none" normalizeH="0" baseline="0" dirty="0" err="1">
                <a:ln>
                  <a:noFill/>
                </a:ln>
                <a:solidFill>
                  <a:schemeClr val="tx1"/>
                </a:solidFill>
                <a:effectLst/>
                <a:latin typeface="Arial" panose="020B0604020202020204" pitchFamily="34" charset="0"/>
              </a:rPr>
              <a:t>enters</a:t>
            </a:r>
            <a:r>
              <a:rPr kumimoji="0" lang="es-MX" altLang="es-MX" sz="1400" b="0" i="0" u="none" strike="noStrike" cap="none" normalizeH="0" baseline="0" dirty="0">
                <a:ln>
                  <a:noFill/>
                </a:ln>
                <a:solidFill>
                  <a:schemeClr val="tx1"/>
                </a:solidFill>
                <a:effectLst/>
                <a:latin typeface="Arial" panose="020B0604020202020204" pitchFamily="34" charset="0"/>
              </a:rPr>
              <a:t> </a:t>
            </a:r>
            <a:r>
              <a:rPr kumimoji="0" lang="es-MX" altLang="es-MX" sz="1400" b="0" i="0" u="none" strike="noStrike" cap="none" normalizeH="0" baseline="0" dirty="0" err="1">
                <a:ln>
                  <a:noFill/>
                </a:ln>
                <a:solidFill>
                  <a:schemeClr val="tx1"/>
                </a:solidFill>
                <a:effectLst/>
                <a:latin typeface="Arial" panose="020B0604020202020204" pitchFamily="34" charset="0"/>
              </a:rPr>
              <a:t>the</a:t>
            </a:r>
            <a:r>
              <a:rPr kumimoji="0" lang="es-MX" altLang="es-MX" sz="1400" b="0" i="0" u="none" strike="noStrike" cap="none" normalizeH="0" baseline="0" dirty="0">
                <a:ln>
                  <a:noFill/>
                </a:ln>
                <a:solidFill>
                  <a:schemeClr val="tx1"/>
                </a:solidFill>
                <a:effectLst/>
                <a:latin typeface="Arial" panose="020B0604020202020204" pitchFamily="34" charset="0"/>
              </a:rPr>
              <a:t> </a:t>
            </a:r>
            <a:r>
              <a:rPr kumimoji="0" lang="es-MX" altLang="es-MX" sz="1400" b="0" i="0" u="none" strike="noStrike" cap="none" normalizeH="0" baseline="0" dirty="0" err="1">
                <a:ln>
                  <a:noFill/>
                </a:ln>
                <a:solidFill>
                  <a:schemeClr val="tx1"/>
                </a:solidFill>
                <a:effectLst/>
                <a:latin typeface="Arial" panose="020B0604020202020204" pitchFamily="34" charset="0"/>
              </a:rPr>
              <a:t>MinSet</a:t>
            </a:r>
            <a:r>
              <a:rPr lang="es-MX" altLang="es-MX" sz="1400" dirty="0">
                <a:latin typeface="Arial" panose="020B0604020202020204" pitchFamily="34" charset="0"/>
              </a:rPr>
              <a:t>, </a:t>
            </a:r>
            <a:r>
              <a:rPr kumimoji="0" lang="es-MX" altLang="es-MX" sz="1400" b="0" i="0" u="none" strike="noStrike" cap="none" normalizeH="0" baseline="0" dirty="0" err="1">
                <a:ln>
                  <a:noFill/>
                </a:ln>
                <a:solidFill>
                  <a:schemeClr val="tx1"/>
                </a:solidFill>
                <a:effectLst/>
                <a:latin typeface="Arial" panose="020B0604020202020204" pitchFamily="34" charset="0"/>
              </a:rPr>
              <a:t>it</a:t>
            </a:r>
            <a:r>
              <a:rPr kumimoji="0" lang="es-MX" altLang="es-MX" sz="1400" b="0" i="0" u="none" strike="noStrike" cap="none" normalizeH="0" baseline="0" dirty="0">
                <a:ln>
                  <a:noFill/>
                </a:ln>
                <a:solidFill>
                  <a:schemeClr val="tx1"/>
                </a:solidFill>
                <a:effectLst/>
                <a:latin typeface="Arial" panose="020B0604020202020204" pitchFamily="34" charset="0"/>
              </a:rPr>
              <a:t> </a:t>
            </a:r>
            <a:r>
              <a:rPr kumimoji="0" lang="es-MX" altLang="es-MX" sz="1400" b="0" i="0" u="none" strike="noStrike" cap="none" normalizeH="0" baseline="0" dirty="0" err="1">
                <a:ln>
                  <a:noFill/>
                </a:ln>
                <a:solidFill>
                  <a:schemeClr val="tx1"/>
                </a:solidFill>
                <a:effectLst/>
                <a:latin typeface="Arial" panose="020B0604020202020204" pitchFamily="34" charset="0"/>
              </a:rPr>
              <a:t>must</a:t>
            </a:r>
            <a:r>
              <a:rPr kumimoji="0" lang="es-MX" altLang="es-MX" sz="1400" b="0" i="0" u="none" strike="noStrike" cap="none" normalizeH="0" baseline="0" dirty="0">
                <a:ln>
                  <a:noFill/>
                </a:ln>
                <a:solidFill>
                  <a:schemeClr val="tx1"/>
                </a:solidFill>
                <a:effectLst/>
                <a:latin typeface="Arial" panose="020B0604020202020204" pitchFamily="34" charset="0"/>
              </a:rPr>
              <a:t> be </a:t>
            </a:r>
            <a:r>
              <a:rPr kumimoji="0" lang="es-MX" altLang="es-MX" sz="1400" b="0" i="0" u="none" strike="noStrike" cap="none" normalizeH="0" baseline="0" dirty="0" err="1">
                <a:ln>
                  <a:noFill/>
                </a:ln>
                <a:solidFill>
                  <a:schemeClr val="tx1"/>
                </a:solidFill>
                <a:effectLst/>
                <a:latin typeface="Arial" panose="020B0604020202020204" pitchFamily="34" charset="0"/>
              </a:rPr>
              <a:t>learned</a:t>
            </a:r>
            <a:r>
              <a:rPr kumimoji="0" lang="es-MX" altLang="es-MX" sz="1400" b="0" i="0" u="none" strike="noStrike" cap="none" normalizeH="0" baseline="0" dirty="0">
                <a:ln>
                  <a:noFill/>
                </a:ln>
                <a:solidFill>
                  <a:schemeClr val="tx1"/>
                </a:solidFill>
                <a:effectLst/>
                <a:latin typeface="Arial" panose="020B0604020202020204" pitchFamily="34" charset="0"/>
              </a:rPr>
              <a:t> </a:t>
            </a:r>
            <a:r>
              <a:rPr kumimoji="0" lang="es-MX" altLang="es-MX" sz="1400" b="0" i="0" u="none" strike="noStrike" cap="none" normalizeH="0" baseline="0" dirty="0" err="1">
                <a:ln>
                  <a:noFill/>
                </a:ln>
                <a:solidFill>
                  <a:schemeClr val="tx1"/>
                </a:solidFill>
                <a:effectLst/>
                <a:latin typeface="Arial" panose="020B0604020202020204" pitchFamily="34" charset="0"/>
              </a:rPr>
              <a:t>through</a:t>
            </a:r>
            <a:r>
              <a:rPr kumimoji="0" lang="es-MX" altLang="es-MX" sz="1400" b="0" i="0" u="none" strike="noStrike" cap="none" normalizeH="0" baseline="0" dirty="0">
                <a:ln>
                  <a:noFill/>
                </a:ln>
                <a:solidFill>
                  <a:schemeClr val="tx1"/>
                </a:solidFill>
                <a:effectLst/>
                <a:latin typeface="Arial" panose="020B0604020202020204" pitchFamily="34" charset="0"/>
              </a:rPr>
              <a:t> </a:t>
            </a:r>
            <a:r>
              <a:rPr kumimoji="0" lang="es-MX" altLang="es-MX" sz="1400" b="0" i="0" u="none" strike="noStrike" cap="none" normalizeH="0" baseline="0" dirty="0" err="1">
                <a:ln>
                  <a:noFill/>
                </a:ln>
                <a:solidFill>
                  <a:schemeClr val="tx1"/>
                </a:solidFill>
                <a:effectLst/>
                <a:latin typeface="Arial" panose="020B0604020202020204" pitchFamily="34" charset="0"/>
              </a:rPr>
              <a:t>direct</a:t>
            </a:r>
            <a:r>
              <a:rPr kumimoji="0" lang="es-MX" altLang="es-MX" sz="1400" b="0" i="0" u="none" strike="noStrike" cap="none" normalizeH="0" baseline="0" dirty="0">
                <a:ln>
                  <a:noFill/>
                </a:ln>
                <a:solidFill>
                  <a:schemeClr val="tx1"/>
                </a:solidFill>
                <a:effectLst/>
                <a:latin typeface="Arial" panose="020B0604020202020204" pitchFamily="34" charset="0"/>
              </a:rPr>
              <a:t> </a:t>
            </a:r>
            <a:r>
              <a:rPr kumimoji="0" lang="es-MX" altLang="es-MX" sz="1400" b="0" i="0" u="none" strike="noStrike" cap="none" normalizeH="0" baseline="0" dirty="0" err="1">
                <a:ln>
                  <a:noFill/>
                </a:ln>
                <a:solidFill>
                  <a:schemeClr val="tx1"/>
                </a:solidFill>
                <a:effectLst/>
                <a:latin typeface="Arial" panose="020B0604020202020204" pitchFamily="34" charset="0"/>
              </a:rPr>
              <a:t>experience</a:t>
            </a:r>
            <a:r>
              <a:rPr kumimoji="0" lang="es-MX" altLang="es-MX" sz="1400" b="0" i="0" u="none" strike="noStrike" cap="none" normalizeH="0" baseline="0" dirty="0">
                <a:ln>
                  <a:noFill/>
                </a:ln>
                <a:solidFill>
                  <a:schemeClr val="tx1"/>
                </a:solidFill>
                <a:effectLst/>
                <a:latin typeface="Arial" panose="020B0604020202020204" pitchFamily="34" charset="0"/>
              </a:rPr>
              <a:t>, </a:t>
            </a:r>
            <a:r>
              <a:rPr kumimoji="0" lang="es-MX" altLang="es-MX" sz="1400" b="0" i="0" u="none" strike="noStrike" cap="none" normalizeH="0" baseline="0" dirty="0" err="1">
                <a:ln>
                  <a:noFill/>
                </a:ln>
                <a:solidFill>
                  <a:schemeClr val="tx1"/>
                </a:solidFill>
                <a:effectLst/>
                <a:latin typeface="Arial" panose="020B0604020202020204" pitchFamily="34" charset="0"/>
              </a:rPr>
              <a:t>not</a:t>
            </a:r>
            <a:r>
              <a:rPr kumimoji="0" lang="es-MX" altLang="es-MX" sz="1400" b="0" i="0" u="none" strike="noStrike" cap="none" normalizeH="0" baseline="0" dirty="0">
                <a:ln>
                  <a:noFill/>
                </a:ln>
                <a:solidFill>
                  <a:schemeClr val="tx1"/>
                </a:solidFill>
                <a:effectLst/>
                <a:latin typeface="Arial" panose="020B0604020202020204" pitchFamily="34" charset="0"/>
              </a:rPr>
              <a:t> </a:t>
            </a:r>
            <a:r>
              <a:rPr kumimoji="0" lang="es-MX" altLang="es-MX" sz="1400" b="0" i="0" u="none" strike="noStrike" cap="none" normalizeH="0" baseline="0" dirty="0" err="1">
                <a:ln>
                  <a:noFill/>
                </a:ln>
                <a:solidFill>
                  <a:schemeClr val="tx1"/>
                </a:solidFill>
                <a:effectLst/>
                <a:latin typeface="Arial" panose="020B0604020202020204" pitchFamily="34" charset="0"/>
              </a:rPr>
              <a:t>definition</a:t>
            </a:r>
            <a:r>
              <a:rPr kumimoji="0" lang="es-MX" altLang="es-MX" sz="1400" b="0" i="0" u="none" strike="noStrike" cap="none" normalizeH="0" baseline="0" dirty="0">
                <a:ln>
                  <a:noFill/>
                </a:ln>
                <a:solidFill>
                  <a:schemeClr val="tx1"/>
                </a:solidFill>
                <a:effectLst/>
                <a:latin typeface="Arial" panose="020B0604020202020204" pitchFamily="34" charset="0"/>
              </a:rPr>
              <a:t>. Once </a:t>
            </a:r>
            <a:r>
              <a:rPr kumimoji="0" lang="es-MX" altLang="es-MX" sz="1400" b="0" i="0" u="none" strike="noStrike" cap="none" normalizeH="0" baseline="0" dirty="0" err="1">
                <a:ln>
                  <a:noFill/>
                </a:ln>
                <a:solidFill>
                  <a:schemeClr val="tx1"/>
                </a:solidFill>
                <a:effectLst/>
                <a:latin typeface="Arial" panose="020B0604020202020204" pitchFamily="34" charset="0"/>
              </a:rPr>
              <a:t>grounded</a:t>
            </a:r>
            <a:r>
              <a:rPr kumimoji="0" lang="es-MX" altLang="es-MX" sz="1400" b="0" i="0" u="none" strike="noStrike" cap="none" normalizeH="0" baseline="0" dirty="0">
                <a:ln>
                  <a:noFill/>
                </a:ln>
                <a:solidFill>
                  <a:schemeClr val="tx1"/>
                </a:solidFill>
                <a:effectLst/>
                <a:latin typeface="Arial" panose="020B0604020202020204" pitchFamily="34" charset="0"/>
              </a:rPr>
              <a:t>, </a:t>
            </a:r>
            <a:r>
              <a:rPr kumimoji="0" lang="es-MX" altLang="es-MX" sz="1400" b="0" i="0" u="none" strike="noStrike" cap="none" normalizeH="0" baseline="0" dirty="0" err="1">
                <a:ln>
                  <a:noFill/>
                </a:ln>
                <a:solidFill>
                  <a:schemeClr val="tx1"/>
                </a:solidFill>
                <a:effectLst/>
                <a:latin typeface="Arial" panose="020B0604020202020204" pitchFamily="34" charset="0"/>
              </a:rPr>
              <a:t>the</a:t>
            </a:r>
            <a:r>
              <a:rPr kumimoji="0" lang="es-MX" altLang="es-MX" sz="1400" b="0" i="0" u="none" strike="noStrike" cap="none" normalizeH="0" baseline="0" dirty="0">
                <a:ln>
                  <a:noFill/>
                </a:ln>
                <a:solidFill>
                  <a:schemeClr val="tx1"/>
                </a:solidFill>
                <a:effectLst/>
                <a:latin typeface="Arial" panose="020B0604020202020204" pitchFamily="34" charset="0"/>
              </a:rPr>
              <a:t> </a:t>
            </a:r>
            <a:r>
              <a:rPr kumimoji="0" lang="es-MX" altLang="es-MX" sz="1400" b="0" i="0" u="none" strike="noStrike" cap="none" normalizeH="0" baseline="0" dirty="0" err="1">
                <a:ln>
                  <a:noFill/>
                </a:ln>
                <a:solidFill>
                  <a:schemeClr val="tx1"/>
                </a:solidFill>
                <a:effectLst/>
                <a:latin typeface="Arial" panose="020B0604020202020204" pitchFamily="34" charset="0"/>
              </a:rPr>
              <a:t>loop</a:t>
            </a:r>
            <a:r>
              <a:rPr kumimoji="0" lang="es-MX" altLang="es-MX" sz="1400" b="0" i="0" u="none" strike="noStrike" cap="none" normalizeH="0" baseline="0" dirty="0">
                <a:ln>
                  <a:noFill/>
                </a:ln>
                <a:solidFill>
                  <a:schemeClr val="tx1"/>
                </a:solidFill>
                <a:effectLst/>
                <a:latin typeface="Arial" panose="020B0604020202020204" pitchFamily="34" charset="0"/>
              </a:rPr>
              <a:t> </a:t>
            </a:r>
            <a:r>
              <a:rPr kumimoji="0" lang="es-MX" altLang="es-MX" sz="1400" b="0" i="0" u="none" strike="noStrike" cap="none" normalizeH="0" baseline="0" dirty="0" err="1">
                <a:ln>
                  <a:noFill/>
                </a:ln>
                <a:solidFill>
                  <a:schemeClr val="tx1"/>
                </a:solidFill>
                <a:effectLst/>
                <a:latin typeface="Arial" panose="020B0604020202020204" pitchFamily="34" charset="0"/>
              </a:rPr>
              <a:t>breaks</a:t>
            </a:r>
            <a:r>
              <a:rPr kumimoji="0" lang="es-MX" altLang="es-MX" sz="1400" b="0" i="0" u="none" strike="noStrike" cap="none" normalizeH="0" baseline="0" dirty="0">
                <a:ln>
                  <a:noFill/>
                </a:ln>
                <a:solidFill>
                  <a:schemeClr val="tx1"/>
                </a:solidFill>
                <a:effectLst/>
                <a:latin typeface="Arial" panose="020B0604020202020204" pitchFamily="34" charset="0"/>
              </a:rPr>
              <a:t>. "Speed" can </a:t>
            </a:r>
            <a:r>
              <a:rPr kumimoji="0" lang="es-MX" altLang="es-MX" sz="1400" b="0" i="0" u="none" strike="noStrike" cap="none" normalizeH="0" baseline="0" dirty="0" err="1">
                <a:ln>
                  <a:noFill/>
                </a:ln>
                <a:solidFill>
                  <a:schemeClr val="tx1"/>
                </a:solidFill>
                <a:effectLst/>
                <a:latin typeface="Arial" panose="020B0604020202020204" pitchFamily="34" charset="0"/>
              </a:rPr>
              <a:t>now</a:t>
            </a:r>
            <a:r>
              <a:rPr kumimoji="0" lang="es-MX" altLang="es-MX" sz="1400" b="0" i="0" u="none" strike="noStrike" cap="none" normalizeH="0" baseline="0" dirty="0">
                <a:ln>
                  <a:noFill/>
                </a:ln>
                <a:solidFill>
                  <a:schemeClr val="tx1"/>
                </a:solidFill>
                <a:effectLst/>
                <a:latin typeface="Arial" panose="020B0604020202020204" pitchFamily="34" charset="0"/>
              </a:rPr>
              <a:t> be </a:t>
            </a:r>
            <a:r>
              <a:rPr kumimoji="0" lang="es-MX" altLang="es-MX" sz="1400" b="0" i="0" u="none" strike="noStrike" cap="none" normalizeH="0" baseline="0" dirty="0" err="1">
                <a:ln>
                  <a:noFill/>
                </a:ln>
                <a:solidFill>
                  <a:schemeClr val="tx1"/>
                </a:solidFill>
                <a:effectLst/>
                <a:latin typeface="Arial" panose="020B0604020202020204" pitchFamily="34" charset="0"/>
              </a:rPr>
              <a:t>learned</a:t>
            </a:r>
            <a:r>
              <a:rPr kumimoji="0" lang="es-MX" altLang="es-MX" sz="1400" b="0" i="0" u="none" strike="noStrike" cap="none" normalizeH="0" baseline="0" dirty="0">
                <a:ln>
                  <a:noFill/>
                </a:ln>
                <a:solidFill>
                  <a:schemeClr val="tx1"/>
                </a:solidFill>
                <a:effectLst/>
                <a:latin typeface="Arial" panose="020B0604020202020204" pitchFamily="34" charset="0"/>
              </a:rPr>
              <a:t> </a:t>
            </a:r>
            <a:r>
              <a:rPr kumimoji="0" lang="es-MX" altLang="es-MX" sz="1400" b="0" i="0" u="none" strike="noStrike" cap="none" normalizeH="0" baseline="0" dirty="0" err="1">
                <a:ln>
                  <a:noFill/>
                </a:ln>
                <a:solidFill>
                  <a:schemeClr val="tx1"/>
                </a:solidFill>
                <a:effectLst/>
                <a:latin typeface="Arial" panose="020B0604020202020204" pitchFamily="34" charset="0"/>
              </a:rPr>
              <a:t>from</a:t>
            </a:r>
            <a:r>
              <a:rPr kumimoji="0" lang="es-MX" altLang="es-MX" sz="1400" b="0" i="0" u="none" strike="noStrike" cap="none" normalizeH="0" baseline="0" dirty="0">
                <a:ln>
                  <a:noFill/>
                </a:ln>
                <a:solidFill>
                  <a:schemeClr val="tx1"/>
                </a:solidFill>
                <a:effectLst/>
                <a:latin typeface="Arial" panose="020B0604020202020204" pitchFamily="34" charset="0"/>
              </a:rPr>
              <a:t> </a:t>
            </a:r>
            <a:r>
              <a:rPr kumimoji="0" lang="es-MX" altLang="es-MX" sz="1400" b="0" i="0" u="none" strike="noStrike" cap="none" normalizeH="0" baseline="0" dirty="0" err="1">
                <a:ln>
                  <a:noFill/>
                </a:ln>
                <a:solidFill>
                  <a:schemeClr val="tx1"/>
                </a:solidFill>
                <a:effectLst/>
                <a:latin typeface="Arial" panose="020B0604020202020204" pitchFamily="34" charset="0"/>
              </a:rPr>
              <a:t>its</a:t>
            </a:r>
            <a:r>
              <a:rPr kumimoji="0" lang="es-MX" altLang="es-MX" sz="1400" b="0" i="0" u="none" strike="noStrike" cap="none" normalizeH="0" baseline="0" dirty="0">
                <a:ln>
                  <a:noFill/>
                </a:ln>
                <a:solidFill>
                  <a:schemeClr val="tx1"/>
                </a:solidFill>
                <a:effectLst/>
                <a:latin typeface="Arial" panose="020B0604020202020204" pitchFamily="34" charset="0"/>
              </a:rPr>
              <a:t> </a:t>
            </a:r>
            <a:r>
              <a:rPr kumimoji="0" lang="es-MX" altLang="es-MX" sz="1400" b="0" i="0" u="none" strike="noStrike" cap="none" normalizeH="0" baseline="0" dirty="0" err="1">
                <a:ln>
                  <a:noFill/>
                </a:ln>
                <a:solidFill>
                  <a:schemeClr val="tx1"/>
                </a:solidFill>
                <a:effectLst/>
                <a:latin typeface="Arial" panose="020B0604020202020204" pitchFamily="34" charset="0"/>
              </a:rPr>
              <a:t>definition</a:t>
            </a:r>
            <a:r>
              <a:rPr kumimoji="0" lang="es-MX" altLang="es-MX" sz="1400" b="0" i="0" u="none" strike="noStrike" cap="none" normalizeH="0" baseline="0" dirty="0">
                <a:ln>
                  <a:noFill/>
                </a:ln>
                <a:solidFill>
                  <a:schemeClr val="tx1"/>
                </a:solidFill>
                <a:effectLst/>
                <a:latin typeface="Arial" panose="020B0604020202020204" pitchFamily="34" charset="0"/>
              </a:rPr>
              <a:t> </a:t>
            </a:r>
            <a:r>
              <a:rPr kumimoji="0" lang="es-MX" altLang="es-MX" sz="1400" b="0" i="0" u="none" strike="noStrike" cap="none" normalizeH="0" baseline="0" dirty="0" err="1">
                <a:ln>
                  <a:noFill/>
                </a:ln>
                <a:solidFill>
                  <a:schemeClr val="tx1"/>
                </a:solidFill>
                <a:effectLst/>
                <a:latin typeface="Arial" panose="020B0604020202020204" pitchFamily="34" charset="0"/>
              </a:rPr>
              <a:t>using</a:t>
            </a:r>
            <a:r>
              <a:rPr kumimoji="0" lang="es-MX" altLang="es-MX" sz="1400" b="0" i="0" u="none" strike="noStrike" cap="none" normalizeH="0" baseline="0" dirty="0">
                <a:ln>
                  <a:noFill/>
                </a:ln>
                <a:solidFill>
                  <a:schemeClr val="tx1"/>
                </a:solidFill>
                <a:effectLst/>
                <a:latin typeface="Arial" panose="020B0604020202020204" pitchFamily="34" charset="0"/>
              </a:rPr>
              <a:t> "</a:t>
            </a:r>
            <a:r>
              <a:rPr kumimoji="0" lang="es-MX" altLang="es-MX" sz="1400" b="0" i="0" u="none" strike="noStrike" cap="none" normalizeH="0" baseline="0" dirty="0" err="1">
                <a:ln>
                  <a:noFill/>
                </a:ln>
                <a:solidFill>
                  <a:schemeClr val="tx1"/>
                </a:solidFill>
                <a:effectLst/>
                <a:latin typeface="Arial" panose="020B0604020202020204" pitchFamily="34" charset="0"/>
              </a:rPr>
              <a:t>fast</a:t>
            </a:r>
            <a:r>
              <a:rPr kumimoji="0" lang="es-MX" altLang="es-MX" sz="1400" b="0" i="0" u="none" strike="noStrike" cap="none" normalizeH="0" baseline="0" dirty="0">
                <a:ln>
                  <a:noFill/>
                </a:ln>
                <a:solidFill>
                  <a:schemeClr val="tx1"/>
                </a:solidFill>
                <a:effectLst/>
                <a:latin typeface="Arial" panose="020B0604020202020204" pitchFamily="34" charset="0"/>
              </a:rPr>
              <a:t>“, </a:t>
            </a:r>
            <a:r>
              <a:rPr kumimoji="0" lang="es-MX" altLang="es-MX" sz="1400" b="0" i="0" u="none" strike="noStrike" cap="none" normalizeH="0" baseline="0" dirty="0" err="1">
                <a:ln>
                  <a:noFill/>
                </a:ln>
                <a:solidFill>
                  <a:schemeClr val="tx1"/>
                </a:solidFill>
                <a:effectLst/>
                <a:latin typeface="Arial" panose="020B0604020202020204" pitchFamily="34" charset="0"/>
              </a:rPr>
              <a:t>which</a:t>
            </a:r>
            <a:r>
              <a:rPr kumimoji="0" lang="es-MX" altLang="es-MX" sz="1400" b="0" i="0" u="none" strike="noStrike" cap="none" normalizeH="0" baseline="0" dirty="0">
                <a:ln>
                  <a:noFill/>
                </a:ln>
                <a:solidFill>
                  <a:schemeClr val="tx1"/>
                </a:solidFill>
                <a:effectLst/>
                <a:latin typeface="Arial" panose="020B0604020202020204" pitchFamily="34" charset="0"/>
              </a:rPr>
              <a:t> </a:t>
            </a:r>
            <a:r>
              <a:rPr kumimoji="0" lang="es-MX" altLang="es-MX" sz="1400" b="0" i="0" u="none" strike="noStrike" cap="none" normalizeH="0" baseline="0" dirty="0" err="1">
                <a:ln>
                  <a:noFill/>
                </a:ln>
                <a:solidFill>
                  <a:schemeClr val="tx1"/>
                </a:solidFill>
                <a:effectLst/>
                <a:latin typeface="Arial" panose="020B0604020202020204" pitchFamily="34" charset="0"/>
              </a:rPr>
              <a:t>we</a:t>
            </a:r>
            <a:r>
              <a:rPr kumimoji="0" lang="es-MX" altLang="es-MX" sz="1400" b="0" i="0" u="none" strike="noStrike" cap="none" normalizeH="0" baseline="0" dirty="0">
                <a:ln>
                  <a:noFill/>
                </a:ln>
                <a:solidFill>
                  <a:schemeClr val="tx1"/>
                </a:solidFill>
                <a:effectLst/>
                <a:latin typeface="Arial" panose="020B0604020202020204" pitchFamily="34" charset="0"/>
              </a:rPr>
              <a:t> </a:t>
            </a:r>
            <a:r>
              <a:rPr kumimoji="0" lang="es-MX" altLang="es-MX" sz="1400" b="0" i="0" u="none" strike="noStrike" cap="none" normalizeH="0" baseline="0" dirty="0" err="1">
                <a:ln>
                  <a:noFill/>
                </a:ln>
                <a:solidFill>
                  <a:schemeClr val="tx1"/>
                </a:solidFill>
                <a:effectLst/>
                <a:latin typeface="Arial" panose="020B0604020202020204" pitchFamily="34" charset="0"/>
              </a:rPr>
              <a:t>already</a:t>
            </a:r>
            <a:r>
              <a:rPr kumimoji="0" lang="es-MX" altLang="es-MX" sz="1400" b="0" i="0" u="none" strike="noStrike" cap="none" normalizeH="0" baseline="0" dirty="0">
                <a:ln>
                  <a:noFill/>
                </a:ln>
                <a:solidFill>
                  <a:schemeClr val="tx1"/>
                </a:solidFill>
                <a:effectLst/>
                <a:latin typeface="Arial" panose="020B0604020202020204" pitchFamily="34" charset="0"/>
              </a:rPr>
              <a:t> </a:t>
            </a:r>
            <a:r>
              <a:rPr kumimoji="0" lang="es-MX" altLang="es-MX" sz="1400" b="0" i="0" u="none" strike="noStrike" cap="none" normalizeH="0" baseline="0" dirty="0" err="1">
                <a:ln>
                  <a:noFill/>
                </a:ln>
                <a:solidFill>
                  <a:schemeClr val="tx1"/>
                </a:solidFill>
                <a:effectLst/>
                <a:latin typeface="Arial" panose="020B0604020202020204" pitchFamily="34" charset="0"/>
              </a:rPr>
              <a:t>know</a:t>
            </a:r>
            <a:r>
              <a:rPr lang="es-MX" altLang="es-MX" sz="1400" dirty="0">
                <a:latin typeface="Arial" panose="020B0604020202020204" pitchFamily="34" charset="0"/>
              </a:rPr>
              <a:t>, </a:t>
            </a:r>
            <a:r>
              <a:rPr kumimoji="0" lang="es-MX" altLang="es-MX" sz="1400" b="0" i="0" u="none" strike="noStrike" cap="none" normalizeH="0" baseline="0" dirty="0">
                <a:ln>
                  <a:noFill/>
                </a:ln>
                <a:solidFill>
                  <a:schemeClr val="tx1"/>
                </a:solidFill>
                <a:effectLst/>
                <a:latin typeface="Arial" panose="020B0604020202020204" pitchFamily="34" charset="0"/>
              </a:rPr>
              <a:t> plus </a:t>
            </a:r>
            <a:r>
              <a:rPr kumimoji="0" lang="es-MX" altLang="es-MX" sz="1400" b="0" i="0" u="none" strike="noStrike" cap="none" normalizeH="0" baseline="0" dirty="0" err="1">
                <a:ln>
                  <a:noFill/>
                </a:ln>
                <a:solidFill>
                  <a:schemeClr val="tx1"/>
                </a:solidFill>
                <a:effectLst/>
                <a:latin typeface="Arial" panose="020B0604020202020204" pitchFamily="34" charset="0"/>
              </a:rPr>
              <a:t>its</a:t>
            </a:r>
            <a:r>
              <a:rPr kumimoji="0" lang="es-MX" altLang="es-MX" sz="1400" b="0" i="0" u="none" strike="noStrike" cap="none" normalizeH="0" baseline="0" dirty="0">
                <a:ln>
                  <a:noFill/>
                </a:ln>
                <a:solidFill>
                  <a:schemeClr val="tx1"/>
                </a:solidFill>
                <a:effectLst/>
                <a:latin typeface="Arial" panose="020B0604020202020204" pitchFamily="34" charset="0"/>
              </a:rPr>
              <a:t> </a:t>
            </a:r>
            <a:r>
              <a:rPr kumimoji="0" lang="es-MX" altLang="es-MX" sz="1400" b="0" i="0" u="none" strike="noStrike" cap="none" normalizeH="0" baseline="0" dirty="0" err="1">
                <a:ln>
                  <a:noFill/>
                </a:ln>
                <a:solidFill>
                  <a:schemeClr val="tx1"/>
                </a:solidFill>
                <a:effectLst/>
                <a:latin typeface="Arial" panose="020B0604020202020204" pitchFamily="34" charset="0"/>
              </a:rPr>
              <a:t>other</a:t>
            </a:r>
            <a:r>
              <a:rPr kumimoji="0" lang="es-MX" altLang="es-MX" sz="1400" b="0" i="0" u="none" strike="noStrike" cap="none" normalizeH="0" baseline="0" dirty="0">
                <a:ln>
                  <a:noFill/>
                </a:ln>
                <a:solidFill>
                  <a:schemeClr val="tx1"/>
                </a:solidFill>
                <a:effectLst/>
                <a:latin typeface="Arial" panose="020B0604020202020204" pitchFamily="34" charset="0"/>
              </a:rPr>
              <a:t> </a:t>
            </a:r>
            <a:r>
              <a:rPr kumimoji="0" lang="es-MX" altLang="es-MX" sz="1400" b="0" i="0" u="none" strike="noStrike" cap="none" normalizeH="0" baseline="0" dirty="0" err="1">
                <a:ln>
                  <a:noFill/>
                </a:ln>
                <a:solidFill>
                  <a:schemeClr val="tx1"/>
                </a:solidFill>
                <a:effectLst/>
                <a:latin typeface="Arial" panose="020B0604020202020204" pitchFamily="34" charset="0"/>
              </a:rPr>
              <a:t>content</a:t>
            </a:r>
            <a:r>
              <a:rPr kumimoji="0" lang="es-MX" altLang="es-MX" sz="1400" b="0" i="0" u="none" strike="noStrike" cap="none" normalizeH="0" baseline="0" dirty="0">
                <a:ln>
                  <a:noFill/>
                </a:ln>
                <a:solidFill>
                  <a:schemeClr val="tx1"/>
                </a:solidFill>
                <a:effectLst/>
                <a:latin typeface="Arial" panose="020B0604020202020204" pitchFamily="34" charset="0"/>
              </a:rPr>
              <a:t> </a:t>
            </a:r>
            <a:r>
              <a:rPr kumimoji="0" lang="es-MX" altLang="es-MX" sz="1400" b="0" i="0" u="none" strike="noStrike" cap="none" normalizeH="0" baseline="0" dirty="0" err="1">
                <a:ln>
                  <a:noFill/>
                </a:ln>
                <a:solidFill>
                  <a:schemeClr val="tx1"/>
                </a:solidFill>
                <a:effectLst/>
                <a:latin typeface="Arial" panose="020B0604020202020204" pitchFamily="34" charset="0"/>
              </a:rPr>
              <a:t>words</a:t>
            </a:r>
            <a:r>
              <a:rPr kumimoji="0" lang="es-MX" altLang="es-MX" sz="1400" b="0" i="0" u="none" strike="noStrike" cap="none" normalizeH="0" baseline="0" dirty="0">
                <a:ln>
                  <a:noFill/>
                </a:ln>
                <a:solidFill>
                  <a:schemeClr val="tx1"/>
                </a:solidFill>
                <a:effectLst/>
                <a:latin typeface="Arial" panose="020B0604020202020204" pitchFamily="34" charset="0"/>
              </a:rPr>
              <a:t>. "</a:t>
            </a:r>
            <a:r>
              <a:rPr kumimoji="0" lang="es-MX" altLang="es-MX" sz="1400" b="0" i="0" u="none" strike="noStrike" cap="none" normalizeH="0" baseline="0" dirty="0" err="1">
                <a:ln>
                  <a:noFill/>
                </a:ln>
                <a:solidFill>
                  <a:schemeClr val="tx1"/>
                </a:solidFill>
                <a:effectLst/>
                <a:latin typeface="Arial" panose="020B0604020202020204" pitchFamily="34" charset="0"/>
              </a:rPr>
              <a:t>Moving</a:t>
            </a:r>
            <a:r>
              <a:rPr kumimoji="0" lang="es-MX" altLang="es-MX" sz="1400" b="0" i="0" u="none" strike="noStrike" cap="none" normalizeH="0" baseline="0" dirty="0">
                <a:ln>
                  <a:noFill/>
                </a:ln>
                <a:solidFill>
                  <a:schemeClr val="tx1"/>
                </a:solidFill>
                <a:effectLst/>
                <a:latin typeface="Arial" panose="020B0604020202020204" pitchFamily="34" charset="0"/>
              </a:rPr>
              <a:t>" </a:t>
            </a:r>
            <a:r>
              <a:rPr kumimoji="0" lang="es-MX" altLang="es-MX" sz="1400" b="0" i="0" u="none" strike="noStrike" cap="none" normalizeH="0" baseline="0" dirty="0" err="1">
                <a:ln>
                  <a:noFill/>
                </a:ln>
                <a:solidFill>
                  <a:schemeClr val="tx1"/>
                </a:solidFill>
                <a:effectLst/>
                <a:latin typeface="Arial" panose="020B0604020202020204" pitchFamily="34" charset="0"/>
              </a:rPr>
              <a:t>does</a:t>
            </a:r>
            <a:r>
              <a:rPr kumimoji="0" lang="es-MX" altLang="es-MX" sz="1400" b="0" i="0" u="none" strike="noStrike" cap="none" normalizeH="0" baseline="0" dirty="0">
                <a:ln>
                  <a:noFill/>
                </a:ln>
                <a:solidFill>
                  <a:schemeClr val="tx1"/>
                </a:solidFill>
                <a:effectLst/>
                <a:latin typeface="Arial" panose="020B0604020202020204" pitchFamily="34" charset="0"/>
              </a:rPr>
              <a:t> </a:t>
            </a:r>
            <a:r>
              <a:rPr kumimoji="0" lang="es-MX" altLang="es-MX" sz="1400" b="0" i="0" u="none" strike="noStrike" cap="none" normalizeH="0" baseline="0" dirty="0" err="1">
                <a:ln>
                  <a:noFill/>
                </a:ln>
                <a:solidFill>
                  <a:schemeClr val="tx1"/>
                </a:solidFill>
                <a:effectLst/>
                <a:latin typeface="Arial" panose="020B0604020202020204" pitchFamily="34" charset="0"/>
              </a:rPr>
              <a:t>the</a:t>
            </a:r>
            <a:r>
              <a:rPr kumimoji="0" lang="es-MX" altLang="es-MX" sz="1400" b="0" i="0" u="none" strike="noStrike" cap="none" normalizeH="0" baseline="0" dirty="0">
                <a:ln>
                  <a:noFill/>
                </a:ln>
                <a:solidFill>
                  <a:schemeClr val="tx1"/>
                </a:solidFill>
                <a:effectLst/>
                <a:latin typeface="Arial" panose="020B0604020202020204" pitchFamily="34" charset="0"/>
              </a:rPr>
              <a:t> </a:t>
            </a:r>
            <a:r>
              <a:rPr kumimoji="0" lang="es-MX" altLang="es-MX" sz="1400" b="0" i="0" u="none" strike="noStrike" cap="none" normalizeH="0" baseline="0" dirty="0" err="1">
                <a:ln>
                  <a:noFill/>
                </a:ln>
                <a:solidFill>
                  <a:schemeClr val="tx1"/>
                </a:solidFill>
                <a:effectLst/>
                <a:latin typeface="Arial" panose="020B0604020202020204" pitchFamily="34" charset="0"/>
              </a:rPr>
              <a:t>same</a:t>
            </a:r>
            <a:r>
              <a:rPr kumimoji="0" lang="es-MX" altLang="es-MX" sz="1400" b="0" i="0" u="none" strike="noStrike" cap="none" normalizeH="0" baseline="0" dirty="0">
                <a:ln>
                  <a:noFill/>
                </a:ln>
                <a:solidFill>
                  <a:schemeClr val="tx1"/>
                </a:solidFill>
                <a:effectLst/>
                <a:latin typeface="Arial" panose="020B0604020202020204" pitchFamily="34" charset="0"/>
              </a:rPr>
              <a:t>. You </a:t>
            </a:r>
            <a:r>
              <a:rPr kumimoji="0" lang="es-MX" altLang="es-MX" sz="1400" b="0" i="0" u="none" strike="noStrike" cap="none" normalizeH="0" baseline="0" dirty="0" err="1">
                <a:ln>
                  <a:noFill/>
                </a:ln>
                <a:solidFill>
                  <a:schemeClr val="tx1"/>
                </a:solidFill>
                <a:effectLst/>
                <a:latin typeface="Arial" panose="020B0604020202020204" pitchFamily="34" charset="0"/>
              </a:rPr>
              <a:t>pay</a:t>
            </a:r>
            <a:r>
              <a:rPr kumimoji="0" lang="es-MX" altLang="es-MX" sz="1400" b="0" i="0" u="none" strike="noStrike" cap="none" normalizeH="0" baseline="0" dirty="0">
                <a:ln>
                  <a:noFill/>
                </a:ln>
                <a:solidFill>
                  <a:schemeClr val="tx1"/>
                </a:solidFill>
                <a:effectLst/>
                <a:latin typeface="Arial" panose="020B0604020202020204" pitchFamily="34" charset="0"/>
              </a:rPr>
              <a:t> </a:t>
            </a:r>
            <a:r>
              <a:rPr kumimoji="0" lang="es-MX" altLang="es-MX" sz="1400" b="0" i="0" u="none" strike="noStrike" cap="none" normalizeH="0" baseline="0" dirty="0" err="1">
                <a:ln>
                  <a:noFill/>
                </a:ln>
                <a:solidFill>
                  <a:schemeClr val="tx1"/>
                </a:solidFill>
                <a:effectLst/>
                <a:latin typeface="Arial" panose="020B0604020202020204" pitchFamily="34" charset="0"/>
              </a:rPr>
              <a:t>the</a:t>
            </a:r>
            <a:r>
              <a:rPr kumimoji="0" lang="es-MX" altLang="es-MX" sz="1400" b="0" i="0" u="none" strike="noStrike" cap="none" normalizeH="0" baseline="0" dirty="0">
                <a:ln>
                  <a:noFill/>
                </a:ln>
                <a:solidFill>
                  <a:schemeClr val="tx1"/>
                </a:solidFill>
                <a:effectLst/>
                <a:latin typeface="Arial" panose="020B0604020202020204" pitchFamily="34" charset="0"/>
              </a:rPr>
              <a:t> </a:t>
            </a:r>
            <a:r>
              <a:rPr kumimoji="0" lang="es-MX" altLang="es-MX" sz="1400" b="0" i="0" u="none" strike="noStrike" cap="none" normalizeH="0" baseline="0" dirty="0" err="1">
                <a:ln>
                  <a:noFill/>
                </a:ln>
                <a:solidFill>
                  <a:schemeClr val="tx1"/>
                </a:solidFill>
                <a:effectLst/>
                <a:latin typeface="Arial" panose="020B0604020202020204" pitchFamily="34" charset="0"/>
              </a:rPr>
              <a:t>experiential</a:t>
            </a:r>
            <a:r>
              <a:rPr kumimoji="0" lang="es-MX" altLang="es-MX" sz="1400" b="0" i="0" u="none" strike="noStrike" cap="none" normalizeH="0" baseline="0" dirty="0">
                <a:ln>
                  <a:noFill/>
                </a:ln>
                <a:solidFill>
                  <a:schemeClr val="tx1"/>
                </a:solidFill>
                <a:effectLst/>
                <a:latin typeface="Arial" panose="020B0604020202020204" pitchFamily="34" charset="0"/>
              </a:rPr>
              <a:t> </a:t>
            </a:r>
            <a:r>
              <a:rPr kumimoji="0" lang="es-MX" altLang="es-MX" sz="1400" b="0" i="0" u="none" strike="noStrike" cap="none" normalizeH="0" baseline="0" dirty="0" err="1">
                <a:ln>
                  <a:noFill/>
                </a:ln>
                <a:solidFill>
                  <a:schemeClr val="tx1"/>
                </a:solidFill>
                <a:effectLst/>
                <a:latin typeface="Arial" panose="020B0604020202020204" pitchFamily="34" charset="0"/>
              </a:rPr>
              <a:t>cost</a:t>
            </a:r>
            <a:r>
              <a:rPr kumimoji="0" lang="es-MX" altLang="es-MX" sz="1400" b="0" i="0" u="none" strike="noStrike" cap="none" normalizeH="0" baseline="0" dirty="0">
                <a:ln>
                  <a:noFill/>
                </a:ln>
                <a:solidFill>
                  <a:schemeClr val="tx1"/>
                </a:solidFill>
                <a:effectLst/>
                <a:latin typeface="Arial" panose="020B0604020202020204" pitchFamily="34" charset="0"/>
              </a:rPr>
              <a:t> once </a:t>
            </a:r>
            <a:r>
              <a:rPr kumimoji="0" lang="es-MX" altLang="es-MX" sz="1400" b="0" i="0" u="none" strike="noStrike" cap="none" normalizeH="0" baseline="0" dirty="0" err="1">
                <a:ln>
                  <a:noFill/>
                </a:ln>
                <a:solidFill>
                  <a:schemeClr val="tx1"/>
                </a:solidFill>
                <a:effectLst/>
                <a:latin typeface="Arial" panose="020B0604020202020204" pitchFamily="34" charset="0"/>
              </a:rPr>
              <a:t>for</a:t>
            </a:r>
            <a:r>
              <a:rPr kumimoji="0" lang="es-MX" altLang="es-MX" sz="1400" b="0" i="0" u="none" strike="noStrike" cap="none" normalizeH="0" baseline="0" dirty="0">
                <a:ln>
                  <a:noFill/>
                </a:ln>
                <a:solidFill>
                  <a:schemeClr val="tx1"/>
                </a:solidFill>
                <a:effectLst/>
                <a:latin typeface="Arial" panose="020B0604020202020204" pitchFamily="34" charset="0"/>
              </a:rPr>
              <a:t> </a:t>
            </a:r>
            <a:r>
              <a:rPr kumimoji="0" lang="es-MX" altLang="es-MX" sz="1400" b="0" i="0" u="none" strike="noStrike" cap="none" normalizeH="0" baseline="0" dirty="0" err="1">
                <a:ln>
                  <a:noFill/>
                </a:ln>
                <a:solidFill>
                  <a:schemeClr val="tx1"/>
                </a:solidFill>
                <a:effectLst/>
                <a:latin typeface="Arial" panose="020B0604020202020204" pitchFamily="34" charset="0"/>
              </a:rPr>
              <a:t>one</a:t>
            </a:r>
            <a:r>
              <a:rPr kumimoji="0" lang="es-MX" altLang="es-MX" sz="1400" b="0" i="0" u="none" strike="noStrike" cap="none" normalizeH="0" baseline="0" dirty="0">
                <a:ln>
                  <a:noFill/>
                </a:ln>
                <a:solidFill>
                  <a:schemeClr val="tx1"/>
                </a:solidFill>
                <a:effectLst/>
                <a:latin typeface="Arial" panose="020B0604020202020204" pitchFamily="34" charset="0"/>
              </a:rPr>
              <a:t> </a:t>
            </a:r>
            <a:r>
              <a:rPr kumimoji="0" lang="es-MX" altLang="es-MX" sz="1400" b="0" i="0" u="none" strike="noStrike" cap="none" normalizeH="0" baseline="0" dirty="0" err="1">
                <a:ln>
                  <a:noFill/>
                </a:ln>
                <a:solidFill>
                  <a:schemeClr val="tx1"/>
                </a:solidFill>
                <a:effectLst/>
                <a:latin typeface="Arial" panose="020B0604020202020204" pitchFamily="34" charset="0"/>
              </a:rPr>
              <a:t>word</a:t>
            </a:r>
            <a:r>
              <a:rPr kumimoji="0" lang="es-MX" altLang="es-MX" sz="1400" b="0" i="0" u="none" strike="noStrike" cap="none" normalizeH="0" baseline="0" dirty="0">
                <a:ln>
                  <a:noFill/>
                </a:ln>
                <a:solidFill>
                  <a:schemeClr val="tx1"/>
                </a:solidFill>
                <a:effectLst/>
                <a:latin typeface="Arial" panose="020B0604020202020204" pitchFamily="34" charset="0"/>
              </a:rPr>
              <a:t>, and </a:t>
            </a:r>
            <a:r>
              <a:rPr kumimoji="0" lang="es-MX" altLang="es-MX" sz="1400" b="0" i="0" u="none" strike="noStrike" cap="none" normalizeH="0" baseline="0" dirty="0" err="1">
                <a:ln>
                  <a:noFill/>
                </a:ln>
                <a:solidFill>
                  <a:schemeClr val="tx1"/>
                </a:solidFill>
                <a:effectLst/>
                <a:latin typeface="Arial" panose="020B0604020202020204" pitchFamily="34" charset="0"/>
              </a:rPr>
              <a:t>the</a:t>
            </a:r>
            <a:r>
              <a:rPr kumimoji="0" lang="es-MX" altLang="es-MX" sz="1400" b="0" i="0" u="none" strike="noStrike" cap="none" normalizeH="0" baseline="0" dirty="0">
                <a:ln>
                  <a:noFill/>
                </a:ln>
                <a:solidFill>
                  <a:schemeClr val="tx1"/>
                </a:solidFill>
                <a:effectLst/>
                <a:latin typeface="Arial" panose="020B0604020202020204" pitchFamily="34" charset="0"/>
              </a:rPr>
              <a:t> </a:t>
            </a:r>
            <a:r>
              <a:rPr kumimoji="0" lang="es-MX" altLang="es-MX" sz="1400" b="0" i="0" u="none" strike="noStrike" cap="none" normalizeH="0" baseline="0" dirty="0" err="1">
                <a:ln>
                  <a:noFill/>
                </a:ln>
                <a:solidFill>
                  <a:schemeClr val="tx1"/>
                </a:solidFill>
                <a:effectLst/>
                <a:latin typeface="Arial" panose="020B0604020202020204" pitchFamily="34" charset="0"/>
              </a:rPr>
              <a:t>definitional</a:t>
            </a:r>
            <a:r>
              <a:rPr kumimoji="0" lang="es-MX" altLang="es-MX" sz="1400" b="0" i="0" u="none" strike="noStrike" cap="none" normalizeH="0" baseline="0" dirty="0">
                <a:ln>
                  <a:noFill/>
                </a:ln>
                <a:solidFill>
                  <a:schemeClr val="tx1"/>
                </a:solidFill>
                <a:effectLst/>
                <a:latin typeface="Arial" panose="020B0604020202020204" pitchFamily="34" charset="0"/>
              </a:rPr>
              <a:t> </a:t>
            </a:r>
            <a:r>
              <a:rPr kumimoji="0" lang="es-MX" altLang="es-MX" sz="1400" b="0" i="0" u="none" strike="noStrike" cap="none" normalizeH="0" baseline="0" dirty="0" err="1">
                <a:ln>
                  <a:noFill/>
                </a:ln>
                <a:solidFill>
                  <a:schemeClr val="tx1"/>
                </a:solidFill>
                <a:effectLst/>
                <a:latin typeface="Arial" panose="020B0604020202020204" pitchFamily="34" charset="0"/>
              </a:rPr>
              <a:t>system</a:t>
            </a:r>
            <a:r>
              <a:rPr kumimoji="0" lang="es-MX" altLang="es-MX" sz="1400" b="0" i="0" u="none" strike="noStrike" cap="none" normalizeH="0" baseline="0" dirty="0">
                <a:ln>
                  <a:noFill/>
                </a:ln>
                <a:solidFill>
                  <a:schemeClr val="tx1"/>
                </a:solidFill>
                <a:effectLst/>
                <a:latin typeface="Arial" panose="020B0604020202020204" pitchFamily="34" charset="0"/>
              </a:rPr>
              <a:t> </a:t>
            </a:r>
            <a:r>
              <a:rPr kumimoji="0" lang="es-MX" altLang="es-MX" sz="1400" b="0" i="0" u="none" strike="noStrike" cap="none" normalizeH="0" baseline="0" dirty="0" err="1">
                <a:ln>
                  <a:noFill/>
                </a:ln>
                <a:solidFill>
                  <a:schemeClr val="tx1"/>
                </a:solidFill>
                <a:effectLst/>
                <a:latin typeface="Arial" panose="020B0604020202020204" pitchFamily="34" charset="0"/>
              </a:rPr>
              <a:t>unlocks</a:t>
            </a:r>
            <a:r>
              <a:rPr kumimoji="0" lang="es-MX" altLang="es-MX" sz="1400" b="0" i="0" u="none" strike="noStrike" cap="none" normalizeH="0" baseline="0" dirty="0">
                <a:ln>
                  <a:noFill/>
                </a:ln>
                <a:solidFill>
                  <a:schemeClr val="tx1"/>
                </a:solidFill>
                <a:effectLst/>
                <a:latin typeface="Arial" panose="020B0604020202020204" pitchFamily="34" charset="0"/>
              </a:rPr>
              <a:t> </a:t>
            </a:r>
            <a:r>
              <a:rPr kumimoji="0" lang="es-MX" altLang="es-MX" sz="1400" b="0" i="0" u="none" strike="noStrike" cap="none" normalizeH="0" baseline="0" dirty="0" err="1">
                <a:ln>
                  <a:noFill/>
                </a:ln>
                <a:solidFill>
                  <a:schemeClr val="tx1"/>
                </a:solidFill>
                <a:effectLst/>
                <a:latin typeface="Arial" panose="020B0604020202020204" pitchFamily="34" charset="0"/>
              </a:rPr>
              <a:t>everything</a:t>
            </a:r>
            <a:r>
              <a:rPr kumimoji="0" lang="es-MX" altLang="es-MX" sz="1400" b="0" i="0" u="none" strike="noStrike" cap="none" normalizeH="0" baseline="0" dirty="0">
                <a:ln>
                  <a:noFill/>
                </a:ln>
                <a:solidFill>
                  <a:schemeClr val="tx1"/>
                </a:solidFill>
                <a:effectLst/>
                <a:latin typeface="Arial" panose="020B0604020202020204" pitchFamily="34" charset="0"/>
              </a:rPr>
              <a:t> </a:t>
            </a:r>
            <a:r>
              <a:rPr kumimoji="0" lang="es-MX" altLang="es-MX" sz="1400" b="0" i="0" u="none" strike="noStrike" cap="none" normalizeH="0" baseline="0" dirty="0" err="1">
                <a:ln>
                  <a:noFill/>
                </a:ln>
                <a:solidFill>
                  <a:schemeClr val="tx1"/>
                </a:solidFill>
                <a:effectLst/>
                <a:latin typeface="Arial" panose="020B0604020202020204" pitchFamily="34" charset="0"/>
              </a:rPr>
              <a:t>else</a:t>
            </a:r>
            <a:r>
              <a:rPr kumimoji="0" lang="es-MX" altLang="es-MX" sz="1400" b="0" i="0" u="none" strike="noStrike" cap="none" normalizeH="0" baseline="0" dirty="0">
                <a:ln>
                  <a:noFill/>
                </a:ln>
                <a:solidFill>
                  <a:schemeClr val="tx1"/>
                </a:solidFill>
                <a:effectLst/>
                <a:latin typeface="Arial" panose="020B0604020202020204" pitchFamily="34" charset="0"/>
              </a:rPr>
              <a:t> </a:t>
            </a:r>
            <a:r>
              <a:rPr kumimoji="0" lang="es-MX" altLang="es-MX" sz="1400" b="0" i="0" u="none" strike="noStrike" cap="none" normalizeH="0" baseline="0" dirty="0" err="1">
                <a:ln>
                  <a:noFill/>
                </a:ln>
                <a:solidFill>
                  <a:schemeClr val="tx1"/>
                </a:solidFill>
                <a:effectLst/>
                <a:latin typeface="Arial" panose="020B0604020202020204" pitchFamily="34" charset="0"/>
              </a:rPr>
              <a:t>that</a:t>
            </a:r>
            <a:r>
              <a:rPr kumimoji="0" lang="es-MX" altLang="es-MX" sz="1400" b="0" i="0" u="none" strike="noStrike" cap="none" normalizeH="0" baseline="0" dirty="0">
                <a:ln>
                  <a:noFill/>
                </a:ln>
                <a:solidFill>
                  <a:schemeClr val="tx1"/>
                </a:solidFill>
                <a:effectLst/>
                <a:latin typeface="Arial" panose="020B0604020202020204" pitchFamily="34" charset="0"/>
              </a:rPr>
              <a:t> </a:t>
            </a:r>
            <a:r>
              <a:rPr kumimoji="0" lang="es-MX" altLang="es-MX" sz="1400" b="0" i="0" u="none" strike="noStrike" cap="none" normalizeH="0" baseline="0" dirty="0" err="1">
                <a:ln>
                  <a:noFill/>
                </a:ln>
                <a:solidFill>
                  <a:schemeClr val="tx1"/>
                </a:solidFill>
                <a:effectLst/>
                <a:latin typeface="Arial" panose="020B0604020202020204" pitchFamily="34" charset="0"/>
              </a:rPr>
              <a:t>was</a:t>
            </a:r>
            <a:r>
              <a:rPr kumimoji="0" lang="es-MX" altLang="es-MX" sz="1400" b="0" i="0" u="none" strike="noStrike" cap="none" normalizeH="0" baseline="0" dirty="0">
                <a:ln>
                  <a:noFill/>
                </a:ln>
                <a:solidFill>
                  <a:schemeClr val="tx1"/>
                </a:solidFill>
                <a:effectLst/>
                <a:latin typeface="Arial" panose="020B0604020202020204" pitchFamily="34" charset="0"/>
              </a:rPr>
              <a:t> </a:t>
            </a:r>
            <a:r>
              <a:rPr kumimoji="0" lang="es-MX" altLang="es-MX" sz="1400" b="0" i="0" u="none" strike="noStrike" cap="none" normalizeH="0" baseline="0" dirty="0" err="1">
                <a:ln>
                  <a:noFill/>
                </a:ln>
                <a:solidFill>
                  <a:schemeClr val="tx1"/>
                </a:solidFill>
                <a:effectLst/>
                <a:latin typeface="Arial" panose="020B0604020202020204" pitchFamily="34" charset="0"/>
              </a:rPr>
              <a:t>trapped</a:t>
            </a:r>
            <a:r>
              <a:rPr kumimoji="0" lang="es-MX" altLang="es-MX" sz="1400" b="0" i="0" u="none" strike="noStrike" cap="none" normalizeH="0" baseline="0" dirty="0">
                <a:ln>
                  <a:noFill/>
                </a:ln>
                <a:solidFill>
                  <a:schemeClr val="tx1"/>
                </a:solidFill>
                <a:effectLst/>
                <a:latin typeface="Arial" panose="020B0604020202020204" pitchFamily="34" charset="0"/>
              </a:rPr>
              <a:t> in </a:t>
            </a:r>
            <a:r>
              <a:rPr kumimoji="0" lang="es-MX" altLang="es-MX" sz="1400" b="0" i="0" u="none" strike="noStrike" cap="none" normalizeH="0" baseline="0" dirty="0" err="1">
                <a:ln>
                  <a:noFill/>
                </a:ln>
                <a:solidFill>
                  <a:schemeClr val="tx1"/>
                </a:solidFill>
                <a:effectLst/>
                <a:latin typeface="Arial" panose="020B0604020202020204" pitchFamily="34" charset="0"/>
              </a:rPr>
              <a:t>the</a:t>
            </a:r>
            <a:r>
              <a:rPr kumimoji="0" lang="es-MX" altLang="es-MX" sz="1400" b="0" i="0" u="none" strike="noStrike" cap="none" normalizeH="0" baseline="0" dirty="0">
                <a:ln>
                  <a:noFill/>
                </a:ln>
                <a:solidFill>
                  <a:schemeClr val="tx1"/>
                </a:solidFill>
                <a:effectLst/>
                <a:latin typeface="Arial" panose="020B0604020202020204" pitchFamily="34" charset="0"/>
              </a:rPr>
              <a:t> </a:t>
            </a:r>
            <a:r>
              <a:rPr kumimoji="0" lang="es-MX" altLang="es-MX" sz="1400" b="0" i="0" u="none" strike="noStrike" cap="none" normalizeH="0" baseline="0" dirty="0" err="1">
                <a:ln>
                  <a:noFill/>
                </a:ln>
                <a:solidFill>
                  <a:schemeClr val="tx1"/>
                </a:solidFill>
                <a:effectLst/>
                <a:latin typeface="Arial" panose="020B0604020202020204" pitchFamily="34" charset="0"/>
              </a:rPr>
              <a:t>cycle</a:t>
            </a:r>
            <a:r>
              <a:rPr kumimoji="0" lang="es-MX" altLang="es-MX" sz="1400" b="0" i="0" u="none" strike="noStrike" cap="none" normalizeH="0" baseline="0" dirty="0">
                <a:ln>
                  <a:noFill/>
                </a:ln>
                <a:solidFill>
                  <a:schemeClr val="tx1"/>
                </a:solidFill>
                <a:effectLst/>
                <a:latin typeface="Arial" panose="020B0604020202020204" pitchFamily="34" charset="0"/>
              </a:rPr>
              <a:t> </a:t>
            </a:r>
            <a:r>
              <a:rPr kumimoji="0" lang="es-MX" altLang="es-MX" sz="1400" b="0" i="0" u="none" strike="noStrike" cap="none" normalizeH="0" baseline="0" dirty="0" err="1">
                <a:ln>
                  <a:noFill/>
                </a:ln>
                <a:solidFill>
                  <a:schemeClr val="tx1"/>
                </a:solidFill>
                <a:effectLst/>
                <a:latin typeface="Arial" panose="020B0604020202020204" pitchFamily="34" charset="0"/>
              </a:rPr>
              <a:t>with</a:t>
            </a:r>
            <a:r>
              <a:rPr kumimoji="0" lang="es-MX" altLang="es-MX" sz="1400" b="0" i="0" u="none" strike="noStrike" cap="none" normalizeH="0" baseline="0" dirty="0">
                <a:ln>
                  <a:noFill/>
                </a:ln>
                <a:solidFill>
                  <a:schemeClr val="tx1"/>
                </a:solidFill>
                <a:effectLst/>
                <a:latin typeface="Arial" panose="020B0604020202020204" pitchFamily="34" charset="0"/>
              </a:rPr>
              <a:t> </a:t>
            </a:r>
            <a:r>
              <a:rPr kumimoji="0" lang="es-MX" altLang="es-MX" sz="1400" b="0" i="0" u="none" strike="noStrike" cap="none" normalizeH="0" baseline="0" dirty="0" err="1">
                <a:ln>
                  <a:noFill/>
                </a:ln>
                <a:solidFill>
                  <a:schemeClr val="tx1"/>
                </a:solidFill>
                <a:effectLst/>
                <a:latin typeface="Arial" panose="020B0604020202020204" pitchFamily="34" charset="0"/>
              </a:rPr>
              <a:t>it</a:t>
            </a:r>
            <a:r>
              <a:rPr kumimoji="0" lang="es-MX" altLang="es-MX" sz="1400" b="0" i="0" u="none" strike="noStrike" cap="none" normalizeH="0" baseline="0" dirty="0">
                <a:ln>
                  <a:noFill/>
                </a:ln>
                <a:solidFill>
                  <a:schemeClr val="tx1"/>
                </a:solidFill>
                <a:effectLst/>
                <a:latin typeface="Arial" panose="020B0604020202020204" pitchFamily="34" charset="0"/>
              </a:rPr>
              <a:t>.</a:t>
            </a:r>
          </a:p>
        </p:txBody>
      </p:sp>
    </p:spTree>
    <p:extLst>
      <p:ext uri="{BB962C8B-B14F-4D97-AF65-F5344CB8AC3E}">
        <p14:creationId xmlns:p14="http://schemas.microsoft.com/office/powerpoint/2010/main" val="107201433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0"/>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3"/>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15"/>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16"/>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1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p:bldP spid="16" grpId="0" animBg="1"/>
      <p:bldP spid="17" grpId="0"/>
    </p:bld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582</TotalTime>
  <Words>3594</Words>
  <Application>Microsoft Office PowerPoint</Application>
  <PresentationFormat>Widescreen</PresentationFormat>
  <Paragraphs>213</Paragraphs>
  <Slides>11</Slides>
  <Notes>11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11</vt:i4>
      </vt:variant>
    </vt:vector>
  </HeadingPairs>
  <TitlesOfParts>
    <vt:vector size="17" baseType="lpstr">
      <vt:lpstr>Aptos</vt:lpstr>
      <vt:lpstr>Aptos Display</vt:lpstr>
      <vt:lpstr>Arial</vt:lpstr>
      <vt:lpstr>Calibri</vt:lpstr>
      <vt:lpstr>Georgia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Jose Lopez Chapa</dc:creator>
  <cp:lastModifiedBy>Jose Lopez Chapa</cp:lastModifiedBy>
  <cp:revision>3</cp:revision>
  <dcterms:created xsi:type="dcterms:W3CDTF">2026-05-11T13:25:19Z</dcterms:created>
  <dcterms:modified xsi:type="dcterms:W3CDTF">2026-05-12T05:13:16Z</dcterms:modified>
</cp:coreProperties>
</file>