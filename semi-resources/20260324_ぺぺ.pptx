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ira9CBpzTV9bVxUepjxiNh6JME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d1eafd1ad1_0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 name="Google Shape;13;g3d1eafd1ad1_0_2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g3d1eafd1ad1_0_2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ではまず、ASERとは何かについて説明します。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ASERは、Activities、States、Eventsとその関係を表すナレッジグラフです。</a:t>
            </a:r>
            <a:br>
              <a:rPr lang="en-US" sz="1100">
                <a:latin typeface="Arial"/>
                <a:ea typeface="Arial"/>
                <a:cs typeface="Arial"/>
                <a:sym typeface="Arial"/>
              </a:rPr>
            </a:br>
            <a:r>
              <a:rPr lang="en-US" sz="1100">
                <a:latin typeface="Arial"/>
                <a:ea typeface="Arial"/>
                <a:cs typeface="Arial"/>
                <a:sym typeface="Arial"/>
              </a:rPr>
              <a:t> これは、生のテキストから人手(</a:t>
            </a:r>
            <a:r>
              <a:rPr lang="en-US" sz="600">
                <a:latin typeface="Arial"/>
                <a:ea typeface="Arial"/>
                <a:cs typeface="Arial"/>
                <a:sym typeface="Arial"/>
              </a:rPr>
              <a:t>ひとで</a:t>
            </a:r>
            <a:r>
              <a:rPr lang="en-US" sz="1100">
                <a:latin typeface="Arial"/>
                <a:ea typeface="Arial"/>
                <a:cs typeface="Arial"/>
                <a:sym typeface="Arial"/>
              </a:rPr>
              <a:t>)</a:t>
            </a:r>
            <a:r>
              <a:rPr lang="en-US">
                <a:latin typeface="Arial"/>
                <a:ea typeface="Arial"/>
                <a:cs typeface="Arial"/>
                <a:sym typeface="Arial"/>
              </a:rPr>
              <a:t>を使わずに自動的に構築(</a:t>
            </a:r>
            <a:r>
              <a:rPr lang="en-US" sz="600">
                <a:latin typeface="Arial"/>
                <a:ea typeface="Arial"/>
                <a:cs typeface="Arial"/>
                <a:sym typeface="Arial"/>
              </a:rPr>
              <a:t>こうちく</a:t>
            </a:r>
            <a:r>
              <a:rPr lang="en-US">
                <a:latin typeface="Arial"/>
                <a:ea typeface="Arial"/>
                <a:cs typeface="Arial"/>
                <a:sym typeface="Arial"/>
              </a:rPr>
              <a:t>)される大規模(</a:t>
            </a:r>
            <a:r>
              <a:rPr lang="en-US" sz="600">
                <a:latin typeface="Arial"/>
                <a:ea typeface="Arial"/>
                <a:cs typeface="Arial"/>
                <a:sym typeface="Arial"/>
              </a:rPr>
              <a:t>だいきぼ</a:t>
            </a:r>
            <a:r>
              <a:rPr lang="en-US">
                <a:latin typeface="Arial"/>
                <a:ea typeface="Arial"/>
                <a:cs typeface="Arial"/>
                <a:sym typeface="Arial"/>
              </a:rPr>
              <a:t>)な知識グラフです。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このナレッジグラフは、event groundingのようなタスクに利用され、</a:t>
            </a:r>
            <a:br>
              <a:rPr lang="en-US" sz="1100">
                <a:latin typeface="Arial"/>
                <a:ea typeface="Arial"/>
                <a:cs typeface="Arial"/>
                <a:sym typeface="Arial"/>
              </a:rPr>
            </a:br>
            <a:r>
              <a:rPr lang="en-US" sz="1100">
                <a:latin typeface="Arial"/>
                <a:ea typeface="Arial"/>
                <a:cs typeface="Arial"/>
                <a:sym typeface="Arial"/>
              </a:rPr>
              <a:t> 出来事とその結果を結(</a:t>
            </a:r>
            <a:r>
              <a:rPr lang="en-US" sz="600">
                <a:latin typeface="Arial"/>
                <a:ea typeface="Arial"/>
                <a:cs typeface="Arial"/>
                <a:sym typeface="Arial"/>
              </a:rPr>
              <a:t>むす</a:t>
            </a:r>
            <a:r>
              <a:rPr lang="en-US" sz="1100">
                <a:latin typeface="Arial"/>
                <a:ea typeface="Arial"/>
                <a:cs typeface="Arial"/>
                <a:sym typeface="Arial"/>
              </a:rPr>
              <a:t>)</a:t>
            </a:r>
            <a:r>
              <a:rPr lang="en-US">
                <a:latin typeface="Arial"/>
                <a:ea typeface="Arial"/>
                <a:cs typeface="Arial"/>
                <a:sym typeface="Arial"/>
              </a:rPr>
              <a:t>び付けることができます。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ここで重要なのが「イベント（eventuality）」という概念です。</a:t>
            </a:r>
            <a:br>
              <a:rPr lang="en-US" sz="1100">
                <a:latin typeface="Arial"/>
                <a:ea typeface="Arial"/>
                <a:cs typeface="Arial"/>
                <a:sym typeface="Arial"/>
              </a:rPr>
            </a:br>
            <a:r>
              <a:rPr lang="en-US" sz="1100">
                <a:latin typeface="Arial"/>
                <a:ea typeface="Arial"/>
                <a:cs typeface="Arial"/>
                <a:sym typeface="Arial"/>
              </a:rPr>
              <a:t> イベントとは、動詞(</a:t>
            </a:r>
            <a:r>
              <a:rPr lang="en-US" sz="600">
                <a:latin typeface="Arial"/>
                <a:ea typeface="Arial"/>
                <a:cs typeface="Arial"/>
                <a:sym typeface="Arial"/>
              </a:rPr>
              <a:t>どうし</a:t>
            </a:r>
            <a:r>
              <a:rPr lang="en-US" sz="1100">
                <a:latin typeface="Arial"/>
                <a:ea typeface="Arial"/>
                <a:cs typeface="Arial"/>
                <a:sym typeface="Arial"/>
              </a:rPr>
              <a:t>)</a:t>
            </a:r>
            <a:r>
              <a:rPr lang="en-US">
                <a:latin typeface="Arial"/>
                <a:ea typeface="Arial"/>
                <a:cs typeface="Arial"/>
                <a:sym typeface="Arial"/>
              </a:rPr>
              <a:t>を中心とした言語単位のことです。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例えば：</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イベント：彼は走った</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状態：彼は疲れていた</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活動：彼女は働いている</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ASERでは、これらを常識知識の基本単位として扱います。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例えば、</a:t>
            </a:r>
            <a:br>
              <a:rPr lang="en-US" sz="1100">
                <a:latin typeface="Arial"/>
                <a:ea typeface="Arial"/>
                <a:cs typeface="Arial"/>
                <a:sym typeface="Arial"/>
              </a:rPr>
            </a:br>
            <a:r>
              <a:rPr lang="en-US" sz="1100">
                <a:latin typeface="Arial"/>
                <a:ea typeface="Arial"/>
                <a:cs typeface="Arial"/>
                <a:sym typeface="Arial"/>
              </a:rPr>
              <a:t> 「he feel tired → as a result → he go to sleep」</a:t>
            </a:r>
            <a:br>
              <a:rPr lang="en-US" sz="1100">
                <a:latin typeface="Arial"/>
                <a:ea typeface="Arial"/>
                <a:cs typeface="Arial"/>
                <a:sym typeface="Arial"/>
              </a:rPr>
            </a:br>
            <a:r>
              <a:rPr lang="en-US" sz="1100">
                <a:latin typeface="Arial"/>
                <a:ea typeface="Arial"/>
                <a:cs typeface="Arial"/>
                <a:sym typeface="Arial"/>
              </a:rPr>
              <a:t> といった関係を表現することができます。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つまり、ASERはイベントを保存するだけでなく、</a:t>
            </a:r>
            <a:br>
              <a:rPr lang="en-US" sz="1100">
                <a:latin typeface="Arial"/>
                <a:ea typeface="Arial"/>
                <a:cs typeface="Arial"/>
                <a:sym typeface="Arial"/>
              </a:rPr>
            </a:br>
            <a:r>
              <a:rPr lang="en-US" sz="1100">
                <a:latin typeface="Arial"/>
                <a:ea typeface="Arial"/>
                <a:cs typeface="Arial"/>
                <a:sym typeface="Arial"/>
              </a:rPr>
              <a:t> それらの関係も表現します。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これにより、推論に利用可能な構造化(</a:t>
            </a:r>
            <a:r>
              <a:rPr lang="en-US" sz="600">
                <a:latin typeface="Arial"/>
                <a:ea typeface="Arial"/>
                <a:cs typeface="Arial"/>
                <a:sym typeface="Arial"/>
              </a:rPr>
              <a:t>こうぞうか</a:t>
            </a:r>
            <a:r>
              <a:rPr lang="en-US" sz="1100">
                <a:latin typeface="Arial"/>
                <a:ea typeface="Arial"/>
                <a:cs typeface="Arial"/>
                <a:sym typeface="Arial"/>
              </a:rPr>
              <a:t>)</a:t>
            </a:r>
            <a:r>
              <a:rPr lang="en-US">
                <a:latin typeface="Arial"/>
                <a:ea typeface="Arial"/>
                <a:cs typeface="Arial"/>
                <a:sym typeface="Arial"/>
              </a:rPr>
              <a:t>された常識(</a:t>
            </a:r>
            <a:r>
              <a:rPr lang="en-US" sz="600">
                <a:latin typeface="Arial"/>
                <a:ea typeface="Arial"/>
                <a:cs typeface="Arial"/>
                <a:sym typeface="Arial"/>
              </a:rPr>
              <a:t>じょうしき</a:t>
            </a:r>
            <a:r>
              <a:rPr lang="en-US">
                <a:latin typeface="Arial"/>
                <a:ea typeface="Arial"/>
                <a:cs typeface="Arial"/>
                <a:sym typeface="Arial"/>
              </a:rPr>
              <a:t>)knowledge graphを構築(</a:t>
            </a:r>
            <a:r>
              <a:rPr lang="en-US" sz="600">
                <a:latin typeface="Arial"/>
                <a:ea typeface="Arial"/>
                <a:cs typeface="Arial"/>
                <a:sym typeface="Arial"/>
              </a:rPr>
              <a:t>こうちく</a:t>
            </a:r>
            <a:r>
              <a:rPr lang="en-US">
                <a:latin typeface="Arial"/>
                <a:ea typeface="Arial"/>
                <a:cs typeface="Arial"/>
                <a:sym typeface="Arial"/>
              </a:rPr>
              <a:t>)することができます。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g3d1eafd1ad1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g3d1eafd1ad1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では、なぜ自動構築が必要なのでしょうか。</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人間に知識を書かせるのではなく、</a:t>
            </a:r>
            <a:br>
              <a:rPr lang="en-US" sz="1100">
                <a:latin typeface="Arial"/>
                <a:ea typeface="Arial"/>
                <a:cs typeface="Arial"/>
                <a:sym typeface="Arial"/>
              </a:rPr>
            </a:br>
            <a:r>
              <a:rPr lang="en-US" sz="1100">
                <a:latin typeface="Arial"/>
                <a:ea typeface="Arial"/>
                <a:cs typeface="Arial"/>
                <a:sym typeface="Arial"/>
              </a:rPr>
              <a:t> 人々がテキストの中でどのように出来事を表現しているかを観察(</a:t>
            </a:r>
            <a:r>
              <a:rPr lang="en-US" sz="600">
                <a:latin typeface="Arial"/>
                <a:ea typeface="Arial"/>
                <a:cs typeface="Arial"/>
                <a:sym typeface="Arial"/>
              </a:rPr>
              <a:t>かんさつ</a:t>
            </a:r>
            <a:r>
              <a:rPr lang="en-US" sz="1100">
                <a:latin typeface="Arial"/>
                <a:ea typeface="Arial"/>
                <a:cs typeface="Arial"/>
                <a:sym typeface="Arial"/>
              </a:rPr>
              <a:t>)</a:t>
            </a:r>
            <a:r>
              <a:rPr lang="en-US">
                <a:latin typeface="Arial"/>
                <a:ea typeface="Arial"/>
                <a:cs typeface="Arial"/>
                <a:sym typeface="Arial"/>
              </a:rPr>
              <a:t>し、</a:t>
            </a:r>
            <a:br>
              <a:rPr lang="en-US">
                <a:latin typeface="Arial"/>
                <a:ea typeface="Arial"/>
                <a:cs typeface="Arial"/>
                <a:sym typeface="Arial"/>
              </a:rPr>
            </a:br>
            <a:r>
              <a:rPr lang="en-US">
                <a:latin typeface="Arial"/>
                <a:ea typeface="Arial"/>
                <a:cs typeface="Arial"/>
                <a:sym typeface="Arial"/>
              </a:rPr>
              <a:t> そこから知識を自動的に抽出(</a:t>
            </a:r>
            <a:r>
              <a:rPr lang="en-US" sz="600">
                <a:latin typeface="Arial"/>
                <a:ea typeface="Arial"/>
                <a:cs typeface="Arial"/>
                <a:sym typeface="Arial"/>
              </a:rPr>
              <a:t>ちゅうしゅつ</a:t>
            </a:r>
            <a:r>
              <a:rPr lang="en-US">
                <a:latin typeface="Arial"/>
                <a:ea typeface="Arial"/>
                <a:cs typeface="Arial"/>
                <a:sym typeface="Arial"/>
              </a:rPr>
              <a:t>)します。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手作業(</a:t>
            </a:r>
            <a:r>
              <a:rPr lang="en-US" sz="600">
                <a:latin typeface="Arial"/>
                <a:ea typeface="Arial"/>
                <a:cs typeface="Arial"/>
                <a:sym typeface="Arial"/>
              </a:rPr>
              <a:t>てさぎょう</a:t>
            </a:r>
            <a:r>
              <a:rPr lang="en-US" sz="1100">
                <a:latin typeface="Arial"/>
                <a:ea typeface="Arial"/>
                <a:cs typeface="Arial"/>
                <a:sym typeface="Arial"/>
              </a:rPr>
              <a:t>)</a:t>
            </a:r>
            <a:r>
              <a:rPr lang="en-US">
                <a:latin typeface="Arial"/>
                <a:ea typeface="Arial"/>
                <a:cs typeface="Arial"/>
                <a:sym typeface="Arial"/>
              </a:rPr>
              <a:t>の知識ベースにはいくつかの問題があります。</a:t>
            </a:r>
            <a:br>
              <a:rPr lang="en-US">
                <a:latin typeface="Arial"/>
                <a:ea typeface="Arial"/>
                <a:cs typeface="Arial"/>
                <a:sym typeface="Arial"/>
              </a:rPr>
            </a:br>
            <a:r>
              <a:rPr lang="en-US">
                <a:latin typeface="Arial"/>
                <a:ea typeface="Arial"/>
                <a:cs typeface="Arial"/>
                <a:sym typeface="Arial"/>
              </a:rPr>
              <a:t> カバレッジが限(</a:t>
            </a:r>
            <a:r>
              <a:rPr lang="en-US" sz="600">
                <a:latin typeface="Arial"/>
                <a:ea typeface="Arial"/>
                <a:cs typeface="Arial"/>
                <a:sym typeface="Arial"/>
              </a:rPr>
              <a:t>かぎ</a:t>
            </a:r>
            <a:r>
              <a:rPr lang="en-US">
                <a:latin typeface="Arial"/>
                <a:ea typeface="Arial"/>
                <a:cs typeface="Arial"/>
                <a:sym typeface="Arial"/>
              </a:rPr>
              <a:t>)られており、バイアスが存在し、</a:t>
            </a:r>
            <a:br>
              <a:rPr lang="en-US">
                <a:latin typeface="Arial"/>
                <a:ea typeface="Arial"/>
                <a:cs typeface="Arial"/>
                <a:sym typeface="Arial"/>
              </a:rPr>
            </a:br>
            <a:r>
              <a:rPr lang="en-US">
                <a:latin typeface="Arial"/>
                <a:ea typeface="Arial"/>
                <a:cs typeface="Arial"/>
                <a:sym typeface="Arial"/>
              </a:rPr>
              <a:t> 大規模データに対応することができません。</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例えば、ConceptNetは数十万(</a:t>
            </a:r>
            <a:r>
              <a:rPr lang="en-US" sz="600">
                <a:latin typeface="Arial"/>
                <a:ea typeface="Arial"/>
                <a:cs typeface="Arial"/>
                <a:sym typeface="Arial"/>
              </a:rPr>
              <a:t>すうじゅうまん</a:t>
            </a:r>
            <a:r>
              <a:rPr lang="en-US" sz="1100">
                <a:latin typeface="Arial"/>
                <a:ea typeface="Arial"/>
                <a:cs typeface="Arial"/>
                <a:sym typeface="Arial"/>
              </a:rPr>
              <a:t>)</a:t>
            </a:r>
            <a:r>
              <a:rPr lang="en-US">
                <a:latin typeface="Arial"/>
                <a:ea typeface="Arial"/>
                <a:cs typeface="Arial"/>
                <a:sym typeface="Arial"/>
              </a:rPr>
              <a:t>規模の知識しか持っていません。</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一方で、ASERは110億(</a:t>
            </a:r>
            <a:r>
              <a:rPr lang="en-US" sz="600">
                <a:latin typeface="Arial"/>
                <a:ea typeface="Arial"/>
                <a:cs typeface="Arial"/>
                <a:sym typeface="Arial"/>
              </a:rPr>
              <a:t>おく</a:t>
            </a:r>
            <a:r>
              <a:rPr lang="en-US" sz="1100">
                <a:latin typeface="Arial"/>
                <a:ea typeface="Arial"/>
                <a:cs typeface="Arial"/>
                <a:sym typeface="Arial"/>
              </a:rPr>
              <a:t>)</a:t>
            </a:r>
            <a:r>
              <a:rPr lang="en-US">
                <a:latin typeface="Arial"/>
                <a:ea typeface="Arial"/>
                <a:cs typeface="Arial"/>
                <a:sym typeface="Arial"/>
              </a:rPr>
              <a:t>以上(</a:t>
            </a:r>
            <a:r>
              <a:rPr lang="en-US" sz="600">
                <a:latin typeface="Arial"/>
                <a:ea typeface="Arial"/>
                <a:cs typeface="Arial"/>
                <a:sym typeface="Arial"/>
              </a:rPr>
              <a:t>いじょう</a:t>
            </a:r>
            <a:r>
              <a:rPr lang="en-US">
                <a:latin typeface="Arial"/>
                <a:ea typeface="Arial"/>
                <a:cs typeface="Arial"/>
                <a:sym typeface="Arial"/>
              </a:rPr>
              <a:t>)の文から構築されており、</a:t>
            </a:r>
            <a:br>
              <a:rPr lang="en-US">
                <a:latin typeface="Arial"/>
                <a:ea typeface="Arial"/>
                <a:cs typeface="Arial"/>
                <a:sym typeface="Arial"/>
              </a:rPr>
            </a:br>
            <a:r>
              <a:rPr lang="en-US">
                <a:latin typeface="Arial"/>
                <a:ea typeface="Arial"/>
                <a:cs typeface="Arial"/>
                <a:sym typeface="Arial"/>
              </a:rPr>
              <a:t> 数億規模のイベントを含んでいます。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そのため、より多様で現実(</a:t>
            </a:r>
            <a:r>
              <a:rPr lang="en-US" sz="600">
                <a:latin typeface="Arial"/>
                <a:ea typeface="Arial"/>
                <a:cs typeface="Arial"/>
                <a:sym typeface="Arial"/>
              </a:rPr>
              <a:t>げんじつ</a:t>
            </a:r>
            <a:r>
              <a:rPr lang="en-US" sz="1100">
                <a:latin typeface="Arial"/>
                <a:ea typeface="Arial"/>
                <a:cs typeface="Arial"/>
                <a:sym typeface="Arial"/>
              </a:rPr>
              <a:t>)</a:t>
            </a:r>
            <a:r>
              <a:rPr lang="en-US">
                <a:latin typeface="Arial"/>
                <a:ea typeface="Arial"/>
                <a:cs typeface="Arial"/>
                <a:sym typeface="Arial"/>
              </a:rPr>
              <a:t>に近い知識を表現することができます。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さらに、グラフの重みは現実世界での出現(</a:t>
            </a:r>
            <a:r>
              <a:rPr lang="en-US" sz="600">
                <a:latin typeface="Arial"/>
                <a:ea typeface="Arial"/>
                <a:cs typeface="Arial"/>
                <a:sym typeface="Arial"/>
              </a:rPr>
              <a:t>しゅつげん</a:t>
            </a:r>
            <a:r>
              <a:rPr lang="en-US" sz="1100">
                <a:latin typeface="Arial"/>
                <a:ea typeface="Arial"/>
                <a:cs typeface="Arial"/>
                <a:sym typeface="Arial"/>
              </a:rPr>
              <a:t>)</a:t>
            </a:r>
            <a:r>
              <a:rPr lang="en-US">
                <a:latin typeface="Arial"/>
                <a:ea typeface="Arial"/>
                <a:cs typeface="Arial"/>
                <a:sym typeface="Arial"/>
              </a:rPr>
              <a:t>頻度(</a:t>
            </a:r>
            <a:r>
              <a:rPr lang="en-US" sz="600">
                <a:latin typeface="Arial"/>
                <a:ea typeface="Arial"/>
                <a:cs typeface="Arial"/>
                <a:sym typeface="Arial"/>
              </a:rPr>
              <a:t>ひんど</a:t>
            </a:r>
            <a:r>
              <a:rPr lang="en-US">
                <a:latin typeface="Arial"/>
                <a:ea typeface="Arial"/>
                <a:cs typeface="Arial"/>
                <a:sym typeface="Arial"/>
              </a:rPr>
              <a:t>)を反映(</a:t>
            </a:r>
            <a:r>
              <a:rPr lang="en-US" sz="600">
                <a:latin typeface="Arial"/>
                <a:ea typeface="Arial"/>
                <a:cs typeface="Arial"/>
                <a:sym typeface="Arial"/>
              </a:rPr>
              <a:t>はんえい</a:t>
            </a:r>
            <a:r>
              <a:rPr lang="en-US">
                <a:latin typeface="Arial"/>
                <a:ea typeface="Arial"/>
                <a:cs typeface="Arial"/>
                <a:sym typeface="Arial"/>
              </a:rPr>
              <a:t>)しており、</a:t>
            </a:r>
            <a:br>
              <a:rPr lang="en-US">
                <a:latin typeface="Arial"/>
                <a:ea typeface="Arial"/>
                <a:cs typeface="Arial"/>
                <a:sym typeface="Arial"/>
              </a:rPr>
            </a:br>
            <a:r>
              <a:rPr lang="en-US">
                <a:latin typeface="Arial"/>
                <a:ea typeface="Arial"/>
                <a:cs typeface="Arial"/>
                <a:sym typeface="Arial"/>
              </a:rPr>
              <a:t> より信頼性の高い知識となっています。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31" name="Google Shape;31;g3d1eafd1ad1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g3d1eafd1ad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g3d1eafd1ad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次に、ASERの全体の流れについて説明します。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このプロセスは、パイプラインのように段階的に進みます。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まず、Webや書籍(</a:t>
            </a:r>
            <a:r>
              <a:rPr lang="en-US" sz="600">
                <a:latin typeface="Arial"/>
                <a:ea typeface="Arial"/>
                <a:cs typeface="Arial"/>
                <a:sym typeface="Arial"/>
              </a:rPr>
              <a:t>しょせき</a:t>
            </a:r>
            <a:r>
              <a:rPr lang="en-US" sz="1100">
                <a:latin typeface="Arial"/>
                <a:ea typeface="Arial"/>
                <a:cs typeface="Arial"/>
                <a:sym typeface="Arial"/>
              </a:rPr>
              <a:t>)</a:t>
            </a:r>
            <a:r>
              <a:rPr lang="en-US">
                <a:latin typeface="Arial"/>
                <a:ea typeface="Arial"/>
                <a:cs typeface="Arial"/>
                <a:sym typeface="Arial"/>
              </a:rPr>
              <a:t>などから生のテキストを収集(</a:t>
            </a:r>
            <a:r>
              <a:rPr lang="en-US" sz="600">
                <a:latin typeface="Arial"/>
                <a:ea typeface="Arial"/>
                <a:cs typeface="Arial"/>
                <a:sym typeface="Arial"/>
              </a:rPr>
              <a:t>しゅうしゅう</a:t>
            </a:r>
            <a:r>
              <a:rPr lang="en-US">
                <a:latin typeface="Arial"/>
                <a:ea typeface="Arial"/>
                <a:cs typeface="Arial"/>
                <a:sym typeface="Arial"/>
              </a:rPr>
              <a:t>)します。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次に、各文(</a:t>
            </a:r>
            <a:r>
              <a:rPr lang="en-US" sz="600">
                <a:latin typeface="Arial"/>
                <a:ea typeface="Arial"/>
                <a:cs typeface="Arial"/>
                <a:sym typeface="Arial"/>
              </a:rPr>
              <a:t>かくぶん</a:t>
            </a:r>
            <a:r>
              <a:rPr lang="en-US" sz="1100">
                <a:latin typeface="Arial"/>
                <a:ea typeface="Arial"/>
                <a:cs typeface="Arial"/>
                <a:sym typeface="Arial"/>
              </a:rPr>
              <a:t>)</a:t>
            </a:r>
            <a:r>
              <a:rPr lang="en-US">
                <a:latin typeface="Arial"/>
                <a:ea typeface="Arial"/>
                <a:cs typeface="Arial"/>
                <a:sym typeface="Arial"/>
              </a:rPr>
              <a:t>の文法(</a:t>
            </a:r>
            <a:r>
              <a:rPr lang="en-US" sz="600">
                <a:latin typeface="Arial"/>
                <a:ea typeface="Arial"/>
                <a:cs typeface="Arial"/>
                <a:sym typeface="Arial"/>
              </a:rPr>
              <a:t>ぶんぽう</a:t>
            </a:r>
            <a:r>
              <a:rPr lang="en-US">
                <a:latin typeface="Arial"/>
                <a:ea typeface="Arial"/>
                <a:cs typeface="Arial"/>
                <a:sym typeface="Arial"/>
              </a:rPr>
              <a:t>)構造(</a:t>
            </a:r>
            <a:r>
              <a:rPr lang="en-US" sz="600">
                <a:latin typeface="Arial"/>
                <a:ea typeface="Arial"/>
                <a:cs typeface="Arial"/>
                <a:sym typeface="Arial"/>
              </a:rPr>
              <a:t>こうぞう</a:t>
            </a:r>
            <a:r>
              <a:rPr lang="en-US">
                <a:latin typeface="Arial"/>
                <a:ea typeface="Arial"/>
                <a:cs typeface="Arial"/>
                <a:sym typeface="Arial"/>
              </a:rPr>
              <a:t>)を解析(</a:t>
            </a:r>
            <a:r>
              <a:rPr lang="en-US" sz="600">
                <a:latin typeface="Arial"/>
                <a:ea typeface="Arial"/>
                <a:cs typeface="Arial"/>
                <a:sym typeface="Arial"/>
              </a:rPr>
              <a:t>かいせき</a:t>
            </a:r>
            <a:r>
              <a:rPr lang="en-US">
                <a:latin typeface="Arial"/>
                <a:ea typeface="Arial"/>
                <a:cs typeface="Arial"/>
                <a:sym typeface="Arial"/>
              </a:rPr>
              <a:t>)し、</a:t>
            </a:r>
            <a:br>
              <a:rPr lang="en-US">
                <a:latin typeface="Arial"/>
                <a:ea typeface="Arial"/>
                <a:cs typeface="Arial"/>
                <a:sym typeface="Arial"/>
              </a:rPr>
            </a:br>
            <a:r>
              <a:rPr lang="en-US">
                <a:latin typeface="Arial"/>
                <a:ea typeface="Arial"/>
                <a:cs typeface="Arial"/>
                <a:sym typeface="Arial"/>
              </a:rPr>
              <a:t> 主語(</a:t>
            </a:r>
            <a:r>
              <a:rPr lang="en-US" sz="600">
                <a:latin typeface="Arial"/>
                <a:ea typeface="Arial"/>
                <a:cs typeface="Arial"/>
                <a:sym typeface="Arial"/>
              </a:rPr>
              <a:t>しゅご</a:t>
            </a:r>
            <a:r>
              <a:rPr lang="en-US">
                <a:latin typeface="Arial"/>
                <a:ea typeface="Arial"/>
                <a:cs typeface="Arial"/>
                <a:sym typeface="Arial"/>
              </a:rPr>
              <a:t>)・動詞(</a:t>
            </a:r>
            <a:r>
              <a:rPr lang="en-US" sz="600">
                <a:latin typeface="Arial"/>
                <a:ea typeface="Arial"/>
                <a:cs typeface="Arial"/>
                <a:sym typeface="Arial"/>
              </a:rPr>
              <a:t>どうし</a:t>
            </a:r>
            <a:r>
              <a:rPr lang="en-US">
                <a:latin typeface="Arial"/>
                <a:ea typeface="Arial"/>
                <a:cs typeface="Arial"/>
                <a:sym typeface="Arial"/>
              </a:rPr>
              <a:t>)・目的語(</a:t>
            </a:r>
            <a:r>
              <a:rPr lang="en-US" sz="600">
                <a:latin typeface="Arial"/>
                <a:ea typeface="Arial"/>
                <a:cs typeface="Arial"/>
                <a:sym typeface="Arial"/>
              </a:rPr>
              <a:t>もくてきご</a:t>
            </a:r>
            <a:r>
              <a:rPr lang="en-US">
                <a:latin typeface="Arial"/>
                <a:ea typeface="Arial"/>
                <a:cs typeface="Arial"/>
                <a:sym typeface="Arial"/>
              </a:rPr>
              <a:t>)などを理解します。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その後、テキストからイベント、つまり行動や状態(</a:t>
            </a:r>
            <a:r>
              <a:rPr lang="en-US" sz="600">
                <a:latin typeface="Arial"/>
                <a:ea typeface="Arial"/>
                <a:cs typeface="Arial"/>
                <a:sym typeface="Arial"/>
              </a:rPr>
              <a:t>じょうたい</a:t>
            </a:r>
            <a:r>
              <a:rPr lang="en-US" sz="1100">
                <a:latin typeface="Arial"/>
                <a:ea typeface="Arial"/>
                <a:cs typeface="Arial"/>
                <a:sym typeface="Arial"/>
              </a:rPr>
              <a:t>)</a:t>
            </a:r>
            <a:r>
              <a:rPr lang="en-US">
                <a:latin typeface="Arial"/>
                <a:ea typeface="Arial"/>
                <a:cs typeface="Arial"/>
                <a:sym typeface="Arial"/>
              </a:rPr>
              <a:t>を抽出(</a:t>
            </a:r>
            <a:r>
              <a:rPr lang="en-US" sz="600">
                <a:latin typeface="Arial"/>
                <a:ea typeface="Arial"/>
                <a:cs typeface="Arial"/>
                <a:sym typeface="Arial"/>
              </a:rPr>
              <a:t>ちゅうしゅつ</a:t>
            </a:r>
            <a:r>
              <a:rPr lang="en-US">
                <a:latin typeface="Arial"/>
                <a:ea typeface="Arial"/>
                <a:cs typeface="Arial"/>
                <a:sym typeface="Arial"/>
              </a:rPr>
              <a:t>)します。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さらに、それらのイベント同士の関係、</a:t>
            </a:r>
            <a:br>
              <a:rPr lang="en-US" sz="1100">
                <a:latin typeface="Arial"/>
                <a:ea typeface="Arial"/>
                <a:cs typeface="Arial"/>
                <a:sym typeface="Arial"/>
              </a:rPr>
            </a:br>
            <a:r>
              <a:rPr lang="en-US" sz="1100">
                <a:latin typeface="Arial"/>
                <a:ea typeface="Arial"/>
                <a:cs typeface="Arial"/>
                <a:sym typeface="Arial"/>
              </a:rPr>
              <a:t> 例えば原因や結果などを抽出します。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最後に、すべての情報をknowledge graphとして保存します。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つまり、</a:t>
            </a:r>
            <a:br>
              <a:rPr lang="en-US" sz="1100">
                <a:latin typeface="Arial"/>
                <a:ea typeface="Arial"/>
                <a:cs typeface="Arial"/>
                <a:sym typeface="Arial"/>
              </a:rPr>
            </a:br>
            <a:r>
              <a:rPr lang="en-US" sz="1100">
                <a:latin typeface="Arial"/>
                <a:ea typeface="Arial"/>
                <a:cs typeface="Arial"/>
                <a:sym typeface="Arial"/>
              </a:rPr>
              <a:t> 生のテキストを自動的に構造化(</a:t>
            </a:r>
            <a:r>
              <a:rPr lang="en-US" sz="600">
                <a:latin typeface="Arial"/>
                <a:ea typeface="Arial"/>
                <a:cs typeface="Arial"/>
                <a:sym typeface="Arial"/>
              </a:rPr>
              <a:t>こうぞうか</a:t>
            </a:r>
            <a:r>
              <a:rPr lang="en-US" sz="1100">
                <a:latin typeface="Arial"/>
                <a:ea typeface="Arial"/>
                <a:cs typeface="Arial"/>
                <a:sym typeface="Arial"/>
              </a:rPr>
              <a:t>)</a:t>
            </a:r>
            <a:r>
              <a:rPr lang="en-US">
                <a:latin typeface="Arial"/>
                <a:ea typeface="Arial"/>
                <a:cs typeface="Arial"/>
                <a:sym typeface="Arial"/>
              </a:rPr>
              <a:t>された知識へと変換するプロセスです。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41" name="Google Shape;41;g3d1eafd1ad1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知識を抽出する前に、まず文の構造を理解する必要があります。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文法(</a:t>
            </a:r>
            <a:r>
              <a:rPr lang="en-US" sz="600">
                <a:latin typeface="Arial"/>
                <a:ea typeface="Arial"/>
                <a:cs typeface="Arial"/>
                <a:sym typeface="Arial"/>
              </a:rPr>
              <a:t>ぶんぽう</a:t>
            </a:r>
            <a:r>
              <a:rPr lang="en-US" sz="1100">
                <a:latin typeface="Arial"/>
                <a:ea typeface="Arial"/>
                <a:cs typeface="Arial"/>
                <a:sym typeface="Arial"/>
              </a:rPr>
              <a:t>)</a:t>
            </a:r>
            <a:r>
              <a:rPr lang="en-US">
                <a:latin typeface="Arial"/>
                <a:ea typeface="Arial"/>
                <a:cs typeface="Arial"/>
                <a:sym typeface="Arial"/>
              </a:rPr>
              <a:t>解析(</a:t>
            </a:r>
            <a:r>
              <a:rPr lang="en-US" sz="600">
                <a:latin typeface="Arial"/>
                <a:ea typeface="Arial"/>
                <a:cs typeface="Arial"/>
                <a:sym typeface="Arial"/>
              </a:rPr>
              <a:t>かいせき</a:t>
            </a:r>
            <a:r>
              <a:rPr lang="en-US">
                <a:latin typeface="Arial"/>
                <a:ea typeface="Arial"/>
                <a:cs typeface="Arial"/>
                <a:sym typeface="Arial"/>
              </a:rPr>
              <a:t>)がなければ、コンピュータは単なる単語の並び(</a:t>
            </a:r>
            <a:r>
              <a:rPr lang="en-US" sz="600">
                <a:latin typeface="Arial"/>
                <a:ea typeface="Arial"/>
                <a:cs typeface="Arial"/>
                <a:sym typeface="Arial"/>
              </a:rPr>
              <a:t>ならび</a:t>
            </a:r>
            <a:r>
              <a:rPr lang="en-US">
                <a:latin typeface="Arial"/>
                <a:ea typeface="Arial"/>
                <a:cs typeface="Arial"/>
                <a:sym typeface="Arial"/>
              </a:rPr>
              <a:t>)としてしか認識できず、</a:t>
            </a:r>
            <a:br>
              <a:rPr lang="en-US">
                <a:latin typeface="Arial"/>
                <a:ea typeface="Arial"/>
                <a:cs typeface="Arial"/>
                <a:sym typeface="Arial"/>
              </a:rPr>
            </a:br>
            <a:r>
              <a:rPr lang="en-US">
                <a:latin typeface="Arial"/>
                <a:ea typeface="Arial"/>
                <a:cs typeface="Arial"/>
                <a:sym typeface="Arial"/>
              </a:rPr>
              <a:t> 例えば「dog bites man」と「man bites dog」の違いを理解することができません。</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そこで、ASERではStanford CoreNLPを使用します。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CoreNLPは、各文に対して以下の情報を抽出します：</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tokenization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part of speech tagging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dependecy parsing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name entity recognition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これらの処理については、次のスライドで詳しく説明します。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このステップにより、生のテキストが構造化され、</a:t>
            </a:r>
            <a:br>
              <a:rPr lang="en-US" sz="1100">
                <a:latin typeface="Arial"/>
                <a:ea typeface="Arial"/>
                <a:cs typeface="Arial"/>
                <a:sym typeface="Arial"/>
              </a:rPr>
            </a:br>
            <a:r>
              <a:rPr lang="en-US" sz="1100">
                <a:latin typeface="Arial"/>
                <a:ea typeface="Arial"/>
                <a:cs typeface="Arial"/>
                <a:sym typeface="Arial"/>
              </a:rPr>
              <a:t> システムが理解・処理できる形になります。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85" name="Google Shape;8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では次に、CoreNLPの出力を具体例で説明します。</a:t>
            </a:r>
            <a:br>
              <a:rPr lang="en-US" sz="1100">
                <a:latin typeface="Arial"/>
                <a:ea typeface="Arial"/>
                <a:cs typeface="Arial"/>
                <a:sym typeface="Arial"/>
              </a:rPr>
            </a:br>
            <a:r>
              <a:rPr lang="en-US" sz="1100">
                <a:latin typeface="Arial"/>
                <a:ea typeface="Arial"/>
                <a:cs typeface="Arial"/>
                <a:sym typeface="Arial"/>
              </a:rPr>
              <a:t> そして、それぞれの処理がなぜ必要なのかも見ていきます。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例として、</a:t>
            </a:r>
            <a:br>
              <a:rPr lang="en-US" sz="1100">
                <a:latin typeface="Arial"/>
                <a:ea typeface="Arial"/>
                <a:cs typeface="Arial"/>
                <a:sym typeface="Arial"/>
              </a:rPr>
            </a:br>
            <a:r>
              <a:rPr lang="en-US" sz="1100">
                <a:latin typeface="Arial"/>
                <a:ea typeface="Arial"/>
                <a:cs typeface="Arial"/>
                <a:sym typeface="Arial"/>
              </a:rPr>
              <a:t> 「He was tired」という文を使います。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まず、tokenizationです。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トークン化とは、文を単語ごとに分割することです。</a:t>
            </a:r>
            <a:br>
              <a:rPr lang="en-US" sz="1100">
                <a:latin typeface="Arial"/>
                <a:ea typeface="Arial"/>
                <a:cs typeface="Arial"/>
                <a:sym typeface="Arial"/>
              </a:rPr>
            </a:br>
            <a:r>
              <a:rPr lang="en-US" sz="1100">
                <a:latin typeface="Arial"/>
                <a:ea typeface="Arial"/>
                <a:cs typeface="Arial"/>
                <a:sym typeface="Arial"/>
              </a:rPr>
              <a:t> この場合は、「He」「was」「tired」に分けられます。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これは、コンピュータが文全体ではなく、</a:t>
            </a:r>
            <a:br>
              <a:rPr lang="en-US" sz="1100">
                <a:latin typeface="Arial"/>
                <a:ea typeface="Arial"/>
                <a:cs typeface="Arial"/>
                <a:sym typeface="Arial"/>
              </a:rPr>
            </a:br>
            <a:r>
              <a:rPr lang="en-US" sz="1100">
                <a:latin typeface="Arial"/>
                <a:ea typeface="Arial"/>
                <a:cs typeface="Arial"/>
                <a:sym typeface="Arial"/>
              </a:rPr>
              <a:t> 単語ごとに分析するために必要です。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次に、part of speach (POS)です。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各単語の文法的な役割を決めます。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この例では、</a:t>
            </a:r>
            <a:br>
              <a:rPr lang="en-US" sz="1100">
                <a:latin typeface="Arial"/>
                <a:ea typeface="Arial"/>
                <a:cs typeface="Arial"/>
                <a:sym typeface="Arial"/>
              </a:rPr>
            </a:br>
            <a:r>
              <a:rPr lang="en-US" sz="1100">
                <a:latin typeface="Arial"/>
                <a:ea typeface="Arial"/>
                <a:cs typeface="Arial"/>
                <a:sym typeface="Arial"/>
              </a:rPr>
              <a:t> “He”は代名詞(</a:t>
            </a:r>
            <a:r>
              <a:rPr lang="en-US" sz="600">
                <a:latin typeface="Arial"/>
                <a:ea typeface="Arial"/>
                <a:cs typeface="Arial"/>
                <a:sym typeface="Arial"/>
              </a:rPr>
              <a:t>だいめいし</a:t>
            </a:r>
            <a:r>
              <a:rPr lang="en-US" sz="1100">
                <a:latin typeface="Arial"/>
                <a:ea typeface="Arial"/>
                <a:cs typeface="Arial"/>
                <a:sym typeface="Arial"/>
              </a:rPr>
              <a:t>)</a:t>
            </a:r>
            <a:r>
              <a:rPr lang="en-US">
                <a:latin typeface="Arial"/>
                <a:ea typeface="Arial"/>
                <a:cs typeface="Arial"/>
                <a:sym typeface="Arial"/>
              </a:rPr>
              <a:t>、</a:t>
            </a:r>
            <a:br>
              <a:rPr lang="en-US">
                <a:latin typeface="Arial"/>
                <a:ea typeface="Arial"/>
                <a:cs typeface="Arial"/>
                <a:sym typeface="Arial"/>
              </a:rPr>
            </a:br>
            <a:r>
              <a:rPr lang="en-US">
                <a:latin typeface="Arial"/>
                <a:ea typeface="Arial"/>
                <a:cs typeface="Arial"/>
                <a:sym typeface="Arial"/>
              </a:rPr>
              <a:t> “was”は動詞、</a:t>
            </a:r>
            <a:br>
              <a:rPr lang="en-US">
                <a:latin typeface="Arial"/>
                <a:ea typeface="Arial"/>
                <a:cs typeface="Arial"/>
                <a:sym typeface="Arial"/>
              </a:rPr>
            </a:br>
            <a:r>
              <a:rPr lang="en-US">
                <a:latin typeface="Arial"/>
                <a:ea typeface="Arial"/>
                <a:cs typeface="Arial"/>
                <a:sym typeface="Arial"/>
              </a:rPr>
              <a:t> “tired”は形容(</a:t>
            </a:r>
            <a:r>
              <a:rPr lang="en-US" sz="600">
                <a:latin typeface="Arial"/>
                <a:ea typeface="Arial"/>
                <a:cs typeface="Arial"/>
                <a:sym typeface="Arial"/>
              </a:rPr>
              <a:t>けいよう</a:t>
            </a:r>
            <a:r>
              <a:rPr lang="en-US">
                <a:latin typeface="Arial"/>
                <a:ea typeface="Arial"/>
                <a:cs typeface="Arial"/>
                <a:sym typeface="Arial"/>
              </a:rPr>
              <a:t>)詞(</a:t>
            </a:r>
            <a:r>
              <a:rPr lang="en-US" sz="600">
                <a:latin typeface="Arial"/>
                <a:ea typeface="Arial"/>
                <a:cs typeface="Arial"/>
                <a:sym typeface="Arial"/>
              </a:rPr>
              <a:t>し</a:t>
            </a:r>
            <a:r>
              <a:rPr lang="en-US">
                <a:latin typeface="Arial"/>
                <a:ea typeface="Arial"/>
                <a:cs typeface="Arial"/>
                <a:sym typeface="Arial"/>
              </a:rPr>
              <a:t>)です。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これは、それぞれの単語が文の中でどんな役割を持つかを理解するために重要です。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特にASERでは、イベントは動詞を中心に構成(</a:t>
            </a:r>
            <a:r>
              <a:rPr lang="en-US" sz="600">
                <a:latin typeface="Arial"/>
                <a:ea typeface="Arial"/>
                <a:cs typeface="Arial"/>
                <a:sym typeface="Arial"/>
              </a:rPr>
              <a:t>こうせい</a:t>
            </a:r>
            <a:r>
              <a:rPr lang="en-US" sz="1100">
                <a:latin typeface="Arial"/>
                <a:ea typeface="Arial"/>
                <a:cs typeface="Arial"/>
                <a:sym typeface="Arial"/>
              </a:rPr>
              <a:t>)</a:t>
            </a:r>
            <a:r>
              <a:rPr lang="en-US">
                <a:latin typeface="Arial"/>
                <a:ea typeface="Arial"/>
                <a:cs typeface="Arial"/>
                <a:sym typeface="Arial"/>
              </a:rPr>
              <a:t>されるため、</a:t>
            </a:r>
            <a:br>
              <a:rPr lang="en-US">
                <a:latin typeface="Arial"/>
                <a:ea typeface="Arial"/>
                <a:cs typeface="Arial"/>
                <a:sym typeface="Arial"/>
              </a:rPr>
            </a:br>
            <a:r>
              <a:rPr lang="en-US">
                <a:latin typeface="Arial"/>
                <a:ea typeface="Arial"/>
                <a:cs typeface="Arial"/>
                <a:sym typeface="Arial"/>
              </a:rPr>
              <a:t> 動詞の特定が非常に重要になります。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ここまでで、重要なことが分かります。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「was」が中心の動詞で、</a:t>
            </a:r>
            <a:br>
              <a:rPr lang="en-US" sz="1100">
                <a:latin typeface="Arial"/>
                <a:ea typeface="Arial"/>
                <a:cs typeface="Arial"/>
                <a:sym typeface="Arial"/>
              </a:rPr>
            </a:br>
            <a:r>
              <a:rPr lang="en-US" sz="1100">
                <a:latin typeface="Arial"/>
                <a:ea typeface="Arial"/>
                <a:cs typeface="Arial"/>
                <a:sym typeface="Arial"/>
              </a:rPr>
              <a:t> 「tired」は状態を表しています。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つまり、この文は動作(</a:t>
            </a:r>
            <a:r>
              <a:rPr lang="en-US" sz="600">
                <a:latin typeface="Arial"/>
                <a:ea typeface="Arial"/>
                <a:cs typeface="Arial"/>
                <a:sym typeface="Arial"/>
              </a:rPr>
              <a:t>どうさ</a:t>
            </a:r>
            <a:r>
              <a:rPr lang="en-US" sz="1100">
                <a:latin typeface="Arial"/>
                <a:ea typeface="Arial"/>
                <a:cs typeface="Arial"/>
                <a:sym typeface="Arial"/>
              </a:rPr>
              <a:t>)</a:t>
            </a:r>
            <a:r>
              <a:rPr lang="en-US">
                <a:latin typeface="Arial"/>
                <a:ea typeface="Arial"/>
                <a:cs typeface="Arial"/>
                <a:sym typeface="Arial"/>
              </a:rPr>
              <a:t>ではなく、状態を表しています。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次に、dependency treeです。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Dependecy treeは、単語同士の関係を示します。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この例では、</a:t>
            </a:r>
            <a:br>
              <a:rPr lang="en-US" sz="1100">
                <a:latin typeface="Arial"/>
                <a:ea typeface="Arial"/>
                <a:cs typeface="Arial"/>
                <a:sym typeface="Arial"/>
              </a:rPr>
            </a:br>
            <a:r>
              <a:rPr lang="en-US" sz="1100">
                <a:latin typeface="Arial"/>
                <a:ea typeface="Arial"/>
                <a:cs typeface="Arial"/>
                <a:sym typeface="Arial"/>
              </a:rPr>
              <a:t> 「tired ← was ← he」となります。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これにより、</a:t>
            </a:r>
            <a:br>
              <a:rPr lang="en-US" sz="1100">
                <a:latin typeface="Arial"/>
                <a:ea typeface="Arial"/>
                <a:cs typeface="Arial"/>
                <a:sym typeface="Arial"/>
              </a:rPr>
            </a:br>
            <a:r>
              <a:rPr lang="en-US" sz="1100">
                <a:latin typeface="Arial"/>
                <a:ea typeface="Arial"/>
                <a:cs typeface="Arial"/>
                <a:sym typeface="Arial"/>
              </a:rPr>
              <a:t> 「he」が主語(</a:t>
            </a:r>
            <a:r>
              <a:rPr lang="en-US" sz="600">
                <a:latin typeface="Arial"/>
                <a:ea typeface="Arial"/>
                <a:cs typeface="Arial"/>
                <a:sym typeface="Arial"/>
              </a:rPr>
              <a:t>しゅご</a:t>
            </a:r>
            <a:r>
              <a:rPr lang="en-US" sz="1100">
                <a:latin typeface="Arial"/>
                <a:ea typeface="Arial"/>
                <a:cs typeface="Arial"/>
                <a:sym typeface="Arial"/>
              </a:rPr>
              <a:t>)</a:t>
            </a:r>
            <a:r>
              <a:rPr lang="en-US">
                <a:latin typeface="Arial"/>
                <a:ea typeface="Arial"/>
                <a:cs typeface="Arial"/>
                <a:sym typeface="Arial"/>
              </a:rPr>
              <a:t>であり、</a:t>
            </a:r>
            <a:br>
              <a:rPr lang="en-US">
                <a:latin typeface="Arial"/>
                <a:ea typeface="Arial"/>
                <a:cs typeface="Arial"/>
                <a:sym typeface="Arial"/>
              </a:rPr>
            </a:br>
            <a:r>
              <a:rPr lang="en-US">
                <a:latin typeface="Arial"/>
                <a:ea typeface="Arial"/>
                <a:cs typeface="Arial"/>
                <a:sym typeface="Arial"/>
              </a:rPr>
              <a:t> その人が「疲れている」という状態を経験していることが分かります。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これはとても重要で、</a:t>
            </a:r>
            <a:br>
              <a:rPr lang="en-US" sz="1100">
                <a:latin typeface="Arial"/>
                <a:ea typeface="Arial"/>
                <a:cs typeface="Arial"/>
                <a:sym typeface="Arial"/>
              </a:rPr>
            </a:br>
            <a:r>
              <a:rPr lang="en-US" sz="1100">
                <a:latin typeface="Arial"/>
                <a:ea typeface="Arial"/>
                <a:cs typeface="Arial"/>
                <a:sym typeface="Arial"/>
              </a:rPr>
              <a:t> 単語の種類(</a:t>
            </a:r>
            <a:r>
              <a:rPr lang="en-US" sz="600">
                <a:latin typeface="Arial"/>
                <a:ea typeface="Arial"/>
                <a:cs typeface="Arial"/>
                <a:sym typeface="Arial"/>
              </a:rPr>
              <a:t>しゅるい</a:t>
            </a:r>
            <a:r>
              <a:rPr lang="en-US" sz="1100">
                <a:latin typeface="Arial"/>
                <a:ea typeface="Arial"/>
                <a:cs typeface="Arial"/>
                <a:sym typeface="Arial"/>
              </a:rPr>
              <a:t>)</a:t>
            </a:r>
            <a:r>
              <a:rPr lang="en-US">
                <a:latin typeface="Arial"/>
                <a:ea typeface="Arial"/>
                <a:cs typeface="Arial"/>
                <a:sym typeface="Arial"/>
              </a:rPr>
              <a:t>だけでなく、関係も理解する必要があるためです。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最後に、これらの情報を組み合わせることで、</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 was tired」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というイベントを正しく抽出できます。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まとめると、</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tokenizationは単語に分割し、</a:t>
            </a:r>
            <a:br>
              <a:rPr lang="en-US" sz="1100">
                <a:latin typeface="Arial"/>
                <a:ea typeface="Arial"/>
                <a:cs typeface="Arial"/>
                <a:sym typeface="Arial"/>
              </a:rPr>
            </a:br>
            <a:r>
              <a:rPr lang="en-US" sz="1100">
                <a:latin typeface="Arial"/>
                <a:ea typeface="Arial"/>
                <a:cs typeface="Arial"/>
                <a:sym typeface="Arial"/>
              </a:rPr>
              <a:t> POSは役割を理解し、</a:t>
            </a:r>
            <a:br>
              <a:rPr lang="en-US" sz="1100">
                <a:latin typeface="Arial"/>
                <a:ea typeface="Arial"/>
                <a:cs typeface="Arial"/>
                <a:sym typeface="Arial"/>
              </a:rPr>
            </a:br>
            <a:r>
              <a:rPr lang="en-US" sz="1100">
                <a:latin typeface="Arial"/>
                <a:ea typeface="Arial"/>
                <a:cs typeface="Arial"/>
                <a:sym typeface="Arial"/>
              </a:rPr>
              <a:t> dependency treeは関係を理解します。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この3つを組み合わせることで、</a:t>
            </a:r>
            <a:br>
              <a:rPr lang="en-US" sz="1100">
                <a:latin typeface="Arial"/>
                <a:ea typeface="Arial"/>
                <a:cs typeface="Arial"/>
                <a:sym typeface="Arial"/>
              </a:rPr>
            </a:br>
            <a:r>
              <a:rPr lang="en-US" sz="1100">
                <a:latin typeface="Arial"/>
                <a:ea typeface="Arial"/>
                <a:cs typeface="Arial"/>
                <a:sym typeface="Arial"/>
              </a:rPr>
              <a:t> ASERは正確にイベントを抽出することができます。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04" name="Google Shape;10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1eafd1ad1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d1eafd1ad1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では、CoreNLPの残りの出力について説明します。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まず、constituency parsingです。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Constituency parsingは、文をフレーズ単位に分け、</a:t>
            </a:r>
            <a:br>
              <a:rPr lang="en-US" sz="1100">
                <a:latin typeface="Arial"/>
                <a:ea typeface="Arial"/>
                <a:cs typeface="Arial"/>
                <a:sym typeface="Arial"/>
              </a:rPr>
            </a:br>
            <a:r>
              <a:rPr lang="en-US" sz="1100">
                <a:latin typeface="Arial"/>
                <a:ea typeface="Arial"/>
                <a:cs typeface="Arial"/>
                <a:sym typeface="Arial"/>
              </a:rPr>
              <a:t> その階層(</a:t>
            </a:r>
            <a:r>
              <a:rPr lang="en-US" sz="600">
                <a:latin typeface="Arial"/>
                <a:ea typeface="Arial"/>
                <a:cs typeface="Arial"/>
                <a:sym typeface="Arial"/>
              </a:rPr>
              <a:t>かいそう</a:t>
            </a:r>
            <a:r>
              <a:rPr lang="en-US" sz="1100">
                <a:latin typeface="Arial"/>
                <a:ea typeface="Arial"/>
                <a:cs typeface="Arial"/>
                <a:sym typeface="Arial"/>
              </a:rPr>
              <a:t>)</a:t>
            </a:r>
            <a:r>
              <a:rPr lang="en-US">
                <a:latin typeface="Arial"/>
                <a:ea typeface="Arial"/>
                <a:cs typeface="Arial"/>
                <a:sym typeface="Arial"/>
              </a:rPr>
              <a:t>構造(</a:t>
            </a:r>
            <a:r>
              <a:rPr lang="en-US" sz="600">
                <a:latin typeface="Arial"/>
                <a:ea typeface="Arial"/>
                <a:cs typeface="Arial"/>
                <a:sym typeface="Arial"/>
              </a:rPr>
              <a:t>こうぞう</a:t>
            </a:r>
            <a:r>
              <a:rPr lang="en-US">
                <a:latin typeface="Arial"/>
                <a:ea typeface="Arial"/>
                <a:cs typeface="Arial"/>
                <a:sym typeface="Arial"/>
              </a:rPr>
              <a:t>)を表すものです。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例として、</a:t>
            </a:r>
            <a:br>
              <a:rPr lang="en-US" sz="1100">
                <a:latin typeface="Arial"/>
                <a:ea typeface="Arial"/>
                <a:cs typeface="Arial"/>
                <a:sym typeface="Arial"/>
              </a:rPr>
            </a:br>
            <a:r>
              <a:rPr lang="en-US" sz="1100">
                <a:latin typeface="Arial"/>
                <a:ea typeface="Arial"/>
                <a:cs typeface="Arial"/>
                <a:sym typeface="Arial"/>
              </a:rPr>
              <a:t> “He was tired” は次のように表(</a:t>
            </a:r>
            <a:r>
              <a:rPr lang="en-US" sz="600">
                <a:latin typeface="Arial"/>
                <a:ea typeface="Arial"/>
                <a:cs typeface="Arial"/>
                <a:sym typeface="Arial"/>
              </a:rPr>
              <a:t>あらわ</a:t>
            </a:r>
            <a:r>
              <a:rPr lang="en-US" sz="1100">
                <a:latin typeface="Arial"/>
                <a:ea typeface="Arial"/>
                <a:cs typeface="Arial"/>
                <a:sym typeface="Arial"/>
              </a:rPr>
              <a:t>)</a:t>
            </a:r>
            <a:r>
              <a:rPr lang="en-US">
                <a:latin typeface="Arial"/>
                <a:ea typeface="Arial"/>
                <a:cs typeface="Arial"/>
                <a:sym typeface="Arial"/>
              </a:rPr>
              <a:t>されます：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 (NP He) (VP was (ADJP tired)))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ここで、この記号(</a:t>
            </a:r>
            <a:r>
              <a:rPr lang="en-US" sz="600">
                <a:latin typeface="Arial"/>
                <a:ea typeface="Arial"/>
                <a:cs typeface="Arial"/>
                <a:sym typeface="Arial"/>
              </a:rPr>
              <a:t>きごう</a:t>
            </a:r>
            <a:r>
              <a:rPr lang="en-US" sz="1100">
                <a:latin typeface="Arial"/>
                <a:ea typeface="Arial"/>
                <a:cs typeface="Arial"/>
                <a:sym typeface="Arial"/>
              </a:rPr>
              <a:t>)</a:t>
            </a:r>
            <a:r>
              <a:rPr lang="en-US">
                <a:latin typeface="Arial"/>
                <a:ea typeface="Arial"/>
                <a:cs typeface="Arial"/>
                <a:sym typeface="Arial"/>
              </a:rPr>
              <a:t>の意味を簡単に説明します。</a:t>
            </a:r>
            <a:endParaRPr>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 は文（Sentence）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NP は名詞句(</a:t>
            </a:r>
            <a:r>
              <a:rPr lang="en-US" sz="600">
                <a:latin typeface="Arial"/>
                <a:ea typeface="Arial"/>
                <a:cs typeface="Arial"/>
                <a:sym typeface="Arial"/>
              </a:rPr>
              <a:t>めいしく</a:t>
            </a:r>
            <a:r>
              <a:rPr lang="en-US" sz="1100">
                <a:latin typeface="Arial"/>
                <a:ea typeface="Arial"/>
                <a:cs typeface="Arial"/>
                <a:sym typeface="Arial"/>
              </a:rPr>
              <a:t>)</a:t>
            </a:r>
            <a:r>
              <a:rPr lang="en-US">
                <a:latin typeface="Arial"/>
                <a:ea typeface="Arial"/>
                <a:cs typeface="Arial"/>
                <a:sym typeface="Arial"/>
              </a:rPr>
              <a:t>（Noun Phrase）</a:t>
            </a:r>
            <a:endParaRPr>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VP は動詞句(</a:t>
            </a:r>
            <a:r>
              <a:rPr lang="en-US" sz="600">
                <a:latin typeface="Arial"/>
                <a:ea typeface="Arial"/>
                <a:cs typeface="Arial"/>
                <a:sym typeface="Arial"/>
              </a:rPr>
              <a:t>どうしく</a:t>
            </a:r>
            <a:r>
              <a:rPr lang="en-US" sz="1100">
                <a:latin typeface="Arial"/>
                <a:ea typeface="Arial"/>
                <a:cs typeface="Arial"/>
                <a:sym typeface="Arial"/>
              </a:rPr>
              <a:t>)</a:t>
            </a:r>
            <a:r>
              <a:rPr lang="en-US">
                <a:latin typeface="Arial"/>
                <a:ea typeface="Arial"/>
                <a:cs typeface="Arial"/>
                <a:sym typeface="Arial"/>
              </a:rPr>
              <a:t>（Verb Phrase）</a:t>
            </a:r>
            <a:endParaRPr>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ADJP は形容(</a:t>
            </a:r>
            <a:r>
              <a:rPr lang="en-US" sz="600">
                <a:latin typeface="Arial"/>
                <a:ea typeface="Arial"/>
                <a:cs typeface="Arial"/>
                <a:sym typeface="Arial"/>
              </a:rPr>
              <a:t>けいよう</a:t>
            </a:r>
            <a:r>
              <a:rPr lang="en-US" sz="1100">
                <a:latin typeface="Arial"/>
                <a:ea typeface="Arial"/>
                <a:cs typeface="Arial"/>
                <a:sym typeface="Arial"/>
              </a:rPr>
              <a:t>)</a:t>
            </a:r>
            <a:r>
              <a:rPr lang="en-US">
                <a:latin typeface="Arial"/>
                <a:ea typeface="Arial"/>
                <a:cs typeface="Arial"/>
                <a:sym typeface="Arial"/>
              </a:rPr>
              <a:t>詞句(</a:t>
            </a:r>
            <a:r>
              <a:rPr lang="en-US" sz="600">
                <a:latin typeface="Arial"/>
                <a:ea typeface="Arial"/>
                <a:cs typeface="Arial"/>
                <a:sym typeface="Arial"/>
              </a:rPr>
              <a:t>しく</a:t>
            </a:r>
            <a:r>
              <a:rPr lang="en-US">
                <a:latin typeface="Arial"/>
                <a:ea typeface="Arial"/>
                <a:cs typeface="Arial"/>
                <a:sym typeface="Arial"/>
              </a:rPr>
              <a:t>)（Adjective Phrase）</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この例では、</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“He” が名詞句(</a:t>
            </a:r>
            <a:r>
              <a:rPr lang="en-US" sz="600">
                <a:latin typeface="Arial"/>
                <a:ea typeface="Arial"/>
                <a:cs typeface="Arial"/>
                <a:sym typeface="Arial"/>
              </a:rPr>
              <a:t>めいしく</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“was tired” が動詞句(</a:t>
            </a:r>
            <a:r>
              <a:rPr lang="en-US" sz="600">
                <a:latin typeface="Arial"/>
                <a:ea typeface="Arial"/>
                <a:cs typeface="Arial"/>
                <a:sym typeface="Arial"/>
              </a:rPr>
              <a:t>どうしく</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“tired” が形容(</a:t>
            </a:r>
            <a:r>
              <a:rPr lang="en-US" sz="600">
                <a:latin typeface="Arial"/>
                <a:ea typeface="Arial"/>
                <a:cs typeface="Arial"/>
                <a:sym typeface="Arial"/>
              </a:rPr>
              <a:t>けいよう</a:t>
            </a:r>
            <a:r>
              <a:rPr lang="en-US" sz="1100">
                <a:latin typeface="Arial"/>
                <a:ea typeface="Arial"/>
                <a:cs typeface="Arial"/>
                <a:sym typeface="Arial"/>
              </a:rPr>
              <a:t>)</a:t>
            </a:r>
            <a:r>
              <a:rPr lang="en-US">
                <a:latin typeface="Arial"/>
                <a:ea typeface="Arial"/>
                <a:cs typeface="Arial"/>
                <a:sym typeface="Arial"/>
              </a:rPr>
              <a:t>詞句(</a:t>
            </a:r>
            <a:r>
              <a:rPr lang="en-US" sz="600">
                <a:latin typeface="Arial"/>
                <a:ea typeface="Arial"/>
                <a:cs typeface="Arial"/>
                <a:sym typeface="Arial"/>
              </a:rPr>
              <a:t>しく</a:t>
            </a:r>
            <a:r>
              <a:rPr lang="en-US">
                <a:latin typeface="Arial"/>
                <a:ea typeface="Arial"/>
                <a:cs typeface="Arial"/>
                <a:sym typeface="Arial"/>
              </a:rPr>
              <a:t>)の一部</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であることが分かります。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なぜ重要かというと、</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単語ごとの情報だけでなく、</a:t>
            </a:r>
            <a:br>
              <a:rPr lang="en-US" sz="1100">
                <a:latin typeface="Arial"/>
                <a:ea typeface="Arial"/>
                <a:cs typeface="Arial"/>
                <a:sym typeface="Arial"/>
              </a:rPr>
            </a:br>
            <a:r>
              <a:rPr lang="en-US" sz="1100">
                <a:latin typeface="Arial"/>
                <a:ea typeface="Arial"/>
                <a:cs typeface="Arial"/>
                <a:sym typeface="Arial"/>
              </a:rPr>
              <a:t> 文全体の構造を理解できるからです。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特に複雑な文では、</a:t>
            </a:r>
            <a:br>
              <a:rPr lang="en-US" sz="1100">
                <a:latin typeface="Arial"/>
                <a:ea typeface="Arial"/>
                <a:cs typeface="Arial"/>
                <a:sym typeface="Arial"/>
              </a:rPr>
            </a:br>
            <a:r>
              <a:rPr lang="en-US" sz="1100">
                <a:latin typeface="Arial"/>
                <a:ea typeface="Arial"/>
                <a:cs typeface="Arial"/>
                <a:sym typeface="Arial"/>
              </a:rPr>
              <a:t> 入れ子(</a:t>
            </a:r>
            <a:r>
              <a:rPr lang="en-US" sz="600">
                <a:latin typeface="Arial"/>
                <a:ea typeface="Arial"/>
                <a:cs typeface="Arial"/>
                <a:sym typeface="Arial"/>
              </a:rPr>
              <a:t>いれこ</a:t>
            </a:r>
            <a:r>
              <a:rPr lang="en-US" sz="1100">
                <a:latin typeface="Arial"/>
                <a:ea typeface="Arial"/>
                <a:cs typeface="Arial"/>
                <a:sym typeface="Arial"/>
              </a:rPr>
              <a:t>)</a:t>
            </a:r>
            <a:r>
              <a:rPr lang="en-US">
                <a:latin typeface="Arial"/>
                <a:ea typeface="Arial"/>
                <a:cs typeface="Arial"/>
                <a:sym typeface="Arial"/>
              </a:rPr>
              <a:t>構造(</a:t>
            </a:r>
            <a:r>
              <a:rPr lang="en-US" sz="600">
                <a:latin typeface="Arial"/>
                <a:ea typeface="Arial"/>
                <a:cs typeface="Arial"/>
                <a:sym typeface="Arial"/>
              </a:rPr>
              <a:t>こうぞう</a:t>
            </a:r>
            <a:r>
              <a:rPr lang="en-US">
                <a:latin typeface="Arial"/>
                <a:ea typeface="Arial"/>
                <a:cs typeface="Arial"/>
                <a:sym typeface="Arial"/>
              </a:rPr>
              <a:t>)や複数の節(</a:t>
            </a:r>
            <a:r>
              <a:rPr lang="en-US" sz="600">
                <a:latin typeface="Arial"/>
                <a:ea typeface="Arial"/>
                <a:cs typeface="Arial"/>
                <a:sym typeface="Arial"/>
              </a:rPr>
              <a:t>せつ</a:t>
            </a:r>
            <a:r>
              <a:rPr lang="en-US">
                <a:latin typeface="Arial"/>
                <a:ea typeface="Arial"/>
                <a:cs typeface="Arial"/>
                <a:sym typeface="Arial"/>
              </a:rPr>
              <a:t>)を扱うために重要になります。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次に、Named entity recognition（NER）です。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NERは、人名や地名などの固有(</a:t>
            </a:r>
            <a:r>
              <a:rPr lang="en-US" sz="600">
                <a:latin typeface="Arial"/>
                <a:ea typeface="Arial"/>
                <a:cs typeface="Arial"/>
                <a:sym typeface="Arial"/>
              </a:rPr>
              <a:t>こゆう</a:t>
            </a:r>
            <a:r>
              <a:rPr lang="en-US" sz="1100">
                <a:latin typeface="Arial"/>
                <a:ea typeface="Arial"/>
                <a:cs typeface="Arial"/>
                <a:sym typeface="Arial"/>
              </a:rPr>
              <a:t>)</a:t>
            </a:r>
            <a:r>
              <a:rPr lang="en-US">
                <a:latin typeface="Arial"/>
                <a:ea typeface="Arial"/>
                <a:cs typeface="Arial"/>
                <a:sym typeface="Arial"/>
              </a:rPr>
              <a:t>表現(</a:t>
            </a:r>
            <a:r>
              <a:rPr lang="en-US" sz="600">
                <a:latin typeface="Arial"/>
                <a:ea typeface="Arial"/>
                <a:cs typeface="Arial"/>
                <a:sym typeface="Arial"/>
              </a:rPr>
              <a:t>ひょうげん</a:t>
            </a:r>
            <a:r>
              <a:rPr lang="en-US">
                <a:latin typeface="Arial"/>
                <a:ea typeface="Arial"/>
                <a:cs typeface="Arial"/>
                <a:sym typeface="Arial"/>
              </a:rPr>
              <a:t>)を検出します。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この例では、</a:t>
            </a:r>
            <a:br>
              <a:rPr lang="en-US" sz="1100">
                <a:latin typeface="Arial"/>
                <a:ea typeface="Arial"/>
                <a:cs typeface="Arial"/>
                <a:sym typeface="Arial"/>
              </a:rPr>
            </a:br>
            <a:r>
              <a:rPr lang="en-US" sz="1100">
                <a:latin typeface="Arial"/>
                <a:ea typeface="Arial"/>
                <a:cs typeface="Arial"/>
                <a:sym typeface="Arial"/>
              </a:rPr>
              <a:t> “He was tired” のすべての単語は “O” とラベル付けされており、</a:t>
            </a:r>
            <a:br>
              <a:rPr lang="en-US" sz="1100">
                <a:latin typeface="Arial"/>
                <a:ea typeface="Arial"/>
                <a:cs typeface="Arial"/>
                <a:sym typeface="Arial"/>
              </a:rPr>
            </a:br>
            <a:r>
              <a:rPr lang="en-US" sz="1100">
                <a:latin typeface="Arial"/>
                <a:ea typeface="Arial"/>
                <a:cs typeface="Arial"/>
                <a:sym typeface="Arial"/>
              </a:rPr>
              <a:t> NERが含まれていないことを示しています。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この情報は後で概念化に利用されます。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例えば、</a:t>
            </a:r>
            <a:br>
              <a:rPr lang="en-US" sz="1100">
                <a:latin typeface="Arial"/>
                <a:ea typeface="Arial"/>
                <a:cs typeface="Arial"/>
                <a:sym typeface="Arial"/>
              </a:rPr>
            </a:br>
            <a:r>
              <a:rPr lang="en-US" sz="1100">
                <a:latin typeface="Arial"/>
                <a:ea typeface="Arial"/>
                <a:cs typeface="Arial"/>
                <a:sym typeface="Arial"/>
              </a:rPr>
              <a:t> “John” → [PERSON]</a:t>
            </a:r>
            <a:br>
              <a:rPr lang="en-US" sz="1100">
                <a:latin typeface="Arial"/>
                <a:ea typeface="Arial"/>
                <a:cs typeface="Arial"/>
                <a:sym typeface="Arial"/>
              </a:rPr>
            </a:br>
            <a:r>
              <a:rPr lang="en-US" sz="1100">
                <a:latin typeface="Arial"/>
                <a:ea typeface="Arial"/>
                <a:cs typeface="Arial"/>
                <a:sym typeface="Arial"/>
              </a:rPr>
              <a:t> “Paris” → [CITY]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のように一般化することができます。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まとめると、</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Constituency parseは文の構造理解に、</a:t>
            </a:r>
            <a:br>
              <a:rPr lang="en-US" sz="1100">
                <a:latin typeface="Arial"/>
                <a:ea typeface="Arial"/>
                <a:cs typeface="Arial"/>
                <a:sym typeface="Arial"/>
              </a:rPr>
            </a:br>
            <a:r>
              <a:rPr lang="en-US" sz="1100">
                <a:latin typeface="Arial"/>
                <a:ea typeface="Arial"/>
                <a:cs typeface="Arial"/>
                <a:sym typeface="Arial"/>
              </a:rPr>
              <a:t> NERはエンティティの一般化に役立ちます。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31" name="Google Shape;131;g3d1eafd1ad1_0_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では、イベント抽出のプロセスを説明します。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例として、</a:t>
            </a:r>
            <a:br>
              <a:rPr lang="en-US" sz="1100">
                <a:latin typeface="Arial"/>
                <a:ea typeface="Arial"/>
                <a:cs typeface="Arial"/>
                <a:sym typeface="Arial"/>
              </a:rPr>
            </a:br>
            <a:r>
              <a:rPr lang="en-US" sz="1100">
                <a:latin typeface="Arial"/>
                <a:ea typeface="Arial"/>
                <a:cs typeface="Arial"/>
                <a:sym typeface="Arial"/>
              </a:rPr>
              <a:t> 👉 「He was tired. He went to bed」を使います。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この段階では、すでに依存(</a:t>
            </a:r>
            <a:r>
              <a:rPr lang="en-US" sz="600">
                <a:latin typeface="Arial"/>
                <a:ea typeface="Arial"/>
                <a:cs typeface="Arial"/>
                <a:sym typeface="Arial"/>
              </a:rPr>
              <a:t>いぞん</a:t>
            </a:r>
            <a:r>
              <a:rPr lang="en-US" sz="1100">
                <a:latin typeface="Arial"/>
                <a:ea typeface="Arial"/>
                <a:cs typeface="Arial"/>
                <a:sym typeface="Arial"/>
              </a:rPr>
              <a:t>)</a:t>
            </a:r>
            <a:r>
              <a:rPr lang="en-US">
                <a:latin typeface="Arial"/>
                <a:ea typeface="Arial"/>
                <a:cs typeface="Arial"/>
                <a:sym typeface="Arial"/>
              </a:rPr>
              <a:t>構造(</a:t>
            </a:r>
            <a:r>
              <a:rPr lang="en-US" sz="600">
                <a:latin typeface="Arial"/>
                <a:ea typeface="Arial"/>
                <a:cs typeface="Arial"/>
                <a:sym typeface="Arial"/>
              </a:rPr>
              <a:t>こうぞう</a:t>
            </a:r>
            <a:r>
              <a:rPr lang="en-US">
                <a:latin typeface="Arial"/>
                <a:ea typeface="Arial"/>
                <a:cs typeface="Arial"/>
                <a:sym typeface="Arial"/>
              </a:rPr>
              <a:t>)が得(</a:t>
            </a:r>
            <a:r>
              <a:rPr lang="en-US" sz="600">
                <a:latin typeface="Arial"/>
                <a:ea typeface="Arial"/>
                <a:cs typeface="Arial"/>
                <a:sym typeface="Arial"/>
              </a:rPr>
              <a:t>え</a:t>
            </a:r>
            <a:r>
              <a:rPr lang="en-US">
                <a:latin typeface="Arial"/>
                <a:ea typeface="Arial"/>
                <a:cs typeface="Arial"/>
                <a:sym typeface="Arial"/>
              </a:rPr>
              <a:t>)られているため、</a:t>
            </a:r>
            <a:br>
              <a:rPr lang="en-US">
                <a:latin typeface="Arial"/>
                <a:ea typeface="Arial"/>
                <a:cs typeface="Arial"/>
                <a:sym typeface="Arial"/>
              </a:rPr>
            </a:br>
            <a:r>
              <a:rPr lang="en-US">
                <a:latin typeface="Arial"/>
                <a:ea typeface="Arial"/>
                <a:cs typeface="Arial"/>
                <a:sym typeface="Arial"/>
              </a:rPr>
              <a:t> 構造化された情報をもとに処理を行います。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じゃまず Pattern matching</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システムは、次のような文法パターンを探します：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主語＋動詞（＋目的語）</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これはイベントとして成立(</a:t>
            </a:r>
            <a:r>
              <a:rPr lang="en-US" sz="600">
                <a:latin typeface="Arial"/>
                <a:ea typeface="Arial"/>
                <a:cs typeface="Arial"/>
                <a:sym typeface="Arial"/>
              </a:rPr>
              <a:t>せいりつ</a:t>
            </a:r>
            <a:r>
              <a:rPr lang="en-US" sz="1100">
                <a:latin typeface="Arial"/>
                <a:ea typeface="Arial"/>
                <a:cs typeface="Arial"/>
                <a:sym typeface="Arial"/>
              </a:rPr>
              <a:t>)</a:t>
            </a:r>
            <a:r>
              <a:rPr lang="en-US">
                <a:latin typeface="Arial"/>
                <a:ea typeface="Arial"/>
                <a:cs typeface="Arial"/>
                <a:sym typeface="Arial"/>
              </a:rPr>
              <a:t>する最(</a:t>
            </a:r>
            <a:r>
              <a:rPr lang="en-US" sz="600">
                <a:latin typeface="Arial"/>
                <a:ea typeface="Arial"/>
                <a:cs typeface="Arial"/>
                <a:sym typeface="Arial"/>
              </a:rPr>
              <a:t>さい</a:t>
            </a:r>
            <a:r>
              <a:rPr lang="en-US">
                <a:latin typeface="Arial"/>
                <a:ea typeface="Arial"/>
                <a:cs typeface="Arial"/>
                <a:sym typeface="Arial"/>
              </a:rPr>
              <a:t>)小条件(</a:t>
            </a:r>
            <a:r>
              <a:rPr lang="en-US" sz="600">
                <a:latin typeface="Arial"/>
                <a:ea typeface="Arial"/>
                <a:cs typeface="Arial"/>
                <a:sym typeface="Arial"/>
              </a:rPr>
              <a:t>しょうじょうけん</a:t>
            </a:r>
            <a:r>
              <a:rPr lang="en-US">
                <a:latin typeface="Arial"/>
                <a:ea typeface="Arial"/>
                <a:cs typeface="Arial"/>
                <a:sym typeface="Arial"/>
              </a:rPr>
              <a:t>)です。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この例では、</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「He was tired」</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「He went to bed」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の両方がこの条件を満たしています。</a:t>
            </a:r>
            <a:endParaRPr sz="1100">
              <a:latin typeface="Arial"/>
              <a:ea typeface="Arial"/>
              <a:cs typeface="Arial"/>
              <a:sym typeface="Arial"/>
            </a:endParaRPr>
          </a:p>
          <a:p>
            <a:pPr indent="0" lvl="0" marL="0" rtl="0" algn="ctr">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それでLemmatization</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次に、単語を基本形に変換します。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例：</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was → be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went → go</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これにより、「go」「went」「going」などの</a:t>
            </a:r>
            <a:br>
              <a:rPr lang="en-US" sz="1100">
                <a:latin typeface="Arial"/>
                <a:ea typeface="Arial"/>
                <a:cs typeface="Arial"/>
                <a:sym typeface="Arial"/>
              </a:rPr>
            </a:br>
            <a:r>
              <a:rPr lang="en-US" sz="1100">
                <a:latin typeface="Arial"/>
                <a:ea typeface="Arial"/>
                <a:cs typeface="Arial"/>
                <a:sym typeface="Arial"/>
              </a:rPr>
              <a:t> 異なる表現を統一(</a:t>
            </a:r>
            <a:r>
              <a:rPr lang="en-US" sz="600">
                <a:latin typeface="Arial"/>
                <a:ea typeface="Arial"/>
                <a:cs typeface="Arial"/>
                <a:sym typeface="Arial"/>
              </a:rPr>
              <a:t>とういつ</a:t>
            </a:r>
            <a:r>
              <a:rPr lang="en-US" sz="1100">
                <a:latin typeface="Arial"/>
                <a:ea typeface="Arial"/>
                <a:cs typeface="Arial"/>
                <a:sym typeface="Arial"/>
              </a:rPr>
              <a:t>)</a:t>
            </a:r>
            <a:r>
              <a:rPr lang="en-US">
                <a:latin typeface="Arial"/>
                <a:ea typeface="Arial"/>
                <a:cs typeface="Arial"/>
                <a:sym typeface="Arial"/>
              </a:rPr>
              <a:t>することができます。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③ 最後にDeduplication</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最後に、同じイベントは1つだけ保存されます。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複数回出現した場合は、</a:t>
            </a:r>
            <a:br>
              <a:rPr lang="en-US" sz="1100">
                <a:latin typeface="Arial"/>
                <a:ea typeface="Arial"/>
                <a:cs typeface="Arial"/>
                <a:sym typeface="Arial"/>
              </a:rPr>
            </a:br>
            <a:r>
              <a:rPr lang="en-US" sz="1100">
                <a:latin typeface="Arial"/>
                <a:ea typeface="Arial"/>
                <a:cs typeface="Arial"/>
                <a:sym typeface="Arial"/>
              </a:rPr>
              <a:t> その回数が重みとして記録されます。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例：</a:t>
            </a:r>
            <a:br>
              <a:rPr lang="en-US" sz="1100">
                <a:latin typeface="Arial"/>
                <a:ea typeface="Arial"/>
                <a:cs typeface="Arial"/>
                <a:sym typeface="Arial"/>
              </a:rPr>
            </a:br>
            <a:r>
              <a:rPr lang="en-US" sz="1100">
                <a:latin typeface="Arial"/>
                <a:ea typeface="Arial"/>
                <a:cs typeface="Arial"/>
                <a:sym typeface="Arial"/>
              </a:rPr>
              <a:t> 👉 「he go to bed」が1万回出現(</a:t>
            </a:r>
            <a:r>
              <a:rPr lang="en-US" sz="600">
                <a:latin typeface="Arial"/>
                <a:ea typeface="Arial"/>
                <a:cs typeface="Arial"/>
                <a:sym typeface="Arial"/>
              </a:rPr>
              <a:t>しゅつげん</a:t>
            </a:r>
            <a:r>
              <a:rPr lang="en-US" sz="1100">
                <a:latin typeface="Arial"/>
                <a:ea typeface="Arial"/>
                <a:cs typeface="Arial"/>
                <a:sym typeface="Arial"/>
              </a:rPr>
              <a:t>)</a:t>
            </a:r>
            <a:br>
              <a:rPr lang="en-US" sz="1100">
                <a:latin typeface="Arial"/>
                <a:ea typeface="Arial"/>
                <a:cs typeface="Arial"/>
                <a:sym typeface="Arial"/>
              </a:rPr>
            </a:br>
            <a:r>
              <a:rPr lang="en-US">
                <a:latin typeface="Arial"/>
                <a:ea typeface="Arial"/>
                <a:cs typeface="Arial"/>
                <a:sym typeface="Arial"/>
              </a:rPr>
              <a:t> → 1つのノード＋重み10000</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この重みは、そのイベントがどれだけ頻繁(</a:t>
            </a:r>
            <a:r>
              <a:rPr lang="en-US" sz="600">
                <a:latin typeface="Arial"/>
                <a:ea typeface="Arial"/>
                <a:cs typeface="Arial"/>
                <a:sym typeface="Arial"/>
              </a:rPr>
              <a:t>ひんぱん</a:t>
            </a:r>
            <a:r>
              <a:rPr lang="en-US" sz="1100">
                <a:latin typeface="Arial"/>
                <a:ea typeface="Arial"/>
                <a:cs typeface="Arial"/>
                <a:sym typeface="Arial"/>
              </a:rPr>
              <a:t>)</a:t>
            </a:r>
            <a:r>
              <a:rPr lang="en-US">
                <a:latin typeface="Arial"/>
                <a:ea typeface="Arial"/>
                <a:cs typeface="Arial"/>
                <a:sym typeface="Arial"/>
              </a:rPr>
              <a:t>に出現するかを表しており、</a:t>
            </a:r>
            <a:br>
              <a:rPr lang="en-US">
                <a:latin typeface="Arial"/>
                <a:ea typeface="Arial"/>
                <a:cs typeface="Arial"/>
                <a:sym typeface="Arial"/>
              </a:rPr>
            </a:br>
            <a:r>
              <a:rPr lang="en-US">
                <a:latin typeface="Arial"/>
                <a:ea typeface="Arial"/>
                <a:cs typeface="Arial"/>
                <a:sym typeface="Arial"/>
              </a:rPr>
              <a:t> 頻度(</a:t>
            </a:r>
            <a:r>
              <a:rPr lang="en-US" sz="600">
                <a:latin typeface="Arial"/>
                <a:ea typeface="Arial"/>
                <a:cs typeface="Arial"/>
                <a:sym typeface="Arial"/>
              </a:rPr>
              <a:t>ひんど</a:t>
            </a:r>
            <a:r>
              <a:rPr lang="en-US">
                <a:latin typeface="Arial"/>
                <a:ea typeface="Arial"/>
                <a:cs typeface="Arial"/>
                <a:sym typeface="Arial"/>
              </a:rPr>
              <a:t>)が高いほど、より一般的で信頼性の高い知識であることを示します。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最終結果</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この例から、</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「he be tired」</a:t>
            </a:r>
            <a:br>
              <a:rPr lang="en-US" sz="1100">
                <a:latin typeface="Arial"/>
                <a:ea typeface="Arial"/>
                <a:cs typeface="Arial"/>
                <a:sym typeface="Arial"/>
              </a:rPr>
            </a:br>
            <a:r>
              <a:rPr lang="en-US" sz="1100">
                <a:latin typeface="Arial"/>
                <a:ea typeface="Arial"/>
                <a:cs typeface="Arial"/>
                <a:sym typeface="Arial"/>
              </a:rPr>
              <a:t> 👉 「he go to bed」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というイベントが抽出されます。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58" name="Google Shape;15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イベントを抽出した後、</a:t>
            </a:r>
            <a:br>
              <a:rPr lang="en-US" sz="1100">
                <a:latin typeface="Arial"/>
                <a:ea typeface="Arial"/>
                <a:cs typeface="Arial"/>
                <a:sym typeface="Arial"/>
              </a:rPr>
            </a:br>
            <a:r>
              <a:rPr lang="en-US" sz="1100">
                <a:latin typeface="Arial"/>
                <a:ea typeface="Arial"/>
                <a:cs typeface="Arial"/>
                <a:sym typeface="Arial"/>
              </a:rPr>
              <a:t> 次に重要なのは、それらの関係を理解することです。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なぜなら、イベントが単独(</a:t>
            </a:r>
            <a:r>
              <a:rPr lang="en-US" sz="600">
                <a:latin typeface="Arial"/>
                <a:ea typeface="Arial"/>
                <a:cs typeface="Arial"/>
                <a:sym typeface="Arial"/>
              </a:rPr>
              <a:t>たんどく</a:t>
            </a:r>
            <a:r>
              <a:rPr lang="en-US" sz="1100">
                <a:latin typeface="Arial"/>
                <a:ea typeface="Arial"/>
                <a:cs typeface="Arial"/>
                <a:sym typeface="Arial"/>
              </a:rPr>
              <a:t>)</a:t>
            </a:r>
            <a:r>
              <a:rPr lang="en-US">
                <a:latin typeface="Arial"/>
                <a:ea typeface="Arial"/>
                <a:cs typeface="Arial"/>
                <a:sym typeface="Arial"/>
              </a:rPr>
              <a:t>で存在してもあまり意味がなく、</a:t>
            </a:r>
            <a:br>
              <a:rPr lang="en-US">
                <a:latin typeface="Arial"/>
                <a:ea typeface="Arial"/>
                <a:cs typeface="Arial"/>
                <a:sym typeface="Arial"/>
              </a:rPr>
            </a:br>
            <a:r>
              <a:rPr lang="en-US">
                <a:latin typeface="Arial"/>
                <a:ea typeface="Arial"/>
                <a:cs typeface="Arial"/>
                <a:sym typeface="Arial"/>
              </a:rPr>
              <a:t> 重要なのはそれらがどのように結び付いているかだからです。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同じ例で、</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「He was tired. So he went to bed」を考えます。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前のステップで、すでに次の2つのイベントが抽出されています：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「he be tired」</a:t>
            </a:r>
            <a:br>
              <a:rPr lang="en-US" sz="1100">
                <a:latin typeface="Arial"/>
                <a:ea typeface="Arial"/>
                <a:cs typeface="Arial"/>
                <a:sym typeface="Arial"/>
              </a:rPr>
            </a:br>
            <a:r>
              <a:rPr lang="en-US" sz="1100">
                <a:latin typeface="Arial"/>
                <a:ea typeface="Arial"/>
                <a:cs typeface="Arial"/>
                <a:sym typeface="Arial"/>
              </a:rPr>
              <a:t> 👉 「he go to bed」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ここで、この2つをどのように結び付けるかが重要になります。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ASERは文のペアを見て、</a:t>
            </a:r>
            <a:br>
              <a:rPr lang="en-US" sz="1100">
                <a:latin typeface="Arial"/>
                <a:ea typeface="Arial"/>
                <a:cs typeface="Arial"/>
                <a:sym typeface="Arial"/>
              </a:rPr>
            </a:br>
            <a:r>
              <a:rPr lang="en-US" sz="1100">
                <a:latin typeface="Arial"/>
                <a:ea typeface="Arial"/>
                <a:cs typeface="Arial"/>
                <a:sym typeface="Arial"/>
              </a:rPr>
              <a:t> ディスコース接続語(</a:t>
            </a:r>
            <a:r>
              <a:rPr lang="en-US" sz="600">
                <a:latin typeface="Arial"/>
                <a:ea typeface="Arial"/>
                <a:cs typeface="Arial"/>
                <a:sym typeface="Arial"/>
              </a:rPr>
              <a:t>せつぞくご</a:t>
            </a:r>
            <a:r>
              <a:rPr lang="en-US" sz="1100">
                <a:latin typeface="Arial"/>
                <a:ea typeface="Arial"/>
                <a:cs typeface="Arial"/>
                <a:sym typeface="Arial"/>
              </a:rPr>
              <a:t>)</a:t>
            </a:r>
            <a:r>
              <a:rPr lang="en-US">
                <a:latin typeface="Arial"/>
                <a:ea typeface="Arial"/>
                <a:cs typeface="Arial"/>
                <a:sym typeface="Arial"/>
              </a:rPr>
              <a:t>を探します。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例えば：</a:t>
            </a:r>
            <a:br>
              <a:rPr lang="en-US" sz="1100">
                <a:latin typeface="Arial"/>
                <a:ea typeface="Arial"/>
                <a:cs typeface="Arial"/>
                <a:sym typeface="Arial"/>
              </a:rPr>
            </a:br>
            <a:r>
              <a:rPr lang="en-US" sz="1100">
                <a:latin typeface="Arial"/>
                <a:ea typeface="Arial"/>
                <a:cs typeface="Arial"/>
                <a:sym typeface="Arial"/>
              </a:rPr>
              <a:t> 👉 “so”, “because”, “but”, “after”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これらの接続語は、イベント同士の関係を示します。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この例では、</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「so」</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が使われており、</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2つ目のイベントが1つ目の結果であることを示しています。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そのため、次のような関係が作られます：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he be tired → Result → he go to bed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イベントと同様に、関係にも重みがあります。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同じ関係が何度も出現するほど、</a:t>
            </a:r>
            <a:br>
              <a:rPr lang="en-US" sz="1100">
                <a:latin typeface="Arial"/>
                <a:ea typeface="Arial"/>
                <a:cs typeface="Arial"/>
                <a:sym typeface="Arial"/>
              </a:rPr>
            </a:br>
            <a:r>
              <a:rPr lang="en-US" sz="1100">
                <a:latin typeface="Arial"/>
                <a:ea typeface="Arial"/>
                <a:cs typeface="Arial"/>
                <a:sym typeface="Arial"/>
              </a:rPr>
              <a:t> その重みは大きくなります。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つまり、頻度(</a:t>
            </a:r>
            <a:r>
              <a:rPr lang="en-US" sz="600">
                <a:latin typeface="Arial"/>
                <a:ea typeface="Arial"/>
                <a:cs typeface="Arial"/>
                <a:sym typeface="Arial"/>
              </a:rPr>
              <a:t>ひんど</a:t>
            </a:r>
            <a:r>
              <a:rPr lang="en-US" sz="1100">
                <a:latin typeface="Arial"/>
                <a:ea typeface="Arial"/>
                <a:cs typeface="Arial"/>
                <a:sym typeface="Arial"/>
              </a:rPr>
              <a:t>)</a:t>
            </a:r>
            <a:r>
              <a:rPr lang="en-US">
                <a:latin typeface="Arial"/>
                <a:ea typeface="Arial"/>
                <a:cs typeface="Arial"/>
                <a:sym typeface="Arial"/>
              </a:rPr>
              <a:t>が高いほど、</a:t>
            </a:r>
            <a:br>
              <a:rPr lang="en-US">
                <a:latin typeface="Arial"/>
                <a:ea typeface="Arial"/>
                <a:cs typeface="Arial"/>
                <a:sym typeface="Arial"/>
              </a:rPr>
            </a:br>
            <a:r>
              <a:rPr lang="en-US">
                <a:latin typeface="Arial"/>
                <a:ea typeface="Arial"/>
                <a:cs typeface="Arial"/>
                <a:sym typeface="Arial"/>
              </a:rPr>
              <a:t> より信頼性の高い知識であると考えられます。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95" name="Google Shape;19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では次に、関係がどのように自動的に検出されるかを説明します。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この段階では、すでにイベントが抽出されています。</a:t>
            </a:r>
            <a:br>
              <a:rPr lang="en-US" sz="1100">
                <a:latin typeface="Arial"/>
                <a:ea typeface="Arial"/>
                <a:cs typeface="Arial"/>
                <a:sym typeface="Arial"/>
              </a:rPr>
            </a:br>
            <a:r>
              <a:rPr lang="en-US" sz="1100">
                <a:latin typeface="Arial"/>
                <a:ea typeface="Arial"/>
                <a:cs typeface="Arial"/>
                <a:sym typeface="Arial"/>
              </a:rPr>
              <a:t> 次のステップは、それらのイベントの関係を理解することです。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ASERは、文のペアをスキャンし、</a:t>
            </a:r>
            <a:br>
              <a:rPr lang="en-US" sz="1100">
                <a:latin typeface="Arial"/>
                <a:ea typeface="Arial"/>
                <a:cs typeface="Arial"/>
                <a:sym typeface="Arial"/>
              </a:rPr>
            </a:br>
            <a:r>
              <a:rPr lang="en-US" sz="1100">
                <a:latin typeface="Arial"/>
                <a:ea typeface="Arial"/>
                <a:cs typeface="Arial"/>
                <a:sym typeface="Arial"/>
              </a:rPr>
              <a:t> ディスコース接続語(</a:t>
            </a:r>
            <a:r>
              <a:rPr lang="en-US" sz="600">
                <a:latin typeface="Arial"/>
                <a:ea typeface="Arial"/>
                <a:cs typeface="Arial"/>
                <a:sym typeface="Arial"/>
              </a:rPr>
              <a:t>せつぞくご</a:t>
            </a:r>
            <a:r>
              <a:rPr lang="en-US" sz="1100">
                <a:latin typeface="Arial"/>
                <a:ea typeface="Arial"/>
                <a:cs typeface="Arial"/>
                <a:sym typeface="Arial"/>
              </a:rPr>
              <a:t>)</a:t>
            </a:r>
            <a:r>
              <a:rPr lang="en-US">
                <a:latin typeface="Arial"/>
                <a:ea typeface="Arial"/>
                <a:cs typeface="Arial"/>
                <a:sym typeface="Arial"/>
              </a:rPr>
              <a:t>を探します。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これは、文と文の間に現れる単語やフレーズで、</a:t>
            </a:r>
            <a:br>
              <a:rPr lang="en-US" sz="1100">
                <a:latin typeface="Arial"/>
                <a:ea typeface="Arial"/>
                <a:cs typeface="Arial"/>
                <a:sym typeface="Arial"/>
              </a:rPr>
            </a:br>
            <a:r>
              <a:rPr lang="en-US" sz="1100">
                <a:latin typeface="Arial"/>
                <a:ea typeface="Arial"/>
                <a:cs typeface="Arial"/>
                <a:sym typeface="Arial"/>
              </a:rPr>
              <a:t> 論理的(</a:t>
            </a:r>
            <a:r>
              <a:rPr lang="en-US" sz="600">
                <a:latin typeface="Arial"/>
                <a:ea typeface="Arial"/>
                <a:cs typeface="Arial"/>
                <a:sym typeface="Arial"/>
              </a:rPr>
              <a:t>ろんりてき</a:t>
            </a:r>
            <a:r>
              <a:rPr lang="en-US" sz="1100">
                <a:latin typeface="Arial"/>
                <a:ea typeface="Arial"/>
                <a:cs typeface="Arial"/>
                <a:sym typeface="Arial"/>
              </a:rPr>
              <a:t>)</a:t>
            </a:r>
            <a:r>
              <a:rPr lang="en-US">
                <a:latin typeface="Arial"/>
                <a:ea typeface="Arial"/>
                <a:cs typeface="Arial"/>
                <a:sym typeface="Arial"/>
              </a:rPr>
              <a:t>な関係を示すものです。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例えば：</a:t>
            </a:r>
            <a:br>
              <a:rPr lang="en-US" sz="1100">
                <a:latin typeface="Arial"/>
                <a:ea typeface="Arial"/>
                <a:cs typeface="Arial"/>
                <a:sym typeface="Arial"/>
              </a:rPr>
            </a:br>
            <a:r>
              <a:rPr lang="en-US" sz="1100">
                <a:latin typeface="Arial"/>
                <a:ea typeface="Arial"/>
                <a:cs typeface="Arial"/>
                <a:sym typeface="Arial"/>
              </a:rPr>
              <a:t> 👉 “so”, “because”, “but”, “after”</a:t>
            </a:r>
            <a:endParaRPr sz="1100">
              <a:latin typeface="Arial"/>
              <a:ea typeface="Arial"/>
              <a:cs typeface="Arial"/>
              <a:sym typeface="Arial"/>
            </a:endParaRPr>
          </a:p>
          <a:p>
            <a:pPr indent="0" lvl="0" marL="0" rtl="0" algn="ctr">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① scan sentence pairs</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段落内の隣接する文のペアを見て、</a:t>
            </a:r>
            <a:br>
              <a:rPr lang="en-US" sz="1100">
                <a:latin typeface="Arial"/>
                <a:ea typeface="Arial"/>
                <a:cs typeface="Arial"/>
                <a:sym typeface="Arial"/>
              </a:rPr>
            </a:br>
            <a:r>
              <a:rPr lang="en-US" sz="1100">
                <a:latin typeface="Arial"/>
                <a:ea typeface="Arial"/>
                <a:cs typeface="Arial"/>
                <a:sym typeface="Arial"/>
              </a:rPr>
              <a:t> それらの間に接続語があるかを確認します。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つまり、</a:t>
            </a:r>
            <a:br>
              <a:rPr lang="en-US" sz="1100">
                <a:latin typeface="Arial"/>
                <a:ea typeface="Arial"/>
                <a:cs typeface="Arial"/>
                <a:sym typeface="Arial"/>
              </a:rPr>
            </a:br>
            <a:r>
              <a:rPr lang="en-US" sz="1100">
                <a:latin typeface="Arial"/>
                <a:ea typeface="Arial"/>
                <a:cs typeface="Arial"/>
                <a:sym typeface="Arial"/>
              </a:rPr>
              <a:t> 👉 この2つのイベントがどう関係しているかを示す言葉があるか</a:t>
            </a:r>
            <a:br>
              <a:rPr lang="en-US" sz="1100">
                <a:latin typeface="Arial"/>
                <a:ea typeface="Arial"/>
                <a:cs typeface="Arial"/>
                <a:sym typeface="Arial"/>
              </a:rPr>
            </a:br>
            <a:r>
              <a:rPr lang="en-US" sz="1100">
                <a:latin typeface="Arial"/>
                <a:ea typeface="Arial"/>
                <a:cs typeface="Arial"/>
                <a:sym typeface="Arial"/>
              </a:rPr>
              <a:t> を探します。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② map connective</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接続語が見つかると、それを関係タイプに変換します。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例えば：</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“so”, “therefore” → Result（結果）</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“because”, “since” → Reason（理由）</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“but”, “however” → Contrast（対比）</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なぜ重要か</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システムは意味を完全に理解しているわけではなく、</a:t>
            </a:r>
            <a:br>
              <a:rPr lang="en-US" sz="1100">
                <a:latin typeface="Arial"/>
                <a:ea typeface="Arial"/>
                <a:cs typeface="Arial"/>
                <a:sym typeface="Arial"/>
              </a:rPr>
            </a:br>
            <a:r>
              <a:rPr lang="en-US" sz="1100">
                <a:latin typeface="Arial"/>
                <a:ea typeface="Arial"/>
                <a:cs typeface="Arial"/>
                <a:sym typeface="Arial"/>
              </a:rPr>
              <a:t> 接続語を手がかりに関係を判断(</a:t>
            </a:r>
            <a:r>
              <a:rPr lang="en-US" sz="600">
                <a:latin typeface="Arial"/>
                <a:ea typeface="Arial"/>
                <a:cs typeface="Arial"/>
                <a:sym typeface="Arial"/>
              </a:rPr>
              <a:t>はんだん</a:t>
            </a:r>
            <a:r>
              <a:rPr lang="en-US" sz="1100">
                <a:latin typeface="Arial"/>
                <a:ea typeface="Arial"/>
                <a:cs typeface="Arial"/>
                <a:sym typeface="Arial"/>
              </a:rPr>
              <a:t>)</a:t>
            </a:r>
            <a:r>
              <a:rPr lang="en-US">
                <a:latin typeface="Arial"/>
                <a:ea typeface="Arial"/>
                <a:cs typeface="Arial"/>
                <a:sym typeface="Arial"/>
              </a:rPr>
              <a:t>しています。</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③ créate a weighted edge</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最後に、次の形式で関係が保存されます：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👉（event₁, relation, event₂）</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さっきの例で：</a:t>
            </a:r>
            <a:br>
              <a:rPr lang="en-US" sz="1100">
                <a:latin typeface="Arial"/>
                <a:ea typeface="Arial"/>
                <a:cs typeface="Arial"/>
                <a:sym typeface="Arial"/>
              </a:rPr>
            </a:br>
            <a:r>
              <a:rPr lang="en-US" sz="1100">
                <a:latin typeface="Arial"/>
                <a:ea typeface="Arial"/>
                <a:cs typeface="Arial"/>
                <a:sym typeface="Arial"/>
              </a:rPr>
              <a:t> 👉 he be tired (event 1) → Result (relation) → he go to bed (event 2)</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同じ関係が他の文でも出現すると、</a:t>
            </a:r>
            <a:br>
              <a:rPr lang="en-US" sz="1100">
                <a:latin typeface="Arial"/>
                <a:ea typeface="Arial"/>
                <a:cs typeface="Arial"/>
                <a:sym typeface="Arial"/>
              </a:rPr>
            </a:br>
            <a:r>
              <a:rPr lang="en-US" sz="1100">
                <a:latin typeface="Arial"/>
                <a:ea typeface="Arial"/>
                <a:cs typeface="Arial"/>
                <a:sym typeface="Arial"/>
              </a:rPr>
              <a:t> そのエッジの重みが増加します。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重みが高いほど、</a:t>
            </a:r>
            <a:br>
              <a:rPr lang="en-US" sz="1100">
                <a:latin typeface="Arial"/>
                <a:ea typeface="Arial"/>
                <a:cs typeface="Arial"/>
                <a:sym typeface="Arial"/>
              </a:rPr>
            </a:br>
            <a:r>
              <a:rPr lang="en-US" sz="1100">
                <a:latin typeface="Arial"/>
                <a:ea typeface="Arial"/>
                <a:cs typeface="Arial"/>
                <a:sym typeface="Arial"/>
              </a:rPr>
              <a:t> 👉 よく観察(</a:t>
            </a:r>
            <a:r>
              <a:rPr lang="en-US" sz="600">
                <a:latin typeface="Arial"/>
                <a:ea typeface="Arial"/>
                <a:cs typeface="Arial"/>
                <a:sym typeface="Arial"/>
              </a:rPr>
              <a:t>かんさつ</a:t>
            </a:r>
            <a:r>
              <a:rPr lang="en-US" sz="1100">
                <a:latin typeface="Arial"/>
                <a:ea typeface="Arial"/>
                <a:cs typeface="Arial"/>
                <a:sym typeface="Arial"/>
              </a:rPr>
              <a:t>)</a:t>
            </a:r>
            <a:r>
              <a:rPr lang="en-US">
                <a:latin typeface="Arial"/>
                <a:ea typeface="Arial"/>
                <a:cs typeface="Arial"/>
                <a:sym typeface="Arial"/>
              </a:rPr>
              <a:t>される</a:t>
            </a:r>
            <a:br>
              <a:rPr lang="en-US">
                <a:latin typeface="Arial"/>
                <a:ea typeface="Arial"/>
                <a:cs typeface="Arial"/>
                <a:sym typeface="Arial"/>
              </a:rPr>
            </a:br>
            <a:r>
              <a:rPr lang="en-US">
                <a:latin typeface="Arial"/>
                <a:ea typeface="Arial"/>
                <a:cs typeface="Arial"/>
                <a:sym typeface="Arial"/>
              </a:rPr>
              <a:t> 👉 信頼性が高い</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関係であることを示します。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26" name="Google Shape;22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1eafd1ad1_0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g3d1eafd1ad1_0_1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ASERにおける関係の種類は以下の通りです。</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これには、Result（結果）、Reason（理由）、Condition（条件(</a:t>
            </a:r>
            <a:r>
              <a:rPr lang="en-US" sz="600">
                <a:latin typeface="Arial"/>
                <a:ea typeface="Arial"/>
                <a:cs typeface="Arial"/>
                <a:sym typeface="Arial"/>
              </a:rPr>
              <a:t>じょうけん</a:t>
            </a:r>
            <a:r>
              <a:rPr lang="en-US" sz="1100">
                <a:latin typeface="Arial"/>
                <a:ea typeface="Arial"/>
                <a:cs typeface="Arial"/>
                <a:sym typeface="Arial"/>
              </a:rPr>
              <a:t>)</a:t>
            </a:r>
            <a:r>
              <a:rPr lang="en-US">
                <a:latin typeface="Arial"/>
                <a:ea typeface="Arial"/>
                <a:cs typeface="Arial"/>
                <a:sym typeface="Arial"/>
              </a:rPr>
              <a:t>）、Contrast（対比(</a:t>
            </a:r>
            <a:r>
              <a:rPr lang="en-US" sz="600">
                <a:latin typeface="Arial"/>
                <a:ea typeface="Arial"/>
                <a:cs typeface="Arial"/>
                <a:sym typeface="Arial"/>
              </a:rPr>
              <a:t>たいひ</a:t>
            </a:r>
            <a:r>
              <a:rPr lang="en-US">
                <a:latin typeface="Arial"/>
                <a:ea typeface="Arial"/>
                <a:cs typeface="Arial"/>
                <a:sym typeface="Arial"/>
              </a:rPr>
              <a:t>)）などが含まれ、</a:t>
            </a:r>
            <a:br>
              <a:rPr lang="en-US">
                <a:latin typeface="Arial"/>
                <a:ea typeface="Arial"/>
                <a:cs typeface="Arial"/>
                <a:sym typeface="Arial"/>
              </a:rPr>
            </a:br>
            <a:r>
              <a:rPr lang="en-US">
                <a:latin typeface="Arial"/>
                <a:ea typeface="Arial"/>
                <a:cs typeface="Arial"/>
                <a:sym typeface="Arial"/>
              </a:rPr>
              <a:t> それぞれがイベント間の異なる論理関係を表します。</a:t>
            </a:r>
            <a:endParaRPr>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以上のように、ASERは生のテキストからknowlegdegraphを自動的に構築するシステムです。</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文法解析(</a:t>
            </a:r>
            <a:r>
              <a:rPr lang="en-US" sz="600">
                <a:latin typeface="Arial"/>
                <a:ea typeface="Arial"/>
                <a:cs typeface="Arial"/>
                <a:sym typeface="Arial"/>
              </a:rPr>
              <a:t>かいせき</a:t>
            </a:r>
            <a:r>
              <a:rPr lang="en-US" sz="1100">
                <a:latin typeface="Arial"/>
                <a:ea typeface="Arial"/>
                <a:cs typeface="Arial"/>
                <a:sym typeface="Arial"/>
              </a:rPr>
              <a:t>)</a:t>
            </a:r>
            <a:r>
              <a:rPr lang="en-US">
                <a:latin typeface="Arial"/>
                <a:ea typeface="Arial"/>
                <a:cs typeface="Arial"/>
                <a:sym typeface="Arial"/>
              </a:rPr>
              <a:t>、イベント抽出、関係抽出というプロセスを通して、</a:t>
            </a:r>
            <a:br>
              <a:rPr lang="en-US">
                <a:latin typeface="Arial"/>
                <a:ea typeface="Arial"/>
                <a:cs typeface="Arial"/>
                <a:sym typeface="Arial"/>
              </a:rPr>
            </a:br>
            <a:r>
              <a:rPr lang="en-US">
                <a:latin typeface="Arial"/>
                <a:ea typeface="Arial"/>
                <a:cs typeface="Arial"/>
                <a:sym typeface="Arial"/>
              </a:rPr>
              <a:t> テキストを構造化された知識へと変換します。</a:t>
            </a:r>
            <a:endParaRPr>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このグラフは、イベントと</a:t>
            </a:r>
            <a:br>
              <a:rPr lang="en-US" sz="1100">
                <a:latin typeface="Arial"/>
                <a:ea typeface="Arial"/>
                <a:cs typeface="Arial"/>
                <a:sym typeface="Arial"/>
              </a:rPr>
            </a:br>
            <a:r>
              <a:rPr lang="en-US" sz="1100">
                <a:latin typeface="Arial"/>
                <a:ea typeface="Arial"/>
                <a:cs typeface="Arial"/>
                <a:sym typeface="Arial"/>
              </a:rPr>
              <a:t> 関係によって構成されており、</a:t>
            </a:r>
            <a:br>
              <a:rPr lang="en-US" sz="1100">
                <a:latin typeface="Arial"/>
                <a:ea typeface="Arial"/>
                <a:cs typeface="Arial"/>
                <a:sym typeface="Arial"/>
              </a:rPr>
            </a:br>
            <a:r>
              <a:rPr lang="en-US" sz="1100">
                <a:latin typeface="Arial"/>
                <a:ea typeface="Arial"/>
                <a:cs typeface="Arial"/>
                <a:sym typeface="Arial"/>
              </a:rPr>
              <a:t> 現実世界のパターンを表現することができます。</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さらに、重みや概念化により、</a:t>
            </a:r>
            <a:br>
              <a:rPr lang="en-US" sz="1100">
                <a:latin typeface="Arial"/>
                <a:ea typeface="Arial"/>
                <a:cs typeface="Arial"/>
                <a:sym typeface="Arial"/>
              </a:rPr>
            </a:br>
            <a:r>
              <a:rPr lang="en-US" sz="1100">
                <a:latin typeface="Arial"/>
                <a:ea typeface="Arial"/>
                <a:cs typeface="Arial"/>
                <a:sym typeface="Arial"/>
              </a:rPr>
              <a:t> より一般的で信頼性の高い知識を扱うことが可能になります。</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 その結果、ASERは単なる情報の集まりではなく、</a:t>
            </a:r>
            <a:br>
              <a:rPr lang="en-US" sz="1100">
                <a:latin typeface="Arial"/>
                <a:ea typeface="Arial"/>
                <a:cs typeface="Arial"/>
                <a:sym typeface="Arial"/>
              </a:rPr>
            </a:br>
            <a:r>
              <a:rPr lang="en-US" sz="1100">
                <a:latin typeface="Arial"/>
                <a:ea typeface="Arial"/>
                <a:cs typeface="Arial"/>
                <a:sym typeface="Arial"/>
              </a:rPr>
              <a:t> 推論が可能な常識(</a:t>
            </a:r>
            <a:r>
              <a:rPr lang="en-US" sz="600">
                <a:latin typeface="Arial"/>
                <a:ea typeface="Arial"/>
                <a:cs typeface="Arial"/>
                <a:sym typeface="Arial"/>
              </a:rPr>
              <a:t>じょうしき</a:t>
            </a:r>
            <a:r>
              <a:rPr lang="en-US" sz="1100">
                <a:latin typeface="Arial"/>
                <a:ea typeface="Arial"/>
                <a:cs typeface="Arial"/>
                <a:sym typeface="Arial"/>
              </a:rPr>
              <a:t>)</a:t>
            </a:r>
            <a:r>
              <a:rPr lang="en-US">
                <a:latin typeface="Arial"/>
                <a:ea typeface="Arial"/>
                <a:cs typeface="Arial"/>
                <a:sym typeface="Arial"/>
              </a:rPr>
              <a:t>knowledge graphを実現しています。</a:t>
            </a:r>
            <a:endParaRPr>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t/>
            </a:r>
            <a:endParaRPr sz="1100">
              <a:latin typeface="Arial"/>
              <a:ea typeface="Arial"/>
              <a:cs typeface="Arial"/>
              <a:sym typeface="Arial"/>
            </a:endParaRPr>
          </a:p>
        </p:txBody>
      </p:sp>
      <p:sp>
        <p:nvSpPr>
          <p:cNvPr id="247" name="Google Shape;247;g3d1eafd1ad1_0_1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g3d1eafd1ad1_0_214"/>
          <p:cNvSpPr txBox="1"/>
          <p:nvPr/>
        </p:nvSpPr>
        <p:spPr>
          <a:xfrm>
            <a:off x="566750" y="1117800"/>
            <a:ext cx="77064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7200">
                <a:solidFill>
                  <a:srgbClr val="1A2E2C"/>
                </a:solidFill>
                <a:latin typeface="Georgia"/>
                <a:ea typeface="Georgia"/>
                <a:cs typeface="Georgia"/>
                <a:sym typeface="Georgia"/>
              </a:rPr>
              <a:t>ASER</a:t>
            </a:r>
            <a:endParaRPr/>
          </a:p>
          <a:p>
            <a:pPr indent="0" lvl="0" marL="0" rtl="0" algn="l">
              <a:spcBef>
                <a:spcPts val="0"/>
              </a:spcBef>
              <a:spcAft>
                <a:spcPts val="0"/>
              </a:spcAft>
              <a:buClr>
                <a:srgbClr val="0E9E94"/>
              </a:buClr>
              <a:buSzPts val="2600"/>
              <a:buFont typeface="Georgia"/>
              <a:buNone/>
            </a:pPr>
            <a:r>
              <a:rPr i="1" lang="en-US" sz="2600">
                <a:solidFill>
                  <a:srgbClr val="0E9E94"/>
                </a:solidFill>
                <a:latin typeface="Georgia"/>
                <a:ea typeface="Georgia"/>
                <a:cs typeface="Georgia"/>
                <a:sym typeface="Georgia"/>
              </a:rPr>
              <a:t>Automatic Knowledge Graph Construction</a:t>
            </a:r>
            <a:endParaRPr sz="26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17" name="Google Shape;17;g3d1eafd1ad1_0_214"/>
          <p:cNvSpPr txBox="1"/>
          <p:nvPr/>
        </p:nvSpPr>
        <p:spPr>
          <a:xfrm>
            <a:off x="566750" y="2967700"/>
            <a:ext cx="7950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情報経営システム工学　4年</a:t>
            </a:r>
            <a:endParaRPr/>
          </a:p>
          <a:p>
            <a:pPr indent="0" lvl="0" marL="0" rtl="0" algn="l">
              <a:spcBef>
                <a:spcPts val="0"/>
              </a:spcBef>
              <a:spcAft>
                <a:spcPts val="0"/>
              </a:spcAft>
              <a:buNone/>
            </a:pPr>
            <a:r>
              <a:rPr lang="en-US"/>
              <a:t>ロペスチャパホセ</a:t>
            </a:r>
            <a:endParaRPr/>
          </a:p>
          <a:p>
            <a:pPr indent="0" lvl="0" marL="0" rtl="0" algn="l">
              <a:spcBef>
                <a:spcPts val="0"/>
              </a:spcBef>
              <a:spcAft>
                <a:spcPts val="0"/>
              </a:spcAft>
              <a:buNone/>
            </a:pPr>
            <a:r>
              <a:t/>
            </a:r>
            <a:endParaRPr/>
          </a:p>
          <a:p>
            <a:pPr indent="0" lvl="0" marL="0" rtl="0" algn="r">
              <a:spcBef>
                <a:spcPts val="0"/>
              </a:spcBef>
              <a:spcAft>
                <a:spcPts val="0"/>
              </a:spcAft>
              <a:buNone/>
            </a:pPr>
            <a:r>
              <a:rPr lang="en-US"/>
              <a:t>３月２４日２０２６年</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 name="Shape 22"/>
        <p:cNvGrpSpPr/>
        <p:nvPr/>
      </p:nvGrpSpPr>
      <p:grpSpPr>
        <a:xfrm>
          <a:off x="0" y="0"/>
          <a:ext cx="0" cy="0"/>
          <a:chOff x="0" y="0"/>
          <a:chExt cx="0" cy="0"/>
        </a:xfrm>
      </p:grpSpPr>
      <p:sp>
        <p:nvSpPr>
          <p:cNvPr id="23" name="Google Shape;23;p1"/>
          <p:cNvSpPr/>
          <p:nvPr/>
        </p:nvSpPr>
        <p:spPr>
          <a:xfrm>
            <a:off x="0" y="0"/>
            <a:ext cx="9144000" cy="50292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365760" y="0"/>
            <a:ext cx="7132320" cy="50292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800">
                <a:solidFill>
                  <a:srgbClr val="FFFFFF"/>
                </a:solidFill>
                <a:latin typeface="Georgia"/>
                <a:ea typeface="Georgia"/>
                <a:cs typeface="Georgia"/>
                <a:sym typeface="Georgia"/>
              </a:rPr>
              <a:t>  What is ASER?</a:t>
            </a:r>
            <a:endParaRPr b="1" sz="1800">
              <a:solidFill>
                <a:srgbClr val="FFFFFF"/>
              </a:solidFill>
              <a:latin typeface="Georgia"/>
              <a:ea typeface="Georgia"/>
              <a:cs typeface="Georgia"/>
              <a:sym typeface="Georgia"/>
            </a:endParaRPr>
          </a:p>
        </p:txBody>
      </p:sp>
      <p:pic>
        <p:nvPicPr>
          <p:cNvPr id="25" name="Google Shape;25;p1"/>
          <p:cNvPicPr preferRelativeResize="0"/>
          <p:nvPr/>
        </p:nvPicPr>
        <p:blipFill rotWithShape="1">
          <a:blip r:embed="rId3">
            <a:alphaModFix/>
          </a:blip>
          <a:srcRect b="57245" l="0" r="0" t="0"/>
          <a:stretch/>
        </p:blipFill>
        <p:spPr>
          <a:xfrm>
            <a:off x="443950" y="655325"/>
            <a:ext cx="8386852" cy="1064025"/>
          </a:xfrm>
          <a:prstGeom prst="rect">
            <a:avLst/>
          </a:prstGeom>
          <a:noFill/>
          <a:ln>
            <a:noFill/>
          </a:ln>
        </p:spPr>
      </p:pic>
      <p:sp>
        <p:nvSpPr>
          <p:cNvPr id="26" name="Google Shape;26;p1"/>
          <p:cNvSpPr txBox="1"/>
          <p:nvPr/>
        </p:nvSpPr>
        <p:spPr>
          <a:xfrm>
            <a:off x="500400" y="1670881"/>
            <a:ext cx="8330400" cy="184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500">
                <a:solidFill>
                  <a:schemeClr val="dk1"/>
                </a:solidFill>
              </a:rPr>
              <a:t>イベント（eventuality）とは何か？</a:t>
            </a:r>
            <a:endParaRPr b="1" sz="16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en-US" sz="1300">
                <a:solidFill>
                  <a:schemeClr val="dk1"/>
                </a:solidFill>
              </a:rPr>
              <a:t>イベントとは、動詞を中心とした言語単位であり、</a:t>
            </a:r>
            <a:br>
              <a:rPr lang="en-US" sz="1300">
                <a:solidFill>
                  <a:schemeClr val="dk1"/>
                </a:solidFill>
              </a:rPr>
            </a:br>
            <a:r>
              <a:rPr lang="en-US" sz="1300">
                <a:solidFill>
                  <a:schemeClr val="dk1"/>
                </a:solidFill>
              </a:rPr>
              <a:t>「</a:t>
            </a:r>
            <a:r>
              <a:rPr b="1" lang="en-US" sz="1300">
                <a:solidFill>
                  <a:srgbClr val="FF0000"/>
                </a:solidFill>
              </a:rPr>
              <a:t>イベント</a:t>
            </a:r>
            <a:r>
              <a:rPr lang="en-US" sz="1300">
                <a:solidFill>
                  <a:schemeClr val="dk1"/>
                </a:solidFill>
              </a:rPr>
              <a:t>（例：彼は走った）」、</a:t>
            </a:r>
            <a:br>
              <a:rPr lang="en-US" sz="1300">
                <a:solidFill>
                  <a:schemeClr val="dk1"/>
                </a:solidFill>
              </a:rPr>
            </a:br>
            <a:r>
              <a:rPr lang="en-US" sz="1300">
                <a:solidFill>
                  <a:schemeClr val="dk1"/>
                </a:solidFill>
              </a:rPr>
              <a:t>「</a:t>
            </a:r>
            <a:r>
              <a:rPr b="1" lang="en-US" sz="1300">
                <a:solidFill>
                  <a:srgbClr val="196B24"/>
                </a:solidFill>
              </a:rPr>
              <a:t>状態</a:t>
            </a:r>
            <a:r>
              <a:rPr lang="en-US" sz="1300">
                <a:solidFill>
                  <a:schemeClr val="dk1"/>
                </a:solidFill>
              </a:rPr>
              <a:t>（例：彼は疲れていた）」、</a:t>
            </a:r>
            <a:br>
              <a:rPr lang="en-US" sz="1300">
                <a:solidFill>
                  <a:schemeClr val="dk1"/>
                </a:solidFill>
              </a:rPr>
            </a:br>
            <a:r>
              <a:rPr lang="en-US" sz="1300">
                <a:solidFill>
                  <a:schemeClr val="dk1"/>
                </a:solidFill>
              </a:rPr>
              <a:t>「</a:t>
            </a:r>
            <a:r>
              <a:rPr b="1" lang="en-US" sz="1300">
                <a:solidFill>
                  <a:srgbClr val="E97132"/>
                </a:solidFill>
              </a:rPr>
              <a:t>活動</a:t>
            </a:r>
            <a:r>
              <a:rPr lang="en-US" sz="1300">
                <a:solidFill>
                  <a:schemeClr val="dk1"/>
                </a:solidFill>
              </a:rPr>
              <a:t>（例：彼女は働いている）」を含む。</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300">
                <a:solidFill>
                  <a:schemeClr val="dk1"/>
                </a:solidFill>
              </a:rPr>
              <a:t>ASERでは、これらを常識的なストーリー知識を構成する基本単位として扱う。</a:t>
            </a:r>
            <a:endParaRPr sz="1300">
              <a:solidFill>
                <a:schemeClr val="dk1"/>
              </a:solidFill>
            </a:endParaRPr>
          </a:p>
          <a:p>
            <a:pPr indent="0" lvl="0" marL="0" rtl="0" algn="l">
              <a:spcBef>
                <a:spcPts val="0"/>
              </a:spcBef>
              <a:spcAft>
                <a:spcPts val="0"/>
              </a:spcAft>
              <a:buNone/>
            </a:pPr>
            <a:r>
              <a:t/>
            </a:r>
            <a:endParaRPr sz="1200"/>
          </a:p>
        </p:txBody>
      </p:sp>
      <p:pic>
        <p:nvPicPr>
          <p:cNvPr id="27" name="Google Shape;27;p1"/>
          <p:cNvPicPr preferRelativeResize="0"/>
          <p:nvPr/>
        </p:nvPicPr>
        <p:blipFill rotWithShape="1">
          <a:blip r:embed="rId4">
            <a:alphaModFix/>
          </a:blip>
          <a:srcRect b="0" l="0" r="26438" t="0"/>
          <a:stretch/>
        </p:blipFill>
        <p:spPr>
          <a:xfrm>
            <a:off x="1507963" y="3756600"/>
            <a:ext cx="6128077" cy="1019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 name="Shape 32"/>
        <p:cNvGrpSpPr/>
        <p:nvPr/>
      </p:nvGrpSpPr>
      <p:grpSpPr>
        <a:xfrm>
          <a:off x="0" y="0"/>
          <a:ext cx="0" cy="0"/>
          <a:chOff x="0" y="0"/>
          <a:chExt cx="0" cy="0"/>
        </a:xfrm>
      </p:grpSpPr>
      <p:sp>
        <p:nvSpPr>
          <p:cNvPr id="33" name="Google Shape;33;g3d1eafd1ad1_0_58"/>
          <p:cNvSpPr/>
          <p:nvPr/>
        </p:nvSpPr>
        <p:spPr>
          <a:xfrm>
            <a:off x="0" y="0"/>
            <a:ext cx="9144000" cy="5028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g3d1eafd1ad1_0_58"/>
          <p:cNvSpPr/>
          <p:nvPr/>
        </p:nvSpPr>
        <p:spPr>
          <a:xfrm>
            <a:off x="365760" y="0"/>
            <a:ext cx="7132200" cy="5028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800">
                <a:solidFill>
                  <a:srgbClr val="FFFFFF"/>
                </a:solidFill>
                <a:latin typeface="Georgia"/>
                <a:ea typeface="Georgia"/>
                <a:cs typeface="Georgia"/>
                <a:sym typeface="Georgia"/>
              </a:rPr>
              <a:t>    Why automatic construction?</a:t>
            </a:r>
            <a:endParaRPr b="1" sz="1800">
              <a:solidFill>
                <a:srgbClr val="FFFFFF"/>
              </a:solidFill>
              <a:latin typeface="Georgia"/>
              <a:ea typeface="Georgia"/>
              <a:cs typeface="Georgia"/>
              <a:sym typeface="Georgia"/>
            </a:endParaRPr>
          </a:p>
        </p:txBody>
      </p:sp>
      <p:pic>
        <p:nvPicPr>
          <p:cNvPr id="35" name="Google Shape;35;g3d1eafd1ad1_0_58"/>
          <p:cNvPicPr preferRelativeResize="0"/>
          <p:nvPr/>
        </p:nvPicPr>
        <p:blipFill>
          <a:blip r:embed="rId3">
            <a:alphaModFix/>
          </a:blip>
          <a:stretch>
            <a:fillRect/>
          </a:stretch>
        </p:blipFill>
        <p:spPr>
          <a:xfrm>
            <a:off x="306732" y="826563"/>
            <a:ext cx="8547649" cy="3840451"/>
          </a:xfrm>
          <a:prstGeom prst="rect">
            <a:avLst/>
          </a:prstGeom>
          <a:noFill/>
          <a:ln>
            <a:noFill/>
          </a:ln>
        </p:spPr>
      </p:pic>
      <p:pic>
        <p:nvPicPr>
          <p:cNvPr id="36" name="Google Shape;36;g3d1eafd1ad1_0_58"/>
          <p:cNvPicPr preferRelativeResize="0"/>
          <p:nvPr/>
        </p:nvPicPr>
        <p:blipFill>
          <a:blip r:embed="rId4">
            <a:alphaModFix/>
          </a:blip>
          <a:stretch>
            <a:fillRect/>
          </a:stretch>
        </p:blipFill>
        <p:spPr>
          <a:xfrm>
            <a:off x="433457" y="2566418"/>
            <a:ext cx="70125" cy="69050"/>
          </a:xfrm>
          <a:prstGeom prst="rect">
            <a:avLst/>
          </a:prstGeom>
          <a:noFill/>
          <a:ln>
            <a:noFill/>
          </a:ln>
        </p:spPr>
      </p:pic>
      <p:sp>
        <p:nvSpPr>
          <p:cNvPr id="37" name="Google Shape;37;g3d1eafd1ad1_0_58"/>
          <p:cNvSpPr txBox="1"/>
          <p:nvPr/>
        </p:nvSpPr>
        <p:spPr>
          <a:xfrm>
            <a:off x="555321" y="2394896"/>
            <a:ext cx="3661500" cy="400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US">
                <a:solidFill>
                  <a:srgbClr val="1A2E2C"/>
                </a:solidFill>
                <a:latin typeface="Calibri"/>
                <a:ea typeface="Calibri"/>
                <a:cs typeface="Calibri"/>
                <a:sym typeface="Calibri"/>
              </a:rPr>
              <a:t>ConceptNet：約60万の概念、手作業で選定</a:t>
            </a:r>
            <a:endParaRPr>
              <a:solidFill>
                <a:srgbClr val="1A2E2C"/>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 name="Shape 42"/>
        <p:cNvGrpSpPr/>
        <p:nvPr/>
      </p:nvGrpSpPr>
      <p:grpSpPr>
        <a:xfrm>
          <a:off x="0" y="0"/>
          <a:ext cx="0" cy="0"/>
          <a:chOff x="0" y="0"/>
          <a:chExt cx="0" cy="0"/>
        </a:xfrm>
      </p:grpSpPr>
      <p:sp>
        <p:nvSpPr>
          <p:cNvPr id="43" name="Google Shape;43;g3d1eafd1ad1_0_0"/>
          <p:cNvSpPr/>
          <p:nvPr/>
        </p:nvSpPr>
        <p:spPr>
          <a:xfrm>
            <a:off x="0" y="0"/>
            <a:ext cx="9144000" cy="5028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3d1eafd1ad1_0_0"/>
          <p:cNvSpPr/>
          <p:nvPr/>
        </p:nvSpPr>
        <p:spPr>
          <a:xfrm>
            <a:off x="365760" y="0"/>
            <a:ext cx="71322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The big picture — what the pipeline does</a:t>
            </a:r>
            <a:endParaRPr b="0" i="0" sz="1800" u="none" cap="none" strike="noStrike">
              <a:solidFill>
                <a:schemeClr val="dk1"/>
              </a:solidFill>
              <a:latin typeface="Calibri"/>
              <a:ea typeface="Calibri"/>
              <a:cs typeface="Calibri"/>
              <a:sym typeface="Calibri"/>
            </a:endParaRPr>
          </a:p>
        </p:txBody>
      </p:sp>
      <p:sp>
        <p:nvSpPr>
          <p:cNvPr id="45" name="Google Shape;45;g3d1eafd1ad1_0_0"/>
          <p:cNvSpPr/>
          <p:nvPr/>
        </p:nvSpPr>
        <p:spPr>
          <a:xfrm>
            <a:off x="585145" y="1680158"/>
            <a:ext cx="1463100" cy="17832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g3d1eafd1ad1_0_0"/>
          <p:cNvSpPr/>
          <p:nvPr/>
        </p:nvSpPr>
        <p:spPr>
          <a:xfrm>
            <a:off x="585145" y="1680158"/>
            <a:ext cx="1463100" cy="3657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g3d1eafd1ad1_0_0"/>
          <p:cNvSpPr/>
          <p:nvPr/>
        </p:nvSpPr>
        <p:spPr>
          <a:xfrm>
            <a:off x="585145" y="1680158"/>
            <a:ext cx="14631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1</a:t>
            </a:r>
            <a:endParaRPr b="0" i="0" sz="1400" u="none" cap="none" strike="noStrike">
              <a:solidFill>
                <a:schemeClr val="dk1"/>
              </a:solidFill>
              <a:latin typeface="Calibri"/>
              <a:ea typeface="Calibri"/>
              <a:cs typeface="Calibri"/>
              <a:sym typeface="Calibri"/>
            </a:endParaRPr>
          </a:p>
        </p:txBody>
      </p:sp>
      <p:sp>
        <p:nvSpPr>
          <p:cNvPr id="48" name="Google Shape;48;g3d1eafd1ad1_0_0"/>
          <p:cNvSpPr/>
          <p:nvPr/>
        </p:nvSpPr>
        <p:spPr>
          <a:xfrm>
            <a:off x="585145" y="2082494"/>
            <a:ext cx="14631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300"/>
              <a:buFont typeface="Georgia"/>
              <a:buNone/>
            </a:pPr>
            <a:r>
              <a:rPr b="1" i="0" lang="en-US" sz="1300" u="none" cap="none" strike="noStrike">
                <a:solidFill>
                  <a:srgbClr val="0D1B2A"/>
                </a:solidFill>
                <a:latin typeface="Georgia"/>
                <a:ea typeface="Georgia"/>
                <a:cs typeface="Georgia"/>
                <a:sym typeface="Georgia"/>
              </a:rPr>
              <a:t>Read</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D1B2A"/>
              </a:buClr>
              <a:buSzPts val="1300"/>
              <a:buFont typeface="Georgia"/>
              <a:buNone/>
            </a:pPr>
            <a:r>
              <a:rPr b="1" i="0" lang="en-US" sz="1300" u="none" cap="none" strike="noStrike">
                <a:solidFill>
                  <a:srgbClr val="0D1B2A"/>
                </a:solidFill>
                <a:latin typeface="Georgia"/>
                <a:ea typeface="Georgia"/>
                <a:cs typeface="Georgia"/>
                <a:sym typeface="Georgia"/>
              </a:rPr>
              <a:t>the text</a:t>
            </a:r>
            <a:endParaRPr b="0" i="0" sz="1300" u="none" cap="none" strike="noStrike">
              <a:solidFill>
                <a:schemeClr val="dk1"/>
              </a:solidFill>
              <a:latin typeface="Calibri"/>
              <a:ea typeface="Calibri"/>
              <a:cs typeface="Calibri"/>
              <a:sym typeface="Calibri"/>
            </a:endParaRPr>
          </a:p>
        </p:txBody>
      </p:sp>
      <p:sp>
        <p:nvSpPr>
          <p:cNvPr id="49" name="Google Shape;49;g3d1eafd1ad1_0_0"/>
          <p:cNvSpPr/>
          <p:nvPr/>
        </p:nvSpPr>
        <p:spPr>
          <a:xfrm>
            <a:off x="585145" y="2740862"/>
            <a:ext cx="1463100" cy="658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6A68"/>
              </a:buClr>
              <a:buSzPts val="1000"/>
              <a:buFont typeface="Calibri"/>
              <a:buNone/>
            </a:pPr>
            <a:r>
              <a:rPr b="0" i="0" lang="en-US" sz="1000" u="none" cap="none" strike="noStrike">
                <a:solidFill>
                  <a:srgbClr val="4A6A68"/>
                </a:solidFill>
                <a:latin typeface="Calibri"/>
                <a:ea typeface="Calibri"/>
                <a:cs typeface="Calibri"/>
                <a:sym typeface="Calibri"/>
              </a:rPr>
              <a:t>collect sentences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6A68"/>
              </a:buClr>
              <a:buSzPts val="1000"/>
              <a:buFont typeface="Calibri"/>
              <a:buNone/>
            </a:pPr>
            <a:r>
              <a:rPr b="0" i="0" lang="en-US" sz="1000" u="none" cap="none" strike="noStrike">
                <a:solidFill>
                  <a:srgbClr val="4A6A68"/>
                </a:solidFill>
                <a:latin typeface="Calibri"/>
                <a:ea typeface="Calibri"/>
                <a:cs typeface="Calibri"/>
                <a:sym typeface="Calibri"/>
              </a:rPr>
              <a:t>from the web</a:t>
            </a:r>
            <a:endParaRPr b="0" i="0" sz="1000" u="none" cap="none" strike="noStrike">
              <a:solidFill>
                <a:schemeClr val="dk1"/>
              </a:solidFill>
              <a:latin typeface="Calibri"/>
              <a:ea typeface="Calibri"/>
              <a:cs typeface="Calibri"/>
              <a:sym typeface="Calibri"/>
            </a:endParaRPr>
          </a:p>
        </p:txBody>
      </p:sp>
      <p:cxnSp>
        <p:nvCxnSpPr>
          <p:cNvPr id="50" name="Google Shape;50;g3d1eafd1ad1_0_0"/>
          <p:cNvCxnSpPr/>
          <p:nvPr/>
        </p:nvCxnSpPr>
        <p:spPr>
          <a:xfrm>
            <a:off x="2066473" y="2571698"/>
            <a:ext cx="128100" cy="0"/>
          </a:xfrm>
          <a:prstGeom prst="straightConnector1">
            <a:avLst/>
          </a:prstGeom>
          <a:noFill/>
          <a:ln cap="flat" cmpd="sng" w="31750">
            <a:solidFill>
              <a:srgbClr val="0A7A72"/>
            </a:solidFill>
            <a:prstDash val="solid"/>
            <a:round/>
            <a:headEnd len="sm" w="sm" type="none"/>
            <a:tailEnd len="sm" w="sm" type="none"/>
          </a:ln>
        </p:spPr>
      </p:cxnSp>
      <p:cxnSp>
        <p:nvCxnSpPr>
          <p:cNvPr id="51" name="Google Shape;51;g3d1eafd1ad1_0_0"/>
          <p:cNvCxnSpPr/>
          <p:nvPr/>
        </p:nvCxnSpPr>
        <p:spPr>
          <a:xfrm>
            <a:off x="2103049" y="2461970"/>
            <a:ext cx="118800" cy="109800"/>
          </a:xfrm>
          <a:prstGeom prst="straightConnector1">
            <a:avLst/>
          </a:prstGeom>
          <a:noFill/>
          <a:ln cap="flat" cmpd="sng" w="31750">
            <a:solidFill>
              <a:srgbClr val="0A7A72"/>
            </a:solidFill>
            <a:prstDash val="solid"/>
            <a:round/>
            <a:headEnd len="sm" w="sm" type="none"/>
            <a:tailEnd len="sm" w="sm" type="none"/>
          </a:ln>
        </p:spPr>
      </p:cxnSp>
      <p:cxnSp>
        <p:nvCxnSpPr>
          <p:cNvPr id="52" name="Google Shape;52;g3d1eafd1ad1_0_0"/>
          <p:cNvCxnSpPr/>
          <p:nvPr/>
        </p:nvCxnSpPr>
        <p:spPr>
          <a:xfrm flipH="1" rot="10800000">
            <a:off x="2103049" y="2571626"/>
            <a:ext cx="118800" cy="109800"/>
          </a:xfrm>
          <a:prstGeom prst="straightConnector1">
            <a:avLst/>
          </a:prstGeom>
          <a:noFill/>
          <a:ln cap="flat" cmpd="sng" w="31750">
            <a:solidFill>
              <a:srgbClr val="0A7A72"/>
            </a:solidFill>
            <a:prstDash val="solid"/>
            <a:round/>
            <a:headEnd len="sm" w="sm" type="none"/>
            <a:tailEnd len="sm" w="sm" type="none"/>
          </a:ln>
        </p:spPr>
      </p:cxnSp>
      <p:sp>
        <p:nvSpPr>
          <p:cNvPr id="53" name="Google Shape;53;g3d1eafd1ad1_0_0"/>
          <p:cNvSpPr/>
          <p:nvPr/>
        </p:nvSpPr>
        <p:spPr>
          <a:xfrm>
            <a:off x="2212777" y="1680158"/>
            <a:ext cx="1463100" cy="17832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g3d1eafd1ad1_0_0"/>
          <p:cNvSpPr/>
          <p:nvPr/>
        </p:nvSpPr>
        <p:spPr>
          <a:xfrm>
            <a:off x="2212777" y="1680158"/>
            <a:ext cx="1463100" cy="365700"/>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g3d1eafd1ad1_0_0"/>
          <p:cNvSpPr/>
          <p:nvPr/>
        </p:nvSpPr>
        <p:spPr>
          <a:xfrm>
            <a:off x="2212777" y="1680158"/>
            <a:ext cx="14631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2</a:t>
            </a:r>
            <a:endParaRPr b="0" i="0" sz="1400" u="none" cap="none" strike="noStrike">
              <a:solidFill>
                <a:schemeClr val="dk1"/>
              </a:solidFill>
              <a:latin typeface="Calibri"/>
              <a:ea typeface="Calibri"/>
              <a:cs typeface="Calibri"/>
              <a:sym typeface="Calibri"/>
            </a:endParaRPr>
          </a:p>
        </p:txBody>
      </p:sp>
      <p:sp>
        <p:nvSpPr>
          <p:cNvPr id="56" name="Google Shape;56;g3d1eafd1ad1_0_0"/>
          <p:cNvSpPr/>
          <p:nvPr/>
        </p:nvSpPr>
        <p:spPr>
          <a:xfrm>
            <a:off x="2212777" y="2082494"/>
            <a:ext cx="14631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300"/>
              <a:buFont typeface="Georgia"/>
              <a:buNone/>
            </a:pPr>
            <a:r>
              <a:rPr b="1" i="0" lang="en-US" sz="1300" u="none" cap="none" strike="noStrike">
                <a:solidFill>
                  <a:srgbClr val="0D1B2A"/>
                </a:solidFill>
                <a:latin typeface="Georgia"/>
                <a:ea typeface="Georgia"/>
                <a:cs typeface="Georgia"/>
                <a:sym typeface="Georgia"/>
              </a:rPr>
              <a:t>Parse</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D1B2A"/>
              </a:buClr>
              <a:buSzPts val="1300"/>
              <a:buFont typeface="Georgia"/>
              <a:buNone/>
            </a:pPr>
            <a:r>
              <a:rPr b="1" i="0" lang="en-US" sz="1300" u="none" cap="none" strike="noStrike">
                <a:solidFill>
                  <a:srgbClr val="0D1B2A"/>
                </a:solidFill>
                <a:latin typeface="Georgia"/>
                <a:ea typeface="Georgia"/>
                <a:cs typeface="Georgia"/>
                <a:sym typeface="Georgia"/>
              </a:rPr>
              <a:t>grammar</a:t>
            </a:r>
            <a:endParaRPr b="0" i="0" sz="1300" u="none" cap="none" strike="noStrike">
              <a:solidFill>
                <a:schemeClr val="dk1"/>
              </a:solidFill>
              <a:latin typeface="Calibri"/>
              <a:ea typeface="Calibri"/>
              <a:cs typeface="Calibri"/>
              <a:sym typeface="Calibri"/>
            </a:endParaRPr>
          </a:p>
        </p:txBody>
      </p:sp>
      <p:sp>
        <p:nvSpPr>
          <p:cNvPr id="57" name="Google Shape;57;g3d1eafd1ad1_0_0"/>
          <p:cNvSpPr/>
          <p:nvPr/>
        </p:nvSpPr>
        <p:spPr>
          <a:xfrm>
            <a:off x="2212777" y="2740862"/>
            <a:ext cx="1463100" cy="658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6A68"/>
              </a:buClr>
              <a:buSzPts val="1000"/>
              <a:buFont typeface="Calibri"/>
              <a:buNone/>
            </a:pPr>
            <a:r>
              <a:rPr b="0" i="0" lang="en-US" sz="1000" u="none" cap="none" strike="noStrike">
                <a:solidFill>
                  <a:srgbClr val="4A6A68"/>
                </a:solidFill>
                <a:latin typeface="Calibri"/>
                <a:ea typeface="Calibri"/>
                <a:cs typeface="Calibri"/>
                <a:sym typeface="Calibri"/>
              </a:rPr>
              <a:t>understand sentence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6A68"/>
              </a:buClr>
              <a:buSzPts val="1000"/>
              <a:buFont typeface="Calibri"/>
              <a:buNone/>
            </a:pPr>
            <a:r>
              <a:rPr b="0" i="0" lang="en-US" sz="1000" u="none" cap="none" strike="noStrike">
                <a:solidFill>
                  <a:srgbClr val="4A6A68"/>
                </a:solidFill>
                <a:latin typeface="Calibri"/>
                <a:ea typeface="Calibri"/>
                <a:cs typeface="Calibri"/>
                <a:sym typeface="Calibri"/>
              </a:rPr>
              <a:t>structure</a:t>
            </a:r>
            <a:endParaRPr b="0" i="0" sz="1000" u="none" cap="none" strike="noStrike">
              <a:solidFill>
                <a:schemeClr val="dk1"/>
              </a:solidFill>
              <a:latin typeface="Calibri"/>
              <a:ea typeface="Calibri"/>
              <a:cs typeface="Calibri"/>
              <a:sym typeface="Calibri"/>
            </a:endParaRPr>
          </a:p>
        </p:txBody>
      </p:sp>
      <p:cxnSp>
        <p:nvCxnSpPr>
          <p:cNvPr id="58" name="Google Shape;58;g3d1eafd1ad1_0_0"/>
          <p:cNvCxnSpPr/>
          <p:nvPr/>
        </p:nvCxnSpPr>
        <p:spPr>
          <a:xfrm>
            <a:off x="3694105" y="2571698"/>
            <a:ext cx="128100" cy="0"/>
          </a:xfrm>
          <a:prstGeom prst="straightConnector1">
            <a:avLst/>
          </a:prstGeom>
          <a:noFill/>
          <a:ln cap="flat" cmpd="sng" w="31750">
            <a:solidFill>
              <a:srgbClr val="0A7A72"/>
            </a:solidFill>
            <a:prstDash val="solid"/>
            <a:round/>
            <a:headEnd len="sm" w="sm" type="none"/>
            <a:tailEnd len="sm" w="sm" type="none"/>
          </a:ln>
        </p:spPr>
      </p:cxnSp>
      <p:cxnSp>
        <p:nvCxnSpPr>
          <p:cNvPr id="59" name="Google Shape;59;g3d1eafd1ad1_0_0"/>
          <p:cNvCxnSpPr/>
          <p:nvPr/>
        </p:nvCxnSpPr>
        <p:spPr>
          <a:xfrm>
            <a:off x="3730681" y="2461970"/>
            <a:ext cx="118800" cy="109800"/>
          </a:xfrm>
          <a:prstGeom prst="straightConnector1">
            <a:avLst/>
          </a:prstGeom>
          <a:noFill/>
          <a:ln cap="flat" cmpd="sng" w="31750">
            <a:solidFill>
              <a:srgbClr val="0A7A72"/>
            </a:solidFill>
            <a:prstDash val="solid"/>
            <a:round/>
            <a:headEnd len="sm" w="sm" type="none"/>
            <a:tailEnd len="sm" w="sm" type="none"/>
          </a:ln>
        </p:spPr>
      </p:cxnSp>
      <p:cxnSp>
        <p:nvCxnSpPr>
          <p:cNvPr id="60" name="Google Shape;60;g3d1eafd1ad1_0_0"/>
          <p:cNvCxnSpPr/>
          <p:nvPr/>
        </p:nvCxnSpPr>
        <p:spPr>
          <a:xfrm flipH="1" rot="10800000">
            <a:off x="3730681" y="2571626"/>
            <a:ext cx="118800" cy="109800"/>
          </a:xfrm>
          <a:prstGeom prst="straightConnector1">
            <a:avLst/>
          </a:prstGeom>
          <a:noFill/>
          <a:ln cap="flat" cmpd="sng" w="31750">
            <a:solidFill>
              <a:srgbClr val="0A7A72"/>
            </a:solidFill>
            <a:prstDash val="solid"/>
            <a:round/>
            <a:headEnd len="sm" w="sm" type="none"/>
            <a:tailEnd len="sm" w="sm" type="none"/>
          </a:ln>
        </p:spPr>
      </p:cxnSp>
      <p:sp>
        <p:nvSpPr>
          <p:cNvPr id="61" name="Google Shape;61;g3d1eafd1ad1_0_0"/>
          <p:cNvSpPr/>
          <p:nvPr/>
        </p:nvSpPr>
        <p:spPr>
          <a:xfrm>
            <a:off x="3840409" y="1680158"/>
            <a:ext cx="1463100" cy="17832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g3d1eafd1ad1_0_0"/>
          <p:cNvSpPr/>
          <p:nvPr/>
        </p:nvSpPr>
        <p:spPr>
          <a:xfrm>
            <a:off x="3840409" y="1680158"/>
            <a:ext cx="1463100" cy="365700"/>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g3d1eafd1ad1_0_0"/>
          <p:cNvSpPr/>
          <p:nvPr/>
        </p:nvSpPr>
        <p:spPr>
          <a:xfrm>
            <a:off x="3840409" y="1680158"/>
            <a:ext cx="14631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3</a:t>
            </a:r>
            <a:endParaRPr b="0" i="0" sz="1400" u="none" cap="none" strike="noStrike">
              <a:solidFill>
                <a:schemeClr val="dk1"/>
              </a:solidFill>
              <a:latin typeface="Calibri"/>
              <a:ea typeface="Calibri"/>
              <a:cs typeface="Calibri"/>
              <a:sym typeface="Calibri"/>
            </a:endParaRPr>
          </a:p>
        </p:txBody>
      </p:sp>
      <p:sp>
        <p:nvSpPr>
          <p:cNvPr id="64" name="Google Shape;64;g3d1eafd1ad1_0_0"/>
          <p:cNvSpPr/>
          <p:nvPr/>
        </p:nvSpPr>
        <p:spPr>
          <a:xfrm>
            <a:off x="3840409" y="2082494"/>
            <a:ext cx="14631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300"/>
              <a:buFont typeface="Georgia"/>
              <a:buNone/>
            </a:pPr>
            <a:r>
              <a:rPr b="1" i="0" lang="en-US" sz="1300" u="none" cap="none" strike="noStrike">
                <a:solidFill>
                  <a:srgbClr val="0D1B2A"/>
                </a:solidFill>
                <a:latin typeface="Georgia"/>
                <a:ea typeface="Georgia"/>
                <a:cs typeface="Georgia"/>
                <a:sym typeface="Georgia"/>
              </a:rPr>
              <a:t>Extract</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D1B2A"/>
              </a:buClr>
              <a:buSzPts val="1300"/>
              <a:buFont typeface="Georgia"/>
              <a:buNone/>
            </a:pPr>
            <a:r>
              <a:rPr b="1" i="0" lang="en-US" sz="1300" u="none" cap="none" strike="noStrike">
                <a:solidFill>
                  <a:srgbClr val="0D1B2A"/>
                </a:solidFill>
                <a:latin typeface="Georgia"/>
                <a:ea typeface="Georgia"/>
                <a:cs typeface="Georgia"/>
                <a:sym typeface="Georgia"/>
              </a:rPr>
              <a:t>events</a:t>
            </a:r>
            <a:endParaRPr b="0" i="0" sz="1300" u="none" cap="none" strike="noStrike">
              <a:solidFill>
                <a:schemeClr val="dk1"/>
              </a:solidFill>
              <a:latin typeface="Calibri"/>
              <a:ea typeface="Calibri"/>
              <a:cs typeface="Calibri"/>
              <a:sym typeface="Calibri"/>
            </a:endParaRPr>
          </a:p>
        </p:txBody>
      </p:sp>
      <p:sp>
        <p:nvSpPr>
          <p:cNvPr id="65" name="Google Shape;65;g3d1eafd1ad1_0_0"/>
          <p:cNvSpPr/>
          <p:nvPr/>
        </p:nvSpPr>
        <p:spPr>
          <a:xfrm>
            <a:off x="3840409" y="2740862"/>
            <a:ext cx="1463100" cy="658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6A68"/>
              </a:buClr>
              <a:buSzPts val="1000"/>
              <a:buFont typeface="Calibri"/>
              <a:buNone/>
            </a:pPr>
            <a:r>
              <a:rPr b="0" i="0" lang="en-US" sz="1000" u="none" cap="none" strike="noStrike">
                <a:solidFill>
                  <a:srgbClr val="4A6A68"/>
                </a:solidFill>
                <a:latin typeface="Calibri"/>
                <a:ea typeface="Calibri"/>
                <a:cs typeface="Calibri"/>
                <a:sym typeface="Calibri"/>
              </a:rPr>
              <a:t>find every action</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6A68"/>
              </a:buClr>
              <a:buSzPts val="1000"/>
              <a:buFont typeface="Calibri"/>
              <a:buNone/>
            </a:pPr>
            <a:r>
              <a:rPr b="0" i="0" lang="en-US" sz="1000" u="none" cap="none" strike="noStrike">
                <a:solidFill>
                  <a:srgbClr val="4A6A68"/>
                </a:solidFill>
                <a:latin typeface="Calibri"/>
                <a:ea typeface="Calibri"/>
                <a:cs typeface="Calibri"/>
                <a:sym typeface="Calibri"/>
              </a:rPr>
              <a:t>or state</a:t>
            </a:r>
            <a:endParaRPr b="0" i="0" sz="1000" u="none" cap="none" strike="noStrike">
              <a:solidFill>
                <a:schemeClr val="dk1"/>
              </a:solidFill>
              <a:latin typeface="Calibri"/>
              <a:ea typeface="Calibri"/>
              <a:cs typeface="Calibri"/>
              <a:sym typeface="Calibri"/>
            </a:endParaRPr>
          </a:p>
        </p:txBody>
      </p:sp>
      <p:cxnSp>
        <p:nvCxnSpPr>
          <p:cNvPr id="66" name="Google Shape;66;g3d1eafd1ad1_0_0"/>
          <p:cNvCxnSpPr/>
          <p:nvPr/>
        </p:nvCxnSpPr>
        <p:spPr>
          <a:xfrm>
            <a:off x="5321737" y="2571698"/>
            <a:ext cx="128100" cy="0"/>
          </a:xfrm>
          <a:prstGeom prst="straightConnector1">
            <a:avLst/>
          </a:prstGeom>
          <a:noFill/>
          <a:ln cap="flat" cmpd="sng" w="31750">
            <a:solidFill>
              <a:srgbClr val="0A7A72"/>
            </a:solidFill>
            <a:prstDash val="solid"/>
            <a:round/>
            <a:headEnd len="sm" w="sm" type="none"/>
            <a:tailEnd len="sm" w="sm" type="none"/>
          </a:ln>
        </p:spPr>
      </p:cxnSp>
      <p:cxnSp>
        <p:nvCxnSpPr>
          <p:cNvPr id="67" name="Google Shape;67;g3d1eafd1ad1_0_0"/>
          <p:cNvCxnSpPr/>
          <p:nvPr/>
        </p:nvCxnSpPr>
        <p:spPr>
          <a:xfrm>
            <a:off x="5358313" y="2461970"/>
            <a:ext cx="118800" cy="109800"/>
          </a:xfrm>
          <a:prstGeom prst="straightConnector1">
            <a:avLst/>
          </a:prstGeom>
          <a:noFill/>
          <a:ln cap="flat" cmpd="sng" w="31750">
            <a:solidFill>
              <a:srgbClr val="0A7A72"/>
            </a:solidFill>
            <a:prstDash val="solid"/>
            <a:round/>
            <a:headEnd len="sm" w="sm" type="none"/>
            <a:tailEnd len="sm" w="sm" type="none"/>
          </a:ln>
        </p:spPr>
      </p:cxnSp>
      <p:cxnSp>
        <p:nvCxnSpPr>
          <p:cNvPr id="68" name="Google Shape;68;g3d1eafd1ad1_0_0"/>
          <p:cNvCxnSpPr/>
          <p:nvPr/>
        </p:nvCxnSpPr>
        <p:spPr>
          <a:xfrm flipH="1" rot="10800000">
            <a:off x="5358313" y="2571626"/>
            <a:ext cx="118800" cy="109800"/>
          </a:xfrm>
          <a:prstGeom prst="straightConnector1">
            <a:avLst/>
          </a:prstGeom>
          <a:noFill/>
          <a:ln cap="flat" cmpd="sng" w="31750">
            <a:solidFill>
              <a:srgbClr val="0A7A72"/>
            </a:solidFill>
            <a:prstDash val="solid"/>
            <a:round/>
            <a:headEnd len="sm" w="sm" type="none"/>
            <a:tailEnd len="sm" w="sm" type="none"/>
          </a:ln>
        </p:spPr>
      </p:cxnSp>
      <p:sp>
        <p:nvSpPr>
          <p:cNvPr id="69" name="Google Shape;69;g3d1eafd1ad1_0_0"/>
          <p:cNvSpPr/>
          <p:nvPr/>
        </p:nvSpPr>
        <p:spPr>
          <a:xfrm>
            <a:off x="5468041" y="1680158"/>
            <a:ext cx="1463100" cy="17832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g3d1eafd1ad1_0_0"/>
          <p:cNvSpPr/>
          <p:nvPr/>
        </p:nvSpPr>
        <p:spPr>
          <a:xfrm>
            <a:off x="5468041" y="1680158"/>
            <a:ext cx="1463100" cy="365700"/>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g3d1eafd1ad1_0_0"/>
          <p:cNvSpPr/>
          <p:nvPr/>
        </p:nvSpPr>
        <p:spPr>
          <a:xfrm>
            <a:off x="5468041" y="1680158"/>
            <a:ext cx="14631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4</a:t>
            </a:r>
            <a:endParaRPr b="0" i="0" sz="1400" u="none" cap="none" strike="noStrike">
              <a:solidFill>
                <a:schemeClr val="dk1"/>
              </a:solidFill>
              <a:latin typeface="Calibri"/>
              <a:ea typeface="Calibri"/>
              <a:cs typeface="Calibri"/>
              <a:sym typeface="Calibri"/>
            </a:endParaRPr>
          </a:p>
        </p:txBody>
      </p:sp>
      <p:sp>
        <p:nvSpPr>
          <p:cNvPr id="72" name="Google Shape;72;g3d1eafd1ad1_0_0"/>
          <p:cNvSpPr/>
          <p:nvPr/>
        </p:nvSpPr>
        <p:spPr>
          <a:xfrm>
            <a:off x="5468041" y="2082494"/>
            <a:ext cx="14631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300"/>
              <a:buFont typeface="Georgia"/>
              <a:buNone/>
            </a:pPr>
            <a:r>
              <a:rPr b="1" i="0" lang="en-US" sz="1300" u="none" cap="none" strike="noStrike">
                <a:solidFill>
                  <a:srgbClr val="0D1B2A"/>
                </a:solidFill>
                <a:latin typeface="Georgia"/>
                <a:ea typeface="Georgia"/>
                <a:cs typeface="Georgia"/>
                <a:sym typeface="Georgia"/>
              </a:rPr>
              <a:t>Extract</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D1B2A"/>
              </a:buClr>
              <a:buSzPts val="1300"/>
              <a:buFont typeface="Georgia"/>
              <a:buNone/>
            </a:pPr>
            <a:r>
              <a:rPr b="1" i="0" lang="en-US" sz="1300" u="none" cap="none" strike="noStrike">
                <a:solidFill>
                  <a:srgbClr val="0D1B2A"/>
                </a:solidFill>
                <a:latin typeface="Georgia"/>
                <a:ea typeface="Georgia"/>
                <a:cs typeface="Georgia"/>
                <a:sym typeface="Georgia"/>
              </a:rPr>
              <a:t>relations</a:t>
            </a:r>
            <a:endParaRPr b="0" i="0" sz="1300" u="none" cap="none" strike="noStrike">
              <a:solidFill>
                <a:schemeClr val="dk1"/>
              </a:solidFill>
              <a:latin typeface="Calibri"/>
              <a:ea typeface="Calibri"/>
              <a:cs typeface="Calibri"/>
              <a:sym typeface="Calibri"/>
            </a:endParaRPr>
          </a:p>
        </p:txBody>
      </p:sp>
      <p:sp>
        <p:nvSpPr>
          <p:cNvPr id="73" name="Google Shape;73;g3d1eafd1ad1_0_0"/>
          <p:cNvSpPr/>
          <p:nvPr/>
        </p:nvSpPr>
        <p:spPr>
          <a:xfrm>
            <a:off x="5468041" y="2740862"/>
            <a:ext cx="1463100" cy="658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6A68"/>
              </a:buClr>
              <a:buSzPts val="1000"/>
              <a:buFont typeface="Calibri"/>
              <a:buNone/>
            </a:pPr>
            <a:r>
              <a:rPr b="0" i="0" lang="en-US" sz="1000" u="none" cap="none" strike="noStrike">
                <a:solidFill>
                  <a:srgbClr val="4A6A68"/>
                </a:solidFill>
                <a:latin typeface="Calibri"/>
                <a:ea typeface="Calibri"/>
                <a:cs typeface="Calibri"/>
                <a:sym typeface="Calibri"/>
              </a:rPr>
              <a:t>link events that</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6A68"/>
              </a:buClr>
              <a:buSzPts val="1000"/>
              <a:buFont typeface="Calibri"/>
              <a:buNone/>
            </a:pPr>
            <a:r>
              <a:rPr b="0" i="0" lang="en-US" sz="1000" u="none" cap="none" strike="noStrike">
                <a:solidFill>
                  <a:srgbClr val="4A6A68"/>
                </a:solidFill>
                <a:latin typeface="Calibri"/>
                <a:ea typeface="Calibri"/>
                <a:cs typeface="Calibri"/>
                <a:sym typeface="Calibri"/>
              </a:rPr>
              <a:t>are connected</a:t>
            </a:r>
            <a:endParaRPr b="0" i="0" sz="1000" u="none" cap="none" strike="noStrike">
              <a:solidFill>
                <a:schemeClr val="dk1"/>
              </a:solidFill>
              <a:latin typeface="Calibri"/>
              <a:ea typeface="Calibri"/>
              <a:cs typeface="Calibri"/>
              <a:sym typeface="Calibri"/>
            </a:endParaRPr>
          </a:p>
        </p:txBody>
      </p:sp>
      <p:cxnSp>
        <p:nvCxnSpPr>
          <p:cNvPr id="74" name="Google Shape;74;g3d1eafd1ad1_0_0"/>
          <p:cNvCxnSpPr/>
          <p:nvPr/>
        </p:nvCxnSpPr>
        <p:spPr>
          <a:xfrm>
            <a:off x="6949369" y="2571698"/>
            <a:ext cx="128100" cy="0"/>
          </a:xfrm>
          <a:prstGeom prst="straightConnector1">
            <a:avLst/>
          </a:prstGeom>
          <a:noFill/>
          <a:ln cap="flat" cmpd="sng" w="31750">
            <a:solidFill>
              <a:srgbClr val="0A7A72"/>
            </a:solidFill>
            <a:prstDash val="solid"/>
            <a:round/>
            <a:headEnd len="sm" w="sm" type="none"/>
            <a:tailEnd len="sm" w="sm" type="none"/>
          </a:ln>
        </p:spPr>
      </p:cxnSp>
      <p:cxnSp>
        <p:nvCxnSpPr>
          <p:cNvPr id="75" name="Google Shape;75;g3d1eafd1ad1_0_0"/>
          <p:cNvCxnSpPr/>
          <p:nvPr/>
        </p:nvCxnSpPr>
        <p:spPr>
          <a:xfrm>
            <a:off x="6985945" y="2461970"/>
            <a:ext cx="118800" cy="109800"/>
          </a:xfrm>
          <a:prstGeom prst="straightConnector1">
            <a:avLst/>
          </a:prstGeom>
          <a:noFill/>
          <a:ln cap="flat" cmpd="sng" w="31750">
            <a:solidFill>
              <a:srgbClr val="0A7A72"/>
            </a:solidFill>
            <a:prstDash val="solid"/>
            <a:round/>
            <a:headEnd len="sm" w="sm" type="none"/>
            <a:tailEnd len="sm" w="sm" type="none"/>
          </a:ln>
        </p:spPr>
      </p:cxnSp>
      <p:cxnSp>
        <p:nvCxnSpPr>
          <p:cNvPr id="76" name="Google Shape;76;g3d1eafd1ad1_0_0"/>
          <p:cNvCxnSpPr/>
          <p:nvPr/>
        </p:nvCxnSpPr>
        <p:spPr>
          <a:xfrm flipH="1" rot="10800000">
            <a:off x="6985945" y="2571626"/>
            <a:ext cx="118800" cy="109800"/>
          </a:xfrm>
          <a:prstGeom prst="straightConnector1">
            <a:avLst/>
          </a:prstGeom>
          <a:noFill/>
          <a:ln cap="flat" cmpd="sng" w="31750">
            <a:solidFill>
              <a:srgbClr val="0A7A72"/>
            </a:solidFill>
            <a:prstDash val="solid"/>
            <a:round/>
            <a:headEnd len="sm" w="sm" type="none"/>
            <a:tailEnd len="sm" w="sm" type="none"/>
          </a:ln>
        </p:spPr>
      </p:cxnSp>
      <p:sp>
        <p:nvSpPr>
          <p:cNvPr id="77" name="Google Shape;77;g3d1eafd1ad1_0_0"/>
          <p:cNvSpPr/>
          <p:nvPr/>
        </p:nvSpPr>
        <p:spPr>
          <a:xfrm>
            <a:off x="7095673" y="1680158"/>
            <a:ext cx="1463100" cy="17832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3d1eafd1ad1_0_0"/>
          <p:cNvSpPr/>
          <p:nvPr/>
        </p:nvSpPr>
        <p:spPr>
          <a:xfrm>
            <a:off x="7095673" y="1680158"/>
            <a:ext cx="1463100" cy="365700"/>
          </a:xfrm>
          <a:prstGeom prst="rect">
            <a:avLst/>
          </a:prstGeom>
          <a:solidFill>
            <a:srgbClr val="E09B3D"/>
          </a:solidFill>
          <a:ln cap="flat" cmpd="sng" w="12700">
            <a:solidFill>
              <a:srgbClr val="E09B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d1eafd1ad1_0_0"/>
          <p:cNvSpPr/>
          <p:nvPr/>
        </p:nvSpPr>
        <p:spPr>
          <a:xfrm>
            <a:off x="7095673" y="1680158"/>
            <a:ext cx="14631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Georgia"/>
              <a:buNone/>
            </a:pPr>
            <a:r>
              <a:rPr b="1" i="0" lang="en-US" sz="1400" u="none" cap="none" strike="noStrike">
                <a:solidFill>
                  <a:srgbClr val="FFFFFF"/>
                </a:solidFill>
                <a:latin typeface="Georgia"/>
                <a:ea typeface="Georgia"/>
                <a:cs typeface="Georgia"/>
                <a:sym typeface="Georgia"/>
              </a:rPr>
              <a:t>5</a:t>
            </a:r>
            <a:endParaRPr b="0" i="0" sz="1400" u="none" cap="none" strike="noStrike">
              <a:solidFill>
                <a:schemeClr val="dk1"/>
              </a:solidFill>
              <a:latin typeface="Calibri"/>
              <a:ea typeface="Calibri"/>
              <a:cs typeface="Calibri"/>
              <a:sym typeface="Calibri"/>
            </a:endParaRPr>
          </a:p>
        </p:txBody>
      </p:sp>
      <p:sp>
        <p:nvSpPr>
          <p:cNvPr id="80" name="Google Shape;80;g3d1eafd1ad1_0_0"/>
          <p:cNvSpPr/>
          <p:nvPr/>
        </p:nvSpPr>
        <p:spPr>
          <a:xfrm>
            <a:off x="7095673" y="2082494"/>
            <a:ext cx="1463100" cy="64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300"/>
              <a:buFont typeface="Georgia"/>
              <a:buNone/>
            </a:pPr>
            <a:r>
              <a:rPr b="1" i="0" lang="en-US" sz="1300" u="none" cap="none" strike="noStrike">
                <a:solidFill>
                  <a:srgbClr val="0D1B2A"/>
                </a:solidFill>
                <a:latin typeface="Georgia"/>
                <a:ea typeface="Georgia"/>
                <a:cs typeface="Georgia"/>
                <a:sym typeface="Georgia"/>
              </a:rPr>
              <a:t>Build</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D1B2A"/>
              </a:buClr>
              <a:buSzPts val="1300"/>
              <a:buFont typeface="Georgia"/>
              <a:buNone/>
            </a:pPr>
            <a:r>
              <a:rPr b="1" i="0" lang="en-US" sz="1300" u="none" cap="none" strike="noStrike">
                <a:solidFill>
                  <a:srgbClr val="0D1B2A"/>
                </a:solidFill>
                <a:latin typeface="Georgia"/>
                <a:ea typeface="Georgia"/>
                <a:cs typeface="Georgia"/>
                <a:sym typeface="Georgia"/>
              </a:rPr>
              <a:t>the KG</a:t>
            </a:r>
            <a:endParaRPr b="0" i="0" sz="1300" u="none" cap="none" strike="noStrike">
              <a:solidFill>
                <a:schemeClr val="dk1"/>
              </a:solidFill>
              <a:latin typeface="Calibri"/>
              <a:ea typeface="Calibri"/>
              <a:cs typeface="Calibri"/>
              <a:sym typeface="Calibri"/>
            </a:endParaRPr>
          </a:p>
        </p:txBody>
      </p:sp>
      <p:sp>
        <p:nvSpPr>
          <p:cNvPr id="81" name="Google Shape;81;g3d1eafd1ad1_0_0"/>
          <p:cNvSpPr/>
          <p:nvPr/>
        </p:nvSpPr>
        <p:spPr>
          <a:xfrm>
            <a:off x="7095673" y="2740862"/>
            <a:ext cx="1463100" cy="658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6A68"/>
              </a:buClr>
              <a:buSzPts val="1000"/>
              <a:buFont typeface="Calibri"/>
              <a:buNone/>
            </a:pPr>
            <a:r>
              <a:rPr b="0" i="0" lang="en-US" sz="1000" u="none" cap="none" strike="noStrike">
                <a:solidFill>
                  <a:srgbClr val="4A6A68"/>
                </a:solidFill>
                <a:latin typeface="Calibri"/>
                <a:ea typeface="Calibri"/>
                <a:cs typeface="Calibri"/>
                <a:sym typeface="Calibri"/>
              </a:rPr>
              <a:t>store everything</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6A68"/>
              </a:buClr>
              <a:buSzPts val="1000"/>
              <a:buFont typeface="Calibri"/>
              <a:buNone/>
            </a:pPr>
            <a:r>
              <a:rPr b="0" i="0" lang="en-US" sz="1000" u="none" cap="none" strike="noStrike">
                <a:solidFill>
                  <a:srgbClr val="4A6A68"/>
                </a:solidFill>
                <a:latin typeface="Calibri"/>
                <a:ea typeface="Calibri"/>
                <a:cs typeface="Calibri"/>
                <a:sym typeface="Calibri"/>
              </a:rPr>
              <a:t>as a graph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sp>
        <p:nvSpPr>
          <p:cNvPr id="87" name="Google Shape;87;p2"/>
          <p:cNvSpPr/>
          <p:nvPr/>
        </p:nvSpPr>
        <p:spPr>
          <a:xfrm>
            <a:off x="0" y="0"/>
            <a:ext cx="9144000" cy="50292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365760" y="0"/>
            <a:ext cx="71323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Step 2 — Parsing</a:t>
            </a:r>
            <a:endParaRPr b="0" i="0" sz="1800" u="none" cap="none" strike="noStrike">
              <a:solidFill>
                <a:schemeClr val="dk1"/>
              </a:solidFill>
              <a:latin typeface="Calibri"/>
              <a:ea typeface="Calibri"/>
              <a:cs typeface="Calibri"/>
              <a:sym typeface="Calibri"/>
            </a:endParaRPr>
          </a:p>
        </p:txBody>
      </p:sp>
      <p:sp>
        <p:nvSpPr>
          <p:cNvPr id="89" name="Google Shape;89;p2"/>
          <p:cNvSpPr/>
          <p:nvPr/>
        </p:nvSpPr>
        <p:spPr>
          <a:xfrm>
            <a:off x="320090" y="865900"/>
            <a:ext cx="8503800" cy="10242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475538" y="893332"/>
            <a:ext cx="658500" cy="237600"/>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475538" y="893332"/>
            <a:ext cx="658500" cy="237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WHAT</a:t>
            </a:r>
            <a:endParaRPr b="0" i="0" sz="850" u="none" cap="none" strike="noStrike">
              <a:solidFill>
                <a:schemeClr val="dk1"/>
              </a:solidFill>
              <a:latin typeface="Calibri"/>
              <a:ea typeface="Calibri"/>
              <a:cs typeface="Calibri"/>
              <a:sym typeface="Calibri"/>
            </a:endParaRPr>
          </a:p>
        </p:txBody>
      </p:sp>
      <p:sp>
        <p:nvSpPr>
          <p:cNvPr id="92" name="Google Shape;92;p2"/>
          <p:cNvSpPr/>
          <p:nvPr/>
        </p:nvSpPr>
        <p:spPr>
          <a:xfrm>
            <a:off x="475538" y="1140220"/>
            <a:ext cx="8229600" cy="676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50">
                <a:solidFill>
                  <a:srgbClr val="1A2E2C"/>
                </a:solidFill>
                <a:latin typeface="Calibri"/>
                <a:ea typeface="Calibri"/>
                <a:cs typeface="Calibri"/>
                <a:sym typeface="Calibri"/>
              </a:rPr>
              <a:t>知識を抽出する前に、コンピュータは各文の文法構造を理解する必要がある。</a:t>
            </a:r>
            <a:br>
              <a:rPr lang="en-US" sz="1250">
                <a:solidFill>
                  <a:srgbClr val="1A2E2C"/>
                </a:solidFill>
                <a:latin typeface="Calibri"/>
                <a:ea typeface="Calibri"/>
                <a:cs typeface="Calibri"/>
                <a:sym typeface="Calibri"/>
              </a:rPr>
            </a:br>
            <a:r>
              <a:rPr lang="en-US" sz="1250">
                <a:solidFill>
                  <a:srgbClr val="1A2E2C"/>
                </a:solidFill>
                <a:latin typeface="Calibri"/>
                <a:ea typeface="Calibri"/>
                <a:cs typeface="Calibri"/>
                <a:sym typeface="Calibri"/>
              </a:rPr>
              <a:t>つまり、どの単語が動詞であるか、どれが主語であるか、そして単語同士がどのように関係しているかを把握する必要がある。</a:t>
            </a:r>
            <a:endParaRPr sz="1250">
              <a:solidFill>
                <a:srgbClr val="1A2E2C"/>
              </a:solidFill>
              <a:latin typeface="Calibri"/>
              <a:ea typeface="Calibri"/>
              <a:cs typeface="Calibri"/>
              <a:sym typeface="Calibri"/>
            </a:endParaRPr>
          </a:p>
        </p:txBody>
      </p:sp>
      <p:sp>
        <p:nvSpPr>
          <p:cNvPr id="93" name="Google Shape;93;p2"/>
          <p:cNvSpPr/>
          <p:nvPr/>
        </p:nvSpPr>
        <p:spPr>
          <a:xfrm>
            <a:off x="320100" y="1990595"/>
            <a:ext cx="8503800" cy="14349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475538" y="2018044"/>
            <a:ext cx="658500" cy="237600"/>
          </a:xfrm>
          <a:prstGeom prst="rect">
            <a:avLst/>
          </a:prstGeom>
          <a:solidFill>
            <a:srgbClr val="E09B3D"/>
          </a:solidFill>
          <a:ln cap="flat" cmpd="sng" w="12700">
            <a:solidFill>
              <a:srgbClr val="E09B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475538" y="2018044"/>
            <a:ext cx="658500" cy="237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WHY</a:t>
            </a:r>
            <a:endParaRPr b="0" i="0" sz="850" u="none" cap="none" strike="noStrike">
              <a:solidFill>
                <a:schemeClr val="dk1"/>
              </a:solidFill>
              <a:latin typeface="Calibri"/>
              <a:ea typeface="Calibri"/>
              <a:cs typeface="Calibri"/>
              <a:sym typeface="Calibri"/>
            </a:endParaRPr>
          </a:p>
        </p:txBody>
      </p:sp>
      <p:sp>
        <p:nvSpPr>
          <p:cNvPr id="96" name="Google Shape;96;p2"/>
          <p:cNvSpPr/>
          <p:nvPr/>
        </p:nvSpPr>
        <p:spPr>
          <a:xfrm>
            <a:off x="475550" y="2308217"/>
            <a:ext cx="8229600" cy="102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50">
                <a:solidFill>
                  <a:srgbClr val="1A2E2C"/>
                </a:solidFill>
                <a:latin typeface="Calibri"/>
                <a:ea typeface="Calibri"/>
                <a:cs typeface="Calibri"/>
                <a:sym typeface="Calibri"/>
              </a:rPr>
              <a:t>文法解析がなければ、コンピュータは単なる単語の並びとしてしか文を認識できない。</a:t>
            </a:r>
            <a:endParaRPr sz="1250">
              <a:solidFill>
                <a:srgbClr val="1A2E2C"/>
              </a:solidFill>
              <a:latin typeface="Calibri"/>
              <a:ea typeface="Calibri"/>
              <a:cs typeface="Calibri"/>
              <a:sym typeface="Calibri"/>
            </a:endParaRPr>
          </a:p>
          <a:p>
            <a:pPr indent="0" lvl="0" marL="0" rtl="0" algn="l">
              <a:spcBef>
                <a:spcPts val="1000"/>
              </a:spcBef>
              <a:spcAft>
                <a:spcPts val="0"/>
              </a:spcAft>
              <a:buClr>
                <a:schemeClr val="dk1"/>
              </a:buClr>
              <a:buSzPts val="1100"/>
              <a:buFont typeface="Arial"/>
              <a:buNone/>
            </a:pPr>
            <a:r>
              <a:rPr lang="en-US" sz="1250">
                <a:solidFill>
                  <a:srgbClr val="1A2E2C"/>
                </a:solidFill>
                <a:latin typeface="Calibri"/>
                <a:ea typeface="Calibri"/>
                <a:cs typeface="Calibri"/>
                <a:sym typeface="Calibri"/>
              </a:rPr>
              <a:t>例えば、</a:t>
            </a:r>
            <a:endParaRPr sz="1250">
              <a:solidFill>
                <a:srgbClr val="1A2E2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250">
                <a:solidFill>
                  <a:srgbClr val="1A2E2C"/>
                </a:solidFill>
                <a:latin typeface="Calibri"/>
                <a:ea typeface="Calibri"/>
                <a:cs typeface="Calibri"/>
                <a:sym typeface="Calibri"/>
              </a:rPr>
              <a:t>「dog bites man」</a:t>
            </a:r>
            <a:r>
              <a:rPr lang="en-US" sz="1250">
                <a:solidFill>
                  <a:srgbClr val="1A2E2C"/>
                </a:solidFill>
                <a:latin typeface="Calibri"/>
                <a:ea typeface="Calibri"/>
                <a:cs typeface="Calibri"/>
                <a:sym typeface="Calibri"/>
              </a:rPr>
              <a:t>と</a:t>
            </a:r>
            <a:r>
              <a:rPr b="1" lang="en-US" sz="1250">
                <a:solidFill>
                  <a:srgbClr val="1A2E2C"/>
                </a:solidFill>
                <a:latin typeface="Calibri"/>
                <a:ea typeface="Calibri"/>
                <a:cs typeface="Calibri"/>
                <a:sym typeface="Calibri"/>
              </a:rPr>
              <a:t>「man bites dog」</a:t>
            </a:r>
            <a:r>
              <a:rPr lang="en-US" sz="1250">
                <a:solidFill>
                  <a:srgbClr val="1A2E2C"/>
                </a:solidFill>
                <a:latin typeface="Calibri"/>
                <a:ea typeface="Calibri"/>
                <a:cs typeface="Calibri"/>
                <a:sym typeface="Calibri"/>
              </a:rPr>
              <a:t>が同じ出来事かどうかを判断できない。</a:t>
            </a:r>
            <a:endParaRPr sz="1250">
              <a:solidFill>
                <a:srgbClr val="1A2E2C"/>
              </a:solidFill>
              <a:latin typeface="Calibri"/>
              <a:ea typeface="Calibri"/>
              <a:cs typeface="Calibri"/>
              <a:sym typeface="Calibri"/>
            </a:endParaRPr>
          </a:p>
          <a:p>
            <a:pPr indent="0" lvl="0" marL="0" rtl="0" algn="l">
              <a:spcBef>
                <a:spcPts val="1000"/>
              </a:spcBef>
              <a:spcAft>
                <a:spcPts val="0"/>
              </a:spcAft>
              <a:buClr>
                <a:schemeClr val="dk1"/>
              </a:buClr>
              <a:buSzPts val="1100"/>
              <a:buFont typeface="Arial"/>
              <a:buNone/>
            </a:pPr>
            <a:r>
              <a:rPr lang="en-US" sz="1250">
                <a:solidFill>
                  <a:srgbClr val="1A2E2C"/>
                </a:solidFill>
                <a:latin typeface="Calibri"/>
                <a:ea typeface="Calibri"/>
                <a:cs typeface="Calibri"/>
                <a:sym typeface="Calibri"/>
              </a:rPr>
              <a:t>語順が意味を持つためである。構文解析は、この構造を明示的にし、機械が理解可能な形に変換する。</a:t>
            </a:r>
            <a:endParaRPr sz="1250">
              <a:solidFill>
                <a:srgbClr val="1A2E2C"/>
              </a:solidFill>
              <a:latin typeface="Calibri"/>
              <a:ea typeface="Calibri"/>
              <a:cs typeface="Calibri"/>
              <a:sym typeface="Calibri"/>
            </a:endParaRPr>
          </a:p>
        </p:txBody>
      </p:sp>
      <p:sp>
        <p:nvSpPr>
          <p:cNvPr id="97" name="Google Shape;97;p2"/>
          <p:cNvSpPr/>
          <p:nvPr/>
        </p:nvSpPr>
        <p:spPr>
          <a:xfrm>
            <a:off x="338450" y="3548300"/>
            <a:ext cx="8503800" cy="15360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493888" y="3575731"/>
            <a:ext cx="658500" cy="237600"/>
          </a:xfrm>
          <a:prstGeom prst="rect">
            <a:avLst/>
          </a:prstGeom>
          <a:solidFill>
            <a:srgbClr val="D95B5B"/>
          </a:solidFill>
          <a:ln cap="flat" cmpd="sng" w="12700">
            <a:solidFill>
              <a:srgbClr val="D95B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493888" y="3575731"/>
            <a:ext cx="658500" cy="237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HOW</a:t>
            </a:r>
            <a:endParaRPr b="0" i="0" sz="850" u="none" cap="none" strike="noStrike">
              <a:solidFill>
                <a:schemeClr val="dk1"/>
              </a:solidFill>
              <a:latin typeface="Calibri"/>
              <a:ea typeface="Calibri"/>
              <a:cs typeface="Calibri"/>
              <a:sym typeface="Calibri"/>
            </a:endParaRPr>
          </a:p>
        </p:txBody>
      </p:sp>
      <p:sp>
        <p:nvSpPr>
          <p:cNvPr id="100" name="Google Shape;100;p2"/>
          <p:cNvSpPr/>
          <p:nvPr/>
        </p:nvSpPr>
        <p:spPr>
          <a:xfrm>
            <a:off x="493900" y="3912730"/>
            <a:ext cx="8229600" cy="1081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50">
                <a:solidFill>
                  <a:srgbClr val="1A2E2C"/>
                </a:solidFill>
                <a:latin typeface="Calibri"/>
                <a:ea typeface="Calibri"/>
                <a:cs typeface="Calibri"/>
                <a:sym typeface="Calibri"/>
              </a:rPr>
              <a:t>ASERは</a:t>
            </a:r>
            <a:r>
              <a:rPr b="1" lang="en-US" sz="1250">
                <a:solidFill>
                  <a:srgbClr val="1A2E2C"/>
                </a:solidFill>
                <a:latin typeface="Calibri"/>
                <a:ea typeface="Calibri"/>
                <a:cs typeface="Calibri"/>
                <a:sym typeface="Calibri"/>
              </a:rPr>
              <a:t>Stanford CoreNLP</a:t>
            </a:r>
            <a:r>
              <a:rPr lang="en-US" sz="1250">
                <a:solidFill>
                  <a:srgbClr val="1A2E2C"/>
                </a:solidFill>
                <a:latin typeface="Calibri"/>
                <a:ea typeface="Calibri"/>
                <a:cs typeface="Calibri"/>
                <a:sym typeface="Calibri"/>
              </a:rPr>
              <a:t>（標準的なNLPツール）を使用し、各文を自動的に解析する。</a:t>
            </a:r>
            <a:endParaRPr sz="1250">
              <a:solidFill>
                <a:srgbClr val="1A2E2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50">
                <a:solidFill>
                  <a:srgbClr val="1A2E2C"/>
                </a:solidFill>
                <a:latin typeface="Calibri"/>
                <a:ea typeface="Calibri"/>
                <a:cs typeface="Calibri"/>
                <a:sym typeface="Calibri"/>
              </a:rPr>
              <a:t>以下の4つの処理を同時に実行する：</a:t>
            </a:r>
            <a:endParaRPr sz="1250">
              <a:solidFill>
                <a:srgbClr val="1A2E2C"/>
              </a:solidFill>
              <a:latin typeface="Calibri"/>
              <a:ea typeface="Calibri"/>
              <a:cs typeface="Calibri"/>
              <a:sym typeface="Calibri"/>
            </a:endParaRPr>
          </a:p>
          <a:p>
            <a:pPr indent="-307975" lvl="0" marL="457200" rtl="0" algn="l">
              <a:spcBef>
                <a:spcPts val="0"/>
              </a:spcBef>
              <a:spcAft>
                <a:spcPts val="0"/>
              </a:spcAft>
              <a:buClr>
                <a:srgbClr val="1A2E2C"/>
              </a:buClr>
              <a:buSzPts val="1250"/>
              <a:buFont typeface="Calibri"/>
              <a:buChar char="●"/>
            </a:pPr>
            <a:r>
              <a:rPr lang="en-US" sz="1250">
                <a:solidFill>
                  <a:srgbClr val="1A2E2C"/>
                </a:solidFill>
                <a:latin typeface="Calibri"/>
                <a:ea typeface="Calibri"/>
                <a:cs typeface="Calibri"/>
                <a:sym typeface="Calibri"/>
              </a:rPr>
              <a:t>Tokenisation, </a:t>
            </a:r>
            <a:endParaRPr sz="1250">
              <a:solidFill>
                <a:srgbClr val="1A2E2C"/>
              </a:solidFill>
              <a:latin typeface="Calibri"/>
              <a:ea typeface="Calibri"/>
              <a:cs typeface="Calibri"/>
              <a:sym typeface="Calibri"/>
            </a:endParaRPr>
          </a:p>
          <a:p>
            <a:pPr indent="-307975" lvl="0" marL="457200" rtl="0" algn="l">
              <a:spcBef>
                <a:spcPts val="0"/>
              </a:spcBef>
              <a:spcAft>
                <a:spcPts val="0"/>
              </a:spcAft>
              <a:buClr>
                <a:srgbClr val="1A2E2C"/>
              </a:buClr>
              <a:buSzPts val="1250"/>
              <a:buFont typeface="Calibri"/>
              <a:buChar char="●"/>
            </a:pPr>
            <a:r>
              <a:rPr lang="en-US" sz="1250">
                <a:solidFill>
                  <a:srgbClr val="1A2E2C"/>
                </a:solidFill>
                <a:latin typeface="Calibri"/>
                <a:ea typeface="Calibri"/>
                <a:cs typeface="Calibri"/>
                <a:sym typeface="Calibri"/>
              </a:rPr>
              <a:t>Part-of-speech tagging, </a:t>
            </a:r>
            <a:endParaRPr sz="1250">
              <a:solidFill>
                <a:srgbClr val="1A2E2C"/>
              </a:solidFill>
              <a:latin typeface="Calibri"/>
              <a:ea typeface="Calibri"/>
              <a:cs typeface="Calibri"/>
              <a:sym typeface="Calibri"/>
            </a:endParaRPr>
          </a:p>
          <a:p>
            <a:pPr indent="-307975" lvl="0" marL="457200" rtl="0" algn="l">
              <a:spcBef>
                <a:spcPts val="0"/>
              </a:spcBef>
              <a:spcAft>
                <a:spcPts val="0"/>
              </a:spcAft>
              <a:buClr>
                <a:srgbClr val="1A2E2C"/>
              </a:buClr>
              <a:buSzPts val="1250"/>
              <a:buFont typeface="Calibri"/>
              <a:buChar char="●"/>
            </a:pPr>
            <a:r>
              <a:rPr lang="en-US" sz="1250">
                <a:solidFill>
                  <a:srgbClr val="1A2E2C"/>
                </a:solidFill>
                <a:latin typeface="Calibri"/>
                <a:ea typeface="Calibri"/>
                <a:cs typeface="Calibri"/>
                <a:sym typeface="Calibri"/>
              </a:rPr>
              <a:t>Dependency parsing, </a:t>
            </a:r>
            <a:endParaRPr sz="1250">
              <a:solidFill>
                <a:srgbClr val="1A2E2C"/>
              </a:solidFill>
              <a:latin typeface="Calibri"/>
              <a:ea typeface="Calibri"/>
              <a:cs typeface="Calibri"/>
              <a:sym typeface="Calibri"/>
            </a:endParaRPr>
          </a:p>
          <a:p>
            <a:pPr indent="-307975" lvl="0" marL="457200" rtl="0" algn="l">
              <a:spcBef>
                <a:spcPts val="0"/>
              </a:spcBef>
              <a:spcAft>
                <a:spcPts val="0"/>
              </a:spcAft>
              <a:buClr>
                <a:srgbClr val="1A2E2C"/>
              </a:buClr>
              <a:buSzPts val="1250"/>
              <a:buFont typeface="Calibri"/>
              <a:buChar char="●"/>
            </a:pPr>
            <a:r>
              <a:rPr lang="en-US" sz="1250">
                <a:solidFill>
                  <a:srgbClr val="1A2E2C"/>
                </a:solidFill>
                <a:latin typeface="Calibri"/>
                <a:ea typeface="Calibri"/>
                <a:cs typeface="Calibri"/>
                <a:sym typeface="Calibri"/>
              </a:rPr>
              <a:t>Named entity recognition.</a:t>
            </a:r>
            <a:endParaRPr sz="1250">
              <a:solidFill>
                <a:srgbClr val="1A2E2C"/>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 name="Shape 105"/>
        <p:cNvGrpSpPr/>
        <p:nvPr/>
      </p:nvGrpSpPr>
      <p:grpSpPr>
        <a:xfrm>
          <a:off x="0" y="0"/>
          <a:ext cx="0" cy="0"/>
          <a:chOff x="0" y="0"/>
          <a:chExt cx="0" cy="0"/>
        </a:xfrm>
      </p:grpSpPr>
      <p:sp>
        <p:nvSpPr>
          <p:cNvPr id="106" name="Google Shape;106;p3"/>
          <p:cNvSpPr/>
          <p:nvPr/>
        </p:nvSpPr>
        <p:spPr>
          <a:xfrm>
            <a:off x="0" y="0"/>
            <a:ext cx="9144000" cy="50292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365760" y="0"/>
            <a:ext cx="71323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Step 2 — What Stanford CoreNLP produces</a:t>
            </a:r>
            <a:endParaRPr b="0" i="0" sz="1800" u="none" cap="none" strike="noStrike">
              <a:solidFill>
                <a:schemeClr val="dk1"/>
              </a:solidFill>
              <a:latin typeface="Calibri"/>
              <a:ea typeface="Calibri"/>
              <a:cs typeface="Calibri"/>
              <a:sym typeface="Calibri"/>
            </a:endParaRPr>
          </a:p>
        </p:txBody>
      </p:sp>
      <p:sp>
        <p:nvSpPr>
          <p:cNvPr id="108" name="Google Shape;108;p3"/>
          <p:cNvSpPr/>
          <p:nvPr/>
        </p:nvSpPr>
        <p:spPr>
          <a:xfrm>
            <a:off x="237750" y="594350"/>
            <a:ext cx="8668500" cy="4389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393188" y="594360"/>
            <a:ext cx="82296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1150"/>
              <a:buFont typeface="Calibri"/>
              <a:buNone/>
            </a:pPr>
            <a:r>
              <a:rPr b="0" i="1" lang="en-US" sz="1150" u="none" cap="none" strike="noStrike">
                <a:solidFill>
                  <a:srgbClr val="8FA6A4"/>
                </a:solidFill>
                <a:latin typeface="Calibri"/>
                <a:ea typeface="Calibri"/>
                <a:cs typeface="Calibri"/>
                <a:sym typeface="Calibri"/>
              </a:rPr>
              <a:t>Running example: </a:t>
            </a:r>
            <a:r>
              <a:rPr b="0" i="0" lang="en-US" sz="1150" u="none" cap="none" strike="noStrike">
                <a:solidFill>
                  <a:srgbClr val="C4ECEA"/>
                </a:solidFill>
                <a:latin typeface="Consolas"/>
                <a:ea typeface="Consolas"/>
                <a:cs typeface="Consolas"/>
                <a:sym typeface="Consolas"/>
              </a:rPr>
              <a:t>"He was tired. So he went to bed."</a:t>
            </a:r>
            <a:endParaRPr b="0" i="0" sz="1150" u="none" cap="none" strike="noStrike">
              <a:solidFill>
                <a:schemeClr val="dk1"/>
              </a:solidFill>
              <a:latin typeface="Calibri"/>
              <a:ea typeface="Calibri"/>
              <a:cs typeface="Calibri"/>
              <a:sym typeface="Calibri"/>
            </a:endParaRPr>
          </a:p>
        </p:txBody>
      </p:sp>
      <p:sp>
        <p:nvSpPr>
          <p:cNvPr id="110" name="Google Shape;110;p3"/>
          <p:cNvSpPr/>
          <p:nvPr/>
        </p:nvSpPr>
        <p:spPr>
          <a:xfrm>
            <a:off x="237750" y="1133850"/>
            <a:ext cx="8668500" cy="347400"/>
          </a:xfrm>
          <a:prstGeom prst="rect">
            <a:avLst/>
          </a:prstGeom>
          <a:solidFill>
            <a:srgbClr val="0A7A72">
              <a:alpha val="14901"/>
            </a:srgbClr>
          </a:solidFill>
          <a:ln cap="flat" cmpd="sng" w="12700">
            <a:solidFill>
              <a:srgbClr val="C4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393188" y="1133856"/>
            <a:ext cx="8229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A68"/>
              </a:buClr>
              <a:buSzPts val="1150"/>
              <a:buFont typeface="Calibri"/>
              <a:buNone/>
            </a:pPr>
            <a:r>
              <a:rPr b="0" i="1" lang="en-US" sz="1150" u="none" cap="none" strike="noStrike">
                <a:solidFill>
                  <a:srgbClr val="4A6A68"/>
                </a:solidFill>
                <a:latin typeface="Calibri"/>
                <a:ea typeface="Calibri"/>
                <a:cs typeface="Calibri"/>
                <a:sym typeface="Calibri"/>
              </a:rPr>
              <a:t>Focus sentence: </a:t>
            </a:r>
            <a:r>
              <a:rPr b="1" i="0" lang="en-US" sz="1150" u="none" cap="none" strike="noStrike">
                <a:solidFill>
                  <a:srgbClr val="0D1B2A"/>
                </a:solidFill>
                <a:latin typeface="Consolas"/>
                <a:ea typeface="Consolas"/>
                <a:cs typeface="Consolas"/>
                <a:sym typeface="Consolas"/>
              </a:rPr>
              <a:t>"He was tired."</a:t>
            </a:r>
            <a:endParaRPr b="0" i="0" sz="1150" u="none" cap="none" strike="noStrike">
              <a:solidFill>
                <a:schemeClr val="dk1"/>
              </a:solidFill>
              <a:latin typeface="Calibri"/>
              <a:ea typeface="Calibri"/>
              <a:cs typeface="Calibri"/>
              <a:sym typeface="Calibri"/>
            </a:endParaRPr>
          </a:p>
        </p:txBody>
      </p:sp>
      <p:sp>
        <p:nvSpPr>
          <p:cNvPr id="112" name="Google Shape;112;p3"/>
          <p:cNvSpPr/>
          <p:nvPr/>
        </p:nvSpPr>
        <p:spPr>
          <a:xfrm>
            <a:off x="237740" y="1572768"/>
            <a:ext cx="4251900" cy="16275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237740" y="1572768"/>
            <a:ext cx="4251900" cy="292500"/>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329180" y="1572768"/>
            <a:ext cx="40692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① Tokenisation + POS tagging</a:t>
            </a:r>
            <a:endParaRPr b="0" i="0" sz="1100" u="none" cap="none" strike="noStrike">
              <a:solidFill>
                <a:schemeClr val="dk1"/>
              </a:solidFill>
              <a:latin typeface="Calibri"/>
              <a:ea typeface="Calibri"/>
              <a:cs typeface="Calibri"/>
              <a:sym typeface="Calibri"/>
            </a:endParaRPr>
          </a:p>
        </p:txBody>
      </p:sp>
      <p:sp>
        <p:nvSpPr>
          <p:cNvPr id="115" name="Google Shape;115;p3"/>
          <p:cNvSpPr/>
          <p:nvPr/>
        </p:nvSpPr>
        <p:spPr>
          <a:xfrm>
            <a:off x="347468" y="1901952"/>
            <a:ext cx="40416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A68"/>
              </a:buClr>
              <a:buSzPts val="1050"/>
              <a:buFont typeface="Calibri"/>
              <a:buNone/>
            </a:pPr>
            <a:r>
              <a:rPr b="0" i="0" lang="en-US" sz="1050" u="none" cap="none" strike="noStrike">
                <a:solidFill>
                  <a:srgbClr val="4A6A68"/>
                </a:solidFill>
                <a:latin typeface="Calibri"/>
                <a:ea typeface="Calibri"/>
                <a:cs typeface="Calibri"/>
                <a:sym typeface="Calibri"/>
              </a:rPr>
              <a:t>What: Split the sentence into words and label each one with its grammatical role.</a:t>
            </a:r>
            <a:endParaRPr b="0" i="0" sz="1050" u="none" cap="none" strike="noStrike">
              <a:solidFill>
                <a:schemeClr val="dk1"/>
              </a:solidFill>
              <a:latin typeface="Calibri"/>
              <a:ea typeface="Calibri"/>
              <a:cs typeface="Calibri"/>
              <a:sym typeface="Calibri"/>
            </a:endParaRPr>
          </a:p>
        </p:txBody>
      </p:sp>
      <p:sp>
        <p:nvSpPr>
          <p:cNvPr id="116" name="Google Shape;116;p3"/>
          <p:cNvSpPr/>
          <p:nvPr/>
        </p:nvSpPr>
        <p:spPr>
          <a:xfrm>
            <a:off x="347468" y="2249424"/>
            <a:ext cx="4041600" cy="3108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384044" y="2249424"/>
            <a:ext cx="40050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ECEA"/>
              </a:buClr>
              <a:buSzPts val="950"/>
              <a:buFont typeface="Consolas"/>
              <a:buNone/>
            </a:pPr>
            <a:r>
              <a:rPr b="0" i="0" lang="en-US" sz="950" u="none" cap="none" strike="noStrike">
                <a:solidFill>
                  <a:srgbClr val="C4ECEA"/>
                </a:solidFill>
                <a:latin typeface="Consolas"/>
                <a:ea typeface="Consolas"/>
                <a:cs typeface="Consolas"/>
                <a:sym typeface="Consolas"/>
              </a:rPr>
              <a:t>He/PRONOUN   was/VERB   tired/ADJECTIVE</a:t>
            </a:r>
            <a:endParaRPr b="0" i="0" sz="950" u="none" cap="none" strike="noStrike">
              <a:solidFill>
                <a:schemeClr val="dk1"/>
              </a:solidFill>
              <a:latin typeface="Calibri"/>
              <a:ea typeface="Calibri"/>
              <a:cs typeface="Calibri"/>
              <a:sym typeface="Calibri"/>
            </a:endParaRPr>
          </a:p>
        </p:txBody>
      </p:sp>
      <p:sp>
        <p:nvSpPr>
          <p:cNvPr id="118" name="Google Shape;118;p3"/>
          <p:cNvSpPr/>
          <p:nvPr/>
        </p:nvSpPr>
        <p:spPr>
          <a:xfrm>
            <a:off x="347468" y="2596896"/>
            <a:ext cx="40416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2C"/>
              </a:buClr>
              <a:buSzPts val="1000"/>
              <a:buFont typeface="Calibri"/>
              <a:buNone/>
            </a:pPr>
            <a:r>
              <a:rPr b="0" i="1" lang="en-US" sz="1000" u="none" cap="none" strike="noStrike">
                <a:solidFill>
                  <a:srgbClr val="1A2E2C"/>
                </a:solidFill>
                <a:latin typeface="Calibri"/>
                <a:ea typeface="Calibri"/>
                <a:cs typeface="Calibri"/>
                <a:sym typeface="Calibri"/>
              </a:rPr>
              <a:t>Why it matters: Tells us the verb is 'was' and that 'tired' describes a state — not an action.</a:t>
            </a:r>
            <a:endParaRPr b="0" i="0" sz="1000" u="none" cap="none" strike="noStrike">
              <a:solidFill>
                <a:schemeClr val="dk1"/>
              </a:solidFill>
              <a:latin typeface="Calibri"/>
              <a:ea typeface="Calibri"/>
              <a:cs typeface="Calibri"/>
              <a:sym typeface="Calibri"/>
            </a:endParaRPr>
          </a:p>
        </p:txBody>
      </p:sp>
      <p:sp>
        <p:nvSpPr>
          <p:cNvPr id="119" name="Google Shape;119;p3"/>
          <p:cNvSpPr/>
          <p:nvPr/>
        </p:nvSpPr>
        <p:spPr>
          <a:xfrm>
            <a:off x="4654292" y="1572768"/>
            <a:ext cx="4251900" cy="16275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4654292" y="1572768"/>
            <a:ext cx="4251900" cy="292500"/>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4745732" y="1572768"/>
            <a:ext cx="40692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② Dependency tree</a:t>
            </a:r>
            <a:endParaRPr b="0" i="0" sz="1100" u="none" cap="none" strike="noStrike">
              <a:solidFill>
                <a:schemeClr val="dk1"/>
              </a:solidFill>
              <a:latin typeface="Calibri"/>
              <a:ea typeface="Calibri"/>
              <a:cs typeface="Calibri"/>
              <a:sym typeface="Calibri"/>
            </a:endParaRPr>
          </a:p>
        </p:txBody>
      </p:sp>
      <p:sp>
        <p:nvSpPr>
          <p:cNvPr id="122" name="Google Shape;122;p3"/>
          <p:cNvSpPr/>
          <p:nvPr/>
        </p:nvSpPr>
        <p:spPr>
          <a:xfrm>
            <a:off x="4764020" y="1901952"/>
            <a:ext cx="40416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A68"/>
              </a:buClr>
              <a:buSzPts val="1050"/>
              <a:buFont typeface="Calibri"/>
              <a:buNone/>
            </a:pPr>
            <a:r>
              <a:rPr b="0" i="0" lang="en-US" sz="1050" u="none" cap="none" strike="noStrike">
                <a:solidFill>
                  <a:srgbClr val="4A6A68"/>
                </a:solidFill>
                <a:latin typeface="Calibri"/>
                <a:ea typeface="Calibri"/>
                <a:cs typeface="Calibri"/>
                <a:sym typeface="Calibri"/>
              </a:rPr>
              <a:t>What: Draw arrows showing which word governs which other word.</a:t>
            </a:r>
            <a:endParaRPr b="0" i="0" sz="1050" u="none" cap="none" strike="noStrike">
              <a:solidFill>
                <a:schemeClr val="dk1"/>
              </a:solidFill>
              <a:latin typeface="Calibri"/>
              <a:ea typeface="Calibri"/>
              <a:cs typeface="Calibri"/>
              <a:sym typeface="Calibri"/>
            </a:endParaRPr>
          </a:p>
        </p:txBody>
      </p:sp>
      <p:sp>
        <p:nvSpPr>
          <p:cNvPr id="123" name="Google Shape;123;p3"/>
          <p:cNvSpPr/>
          <p:nvPr/>
        </p:nvSpPr>
        <p:spPr>
          <a:xfrm>
            <a:off x="4764020" y="2249424"/>
            <a:ext cx="4041600" cy="3108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4800596" y="2249424"/>
            <a:ext cx="40050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ECEA"/>
              </a:buClr>
              <a:buSzPts val="950"/>
              <a:buFont typeface="Consolas"/>
              <a:buNone/>
            </a:pPr>
            <a:r>
              <a:rPr b="0" i="0" lang="en-US" sz="950" u="none" cap="none" strike="noStrike">
                <a:solidFill>
                  <a:srgbClr val="C4ECEA"/>
                </a:solidFill>
                <a:latin typeface="Consolas"/>
                <a:ea typeface="Consolas"/>
                <a:cs typeface="Consolas"/>
                <a:sym typeface="Consolas"/>
              </a:rPr>
              <a:t>tired ← was ← He     (He is the subject of 'was tired')</a:t>
            </a:r>
            <a:endParaRPr b="0" i="0" sz="950" u="none" cap="none" strike="noStrike">
              <a:solidFill>
                <a:schemeClr val="dk1"/>
              </a:solidFill>
              <a:latin typeface="Calibri"/>
              <a:ea typeface="Calibri"/>
              <a:cs typeface="Calibri"/>
              <a:sym typeface="Calibri"/>
            </a:endParaRPr>
          </a:p>
        </p:txBody>
      </p:sp>
      <p:sp>
        <p:nvSpPr>
          <p:cNvPr id="125" name="Google Shape;125;p3"/>
          <p:cNvSpPr/>
          <p:nvPr/>
        </p:nvSpPr>
        <p:spPr>
          <a:xfrm>
            <a:off x="4764020" y="2596896"/>
            <a:ext cx="40416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2C"/>
              </a:buClr>
              <a:buSzPts val="1000"/>
              <a:buFont typeface="Calibri"/>
              <a:buNone/>
            </a:pPr>
            <a:r>
              <a:rPr b="0" i="1" lang="en-US" sz="1000" u="none" cap="none" strike="noStrike">
                <a:solidFill>
                  <a:srgbClr val="1A2E2C"/>
                </a:solidFill>
                <a:latin typeface="Calibri"/>
                <a:ea typeface="Calibri"/>
                <a:cs typeface="Calibri"/>
                <a:sym typeface="Calibri"/>
              </a:rPr>
              <a:t>Why it matters: Tells us WHO is experiencing the state — essential for knowing the event's participant.</a:t>
            </a:r>
            <a:endParaRPr b="0" i="0" sz="1000" u="none" cap="none" strike="noStrike">
              <a:solidFill>
                <a:schemeClr val="dk1"/>
              </a:solidFill>
              <a:latin typeface="Calibri"/>
              <a:ea typeface="Calibri"/>
              <a:cs typeface="Calibri"/>
              <a:sym typeface="Calibri"/>
            </a:endParaRPr>
          </a:p>
        </p:txBody>
      </p:sp>
      <p:sp>
        <p:nvSpPr>
          <p:cNvPr id="126" name="Google Shape;126;p3"/>
          <p:cNvSpPr txBox="1"/>
          <p:nvPr/>
        </p:nvSpPr>
        <p:spPr>
          <a:xfrm>
            <a:off x="329175" y="3200275"/>
            <a:ext cx="4224600" cy="22287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1200"/>
              </a:spcBef>
              <a:spcAft>
                <a:spcPts val="0"/>
              </a:spcAft>
              <a:buClr>
                <a:schemeClr val="dk1"/>
              </a:buClr>
              <a:buSzPts val="900"/>
              <a:buChar char="●"/>
            </a:pPr>
            <a:r>
              <a:rPr b="1" lang="en-US" sz="900">
                <a:solidFill>
                  <a:schemeClr val="dk1"/>
                </a:solidFill>
              </a:rPr>
              <a:t>He</a:t>
            </a:r>
            <a:r>
              <a:rPr lang="en-US" sz="900">
                <a:solidFill>
                  <a:schemeClr val="dk1"/>
                </a:solidFill>
              </a:rPr>
              <a:t> is a pronoun</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900">
                <a:solidFill>
                  <a:schemeClr val="dk1"/>
                </a:solidFill>
              </a:rPr>
              <a:t>was</a:t>
            </a:r>
            <a:r>
              <a:rPr lang="en-US" sz="900">
                <a:solidFill>
                  <a:schemeClr val="dk1"/>
                </a:solidFill>
              </a:rPr>
              <a:t> is a verb</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900">
                <a:solidFill>
                  <a:schemeClr val="dk1"/>
                </a:solidFill>
              </a:rPr>
              <a:t>tired</a:t>
            </a:r>
            <a:r>
              <a:rPr lang="en-US" sz="900">
                <a:solidFill>
                  <a:schemeClr val="dk1"/>
                </a:solidFill>
              </a:rPr>
              <a:t> is an adjective</a:t>
            </a:r>
            <a:endParaRPr sz="900">
              <a:solidFill>
                <a:schemeClr val="dk1"/>
              </a:solidFill>
            </a:endParaRPr>
          </a:p>
          <a:p>
            <a:pPr indent="0" lvl="0" marL="0" rtl="0" algn="l">
              <a:lnSpc>
                <a:spcPct val="115000"/>
              </a:lnSpc>
              <a:spcBef>
                <a:spcPts val="1200"/>
              </a:spcBef>
              <a:spcAft>
                <a:spcPts val="0"/>
              </a:spcAft>
              <a:buNone/>
            </a:pPr>
            <a:r>
              <a:rPr lang="en-US" sz="900">
                <a:solidFill>
                  <a:schemeClr val="dk1"/>
                </a:solidFill>
              </a:rPr>
              <a:t>This already gives the system useful information:</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US" sz="900">
                <a:solidFill>
                  <a:schemeClr val="dk1"/>
                </a:solidFill>
              </a:rPr>
              <a:t>it can recognize that the sentence is centered around </a:t>
            </a:r>
            <a:r>
              <a:rPr b="1" lang="en-US" sz="900">
                <a:solidFill>
                  <a:schemeClr val="dk1"/>
                </a:solidFill>
              </a:rPr>
              <a:t>was</a:t>
            </a:r>
            <a:endParaRPr b="1"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US" sz="900">
                <a:solidFill>
                  <a:schemeClr val="dk1"/>
                </a:solidFill>
              </a:rPr>
              <a:t>it can see that </a:t>
            </a:r>
            <a:r>
              <a:rPr b="1" lang="en-US" sz="900">
                <a:solidFill>
                  <a:schemeClr val="dk1"/>
                </a:solidFill>
              </a:rPr>
              <a:t>tired</a:t>
            </a:r>
            <a:r>
              <a:rPr lang="en-US" sz="900">
                <a:solidFill>
                  <a:schemeClr val="dk1"/>
                </a:solidFill>
              </a:rPr>
              <a:t> is describing a condition, not an action</a:t>
            </a:r>
            <a:endParaRPr sz="900">
              <a:solidFill>
                <a:schemeClr val="dk1"/>
              </a:solidFill>
            </a:endParaRPr>
          </a:p>
          <a:p>
            <a:pPr indent="0" lvl="0" marL="0" rtl="0" algn="l">
              <a:lnSpc>
                <a:spcPct val="115000"/>
              </a:lnSpc>
              <a:spcBef>
                <a:spcPts val="1200"/>
              </a:spcBef>
              <a:spcAft>
                <a:spcPts val="0"/>
              </a:spcAft>
              <a:buNone/>
            </a:pPr>
            <a:r>
              <a:rPr lang="en-US" sz="900">
                <a:solidFill>
                  <a:schemeClr val="dk1"/>
                </a:solidFill>
              </a:rPr>
              <a:t>That is why the slide says this tells us that </a:t>
            </a:r>
            <a:r>
              <a:rPr b="1" lang="en-US" sz="900">
                <a:solidFill>
                  <a:schemeClr val="dk1"/>
                </a:solidFill>
              </a:rPr>
              <a:t>“was” is the verb</a:t>
            </a:r>
            <a:r>
              <a:rPr lang="en-US" sz="900">
                <a:solidFill>
                  <a:schemeClr val="dk1"/>
                </a:solidFill>
              </a:rPr>
              <a:t> and </a:t>
            </a:r>
            <a:r>
              <a:rPr b="1" lang="en-US" sz="900">
                <a:solidFill>
                  <a:schemeClr val="dk1"/>
                </a:solidFill>
              </a:rPr>
              <a:t>“tired” describes a state, not an action</a:t>
            </a:r>
            <a:r>
              <a:rPr lang="en-US" sz="900">
                <a:solidFill>
                  <a:schemeClr val="dk1"/>
                </a:solidFill>
              </a:rPr>
              <a:t>.</a:t>
            </a:r>
            <a:endParaRPr sz="900">
              <a:solidFill>
                <a:schemeClr val="dk1"/>
              </a:solidFill>
            </a:endParaRPr>
          </a:p>
          <a:p>
            <a:pPr indent="0" lvl="0" marL="0" rtl="0" algn="l">
              <a:lnSpc>
                <a:spcPct val="100000"/>
              </a:lnSpc>
              <a:spcBef>
                <a:spcPts val="1200"/>
              </a:spcBef>
              <a:spcAft>
                <a:spcPts val="1200"/>
              </a:spcAft>
              <a:buNone/>
            </a:pPr>
            <a:r>
              <a:t/>
            </a:r>
            <a:endParaRPr sz="1000"/>
          </a:p>
        </p:txBody>
      </p:sp>
      <p:sp>
        <p:nvSpPr>
          <p:cNvPr id="127" name="Google Shape;127;p3"/>
          <p:cNvSpPr txBox="1"/>
          <p:nvPr/>
        </p:nvSpPr>
        <p:spPr>
          <a:xfrm>
            <a:off x="4672525" y="3200275"/>
            <a:ext cx="4224600" cy="189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900">
                <a:solidFill>
                  <a:schemeClr val="dk1"/>
                </a:solidFill>
              </a:rPr>
              <a:t>ASER wants to extract an eventuality such as:</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b="1" lang="en-US" sz="900">
                <a:solidFill>
                  <a:schemeClr val="dk1"/>
                </a:solidFill>
              </a:rPr>
              <a:t>he was tired</a:t>
            </a:r>
            <a:endParaRPr b="1" sz="900">
              <a:solidFill>
                <a:schemeClr val="dk1"/>
              </a:solidFill>
            </a:endParaRPr>
          </a:p>
          <a:p>
            <a:pPr indent="0" lvl="0" marL="0" rtl="0" algn="l">
              <a:lnSpc>
                <a:spcPct val="115000"/>
              </a:lnSpc>
              <a:spcBef>
                <a:spcPts val="1200"/>
              </a:spcBef>
              <a:spcAft>
                <a:spcPts val="0"/>
              </a:spcAft>
              <a:buNone/>
            </a:pPr>
            <a:r>
              <a:rPr lang="en-US" sz="900">
                <a:solidFill>
                  <a:schemeClr val="dk1"/>
                </a:solidFill>
              </a:rPr>
              <a:t>To build that, the system must know:</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US" sz="900">
                <a:solidFill>
                  <a:schemeClr val="dk1"/>
                </a:solidFill>
              </a:rPr>
              <a:t>the participant: </a:t>
            </a:r>
            <a:r>
              <a:rPr b="1" lang="en-US" sz="900">
                <a:solidFill>
                  <a:schemeClr val="dk1"/>
                </a:solidFill>
              </a:rPr>
              <a:t>he</a:t>
            </a:r>
            <a:endParaRPr b="1"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US" sz="900">
                <a:solidFill>
                  <a:schemeClr val="dk1"/>
                </a:solidFill>
              </a:rPr>
              <a:t>the predicate/state: </a:t>
            </a:r>
            <a:r>
              <a:rPr b="1" lang="en-US" sz="900">
                <a:solidFill>
                  <a:schemeClr val="dk1"/>
                </a:solidFill>
              </a:rPr>
              <a:t>was </a:t>
            </a:r>
            <a:r>
              <a:rPr b="1" lang="en-US" sz="900">
                <a:solidFill>
                  <a:schemeClr val="dk1"/>
                </a:solidFill>
              </a:rPr>
              <a:t>tired</a:t>
            </a:r>
            <a:endParaRPr b="1" sz="900">
              <a:solidFill>
                <a:schemeClr val="dk1"/>
              </a:solidFill>
            </a:endParaRPr>
          </a:p>
          <a:p>
            <a:pPr indent="0" lvl="0" marL="0" rtl="0" algn="l">
              <a:lnSpc>
                <a:spcPct val="115000"/>
              </a:lnSpc>
              <a:spcBef>
                <a:spcPts val="1200"/>
              </a:spcBef>
              <a:spcAft>
                <a:spcPts val="1200"/>
              </a:spcAft>
              <a:buNone/>
            </a:pPr>
            <a:r>
              <a:rPr lang="en-US" sz="900">
                <a:solidFill>
                  <a:schemeClr val="dk1"/>
                </a:solidFill>
              </a:rPr>
              <a:t>Dependency parsing gives that structure explicitly. Without it, the system would struggle to know whether “he” is the subject, object, or something else.</a:t>
            </a:r>
            <a:endParaRPr sz="9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g3d1eafd1ad1_0_74"/>
          <p:cNvSpPr/>
          <p:nvPr/>
        </p:nvSpPr>
        <p:spPr>
          <a:xfrm>
            <a:off x="0" y="0"/>
            <a:ext cx="9144000" cy="5028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d1eafd1ad1_0_74"/>
          <p:cNvSpPr/>
          <p:nvPr/>
        </p:nvSpPr>
        <p:spPr>
          <a:xfrm>
            <a:off x="365760" y="0"/>
            <a:ext cx="71322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Step 2 — What Stanford CoreNLP produces</a:t>
            </a:r>
            <a:endParaRPr b="0" i="0" sz="1800" u="none" cap="none" strike="noStrike">
              <a:solidFill>
                <a:schemeClr val="dk1"/>
              </a:solidFill>
              <a:latin typeface="Calibri"/>
              <a:ea typeface="Calibri"/>
              <a:cs typeface="Calibri"/>
              <a:sym typeface="Calibri"/>
            </a:endParaRPr>
          </a:p>
        </p:txBody>
      </p:sp>
      <p:sp>
        <p:nvSpPr>
          <p:cNvPr id="135" name="Google Shape;135;g3d1eafd1ad1_0_74"/>
          <p:cNvSpPr/>
          <p:nvPr/>
        </p:nvSpPr>
        <p:spPr>
          <a:xfrm>
            <a:off x="237775" y="578200"/>
            <a:ext cx="8668500" cy="4389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1eafd1ad1_0_74"/>
          <p:cNvSpPr/>
          <p:nvPr/>
        </p:nvSpPr>
        <p:spPr>
          <a:xfrm>
            <a:off x="393213" y="578210"/>
            <a:ext cx="82296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1150"/>
              <a:buFont typeface="Calibri"/>
              <a:buNone/>
            </a:pPr>
            <a:r>
              <a:rPr b="0" i="1" lang="en-US" sz="1150" u="none" cap="none" strike="noStrike">
                <a:solidFill>
                  <a:srgbClr val="8FA6A4"/>
                </a:solidFill>
                <a:latin typeface="Calibri"/>
                <a:ea typeface="Calibri"/>
                <a:cs typeface="Calibri"/>
                <a:sym typeface="Calibri"/>
              </a:rPr>
              <a:t>Running example: </a:t>
            </a:r>
            <a:r>
              <a:rPr b="0" i="0" lang="en-US" sz="1150" u="none" cap="none" strike="noStrike">
                <a:solidFill>
                  <a:srgbClr val="C4ECEA"/>
                </a:solidFill>
                <a:latin typeface="Consolas"/>
                <a:ea typeface="Consolas"/>
                <a:cs typeface="Consolas"/>
                <a:sym typeface="Consolas"/>
              </a:rPr>
              <a:t>"He was tired. So he went to bed."</a:t>
            </a:r>
            <a:endParaRPr b="0" i="0" sz="1150" u="none" cap="none" strike="noStrike">
              <a:solidFill>
                <a:schemeClr val="dk1"/>
              </a:solidFill>
              <a:latin typeface="Calibri"/>
              <a:ea typeface="Calibri"/>
              <a:cs typeface="Calibri"/>
              <a:sym typeface="Calibri"/>
            </a:endParaRPr>
          </a:p>
        </p:txBody>
      </p:sp>
      <p:sp>
        <p:nvSpPr>
          <p:cNvPr id="137" name="Google Shape;137;g3d1eafd1ad1_0_74"/>
          <p:cNvSpPr/>
          <p:nvPr/>
        </p:nvSpPr>
        <p:spPr>
          <a:xfrm>
            <a:off x="237775" y="1117700"/>
            <a:ext cx="8668500" cy="347400"/>
          </a:xfrm>
          <a:prstGeom prst="rect">
            <a:avLst/>
          </a:prstGeom>
          <a:solidFill>
            <a:srgbClr val="0A7A72">
              <a:alpha val="14900"/>
            </a:srgbClr>
          </a:solidFill>
          <a:ln cap="flat" cmpd="sng" w="12700">
            <a:solidFill>
              <a:srgbClr val="C4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d1eafd1ad1_0_74"/>
          <p:cNvSpPr/>
          <p:nvPr/>
        </p:nvSpPr>
        <p:spPr>
          <a:xfrm>
            <a:off x="393213" y="1117706"/>
            <a:ext cx="8229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A68"/>
              </a:buClr>
              <a:buSzPts val="1150"/>
              <a:buFont typeface="Calibri"/>
              <a:buNone/>
            </a:pPr>
            <a:r>
              <a:rPr b="0" i="1" lang="en-US" sz="1150" u="none" cap="none" strike="noStrike">
                <a:solidFill>
                  <a:srgbClr val="4A6A68"/>
                </a:solidFill>
                <a:latin typeface="Calibri"/>
                <a:ea typeface="Calibri"/>
                <a:cs typeface="Calibri"/>
                <a:sym typeface="Calibri"/>
              </a:rPr>
              <a:t>Focus sentence: </a:t>
            </a:r>
            <a:r>
              <a:rPr b="1" i="0" lang="en-US" sz="1150" u="none" cap="none" strike="noStrike">
                <a:solidFill>
                  <a:srgbClr val="0D1B2A"/>
                </a:solidFill>
                <a:latin typeface="Consolas"/>
                <a:ea typeface="Consolas"/>
                <a:cs typeface="Consolas"/>
                <a:sym typeface="Consolas"/>
              </a:rPr>
              <a:t>"He was tired."</a:t>
            </a:r>
            <a:endParaRPr b="0" i="0" sz="1150" u="none" cap="none" strike="noStrike">
              <a:solidFill>
                <a:schemeClr val="dk1"/>
              </a:solidFill>
              <a:latin typeface="Calibri"/>
              <a:ea typeface="Calibri"/>
              <a:cs typeface="Calibri"/>
              <a:sym typeface="Calibri"/>
            </a:endParaRPr>
          </a:p>
        </p:txBody>
      </p:sp>
      <p:sp>
        <p:nvSpPr>
          <p:cNvPr id="139" name="Google Shape;139;g3d1eafd1ad1_0_74"/>
          <p:cNvSpPr/>
          <p:nvPr/>
        </p:nvSpPr>
        <p:spPr>
          <a:xfrm>
            <a:off x="237765" y="1612865"/>
            <a:ext cx="4251900" cy="16275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d1eafd1ad1_0_74"/>
          <p:cNvSpPr/>
          <p:nvPr/>
        </p:nvSpPr>
        <p:spPr>
          <a:xfrm>
            <a:off x="237765" y="1612865"/>
            <a:ext cx="4251900" cy="292500"/>
          </a:xfrm>
          <a:prstGeom prst="rect">
            <a:avLst/>
          </a:prstGeom>
          <a:solidFill>
            <a:srgbClr val="E09B3D"/>
          </a:solidFill>
          <a:ln cap="flat" cmpd="sng" w="12700">
            <a:solidFill>
              <a:srgbClr val="E09B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g3d1eafd1ad1_0_74"/>
          <p:cNvSpPr/>
          <p:nvPr/>
        </p:nvSpPr>
        <p:spPr>
          <a:xfrm>
            <a:off x="329205" y="1612865"/>
            <a:ext cx="40692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③ Constituency parse</a:t>
            </a:r>
            <a:endParaRPr b="0" i="0" sz="1100" u="none" cap="none" strike="noStrike">
              <a:solidFill>
                <a:schemeClr val="dk1"/>
              </a:solidFill>
              <a:latin typeface="Calibri"/>
              <a:ea typeface="Calibri"/>
              <a:cs typeface="Calibri"/>
              <a:sym typeface="Calibri"/>
            </a:endParaRPr>
          </a:p>
        </p:txBody>
      </p:sp>
      <p:sp>
        <p:nvSpPr>
          <p:cNvPr id="142" name="Google Shape;142;g3d1eafd1ad1_0_74"/>
          <p:cNvSpPr/>
          <p:nvPr/>
        </p:nvSpPr>
        <p:spPr>
          <a:xfrm>
            <a:off x="347493" y="1942049"/>
            <a:ext cx="40416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A68"/>
              </a:buClr>
              <a:buSzPts val="1050"/>
              <a:buFont typeface="Calibri"/>
              <a:buNone/>
            </a:pPr>
            <a:r>
              <a:rPr b="0" i="0" lang="en-US" sz="1050" u="none" cap="none" strike="noStrike">
                <a:solidFill>
                  <a:srgbClr val="4A6A68"/>
                </a:solidFill>
                <a:latin typeface="Calibri"/>
                <a:ea typeface="Calibri"/>
                <a:cs typeface="Calibri"/>
                <a:sym typeface="Calibri"/>
              </a:rPr>
              <a:t>What: Group words into nested phrases (noun phrase, verb phrase, etc.).</a:t>
            </a:r>
            <a:endParaRPr b="0" i="0" sz="1050" u="none" cap="none" strike="noStrike">
              <a:solidFill>
                <a:schemeClr val="dk1"/>
              </a:solidFill>
              <a:latin typeface="Calibri"/>
              <a:ea typeface="Calibri"/>
              <a:cs typeface="Calibri"/>
              <a:sym typeface="Calibri"/>
            </a:endParaRPr>
          </a:p>
        </p:txBody>
      </p:sp>
      <p:sp>
        <p:nvSpPr>
          <p:cNvPr id="143" name="Google Shape;143;g3d1eafd1ad1_0_74"/>
          <p:cNvSpPr/>
          <p:nvPr/>
        </p:nvSpPr>
        <p:spPr>
          <a:xfrm>
            <a:off x="347493" y="2289521"/>
            <a:ext cx="4041600" cy="3108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d1eafd1ad1_0_74"/>
          <p:cNvSpPr/>
          <p:nvPr/>
        </p:nvSpPr>
        <p:spPr>
          <a:xfrm>
            <a:off x="384069" y="2289521"/>
            <a:ext cx="40050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ECEA"/>
              </a:buClr>
              <a:buSzPts val="950"/>
              <a:buFont typeface="Consolas"/>
              <a:buNone/>
            </a:pPr>
            <a:r>
              <a:rPr b="0" i="0" lang="en-US" sz="950" u="none" cap="none" strike="noStrike">
                <a:solidFill>
                  <a:srgbClr val="C4ECEA"/>
                </a:solidFill>
                <a:latin typeface="Consolas"/>
                <a:ea typeface="Consolas"/>
                <a:cs typeface="Consolas"/>
                <a:sym typeface="Consolas"/>
              </a:rPr>
              <a:t>(S  (NP He)  (VP was  (ADJP tired)))</a:t>
            </a:r>
            <a:endParaRPr b="0" i="0" sz="950" u="none" cap="none" strike="noStrike">
              <a:solidFill>
                <a:schemeClr val="dk1"/>
              </a:solidFill>
              <a:latin typeface="Calibri"/>
              <a:ea typeface="Calibri"/>
              <a:cs typeface="Calibri"/>
              <a:sym typeface="Calibri"/>
            </a:endParaRPr>
          </a:p>
        </p:txBody>
      </p:sp>
      <p:sp>
        <p:nvSpPr>
          <p:cNvPr id="145" name="Google Shape;145;g3d1eafd1ad1_0_74"/>
          <p:cNvSpPr/>
          <p:nvPr/>
        </p:nvSpPr>
        <p:spPr>
          <a:xfrm>
            <a:off x="347493" y="2636993"/>
            <a:ext cx="40416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2C"/>
              </a:buClr>
              <a:buSzPts val="1000"/>
              <a:buFont typeface="Calibri"/>
              <a:buNone/>
            </a:pPr>
            <a:r>
              <a:rPr b="0" i="1" lang="en-US" sz="1000" u="none" cap="none" strike="noStrike">
                <a:solidFill>
                  <a:srgbClr val="1A2E2C"/>
                </a:solidFill>
                <a:latin typeface="Calibri"/>
                <a:ea typeface="Calibri"/>
                <a:cs typeface="Calibri"/>
                <a:sym typeface="Calibri"/>
              </a:rPr>
              <a:t>Why it matters: Used in ASER v2 to detect embedded clauses that the simpler rules in v1 missed.</a:t>
            </a:r>
            <a:endParaRPr b="0" i="0" sz="1000" u="none" cap="none" strike="noStrike">
              <a:solidFill>
                <a:schemeClr val="dk1"/>
              </a:solidFill>
              <a:latin typeface="Calibri"/>
              <a:ea typeface="Calibri"/>
              <a:cs typeface="Calibri"/>
              <a:sym typeface="Calibri"/>
            </a:endParaRPr>
          </a:p>
        </p:txBody>
      </p:sp>
      <p:sp>
        <p:nvSpPr>
          <p:cNvPr id="146" name="Google Shape;146;g3d1eafd1ad1_0_74"/>
          <p:cNvSpPr/>
          <p:nvPr/>
        </p:nvSpPr>
        <p:spPr>
          <a:xfrm>
            <a:off x="4654317" y="1612865"/>
            <a:ext cx="4251900" cy="16275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d1eafd1ad1_0_74"/>
          <p:cNvSpPr/>
          <p:nvPr/>
        </p:nvSpPr>
        <p:spPr>
          <a:xfrm>
            <a:off x="4654317" y="1612865"/>
            <a:ext cx="4251900" cy="292500"/>
          </a:xfrm>
          <a:prstGeom prst="rect">
            <a:avLst/>
          </a:prstGeom>
          <a:solidFill>
            <a:srgbClr val="E09B3D"/>
          </a:solidFill>
          <a:ln cap="flat" cmpd="sng" w="12700">
            <a:solidFill>
              <a:srgbClr val="E09B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d1eafd1ad1_0_74"/>
          <p:cNvSpPr/>
          <p:nvPr/>
        </p:nvSpPr>
        <p:spPr>
          <a:xfrm>
            <a:off x="4745757" y="1612865"/>
            <a:ext cx="40692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④ Named entity recognition (NER)</a:t>
            </a:r>
            <a:endParaRPr b="0" i="0" sz="1100" u="none" cap="none" strike="noStrike">
              <a:solidFill>
                <a:schemeClr val="dk1"/>
              </a:solidFill>
              <a:latin typeface="Calibri"/>
              <a:ea typeface="Calibri"/>
              <a:cs typeface="Calibri"/>
              <a:sym typeface="Calibri"/>
            </a:endParaRPr>
          </a:p>
        </p:txBody>
      </p:sp>
      <p:sp>
        <p:nvSpPr>
          <p:cNvPr id="149" name="Google Shape;149;g3d1eafd1ad1_0_74"/>
          <p:cNvSpPr/>
          <p:nvPr/>
        </p:nvSpPr>
        <p:spPr>
          <a:xfrm>
            <a:off x="4764045" y="1942049"/>
            <a:ext cx="40416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A68"/>
              </a:buClr>
              <a:buSzPts val="1050"/>
              <a:buFont typeface="Calibri"/>
              <a:buNone/>
            </a:pPr>
            <a:r>
              <a:rPr b="0" i="0" lang="en-US" sz="1050" u="none" cap="none" strike="noStrike">
                <a:solidFill>
                  <a:srgbClr val="4A6A68"/>
                </a:solidFill>
                <a:latin typeface="Calibri"/>
                <a:ea typeface="Calibri"/>
                <a:cs typeface="Calibri"/>
                <a:sym typeface="Calibri"/>
              </a:rPr>
              <a:t>What: Identify proper names — people, places, organisations.</a:t>
            </a:r>
            <a:endParaRPr b="0" i="0" sz="1050" u="none" cap="none" strike="noStrike">
              <a:solidFill>
                <a:schemeClr val="dk1"/>
              </a:solidFill>
              <a:latin typeface="Calibri"/>
              <a:ea typeface="Calibri"/>
              <a:cs typeface="Calibri"/>
              <a:sym typeface="Calibri"/>
            </a:endParaRPr>
          </a:p>
        </p:txBody>
      </p:sp>
      <p:sp>
        <p:nvSpPr>
          <p:cNvPr id="150" name="Google Shape;150;g3d1eafd1ad1_0_74"/>
          <p:cNvSpPr/>
          <p:nvPr/>
        </p:nvSpPr>
        <p:spPr>
          <a:xfrm>
            <a:off x="4764045" y="2289521"/>
            <a:ext cx="4041600" cy="3108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d1eafd1ad1_0_74"/>
          <p:cNvSpPr/>
          <p:nvPr/>
        </p:nvSpPr>
        <p:spPr>
          <a:xfrm>
            <a:off x="4800621" y="2289521"/>
            <a:ext cx="40050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4ECEA"/>
              </a:buClr>
              <a:buSzPts val="950"/>
              <a:buFont typeface="Consolas"/>
              <a:buNone/>
            </a:pPr>
            <a:r>
              <a:rPr b="0" i="0" lang="en-US" sz="950" u="none" cap="none" strike="noStrike">
                <a:solidFill>
                  <a:srgbClr val="C4ECEA"/>
                </a:solidFill>
                <a:latin typeface="Consolas"/>
                <a:ea typeface="Consolas"/>
                <a:cs typeface="Consolas"/>
                <a:sym typeface="Consolas"/>
              </a:rPr>
              <a:t>He/O   was/O   tired/O     (O = no entity here)</a:t>
            </a:r>
            <a:endParaRPr b="0" i="0" sz="950" u="none" cap="none" strike="noStrike">
              <a:solidFill>
                <a:schemeClr val="dk1"/>
              </a:solidFill>
              <a:latin typeface="Calibri"/>
              <a:ea typeface="Calibri"/>
              <a:cs typeface="Calibri"/>
              <a:sym typeface="Calibri"/>
            </a:endParaRPr>
          </a:p>
        </p:txBody>
      </p:sp>
      <p:sp>
        <p:nvSpPr>
          <p:cNvPr id="152" name="Google Shape;152;g3d1eafd1ad1_0_74"/>
          <p:cNvSpPr/>
          <p:nvPr/>
        </p:nvSpPr>
        <p:spPr>
          <a:xfrm>
            <a:off x="4764045" y="2636993"/>
            <a:ext cx="4041600" cy="53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E2C"/>
              </a:buClr>
              <a:buSzPts val="1000"/>
              <a:buFont typeface="Calibri"/>
              <a:buNone/>
            </a:pPr>
            <a:r>
              <a:rPr b="0" i="1" lang="en-US" sz="1000" u="none" cap="none" strike="noStrike">
                <a:solidFill>
                  <a:srgbClr val="1A2E2C"/>
                </a:solidFill>
                <a:latin typeface="Calibri"/>
                <a:ea typeface="Calibri"/>
                <a:cs typeface="Calibri"/>
                <a:sym typeface="Calibri"/>
              </a:rPr>
              <a:t>Why it matters: Later used in conceptualisation to replace 'John' with [PERSON], 'Paris' with [CITY], etc.</a:t>
            </a:r>
            <a:endParaRPr b="0" i="0" sz="1000" u="none" cap="none" strike="noStrike">
              <a:solidFill>
                <a:schemeClr val="dk1"/>
              </a:solidFill>
              <a:latin typeface="Calibri"/>
              <a:ea typeface="Calibri"/>
              <a:cs typeface="Calibri"/>
              <a:sym typeface="Calibri"/>
            </a:endParaRPr>
          </a:p>
        </p:txBody>
      </p:sp>
      <p:pic>
        <p:nvPicPr>
          <p:cNvPr id="153" name="Google Shape;153;g3d1eafd1ad1_0_74"/>
          <p:cNvPicPr preferRelativeResize="0"/>
          <p:nvPr/>
        </p:nvPicPr>
        <p:blipFill>
          <a:blip r:embed="rId3">
            <a:alphaModFix/>
          </a:blip>
          <a:stretch>
            <a:fillRect/>
          </a:stretch>
        </p:blipFill>
        <p:spPr>
          <a:xfrm>
            <a:off x="4654325" y="3388150"/>
            <a:ext cx="4251901" cy="1528284"/>
          </a:xfrm>
          <a:prstGeom prst="rect">
            <a:avLst/>
          </a:prstGeom>
          <a:noFill/>
          <a:ln>
            <a:noFill/>
          </a:ln>
        </p:spPr>
      </p:pic>
      <p:sp>
        <p:nvSpPr>
          <p:cNvPr id="154" name="Google Shape;154;g3d1eafd1ad1_0_74"/>
          <p:cNvSpPr txBox="1"/>
          <p:nvPr/>
        </p:nvSpPr>
        <p:spPr>
          <a:xfrm>
            <a:off x="237775" y="3279138"/>
            <a:ext cx="4145700" cy="1847700"/>
          </a:xfrm>
          <a:prstGeom prst="rect">
            <a:avLst/>
          </a:prstGeom>
          <a:noFill/>
          <a:ln>
            <a:noFill/>
          </a:ln>
        </p:spPr>
        <p:txBody>
          <a:bodyPr anchorCtr="0" anchor="t" bIns="91425" lIns="91425" spcFirstLastPara="1" rIns="91425" wrap="square" tIns="91425">
            <a:spAutoFit/>
          </a:bodyPr>
          <a:lstStyle/>
          <a:p>
            <a:pPr indent="-285750" lvl="0" marL="457200" rtl="0" algn="l">
              <a:lnSpc>
                <a:spcPct val="115000"/>
              </a:lnSpc>
              <a:spcBef>
                <a:spcPts val="1200"/>
              </a:spcBef>
              <a:spcAft>
                <a:spcPts val="0"/>
              </a:spcAft>
              <a:buClr>
                <a:schemeClr val="dk1"/>
              </a:buClr>
              <a:buSzPts val="900"/>
              <a:buChar char="●"/>
            </a:pPr>
            <a:r>
              <a:rPr b="1" lang="en-US" sz="900">
                <a:solidFill>
                  <a:schemeClr val="dk1"/>
                </a:solidFill>
              </a:rPr>
              <a:t>S </a:t>
            </a:r>
            <a:r>
              <a:rPr lang="en-US" sz="900">
                <a:solidFill>
                  <a:schemeClr val="dk1"/>
                </a:solidFill>
              </a:rPr>
              <a:t>は文（Sentence）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900">
                <a:solidFill>
                  <a:schemeClr val="dk1"/>
                </a:solidFill>
              </a:rPr>
              <a:t>NP </a:t>
            </a:r>
            <a:r>
              <a:rPr lang="en-US" sz="900">
                <a:solidFill>
                  <a:schemeClr val="dk1"/>
                </a:solidFill>
              </a:rPr>
              <a:t>は名詞句（Noun Phrase）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900">
                <a:solidFill>
                  <a:schemeClr val="dk1"/>
                </a:solidFill>
              </a:rPr>
              <a:t>VP </a:t>
            </a:r>
            <a:r>
              <a:rPr lang="en-US" sz="900">
                <a:solidFill>
                  <a:schemeClr val="dk1"/>
                </a:solidFill>
              </a:rPr>
              <a:t>は動詞句（Verb Phrase）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b="1" lang="en-US" sz="900">
                <a:solidFill>
                  <a:schemeClr val="dk1"/>
                </a:solidFill>
              </a:rPr>
              <a:t>ADJP </a:t>
            </a:r>
            <a:r>
              <a:rPr lang="en-US" sz="900">
                <a:solidFill>
                  <a:schemeClr val="dk1"/>
                </a:solidFill>
              </a:rPr>
              <a:t>は形容詞句（Adjective Phrase）</a:t>
            </a:r>
            <a:endParaRPr sz="900">
              <a:solidFill>
                <a:schemeClr val="dk1"/>
              </a:solidFill>
            </a:endParaRPr>
          </a:p>
          <a:p>
            <a:pPr indent="0" lvl="0" marL="0" rtl="0" algn="l">
              <a:lnSpc>
                <a:spcPct val="115000"/>
              </a:lnSpc>
              <a:spcBef>
                <a:spcPts val="1200"/>
              </a:spcBef>
              <a:spcAft>
                <a:spcPts val="0"/>
              </a:spcAft>
              <a:buNone/>
            </a:pPr>
            <a:r>
              <a:rPr lang="en-US" sz="900">
                <a:solidFill>
                  <a:schemeClr val="dk1"/>
                </a:solidFill>
              </a:rPr>
              <a:t>この例では、</a:t>
            </a:r>
            <a:endParaRPr sz="9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900">
                <a:solidFill>
                  <a:schemeClr val="dk1"/>
                </a:solidFill>
              </a:rPr>
              <a:t>“He” が名詞句</a:t>
            </a:r>
            <a:endParaRPr sz="9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900">
                <a:solidFill>
                  <a:schemeClr val="dk1"/>
                </a:solidFill>
              </a:rPr>
              <a:t>“was tired” が動詞句</a:t>
            </a:r>
            <a:endParaRPr sz="9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900">
                <a:solidFill>
                  <a:schemeClr val="dk1"/>
                </a:solidFill>
              </a:rPr>
              <a:t>“tired” が形容詞句の一部</a:t>
            </a:r>
            <a:endParaRPr sz="9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p5"/>
          <p:cNvSpPr/>
          <p:nvPr/>
        </p:nvSpPr>
        <p:spPr>
          <a:xfrm>
            <a:off x="0" y="0"/>
            <a:ext cx="9144000" cy="50292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365760" y="0"/>
            <a:ext cx="71323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Step 3 — How eventualities are extracted from text</a:t>
            </a:r>
            <a:endParaRPr b="0" i="0" sz="1800" u="none" cap="none" strike="noStrike">
              <a:solidFill>
                <a:schemeClr val="dk1"/>
              </a:solidFill>
              <a:latin typeface="Calibri"/>
              <a:ea typeface="Calibri"/>
              <a:cs typeface="Calibri"/>
              <a:sym typeface="Calibri"/>
            </a:endParaRPr>
          </a:p>
        </p:txBody>
      </p:sp>
      <p:sp>
        <p:nvSpPr>
          <p:cNvPr id="162" name="Google Shape;162;p5"/>
          <p:cNvSpPr/>
          <p:nvPr/>
        </p:nvSpPr>
        <p:spPr>
          <a:xfrm>
            <a:off x="434375" y="648200"/>
            <a:ext cx="8348400" cy="5487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1200">
                <a:solidFill>
                  <a:srgbClr val="1A2E2C"/>
                </a:solidFill>
                <a:latin typeface="Calibri"/>
                <a:ea typeface="Calibri"/>
                <a:cs typeface="Calibri"/>
                <a:sym typeface="Calibri"/>
              </a:rPr>
              <a:t>抽出器は、ステップ2で生成された依存構造を読み取り、特定の文法パターンを探す。例えば： 主語 + 動詞 + 目的語</a:t>
            </a:r>
            <a:br>
              <a:rPr lang="en-US" sz="1200">
                <a:solidFill>
                  <a:srgbClr val="1A2E2C"/>
                </a:solidFill>
                <a:latin typeface="Calibri"/>
                <a:ea typeface="Calibri"/>
                <a:cs typeface="Calibri"/>
                <a:sym typeface="Calibri"/>
              </a:rPr>
            </a:br>
            <a:r>
              <a:rPr lang="en-US" sz="1200">
                <a:solidFill>
                  <a:srgbClr val="1A2E2C"/>
                </a:solidFill>
                <a:latin typeface="Calibri"/>
                <a:ea typeface="Calibri"/>
                <a:cs typeface="Calibri"/>
                <a:sym typeface="Calibri"/>
              </a:rPr>
              <a:t>その後、これらの単語をまとめて、コンパクトな「イベントノード」として表現する。</a:t>
            </a:r>
            <a:endParaRPr sz="1200">
              <a:solidFill>
                <a:srgbClr val="1A2E2C"/>
              </a:solidFill>
              <a:latin typeface="Calibri"/>
              <a:ea typeface="Calibri"/>
              <a:cs typeface="Calibri"/>
              <a:sym typeface="Calibri"/>
            </a:endParaRPr>
          </a:p>
        </p:txBody>
      </p:sp>
      <p:sp>
        <p:nvSpPr>
          <p:cNvPr id="163" name="Google Shape;163;p5"/>
          <p:cNvSpPr/>
          <p:nvPr/>
        </p:nvSpPr>
        <p:spPr>
          <a:xfrm>
            <a:off x="320040" y="1259920"/>
            <a:ext cx="8503800" cy="1627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475488" y="1323928"/>
            <a:ext cx="4572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1050"/>
              <a:buFont typeface="Calibri"/>
              <a:buNone/>
            </a:pPr>
            <a:r>
              <a:rPr b="1" i="0" lang="en-US" sz="1050" u="none" cap="none" strike="noStrike">
                <a:solidFill>
                  <a:srgbClr val="8FA6A4"/>
                </a:solidFill>
                <a:latin typeface="Calibri"/>
                <a:ea typeface="Calibri"/>
                <a:cs typeface="Calibri"/>
                <a:sym typeface="Calibri"/>
              </a:rPr>
              <a:t>Transformation — sentence → eventuality node</a:t>
            </a:r>
            <a:endParaRPr b="0" i="0" sz="1050" u="none" cap="none" strike="noStrike">
              <a:solidFill>
                <a:schemeClr val="dk1"/>
              </a:solidFill>
              <a:latin typeface="Calibri"/>
              <a:ea typeface="Calibri"/>
              <a:cs typeface="Calibri"/>
              <a:sym typeface="Calibri"/>
            </a:endParaRPr>
          </a:p>
        </p:txBody>
      </p:sp>
      <p:sp>
        <p:nvSpPr>
          <p:cNvPr id="165" name="Google Shape;165;p5"/>
          <p:cNvSpPr/>
          <p:nvPr/>
        </p:nvSpPr>
        <p:spPr>
          <a:xfrm>
            <a:off x="475488" y="1643968"/>
            <a:ext cx="2926200" cy="475500"/>
          </a:xfrm>
          <a:prstGeom prst="rect">
            <a:avLst/>
          </a:prstGeom>
          <a:solidFill>
            <a:srgbClr val="112A28"/>
          </a:solidFill>
          <a:ln cap="flat" cmpd="sng" w="12700">
            <a:solidFill>
              <a:srgbClr val="0E9E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475488" y="1643968"/>
            <a:ext cx="2926200" cy="475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4ECEA"/>
              </a:buClr>
              <a:buSzPts val="1200"/>
              <a:buFont typeface="Consolas"/>
              <a:buNone/>
            </a:pPr>
            <a:r>
              <a:rPr b="0" i="0" lang="en-US" sz="1200" u="none" cap="none" strike="noStrike">
                <a:solidFill>
                  <a:srgbClr val="C4ECEA"/>
                </a:solidFill>
                <a:latin typeface="Consolas"/>
                <a:ea typeface="Consolas"/>
                <a:cs typeface="Consolas"/>
                <a:sym typeface="Consolas"/>
              </a:rPr>
              <a:t>"He was tired."</a:t>
            </a:r>
            <a:endParaRPr b="0" i="0" sz="1200" u="none" cap="none" strike="noStrike">
              <a:solidFill>
                <a:schemeClr val="dk1"/>
              </a:solidFill>
              <a:latin typeface="Calibri"/>
              <a:ea typeface="Calibri"/>
              <a:cs typeface="Calibri"/>
              <a:sym typeface="Calibri"/>
            </a:endParaRPr>
          </a:p>
        </p:txBody>
      </p:sp>
      <p:cxnSp>
        <p:nvCxnSpPr>
          <p:cNvPr id="167" name="Google Shape;167;p5"/>
          <p:cNvCxnSpPr>
            <a:endCxn id="168" idx="1"/>
          </p:cNvCxnSpPr>
          <p:nvPr/>
        </p:nvCxnSpPr>
        <p:spPr>
          <a:xfrm>
            <a:off x="3401744" y="1863453"/>
            <a:ext cx="923400" cy="3900"/>
          </a:xfrm>
          <a:prstGeom prst="straightConnector1">
            <a:avLst/>
          </a:prstGeom>
          <a:noFill/>
          <a:ln cap="flat" cmpd="sng" w="25400">
            <a:solidFill>
              <a:srgbClr val="0A7A72"/>
            </a:solidFill>
            <a:prstDash val="solid"/>
            <a:round/>
            <a:headEnd len="sm" w="sm" type="none"/>
            <a:tailEnd len="sm" w="sm" type="none"/>
          </a:ln>
        </p:spPr>
      </p:cxnSp>
      <p:cxnSp>
        <p:nvCxnSpPr>
          <p:cNvPr id="169" name="Google Shape;169;p5"/>
          <p:cNvCxnSpPr/>
          <p:nvPr/>
        </p:nvCxnSpPr>
        <p:spPr>
          <a:xfrm>
            <a:off x="4112120" y="1763413"/>
            <a:ext cx="213300" cy="100500"/>
          </a:xfrm>
          <a:prstGeom prst="straightConnector1">
            <a:avLst/>
          </a:prstGeom>
          <a:noFill/>
          <a:ln cap="flat" cmpd="sng" w="25400">
            <a:solidFill>
              <a:srgbClr val="0A7A72"/>
            </a:solidFill>
            <a:prstDash val="solid"/>
            <a:round/>
            <a:headEnd len="sm" w="sm" type="none"/>
            <a:tailEnd len="sm" w="sm" type="none"/>
          </a:ln>
        </p:spPr>
      </p:cxnSp>
      <p:cxnSp>
        <p:nvCxnSpPr>
          <p:cNvPr id="170" name="Google Shape;170;p5"/>
          <p:cNvCxnSpPr/>
          <p:nvPr/>
        </p:nvCxnSpPr>
        <p:spPr>
          <a:xfrm flipH="1" rot="10800000">
            <a:off x="4102280" y="1869992"/>
            <a:ext cx="213300" cy="100500"/>
          </a:xfrm>
          <a:prstGeom prst="straightConnector1">
            <a:avLst/>
          </a:prstGeom>
          <a:noFill/>
          <a:ln cap="flat" cmpd="sng" w="25400">
            <a:solidFill>
              <a:srgbClr val="0A7A72"/>
            </a:solidFill>
            <a:prstDash val="solid"/>
            <a:round/>
            <a:headEnd len="sm" w="sm" type="none"/>
            <a:tailEnd len="sm" w="sm" type="none"/>
          </a:ln>
        </p:spPr>
      </p:cxnSp>
      <p:sp>
        <p:nvSpPr>
          <p:cNvPr id="171" name="Google Shape;171;p5"/>
          <p:cNvSpPr/>
          <p:nvPr/>
        </p:nvSpPr>
        <p:spPr>
          <a:xfrm>
            <a:off x="3419850" y="1643975"/>
            <a:ext cx="905400" cy="180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6A4"/>
              </a:buClr>
              <a:buSzPts val="750"/>
              <a:buFont typeface="Calibri"/>
              <a:buNone/>
            </a:pPr>
            <a:r>
              <a:rPr b="0" i="0" lang="en-US" sz="750" u="none" cap="none" strike="noStrike">
                <a:solidFill>
                  <a:srgbClr val="8FA6A4"/>
                </a:solidFill>
                <a:latin typeface="Calibri"/>
                <a:ea typeface="Calibri"/>
                <a:cs typeface="Calibri"/>
                <a:sym typeface="Calibri"/>
              </a:rPr>
              <a:t>lemmatize</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8FA6A4"/>
              </a:buClr>
              <a:buSzPts val="750"/>
              <a:buFont typeface="Calibri"/>
              <a:buNone/>
            </a:pPr>
            <a:r>
              <a:rPr b="0" i="0" lang="en-US" sz="750" u="none" cap="none" strike="noStrike">
                <a:solidFill>
                  <a:srgbClr val="8FA6A4"/>
                </a:solidFill>
                <a:latin typeface="Calibri"/>
                <a:ea typeface="Calibri"/>
                <a:cs typeface="Calibri"/>
                <a:sym typeface="Calibri"/>
              </a:rPr>
              <a:t>normalize</a:t>
            </a:r>
            <a:endParaRPr b="0" i="0" sz="750" u="none" cap="none" strike="noStrike">
              <a:solidFill>
                <a:schemeClr val="dk1"/>
              </a:solidFill>
              <a:latin typeface="Calibri"/>
              <a:ea typeface="Calibri"/>
              <a:cs typeface="Calibri"/>
              <a:sym typeface="Calibri"/>
            </a:endParaRPr>
          </a:p>
        </p:txBody>
      </p:sp>
      <p:sp>
        <p:nvSpPr>
          <p:cNvPr id="168" name="Google Shape;168;p5"/>
          <p:cNvSpPr/>
          <p:nvPr/>
        </p:nvSpPr>
        <p:spPr>
          <a:xfrm>
            <a:off x="4325144" y="1629603"/>
            <a:ext cx="1920300" cy="475500"/>
          </a:xfrm>
          <a:prstGeom prst="rect">
            <a:avLst/>
          </a:prstGeom>
          <a:solidFill>
            <a:srgbClr val="0A7A72">
              <a:alpha val="85098"/>
            </a:srgbClr>
          </a:solidFill>
          <a:ln cap="flat" cmpd="sng" w="12700">
            <a:solidFill>
              <a:srgbClr val="0E9E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4383937" y="1639450"/>
            <a:ext cx="1803600" cy="475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onsolas"/>
              <a:buNone/>
            </a:pPr>
            <a:r>
              <a:rPr b="0" i="0" lang="en-US" sz="1200" u="none" cap="none" strike="noStrike">
                <a:solidFill>
                  <a:srgbClr val="FFFFFF"/>
                </a:solidFill>
                <a:latin typeface="Consolas"/>
                <a:ea typeface="Consolas"/>
                <a:cs typeface="Consolas"/>
                <a:sym typeface="Consolas"/>
              </a:rPr>
              <a:t>he be tired</a:t>
            </a:r>
            <a:endParaRPr b="0" i="0" sz="1200" u="none" cap="none" strike="noStrike">
              <a:solidFill>
                <a:schemeClr val="dk1"/>
              </a:solidFill>
              <a:latin typeface="Calibri"/>
              <a:ea typeface="Calibri"/>
              <a:cs typeface="Calibri"/>
              <a:sym typeface="Calibri"/>
            </a:endParaRPr>
          </a:p>
        </p:txBody>
      </p:sp>
      <p:sp>
        <p:nvSpPr>
          <p:cNvPr id="173" name="Google Shape;173;p5"/>
          <p:cNvSpPr/>
          <p:nvPr/>
        </p:nvSpPr>
        <p:spPr>
          <a:xfrm>
            <a:off x="6245349" y="1698832"/>
            <a:ext cx="2743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1000"/>
              <a:buFont typeface="Calibri"/>
              <a:buNone/>
            </a:pPr>
            <a:r>
              <a:rPr b="0" i="1" lang="en-US" sz="1000" u="none" cap="none" strike="noStrike">
                <a:solidFill>
                  <a:srgbClr val="8FA6A4"/>
                </a:solidFill>
                <a:latin typeface="Calibri"/>
                <a:ea typeface="Calibri"/>
                <a:cs typeface="Calibri"/>
                <a:sym typeface="Calibri"/>
              </a:rPr>
              <a:t>← eventuality node (state)</a:t>
            </a:r>
            <a:endParaRPr b="0" i="0" sz="1000" u="none" cap="none" strike="noStrike">
              <a:solidFill>
                <a:schemeClr val="dk1"/>
              </a:solidFill>
              <a:latin typeface="Calibri"/>
              <a:ea typeface="Calibri"/>
              <a:cs typeface="Calibri"/>
              <a:sym typeface="Calibri"/>
            </a:endParaRPr>
          </a:p>
        </p:txBody>
      </p:sp>
      <p:sp>
        <p:nvSpPr>
          <p:cNvPr id="174" name="Google Shape;174;p5"/>
          <p:cNvSpPr/>
          <p:nvPr/>
        </p:nvSpPr>
        <p:spPr>
          <a:xfrm>
            <a:off x="475488" y="2210896"/>
            <a:ext cx="2926200" cy="475500"/>
          </a:xfrm>
          <a:prstGeom prst="rect">
            <a:avLst/>
          </a:prstGeom>
          <a:solidFill>
            <a:srgbClr val="112A28"/>
          </a:solidFill>
          <a:ln cap="flat" cmpd="sng" w="12700">
            <a:solidFill>
              <a:srgbClr val="0E9E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475488" y="2210896"/>
            <a:ext cx="2926200" cy="475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4ECEA"/>
              </a:buClr>
              <a:buSzPts val="1200"/>
              <a:buFont typeface="Consolas"/>
              <a:buNone/>
            </a:pPr>
            <a:r>
              <a:rPr b="0" i="0" lang="en-US" sz="1200" u="none" cap="none" strike="noStrike">
                <a:solidFill>
                  <a:srgbClr val="C4ECEA"/>
                </a:solidFill>
                <a:latin typeface="Consolas"/>
                <a:ea typeface="Consolas"/>
                <a:cs typeface="Consolas"/>
                <a:sym typeface="Consolas"/>
              </a:rPr>
              <a:t>"He went to bed."</a:t>
            </a:r>
            <a:endParaRPr b="0" i="0" sz="1200" u="none" cap="none" strike="noStrike">
              <a:solidFill>
                <a:schemeClr val="dk1"/>
              </a:solidFill>
              <a:latin typeface="Calibri"/>
              <a:ea typeface="Calibri"/>
              <a:cs typeface="Calibri"/>
              <a:sym typeface="Calibri"/>
            </a:endParaRPr>
          </a:p>
        </p:txBody>
      </p:sp>
      <p:cxnSp>
        <p:nvCxnSpPr>
          <p:cNvPr id="176" name="Google Shape;176;p5"/>
          <p:cNvCxnSpPr>
            <a:endCxn id="177" idx="1"/>
          </p:cNvCxnSpPr>
          <p:nvPr/>
        </p:nvCxnSpPr>
        <p:spPr>
          <a:xfrm>
            <a:off x="3401457" y="2448646"/>
            <a:ext cx="923700" cy="0"/>
          </a:xfrm>
          <a:prstGeom prst="straightConnector1">
            <a:avLst/>
          </a:prstGeom>
          <a:noFill/>
          <a:ln cap="flat" cmpd="sng" w="25400">
            <a:solidFill>
              <a:srgbClr val="0A7A72"/>
            </a:solidFill>
            <a:prstDash val="solid"/>
            <a:round/>
            <a:headEnd len="sm" w="sm" type="none"/>
            <a:tailEnd len="sm" w="sm" type="none"/>
          </a:ln>
        </p:spPr>
      </p:cxnSp>
      <p:cxnSp>
        <p:nvCxnSpPr>
          <p:cNvPr id="178" name="Google Shape;178;p5"/>
          <p:cNvCxnSpPr/>
          <p:nvPr/>
        </p:nvCxnSpPr>
        <p:spPr>
          <a:xfrm>
            <a:off x="4112101" y="2348050"/>
            <a:ext cx="213300" cy="100500"/>
          </a:xfrm>
          <a:prstGeom prst="straightConnector1">
            <a:avLst/>
          </a:prstGeom>
          <a:noFill/>
          <a:ln cap="flat" cmpd="sng" w="25400">
            <a:solidFill>
              <a:srgbClr val="0A7A72"/>
            </a:solidFill>
            <a:prstDash val="solid"/>
            <a:round/>
            <a:headEnd len="sm" w="sm" type="none"/>
            <a:tailEnd len="sm" w="sm" type="none"/>
          </a:ln>
        </p:spPr>
      </p:cxnSp>
      <p:cxnSp>
        <p:nvCxnSpPr>
          <p:cNvPr id="179" name="Google Shape;179;p5"/>
          <p:cNvCxnSpPr/>
          <p:nvPr/>
        </p:nvCxnSpPr>
        <p:spPr>
          <a:xfrm flipH="1" rot="10800000">
            <a:off x="4112101" y="2448725"/>
            <a:ext cx="213300" cy="100500"/>
          </a:xfrm>
          <a:prstGeom prst="straightConnector1">
            <a:avLst/>
          </a:prstGeom>
          <a:noFill/>
          <a:ln cap="flat" cmpd="sng" w="25400">
            <a:solidFill>
              <a:srgbClr val="0A7A72"/>
            </a:solidFill>
            <a:prstDash val="solid"/>
            <a:round/>
            <a:headEnd len="sm" w="sm" type="none"/>
            <a:tailEnd len="sm" w="sm" type="none"/>
          </a:ln>
        </p:spPr>
      </p:cxnSp>
      <p:sp>
        <p:nvSpPr>
          <p:cNvPr id="180" name="Google Shape;180;p5"/>
          <p:cNvSpPr/>
          <p:nvPr/>
        </p:nvSpPr>
        <p:spPr>
          <a:xfrm>
            <a:off x="3419850" y="2114950"/>
            <a:ext cx="905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6A4"/>
              </a:buClr>
              <a:buSzPts val="750"/>
              <a:buFont typeface="Calibri"/>
              <a:buNone/>
            </a:pPr>
            <a:r>
              <a:rPr b="0" i="0" lang="en-US" sz="750" u="none" cap="none" strike="noStrike">
                <a:solidFill>
                  <a:srgbClr val="8FA6A4"/>
                </a:solidFill>
                <a:latin typeface="Calibri"/>
                <a:ea typeface="Calibri"/>
                <a:cs typeface="Calibri"/>
                <a:sym typeface="Calibri"/>
              </a:rPr>
              <a:t>lemmatize</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8FA6A4"/>
              </a:buClr>
              <a:buSzPts val="750"/>
              <a:buFont typeface="Calibri"/>
              <a:buNone/>
            </a:pPr>
            <a:r>
              <a:rPr b="0" i="0" lang="en-US" sz="750" u="none" cap="none" strike="noStrike">
                <a:solidFill>
                  <a:srgbClr val="8FA6A4"/>
                </a:solidFill>
                <a:latin typeface="Calibri"/>
                <a:ea typeface="Calibri"/>
                <a:cs typeface="Calibri"/>
                <a:sym typeface="Calibri"/>
              </a:rPr>
              <a:t>normalize</a:t>
            </a:r>
            <a:endParaRPr b="0" i="0" sz="750" u="none" cap="none" strike="noStrike">
              <a:solidFill>
                <a:schemeClr val="dk1"/>
              </a:solidFill>
              <a:latin typeface="Calibri"/>
              <a:ea typeface="Calibri"/>
              <a:cs typeface="Calibri"/>
              <a:sym typeface="Calibri"/>
            </a:endParaRPr>
          </a:p>
        </p:txBody>
      </p:sp>
      <p:sp>
        <p:nvSpPr>
          <p:cNvPr id="181" name="Google Shape;181;p5"/>
          <p:cNvSpPr/>
          <p:nvPr/>
        </p:nvSpPr>
        <p:spPr>
          <a:xfrm>
            <a:off x="4325182" y="2210896"/>
            <a:ext cx="1920300" cy="475500"/>
          </a:xfrm>
          <a:prstGeom prst="rect">
            <a:avLst/>
          </a:prstGeom>
          <a:solidFill>
            <a:srgbClr val="0A7A72">
              <a:alpha val="85098"/>
            </a:srgbClr>
          </a:solidFill>
          <a:ln cap="flat" cmpd="sng" w="12700">
            <a:solidFill>
              <a:srgbClr val="0E9E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4325157" y="2210896"/>
            <a:ext cx="1920300" cy="475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onsolas"/>
              <a:buNone/>
            </a:pPr>
            <a:r>
              <a:rPr b="0" i="0" lang="en-US" sz="1200" u="none" cap="none" strike="noStrike">
                <a:solidFill>
                  <a:srgbClr val="FFFFFF"/>
                </a:solidFill>
                <a:latin typeface="Consolas"/>
                <a:ea typeface="Consolas"/>
                <a:cs typeface="Consolas"/>
                <a:sym typeface="Consolas"/>
              </a:rPr>
              <a:t>he go to bed</a:t>
            </a:r>
            <a:endParaRPr b="0" i="0" sz="1200" u="none" cap="none" strike="noStrike">
              <a:solidFill>
                <a:schemeClr val="dk1"/>
              </a:solidFill>
              <a:latin typeface="Calibri"/>
              <a:ea typeface="Calibri"/>
              <a:cs typeface="Calibri"/>
              <a:sym typeface="Calibri"/>
            </a:endParaRPr>
          </a:p>
        </p:txBody>
      </p:sp>
      <p:sp>
        <p:nvSpPr>
          <p:cNvPr id="182" name="Google Shape;182;p5"/>
          <p:cNvSpPr/>
          <p:nvPr/>
        </p:nvSpPr>
        <p:spPr>
          <a:xfrm>
            <a:off x="6309349" y="2265760"/>
            <a:ext cx="2743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1000"/>
              <a:buFont typeface="Calibri"/>
              <a:buNone/>
            </a:pPr>
            <a:r>
              <a:rPr b="0" i="1" lang="en-US" sz="1000" u="none" cap="none" strike="noStrike">
                <a:solidFill>
                  <a:srgbClr val="8FA6A4"/>
                </a:solidFill>
                <a:latin typeface="Calibri"/>
                <a:ea typeface="Calibri"/>
                <a:cs typeface="Calibri"/>
                <a:sym typeface="Calibri"/>
              </a:rPr>
              <a:t>← eventuality node (event)</a:t>
            </a:r>
            <a:endParaRPr b="0" i="0" sz="1000" u="none" cap="none" strike="noStrike">
              <a:solidFill>
                <a:schemeClr val="dk1"/>
              </a:solidFill>
              <a:latin typeface="Calibri"/>
              <a:ea typeface="Calibri"/>
              <a:cs typeface="Calibri"/>
              <a:sym typeface="Calibri"/>
            </a:endParaRPr>
          </a:p>
        </p:txBody>
      </p:sp>
      <p:sp>
        <p:nvSpPr>
          <p:cNvPr id="183" name="Google Shape;183;p5"/>
          <p:cNvSpPr/>
          <p:nvPr/>
        </p:nvSpPr>
        <p:spPr>
          <a:xfrm>
            <a:off x="320000" y="3027457"/>
            <a:ext cx="2743200" cy="21162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484582" y="3054875"/>
            <a:ext cx="2487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① Pattern matching</a:t>
            </a:r>
            <a:endParaRPr b="0" i="0" sz="1100" u="none" cap="none" strike="noStrike">
              <a:solidFill>
                <a:schemeClr val="dk1"/>
              </a:solidFill>
              <a:latin typeface="Calibri"/>
              <a:ea typeface="Calibri"/>
              <a:cs typeface="Calibri"/>
              <a:sym typeface="Calibri"/>
            </a:endParaRPr>
          </a:p>
        </p:txBody>
      </p:sp>
      <p:sp>
        <p:nvSpPr>
          <p:cNvPr id="185" name="Google Shape;185;p5"/>
          <p:cNvSpPr/>
          <p:nvPr/>
        </p:nvSpPr>
        <p:spPr>
          <a:xfrm>
            <a:off x="320050" y="3436725"/>
            <a:ext cx="2743200" cy="1707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1200"/>
              </a:spcBef>
              <a:spcAft>
                <a:spcPts val="0"/>
              </a:spcAft>
              <a:buClr>
                <a:schemeClr val="dk1"/>
              </a:buClr>
              <a:buSzPts val="1100"/>
              <a:buFont typeface="Arial"/>
              <a:buNone/>
            </a:pPr>
            <a:r>
              <a:rPr lang="en-US" sz="900">
                <a:solidFill>
                  <a:schemeClr val="dk1"/>
                </a:solidFill>
              </a:rPr>
              <a:t>アルゴリズムは、依存構造の中から主語を伴う動詞を検出する。これは、イベントとして成立するための最小条件である。</a:t>
            </a:r>
            <a:endParaRPr sz="9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9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900">
                <a:solidFill>
                  <a:schemeClr val="dk1"/>
                </a:solidFill>
              </a:rPr>
              <a:t>システムは、CoreNLPによって生成された依存構造（dependency tree）を利用し、以下のような文法構造を特定する：</a:t>
            </a:r>
            <a:endParaRPr sz="9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900">
              <a:solidFill>
                <a:schemeClr val="dk1"/>
              </a:solidFill>
            </a:endParaRPr>
          </a:p>
          <a:p>
            <a:pPr indent="0" lvl="0" marL="0" rtl="0" algn="ctr">
              <a:lnSpc>
                <a:spcPct val="100000"/>
              </a:lnSpc>
              <a:spcBef>
                <a:spcPts val="0"/>
              </a:spcBef>
              <a:spcAft>
                <a:spcPts val="0"/>
              </a:spcAft>
              <a:buClr>
                <a:schemeClr val="dk1"/>
              </a:buClr>
              <a:buSzPts val="1100"/>
              <a:buFont typeface="Arial"/>
              <a:buNone/>
            </a:pPr>
            <a:r>
              <a:rPr lang="en-US" sz="900">
                <a:solidFill>
                  <a:schemeClr val="dk1"/>
                </a:solidFill>
              </a:rPr>
              <a:t>主語 + 動詞（+ 目的語</a:t>
            </a:r>
            <a:r>
              <a:rPr lang="en-US" sz="900">
                <a:solidFill>
                  <a:schemeClr val="dk1"/>
                </a:solidFill>
              </a:rPr>
              <a:t>）</a:t>
            </a:r>
            <a:endParaRPr b="1" sz="9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900">
                <a:solidFill>
                  <a:schemeClr val="dk1"/>
                </a:solidFill>
              </a:rPr>
              <a:t>これにより、「有効なイベント」を定義することができる。主語と動詞が存在しなければ、意味のあるイベントとはみなされない</a:t>
            </a:r>
            <a:endParaRPr sz="900">
              <a:solidFill>
                <a:schemeClr val="dk1"/>
              </a:solidFill>
            </a:endParaRPr>
          </a:p>
          <a:p>
            <a:pPr indent="0" lvl="0" marL="0" marR="0" rtl="0" algn="l">
              <a:spcBef>
                <a:spcPts val="0"/>
              </a:spcBef>
              <a:spcAft>
                <a:spcPts val="0"/>
              </a:spcAft>
              <a:buClr>
                <a:srgbClr val="4A6A68"/>
              </a:buClr>
              <a:buSzPts val="1000"/>
              <a:buFont typeface="Calibri"/>
              <a:buNone/>
            </a:pPr>
            <a:r>
              <a:t/>
            </a:r>
            <a:endParaRPr sz="1000">
              <a:solidFill>
                <a:srgbClr val="4A6A68"/>
              </a:solidFill>
              <a:latin typeface="Calibri"/>
              <a:ea typeface="Calibri"/>
              <a:cs typeface="Calibri"/>
              <a:sym typeface="Calibri"/>
            </a:endParaRPr>
          </a:p>
        </p:txBody>
      </p:sp>
      <p:sp>
        <p:nvSpPr>
          <p:cNvPr id="186" name="Google Shape;186;p5"/>
          <p:cNvSpPr/>
          <p:nvPr/>
        </p:nvSpPr>
        <p:spPr>
          <a:xfrm>
            <a:off x="3200350" y="3027457"/>
            <a:ext cx="2743200" cy="21162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3364942" y="3054875"/>
            <a:ext cx="2487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② Lemmatization</a:t>
            </a:r>
            <a:endParaRPr b="0" i="0" sz="1100" u="none" cap="none" strike="noStrike">
              <a:solidFill>
                <a:schemeClr val="dk1"/>
              </a:solidFill>
              <a:latin typeface="Calibri"/>
              <a:ea typeface="Calibri"/>
              <a:cs typeface="Calibri"/>
              <a:sym typeface="Calibri"/>
            </a:endParaRPr>
          </a:p>
        </p:txBody>
      </p:sp>
      <p:sp>
        <p:nvSpPr>
          <p:cNvPr id="188" name="Google Shape;188;p5"/>
          <p:cNvSpPr/>
          <p:nvPr/>
        </p:nvSpPr>
        <p:spPr>
          <a:xfrm>
            <a:off x="3200300" y="3329200"/>
            <a:ext cx="2743200" cy="1814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900">
                <a:solidFill>
                  <a:schemeClr val="dk1"/>
                </a:solidFill>
              </a:rPr>
              <a:t>単語を基本形（レンマ）に変換する：</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US" sz="900">
                <a:solidFill>
                  <a:schemeClr val="dk1"/>
                </a:solidFill>
              </a:rPr>
              <a:t>was → be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US" sz="900">
                <a:solidFill>
                  <a:schemeClr val="dk1"/>
                </a:solidFill>
              </a:rPr>
              <a:t>went → go</a:t>
            </a:r>
            <a:endParaRPr sz="900">
              <a:solidFill>
                <a:schemeClr val="dk1"/>
              </a:solidFill>
            </a:endParaRPr>
          </a:p>
          <a:p>
            <a:pPr indent="0" lvl="0" marL="457200" rtl="0" algn="l">
              <a:lnSpc>
                <a:spcPct val="115000"/>
              </a:lnSpc>
              <a:spcBef>
                <a:spcPts val="0"/>
              </a:spcBef>
              <a:spcAft>
                <a:spcPts val="0"/>
              </a:spcAft>
              <a:buNone/>
            </a:pPr>
            <a:r>
              <a:rPr lang="en-US" sz="900">
                <a:solidFill>
                  <a:schemeClr val="dk1"/>
                </a:solidFill>
              </a:rPr>
              <a:t> 異なる表現を統一するためである。</a:t>
            </a:r>
            <a:endParaRPr sz="9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900">
                <a:solidFill>
                  <a:schemeClr val="dk1"/>
                </a:solidFill>
              </a:rPr>
              <a:t>なぜ重要か</a:t>
            </a:r>
            <a:endParaRPr b="1" sz="9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9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900">
                <a:solidFill>
                  <a:schemeClr val="dk1"/>
                </a:solidFill>
              </a:rPr>
              <a:t>「went」「goes」「going」などは、すべて同じ意味を持つ。そのため、これらを同じ基本形「go」に統一することで、 異なる表現を同一のものとして扱うことができる。</a:t>
            </a:r>
            <a:endParaRPr sz="900">
              <a:solidFill>
                <a:schemeClr val="dk1"/>
              </a:solidFill>
            </a:endParaRPr>
          </a:p>
          <a:p>
            <a:pPr indent="0" lvl="0" marL="0" marR="0" rtl="0" algn="l">
              <a:spcBef>
                <a:spcPts val="0"/>
              </a:spcBef>
              <a:spcAft>
                <a:spcPts val="0"/>
              </a:spcAft>
              <a:buClr>
                <a:srgbClr val="4A6A68"/>
              </a:buClr>
              <a:buSzPts val="1000"/>
              <a:buFont typeface="Calibri"/>
              <a:buNone/>
            </a:pPr>
            <a:r>
              <a:t/>
            </a:r>
            <a:endParaRPr sz="400">
              <a:solidFill>
                <a:srgbClr val="4A6A68"/>
              </a:solidFill>
              <a:latin typeface="Calibri"/>
              <a:ea typeface="Calibri"/>
              <a:cs typeface="Calibri"/>
              <a:sym typeface="Calibri"/>
            </a:endParaRPr>
          </a:p>
        </p:txBody>
      </p:sp>
      <p:sp>
        <p:nvSpPr>
          <p:cNvPr id="189" name="Google Shape;189;p5"/>
          <p:cNvSpPr/>
          <p:nvPr/>
        </p:nvSpPr>
        <p:spPr>
          <a:xfrm>
            <a:off x="6080700" y="3027457"/>
            <a:ext cx="2743200" cy="21162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6245302" y="3054875"/>
            <a:ext cx="24873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③ Deduplication via SHA1 hash</a:t>
            </a:r>
            <a:endParaRPr b="0" i="0" sz="1100" u="none" cap="none" strike="noStrike">
              <a:solidFill>
                <a:schemeClr val="dk1"/>
              </a:solidFill>
              <a:latin typeface="Calibri"/>
              <a:ea typeface="Calibri"/>
              <a:cs typeface="Calibri"/>
              <a:sym typeface="Calibri"/>
            </a:endParaRPr>
          </a:p>
        </p:txBody>
      </p:sp>
      <p:sp>
        <p:nvSpPr>
          <p:cNvPr id="191" name="Google Shape;191;p5"/>
          <p:cNvSpPr/>
          <p:nvPr/>
        </p:nvSpPr>
        <p:spPr>
          <a:xfrm>
            <a:off x="6080700" y="3329200"/>
            <a:ext cx="2743200" cy="1814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800">
                <a:solidFill>
                  <a:schemeClr val="dk1"/>
                </a:solidFill>
              </a:rPr>
              <a:t>各イベントは以下の手順で処理される：</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US" sz="800">
                <a:solidFill>
                  <a:schemeClr val="dk1"/>
                </a:solidFill>
              </a:rPr>
              <a:t>イベントを文字列に変換する</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US" sz="800">
                <a:solidFill>
                  <a:schemeClr val="dk1"/>
                </a:solidFill>
              </a:rPr>
              <a:t>SHA1でハッシュ化する</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US" sz="800">
                <a:solidFill>
                  <a:schemeClr val="dk1"/>
                </a:solidFill>
              </a:rPr>
              <a:t>一意のIDとして一度だけ保存する</a:t>
            </a:r>
            <a:endParaRPr sz="800">
              <a:solidFill>
                <a:schemeClr val="dk1"/>
              </a:solidFill>
            </a:endParaRPr>
          </a:p>
          <a:p>
            <a:pPr indent="0" lvl="0" marL="457200" rtl="0" algn="l">
              <a:lnSpc>
                <a:spcPct val="115000"/>
              </a:lnSpc>
              <a:spcBef>
                <a:spcPts val="0"/>
              </a:spcBef>
              <a:spcAft>
                <a:spcPts val="0"/>
              </a:spcAft>
              <a:buNone/>
            </a:pPr>
            <a:r>
              <a:t/>
            </a:r>
            <a:endParaRPr sz="8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800">
                <a:solidFill>
                  <a:schemeClr val="dk1"/>
                </a:solidFill>
              </a:rPr>
              <a:t>その後</a:t>
            </a:r>
            <a:r>
              <a:rPr lang="en-US" sz="800">
                <a:solidFill>
                  <a:schemeClr val="dk1"/>
                </a:solidFill>
              </a:rPr>
              <a:t>同じイベントが複数回出現した場合、その出現回数が weight として蓄積される。</a:t>
            </a:r>
            <a:endParaRPr sz="800">
              <a:solidFill>
                <a:schemeClr val="dk1"/>
              </a:solidFill>
            </a:endParaRPr>
          </a:p>
          <a:p>
            <a:pPr indent="0" lvl="0" marL="0" rtl="0" algn="l">
              <a:lnSpc>
                <a:spcPct val="115000"/>
              </a:lnSpc>
              <a:spcBef>
                <a:spcPts val="400"/>
              </a:spcBef>
              <a:spcAft>
                <a:spcPts val="0"/>
              </a:spcAft>
              <a:buClr>
                <a:schemeClr val="dk1"/>
              </a:buClr>
              <a:buSzPts val="1100"/>
              <a:buFont typeface="Arial"/>
              <a:buNone/>
            </a:pPr>
            <a:r>
              <a:t/>
            </a:r>
            <a:endParaRPr sz="8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800">
                <a:solidFill>
                  <a:schemeClr val="dk1"/>
                </a:solidFill>
              </a:rPr>
              <a:t>例: </a:t>
            </a:r>
            <a:r>
              <a:rPr lang="en-US" sz="800">
                <a:solidFill>
                  <a:schemeClr val="dk1"/>
                </a:solidFill>
              </a:rPr>
              <a:t>"he go to bed" が10,000回出現した場合：</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US" sz="800">
                <a:solidFill>
                  <a:schemeClr val="dk1"/>
                </a:solidFill>
              </a:rPr>
              <a:t> 1つのノードとして保存される</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US" sz="800">
                <a:solidFill>
                  <a:schemeClr val="dk1"/>
                </a:solidFill>
              </a:rPr>
              <a:t> 重み（weight）＝10,000</a:t>
            </a:r>
            <a:endParaRPr sz="800">
              <a:solidFill>
                <a:schemeClr val="dk1"/>
              </a:solidFill>
            </a:endParaRPr>
          </a:p>
          <a:p>
            <a:pPr indent="0" lvl="0" marL="0" marR="0" rtl="0" algn="l">
              <a:spcBef>
                <a:spcPts val="0"/>
              </a:spcBef>
              <a:spcAft>
                <a:spcPts val="0"/>
              </a:spcAft>
              <a:buClr>
                <a:srgbClr val="4A6A68"/>
              </a:buClr>
              <a:buSzPts val="1000"/>
              <a:buFont typeface="Calibri"/>
              <a:buNone/>
            </a:pPr>
            <a:r>
              <a:t/>
            </a:r>
            <a:endParaRPr sz="400">
              <a:solidFill>
                <a:srgbClr val="4A6A68"/>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6" name="Shape 196"/>
        <p:cNvGrpSpPr/>
        <p:nvPr/>
      </p:nvGrpSpPr>
      <p:grpSpPr>
        <a:xfrm>
          <a:off x="0" y="0"/>
          <a:ext cx="0" cy="0"/>
          <a:chOff x="0" y="0"/>
          <a:chExt cx="0" cy="0"/>
        </a:xfrm>
      </p:grpSpPr>
      <p:sp>
        <p:nvSpPr>
          <p:cNvPr id="197" name="Google Shape;197;p7"/>
          <p:cNvSpPr/>
          <p:nvPr/>
        </p:nvSpPr>
        <p:spPr>
          <a:xfrm>
            <a:off x="0" y="0"/>
            <a:ext cx="9144000" cy="50292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365760" y="0"/>
            <a:ext cx="71323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Step 4 — Relation extraction: connecting the events</a:t>
            </a:r>
            <a:endParaRPr b="0" i="0" sz="1800" u="none" cap="none" strike="noStrike">
              <a:solidFill>
                <a:schemeClr val="dk1"/>
              </a:solidFill>
              <a:latin typeface="Calibri"/>
              <a:ea typeface="Calibri"/>
              <a:cs typeface="Calibri"/>
              <a:sym typeface="Calibri"/>
            </a:endParaRPr>
          </a:p>
        </p:txBody>
      </p:sp>
      <p:sp>
        <p:nvSpPr>
          <p:cNvPr id="199" name="Google Shape;199;p7"/>
          <p:cNvSpPr/>
          <p:nvPr/>
        </p:nvSpPr>
        <p:spPr>
          <a:xfrm>
            <a:off x="320040" y="594360"/>
            <a:ext cx="8503920" cy="438912"/>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475488" y="594360"/>
            <a:ext cx="8229600" cy="43891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1150"/>
              <a:buFont typeface="Calibri"/>
              <a:buNone/>
            </a:pPr>
            <a:r>
              <a:rPr b="0" i="1" lang="en-US" sz="1150" u="none" cap="none" strike="noStrike">
                <a:solidFill>
                  <a:srgbClr val="8FA6A4"/>
                </a:solidFill>
                <a:latin typeface="Calibri"/>
                <a:ea typeface="Calibri"/>
                <a:cs typeface="Calibri"/>
                <a:sym typeface="Calibri"/>
              </a:rPr>
              <a:t>Running example: </a:t>
            </a:r>
            <a:r>
              <a:rPr b="0" i="0" lang="en-US" sz="1150" u="none" cap="none" strike="noStrike">
                <a:solidFill>
                  <a:srgbClr val="C4ECEA"/>
                </a:solidFill>
                <a:latin typeface="Consolas"/>
                <a:ea typeface="Consolas"/>
                <a:cs typeface="Consolas"/>
                <a:sym typeface="Consolas"/>
              </a:rPr>
              <a:t>"He was tired. So he went to bed."</a:t>
            </a:r>
            <a:endParaRPr b="0" i="0" sz="1150" u="none" cap="none" strike="noStrike">
              <a:solidFill>
                <a:schemeClr val="dk1"/>
              </a:solidFill>
              <a:latin typeface="Calibri"/>
              <a:ea typeface="Calibri"/>
              <a:cs typeface="Calibri"/>
              <a:sym typeface="Calibri"/>
            </a:endParaRPr>
          </a:p>
        </p:txBody>
      </p:sp>
      <p:sp>
        <p:nvSpPr>
          <p:cNvPr id="201" name="Google Shape;201;p7"/>
          <p:cNvSpPr/>
          <p:nvPr/>
        </p:nvSpPr>
        <p:spPr>
          <a:xfrm>
            <a:off x="320040" y="1133856"/>
            <a:ext cx="8503920" cy="9144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p:nvPr/>
        </p:nvSpPr>
        <p:spPr>
          <a:xfrm>
            <a:off x="320040" y="1133856"/>
            <a:ext cx="91440" cy="914400"/>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475488" y="1161288"/>
            <a:ext cx="658368" cy="237744"/>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475488" y="1161288"/>
            <a:ext cx="658368"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WHAT</a:t>
            </a:r>
            <a:endParaRPr b="0" i="0" sz="850" u="none" cap="none" strike="noStrike">
              <a:solidFill>
                <a:schemeClr val="dk1"/>
              </a:solidFill>
              <a:latin typeface="Calibri"/>
              <a:ea typeface="Calibri"/>
              <a:cs typeface="Calibri"/>
              <a:sym typeface="Calibri"/>
            </a:endParaRPr>
          </a:p>
        </p:txBody>
      </p:sp>
      <p:sp>
        <p:nvSpPr>
          <p:cNvPr id="205" name="Google Shape;205;p7"/>
          <p:cNvSpPr/>
          <p:nvPr/>
        </p:nvSpPr>
        <p:spPr>
          <a:xfrm>
            <a:off x="475488" y="1371600"/>
            <a:ext cx="8229600" cy="62179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50">
                <a:solidFill>
                  <a:srgbClr val="1A2E2C"/>
                </a:solidFill>
                <a:latin typeface="Calibri"/>
                <a:ea typeface="Calibri"/>
                <a:cs typeface="Calibri"/>
                <a:sym typeface="Calibri"/>
              </a:rPr>
              <a:t>イベント（ノード）を抽出した後、ASERはそれらがどのように結び付いているかを判断する必要がある。これらの結び付きは「関係（relations）」と呼ばれ、ナレッジグラフにおけるエッジに相当する。エッジは、「イベントAがイベントBの原因である」または「イベントAとイベントBが同時に起こる」といった関係を表す。</a:t>
            </a:r>
            <a:endParaRPr sz="1150">
              <a:solidFill>
                <a:srgbClr val="1A2E2C"/>
              </a:solidFill>
              <a:latin typeface="Calibri"/>
              <a:ea typeface="Calibri"/>
              <a:cs typeface="Calibri"/>
              <a:sym typeface="Calibri"/>
            </a:endParaRPr>
          </a:p>
        </p:txBody>
      </p:sp>
      <p:sp>
        <p:nvSpPr>
          <p:cNvPr id="206" name="Google Shape;206;p7"/>
          <p:cNvSpPr/>
          <p:nvPr/>
        </p:nvSpPr>
        <p:spPr>
          <a:xfrm>
            <a:off x="320040" y="2157984"/>
            <a:ext cx="8503920" cy="914400"/>
          </a:xfrm>
          <a:prstGeom prst="rect">
            <a:avLst/>
          </a:prstGeom>
          <a:solidFill>
            <a:srgbClr val="FFFFFF"/>
          </a:solidFill>
          <a:ln cap="flat" cmpd="sng" w="12700">
            <a:solidFill>
              <a:srgbClr val="D6E4E3"/>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320040" y="2157984"/>
            <a:ext cx="91440" cy="914400"/>
          </a:xfrm>
          <a:prstGeom prst="rect">
            <a:avLst/>
          </a:prstGeom>
          <a:solidFill>
            <a:srgbClr val="E09B3D"/>
          </a:solidFill>
          <a:ln cap="flat" cmpd="sng" w="12700">
            <a:solidFill>
              <a:srgbClr val="E09B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a:off x="475488" y="2185416"/>
            <a:ext cx="658368" cy="237744"/>
          </a:xfrm>
          <a:prstGeom prst="rect">
            <a:avLst/>
          </a:prstGeom>
          <a:solidFill>
            <a:srgbClr val="E09B3D"/>
          </a:solidFill>
          <a:ln cap="flat" cmpd="sng" w="12700">
            <a:solidFill>
              <a:srgbClr val="E09B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475488" y="2185416"/>
            <a:ext cx="658368"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WHY</a:t>
            </a:r>
            <a:endParaRPr b="0" i="0" sz="850" u="none" cap="none" strike="noStrike">
              <a:solidFill>
                <a:schemeClr val="dk1"/>
              </a:solidFill>
              <a:latin typeface="Calibri"/>
              <a:ea typeface="Calibri"/>
              <a:cs typeface="Calibri"/>
              <a:sym typeface="Calibri"/>
            </a:endParaRPr>
          </a:p>
        </p:txBody>
      </p:sp>
      <p:sp>
        <p:nvSpPr>
          <p:cNvPr id="210" name="Google Shape;210;p7"/>
          <p:cNvSpPr/>
          <p:nvPr/>
        </p:nvSpPr>
        <p:spPr>
          <a:xfrm>
            <a:off x="475488" y="2433451"/>
            <a:ext cx="8229600" cy="6219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1150">
                <a:solidFill>
                  <a:srgbClr val="1A2E2C"/>
                </a:solidFill>
                <a:latin typeface="Calibri"/>
                <a:ea typeface="Calibri"/>
                <a:cs typeface="Calibri"/>
                <a:sym typeface="Calibri"/>
              </a:rPr>
              <a:t>孤立したイベントだけではあまり有用ではない。 常識的な知識とは、「疲れていること」が「寝ること」につながる、といった関係を理解することである。関係は、このグラフを単なるイベントのリストではなく、 推論が可能なツールにするための重要な要素である。</a:t>
            </a:r>
            <a:endParaRPr sz="1150">
              <a:solidFill>
                <a:srgbClr val="1A2E2C"/>
              </a:solidFill>
              <a:latin typeface="Calibri"/>
              <a:ea typeface="Calibri"/>
              <a:cs typeface="Calibri"/>
              <a:sym typeface="Calibri"/>
            </a:endParaRPr>
          </a:p>
        </p:txBody>
      </p:sp>
      <p:sp>
        <p:nvSpPr>
          <p:cNvPr id="211" name="Google Shape;211;p7"/>
          <p:cNvSpPr/>
          <p:nvPr/>
        </p:nvSpPr>
        <p:spPr>
          <a:xfrm>
            <a:off x="475488" y="3255264"/>
            <a:ext cx="4572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1050"/>
              <a:buFont typeface="Calibri"/>
              <a:buNone/>
            </a:pPr>
            <a:r>
              <a:rPr b="1" i="0" lang="en-US" sz="1050" u="none" cap="none" strike="noStrike">
                <a:solidFill>
                  <a:srgbClr val="1A2E2C"/>
                </a:solidFill>
                <a:latin typeface="Calibri"/>
                <a:ea typeface="Calibri"/>
                <a:cs typeface="Calibri"/>
                <a:sym typeface="Calibri"/>
              </a:rPr>
              <a:t>From our example — two events, one relation:</a:t>
            </a:r>
            <a:endParaRPr b="0" i="0" sz="1050" u="none" cap="none" strike="noStrike">
              <a:solidFill>
                <a:srgbClr val="1A2E2C"/>
              </a:solidFill>
              <a:latin typeface="Calibri"/>
              <a:ea typeface="Calibri"/>
              <a:cs typeface="Calibri"/>
              <a:sym typeface="Calibri"/>
            </a:endParaRPr>
          </a:p>
        </p:txBody>
      </p:sp>
      <p:sp>
        <p:nvSpPr>
          <p:cNvPr id="212" name="Google Shape;212;p7"/>
          <p:cNvSpPr/>
          <p:nvPr/>
        </p:nvSpPr>
        <p:spPr>
          <a:xfrm>
            <a:off x="562347" y="3770523"/>
            <a:ext cx="2286000" cy="530400"/>
          </a:xfrm>
          <a:prstGeom prst="rect">
            <a:avLst/>
          </a:prstGeom>
          <a:solidFill>
            <a:srgbClr val="112A28"/>
          </a:solidFill>
          <a:ln cap="flat" cmpd="sng" w="12700">
            <a:solidFill>
              <a:srgbClr val="0E9E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594360" y="3770523"/>
            <a:ext cx="2286000" cy="530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4ECEA"/>
              </a:buClr>
              <a:buSzPts val="1300"/>
              <a:buFont typeface="Consolas"/>
              <a:buNone/>
            </a:pPr>
            <a:r>
              <a:rPr b="0" i="0" lang="en-US" sz="1300" u="none" cap="none" strike="noStrike">
                <a:solidFill>
                  <a:srgbClr val="C4ECEA"/>
                </a:solidFill>
                <a:latin typeface="Consolas"/>
                <a:ea typeface="Consolas"/>
                <a:cs typeface="Consolas"/>
                <a:sym typeface="Consolas"/>
              </a:rPr>
              <a:t>he be tired</a:t>
            </a:r>
            <a:endParaRPr b="0" i="0" sz="1300" u="none" cap="none" strike="noStrike">
              <a:solidFill>
                <a:schemeClr val="dk1"/>
              </a:solidFill>
              <a:latin typeface="Calibri"/>
              <a:ea typeface="Calibri"/>
              <a:cs typeface="Calibri"/>
              <a:sym typeface="Calibri"/>
            </a:endParaRPr>
          </a:p>
        </p:txBody>
      </p:sp>
      <p:cxnSp>
        <p:nvCxnSpPr>
          <p:cNvPr id="214" name="Google Shape;214;p7"/>
          <p:cNvCxnSpPr/>
          <p:nvPr/>
        </p:nvCxnSpPr>
        <p:spPr>
          <a:xfrm>
            <a:off x="2880360" y="4035699"/>
            <a:ext cx="1371600" cy="0"/>
          </a:xfrm>
          <a:prstGeom prst="straightConnector1">
            <a:avLst/>
          </a:prstGeom>
          <a:noFill/>
          <a:ln cap="flat" cmpd="sng" w="31750">
            <a:solidFill>
              <a:srgbClr val="E09B3D"/>
            </a:solidFill>
            <a:prstDash val="solid"/>
            <a:round/>
            <a:headEnd len="sm" w="sm" type="none"/>
            <a:tailEnd len="sm" w="sm" type="none"/>
          </a:ln>
        </p:spPr>
      </p:cxnSp>
      <p:cxnSp>
        <p:nvCxnSpPr>
          <p:cNvPr id="215" name="Google Shape;215;p7"/>
          <p:cNvCxnSpPr/>
          <p:nvPr/>
        </p:nvCxnSpPr>
        <p:spPr>
          <a:xfrm>
            <a:off x="4160520" y="3935115"/>
            <a:ext cx="128100" cy="100500"/>
          </a:xfrm>
          <a:prstGeom prst="straightConnector1">
            <a:avLst/>
          </a:prstGeom>
          <a:noFill/>
          <a:ln cap="flat" cmpd="sng" w="31750">
            <a:solidFill>
              <a:srgbClr val="E09B3D"/>
            </a:solidFill>
            <a:prstDash val="solid"/>
            <a:round/>
            <a:headEnd len="sm" w="sm" type="none"/>
            <a:tailEnd len="sm" w="sm" type="none"/>
          </a:ln>
        </p:spPr>
      </p:cxnSp>
      <p:cxnSp>
        <p:nvCxnSpPr>
          <p:cNvPr id="216" name="Google Shape;216;p7"/>
          <p:cNvCxnSpPr/>
          <p:nvPr/>
        </p:nvCxnSpPr>
        <p:spPr>
          <a:xfrm flipH="1" rot="10800000">
            <a:off x="4160520" y="4035783"/>
            <a:ext cx="128100" cy="100500"/>
          </a:xfrm>
          <a:prstGeom prst="straightConnector1">
            <a:avLst/>
          </a:prstGeom>
          <a:noFill/>
          <a:ln cap="flat" cmpd="sng" w="31750">
            <a:solidFill>
              <a:srgbClr val="E09B3D"/>
            </a:solidFill>
            <a:prstDash val="solid"/>
            <a:round/>
            <a:headEnd len="sm" w="sm" type="none"/>
            <a:tailEnd len="sm" w="sm" type="none"/>
          </a:ln>
        </p:spPr>
      </p:cxnSp>
      <p:sp>
        <p:nvSpPr>
          <p:cNvPr id="217" name="Google Shape;217;p7"/>
          <p:cNvSpPr/>
          <p:nvPr/>
        </p:nvSpPr>
        <p:spPr>
          <a:xfrm>
            <a:off x="3027497" y="3685258"/>
            <a:ext cx="1005900" cy="255900"/>
          </a:xfrm>
          <a:prstGeom prst="rect">
            <a:avLst/>
          </a:prstGeom>
          <a:solidFill>
            <a:srgbClr val="E09B3D"/>
          </a:solidFill>
          <a:ln cap="flat" cmpd="sng" w="12700">
            <a:solidFill>
              <a:srgbClr val="E09B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p:nvPr/>
        </p:nvSpPr>
        <p:spPr>
          <a:xfrm>
            <a:off x="3017482" y="3676892"/>
            <a:ext cx="10059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000"/>
              <a:buFont typeface="Calibri"/>
              <a:buNone/>
            </a:pPr>
            <a:r>
              <a:rPr b="1" i="0" lang="en-US" sz="1000" u="none" cap="none" strike="noStrike">
                <a:solidFill>
                  <a:srgbClr val="0D1B2A"/>
                </a:solidFill>
                <a:latin typeface="Calibri"/>
                <a:ea typeface="Calibri"/>
                <a:cs typeface="Calibri"/>
                <a:sym typeface="Calibri"/>
              </a:rPr>
              <a:t>Result</a:t>
            </a:r>
            <a:endParaRPr b="0" i="0" sz="1000" u="none" cap="none" strike="noStrike">
              <a:solidFill>
                <a:schemeClr val="dk1"/>
              </a:solidFill>
              <a:latin typeface="Calibri"/>
              <a:ea typeface="Calibri"/>
              <a:cs typeface="Calibri"/>
              <a:sym typeface="Calibri"/>
            </a:endParaRPr>
          </a:p>
        </p:txBody>
      </p:sp>
      <p:sp>
        <p:nvSpPr>
          <p:cNvPr id="219" name="Google Shape;219;p7"/>
          <p:cNvSpPr/>
          <p:nvPr/>
        </p:nvSpPr>
        <p:spPr>
          <a:xfrm>
            <a:off x="3035808" y="4026555"/>
            <a:ext cx="9693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FA6A4"/>
              </a:buClr>
              <a:buSzPts val="850"/>
              <a:buFont typeface="Calibri"/>
              <a:buNone/>
            </a:pPr>
            <a:r>
              <a:rPr b="0" i="0" lang="en-US" sz="850" u="none" cap="none" strike="noStrike">
                <a:solidFill>
                  <a:srgbClr val="8FA6A4"/>
                </a:solidFill>
                <a:latin typeface="Calibri"/>
                <a:ea typeface="Calibri"/>
                <a:cs typeface="Calibri"/>
                <a:sym typeface="Calibri"/>
              </a:rPr>
              <a:t>weight: 1.0</a:t>
            </a:r>
            <a:endParaRPr b="0" i="0" sz="850" u="none" cap="none" strike="noStrike">
              <a:solidFill>
                <a:schemeClr val="dk1"/>
              </a:solidFill>
              <a:latin typeface="Calibri"/>
              <a:ea typeface="Calibri"/>
              <a:cs typeface="Calibri"/>
              <a:sym typeface="Calibri"/>
            </a:endParaRPr>
          </a:p>
        </p:txBody>
      </p:sp>
      <p:sp>
        <p:nvSpPr>
          <p:cNvPr id="220" name="Google Shape;220;p7"/>
          <p:cNvSpPr/>
          <p:nvPr/>
        </p:nvSpPr>
        <p:spPr>
          <a:xfrm>
            <a:off x="4283956" y="3770523"/>
            <a:ext cx="2286000" cy="530400"/>
          </a:xfrm>
          <a:prstGeom prst="rect">
            <a:avLst/>
          </a:prstGeom>
          <a:solidFill>
            <a:srgbClr val="112A28"/>
          </a:solidFill>
          <a:ln cap="flat" cmpd="sng" w="12700">
            <a:solidFill>
              <a:srgbClr val="0E9E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4315968" y="3770523"/>
            <a:ext cx="2286000" cy="530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4ECEA"/>
              </a:buClr>
              <a:buSzPts val="1300"/>
              <a:buFont typeface="Consolas"/>
              <a:buNone/>
            </a:pPr>
            <a:r>
              <a:rPr b="0" i="0" lang="en-US" sz="1300" u="none" cap="none" strike="noStrike">
                <a:solidFill>
                  <a:srgbClr val="C4ECEA"/>
                </a:solidFill>
                <a:latin typeface="Consolas"/>
                <a:ea typeface="Consolas"/>
                <a:cs typeface="Consolas"/>
                <a:sym typeface="Consolas"/>
              </a:rPr>
              <a:t>he go to bed</a:t>
            </a:r>
            <a:endParaRPr b="0" i="0" sz="1300" u="none" cap="none" strike="noStrike">
              <a:solidFill>
                <a:schemeClr val="dk1"/>
              </a:solidFill>
              <a:latin typeface="Calibri"/>
              <a:ea typeface="Calibri"/>
              <a:cs typeface="Calibri"/>
              <a:sym typeface="Calibri"/>
            </a:endParaRPr>
          </a:p>
        </p:txBody>
      </p:sp>
      <p:sp>
        <p:nvSpPr>
          <p:cNvPr id="222" name="Google Shape;222;p7"/>
          <p:cNvSpPr/>
          <p:nvPr/>
        </p:nvSpPr>
        <p:spPr>
          <a:xfrm>
            <a:off x="6766560" y="3584448"/>
            <a:ext cx="19202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1000"/>
              <a:buFont typeface="Calibri"/>
              <a:buNone/>
            </a:pPr>
            <a:r>
              <a:rPr b="0" i="1" lang="en-US" sz="1000" u="none" cap="none" strike="noStrike">
                <a:solidFill>
                  <a:srgbClr val="8FA6A4"/>
                </a:solidFill>
                <a:latin typeface="Calibri"/>
                <a:ea typeface="Calibri"/>
                <a:cs typeface="Calibri"/>
                <a:sym typeface="Calibri"/>
              </a:rPr>
              <a:t>The word "So" between the sentences is the signal — it tells ASER the second event is a Result of the first.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7" name="Shape 227"/>
        <p:cNvGrpSpPr/>
        <p:nvPr/>
      </p:nvGrpSpPr>
      <p:grpSpPr>
        <a:xfrm>
          <a:off x="0" y="0"/>
          <a:ext cx="0" cy="0"/>
          <a:chOff x="0" y="0"/>
          <a:chExt cx="0" cy="0"/>
        </a:xfrm>
      </p:grpSpPr>
      <p:sp>
        <p:nvSpPr>
          <p:cNvPr id="228" name="Google Shape;228;p8"/>
          <p:cNvSpPr/>
          <p:nvPr/>
        </p:nvSpPr>
        <p:spPr>
          <a:xfrm>
            <a:off x="0" y="0"/>
            <a:ext cx="9144000" cy="50292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365760" y="0"/>
            <a:ext cx="713232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Step 4 — How relations are detected automatically</a:t>
            </a:r>
            <a:endParaRPr b="0" i="0" sz="1800" u="none" cap="none" strike="noStrike">
              <a:solidFill>
                <a:schemeClr val="dk1"/>
              </a:solidFill>
              <a:latin typeface="Calibri"/>
              <a:ea typeface="Calibri"/>
              <a:cs typeface="Calibri"/>
              <a:sym typeface="Calibri"/>
            </a:endParaRPr>
          </a:p>
        </p:txBody>
      </p:sp>
      <p:sp>
        <p:nvSpPr>
          <p:cNvPr id="230" name="Google Shape;230;p8"/>
          <p:cNvSpPr/>
          <p:nvPr/>
        </p:nvSpPr>
        <p:spPr>
          <a:xfrm>
            <a:off x="457138" y="850050"/>
            <a:ext cx="8229600" cy="5853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rgbClr val="1A2E2C"/>
                </a:solidFill>
                <a:latin typeface="Calibri"/>
                <a:ea typeface="Calibri"/>
                <a:cs typeface="Calibri"/>
                <a:sym typeface="Calibri"/>
              </a:rPr>
              <a:t>ASERは文のペアをスキャンし、ディスコース接続語（discourse connectives）を探す。これは文と文の間に現れる特定の単語やフレーズであり、論理的な関係を示す。接続語の種類によって、関係（エッジ）のタイプが決定される。</a:t>
            </a:r>
            <a:endParaRPr>
              <a:solidFill>
                <a:srgbClr val="1A2E2C"/>
              </a:solidFill>
              <a:latin typeface="Calibri"/>
              <a:ea typeface="Calibri"/>
              <a:cs typeface="Calibri"/>
              <a:sym typeface="Calibri"/>
            </a:endParaRPr>
          </a:p>
        </p:txBody>
      </p:sp>
      <p:sp>
        <p:nvSpPr>
          <p:cNvPr id="231" name="Google Shape;231;p8"/>
          <p:cNvSpPr/>
          <p:nvPr/>
        </p:nvSpPr>
        <p:spPr>
          <a:xfrm>
            <a:off x="320040" y="1782470"/>
            <a:ext cx="2743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200"/>
              <a:buFont typeface="Georgia"/>
              <a:buNone/>
            </a:pPr>
            <a:r>
              <a:rPr b="1" i="0" lang="en-US" sz="1200" u="none" cap="none" strike="noStrike">
                <a:solidFill>
                  <a:srgbClr val="0D1B2A"/>
                </a:solidFill>
                <a:latin typeface="Georgia"/>
                <a:ea typeface="Georgia"/>
                <a:cs typeface="Georgia"/>
                <a:sym typeface="Georgia"/>
              </a:rPr>
              <a:t>The 3-step process:</a:t>
            </a:r>
            <a:endParaRPr b="0" i="0" sz="1200" u="none" cap="none" strike="noStrike">
              <a:solidFill>
                <a:schemeClr val="dk1"/>
              </a:solidFill>
              <a:latin typeface="Calibri"/>
              <a:ea typeface="Calibri"/>
              <a:cs typeface="Calibri"/>
              <a:sym typeface="Calibri"/>
            </a:endParaRPr>
          </a:p>
        </p:txBody>
      </p:sp>
      <p:sp>
        <p:nvSpPr>
          <p:cNvPr id="232" name="Google Shape;232;p8"/>
          <p:cNvSpPr/>
          <p:nvPr/>
        </p:nvSpPr>
        <p:spPr>
          <a:xfrm>
            <a:off x="384048" y="2276246"/>
            <a:ext cx="457200" cy="457200"/>
          </a:xfrm>
          <a:prstGeom prst="ellipse">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384048" y="2276246"/>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Georgia"/>
              <a:buNone/>
            </a:pPr>
            <a:r>
              <a:rPr b="1" i="0" lang="en-US" sz="1300" u="none" cap="none" strike="noStrike">
                <a:solidFill>
                  <a:srgbClr val="FFFFFF"/>
                </a:solidFill>
                <a:latin typeface="Georgia"/>
                <a:ea typeface="Georgia"/>
                <a:cs typeface="Georgia"/>
                <a:sym typeface="Georgia"/>
              </a:rPr>
              <a:t>①</a:t>
            </a:r>
            <a:endParaRPr b="0" i="0" sz="1300" u="none" cap="none" strike="noStrike">
              <a:solidFill>
                <a:schemeClr val="dk1"/>
              </a:solidFill>
              <a:latin typeface="Calibri"/>
              <a:ea typeface="Calibri"/>
              <a:cs typeface="Calibri"/>
              <a:sym typeface="Calibri"/>
            </a:endParaRPr>
          </a:p>
        </p:txBody>
      </p:sp>
      <p:sp>
        <p:nvSpPr>
          <p:cNvPr id="234" name="Google Shape;234;p8"/>
          <p:cNvSpPr/>
          <p:nvPr/>
        </p:nvSpPr>
        <p:spPr>
          <a:xfrm>
            <a:off x="969264" y="2221382"/>
            <a:ext cx="3108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200"/>
              <a:buFont typeface="Calibri"/>
              <a:buNone/>
            </a:pPr>
            <a:r>
              <a:rPr b="1" i="0" lang="en-US" sz="1200" u="none" cap="none" strike="noStrike">
                <a:solidFill>
                  <a:srgbClr val="0A7A72"/>
                </a:solidFill>
                <a:latin typeface="Calibri"/>
                <a:ea typeface="Calibri"/>
                <a:cs typeface="Calibri"/>
                <a:sym typeface="Calibri"/>
              </a:rPr>
              <a:t>Scan sentence pairs</a:t>
            </a:r>
            <a:endParaRPr b="0" i="0" sz="1200" u="none" cap="none" strike="noStrike">
              <a:solidFill>
                <a:schemeClr val="dk1"/>
              </a:solidFill>
              <a:latin typeface="Calibri"/>
              <a:ea typeface="Calibri"/>
              <a:cs typeface="Calibri"/>
              <a:sym typeface="Calibri"/>
            </a:endParaRPr>
          </a:p>
        </p:txBody>
      </p:sp>
      <p:sp>
        <p:nvSpPr>
          <p:cNvPr id="235" name="Google Shape;235;p8"/>
          <p:cNvSpPr/>
          <p:nvPr/>
        </p:nvSpPr>
        <p:spPr>
          <a:xfrm>
            <a:off x="969264" y="2495702"/>
            <a:ext cx="7699200" cy="3291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1100">
                <a:solidFill>
                  <a:srgbClr val="4A6A68"/>
                </a:solidFill>
                <a:latin typeface="Calibri"/>
                <a:ea typeface="Calibri"/>
                <a:cs typeface="Calibri"/>
                <a:sym typeface="Calibri"/>
              </a:rPr>
              <a:t>段落内の隣接する文のペアごとに、それらの間にディスコース接続語が存在するかを確認する。</a:t>
            </a:r>
            <a:br>
              <a:rPr lang="en-US" sz="1100">
                <a:solidFill>
                  <a:srgbClr val="4A6A68"/>
                </a:solidFill>
                <a:latin typeface="Calibri"/>
                <a:ea typeface="Calibri"/>
                <a:cs typeface="Calibri"/>
                <a:sym typeface="Calibri"/>
              </a:rPr>
            </a:br>
            <a:r>
              <a:rPr lang="en-US" sz="1100">
                <a:solidFill>
                  <a:srgbClr val="4A6A68"/>
                </a:solidFill>
                <a:latin typeface="Calibri"/>
                <a:ea typeface="Calibri"/>
                <a:cs typeface="Calibri"/>
                <a:sym typeface="Calibri"/>
              </a:rPr>
              <a:t>例："so", "because", "but", "after"</a:t>
            </a:r>
            <a:endParaRPr sz="1100">
              <a:solidFill>
                <a:srgbClr val="4A6A68"/>
              </a:solidFill>
              <a:latin typeface="Calibri"/>
              <a:ea typeface="Calibri"/>
              <a:cs typeface="Calibri"/>
              <a:sym typeface="Calibri"/>
            </a:endParaRPr>
          </a:p>
        </p:txBody>
      </p:sp>
      <p:sp>
        <p:nvSpPr>
          <p:cNvPr id="236" name="Google Shape;236;p8"/>
          <p:cNvSpPr/>
          <p:nvPr/>
        </p:nvSpPr>
        <p:spPr>
          <a:xfrm>
            <a:off x="384048" y="3080918"/>
            <a:ext cx="457200" cy="457200"/>
          </a:xfrm>
          <a:prstGeom prst="ellipse">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384048" y="3080918"/>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Georgia"/>
              <a:buNone/>
            </a:pPr>
            <a:r>
              <a:rPr b="1" i="0" lang="en-US" sz="1300" u="none" cap="none" strike="noStrike">
                <a:solidFill>
                  <a:srgbClr val="FFFFFF"/>
                </a:solidFill>
                <a:latin typeface="Georgia"/>
                <a:ea typeface="Georgia"/>
                <a:cs typeface="Georgia"/>
                <a:sym typeface="Georgia"/>
              </a:rPr>
              <a:t>②</a:t>
            </a:r>
            <a:endParaRPr b="0" i="0" sz="1300" u="none" cap="none" strike="noStrike">
              <a:solidFill>
                <a:schemeClr val="dk1"/>
              </a:solidFill>
              <a:latin typeface="Calibri"/>
              <a:ea typeface="Calibri"/>
              <a:cs typeface="Calibri"/>
              <a:sym typeface="Calibri"/>
            </a:endParaRPr>
          </a:p>
        </p:txBody>
      </p:sp>
      <p:sp>
        <p:nvSpPr>
          <p:cNvPr id="238" name="Google Shape;238;p8"/>
          <p:cNvSpPr/>
          <p:nvPr/>
        </p:nvSpPr>
        <p:spPr>
          <a:xfrm>
            <a:off x="969264" y="3026054"/>
            <a:ext cx="3108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200"/>
              <a:buFont typeface="Calibri"/>
              <a:buNone/>
            </a:pPr>
            <a:r>
              <a:rPr b="1" i="0" lang="en-US" sz="1200" u="none" cap="none" strike="noStrike">
                <a:solidFill>
                  <a:srgbClr val="0A7A72"/>
                </a:solidFill>
                <a:latin typeface="Calibri"/>
                <a:ea typeface="Calibri"/>
                <a:cs typeface="Calibri"/>
                <a:sym typeface="Calibri"/>
              </a:rPr>
              <a:t>Map connective → relation type</a:t>
            </a:r>
            <a:endParaRPr b="0" i="0" sz="1200" u="none" cap="none" strike="noStrike">
              <a:solidFill>
                <a:schemeClr val="dk1"/>
              </a:solidFill>
              <a:latin typeface="Calibri"/>
              <a:ea typeface="Calibri"/>
              <a:cs typeface="Calibri"/>
              <a:sym typeface="Calibri"/>
            </a:endParaRPr>
          </a:p>
        </p:txBody>
      </p:sp>
      <p:sp>
        <p:nvSpPr>
          <p:cNvPr id="239" name="Google Shape;239;p8"/>
          <p:cNvSpPr/>
          <p:nvPr/>
        </p:nvSpPr>
        <p:spPr>
          <a:xfrm>
            <a:off x="969264" y="3300374"/>
            <a:ext cx="7699200" cy="3291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1100">
                <a:solidFill>
                  <a:srgbClr val="4A6A68"/>
                </a:solidFill>
                <a:latin typeface="Calibri"/>
                <a:ea typeface="Calibri"/>
                <a:cs typeface="Calibri"/>
                <a:sym typeface="Calibri"/>
              </a:rPr>
              <a:t>各接続語は、あらかじめ定義された19種類の関係タイプのいずれかに対応付けられる。</a:t>
            </a:r>
            <a:br>
              <a:rPr lang="en-US" sz="1100">
                <a:solidFill>
                  <a:srgbClr val="4A6A68"/>
                </a:solidFill>
                <a:latin typeface="Calibri"/>
                <a:ea typeface="Calibri"/>
                <a:cs typeface="Calibri"/>
                <a:sym typeface="Calibri"/>
              </a:rPr>
            </a:br>
            <a:r>
              <a:rPr lang="en-US" sz="1100">
                <a:solidFill>
                  <a:srgbClr val="4A6A68"/>
                </a:solidFill>
                <a:latin typeface="Calibri"/>
                <a:ea typeface="Calibri"/>
                <a:cs typeface="Calibri"/>
                <a:sym typeface="Calibri"/>
              </a:rPr>
              <a:t>例："so", "therefore" → Result（結果</a:t>
            </a:r>
            <a:r>
              <a:rPr lang="en-US" sz="1100">
                <a:solidFill>
                  <a:srgbClr val="4A6A68"/>
                </a:solidFill>
                <a:latin typeface="Calibri"/>
                <a:ea typeface="Calibri"/>
                <a:cs typeface="Calibri"/>
                <a:sym typeface="Calibri"/>
              </a:rPr>
              <a:t>）</a:t>
            </a:r>
            <a:endParaRPr sz="1100">
              <a:solidFill>
                <a:srgbClr val="4A6A68"/>
              </a:solidFill>
              <a:latin typeface="Calibri"/>
              <a:ea typeface="Calibri"/>
              <a:cs typeface="Calibri"/>
              <a:sym typeface="Calibri"/>
            </a:endParaRPr>
          </a:p>
        </p:txBody>
      </p:sp>
      <p:sp>
        <p:nvSpPr>
          <p:cNvPr id="240" name="Google Shape;240;p8"/>
          <p:cNvSpPr/>
          <p:nvPr/>
        </p:nvSpPr>
        <p:spPr>
          <a:xfrm>
            <a:off x="384048" y="3885590"/>
            <a:ext cx="457200" cy="457200"/>
          </a:xfrm>
          <a:prstGeom prst="ellipse">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384048" y="3885590"/>
            <a:ext cx="45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Georgia"/>
              <a:buNone/>
            </a:pPr>
            <a:r>
              <a:rPr b="1" i="0" lang="en-US" sz="1300" u="none" cap="none" strike="noStrike">
                <a:solidFill>
                  <a:srgbClr val="FFFFFF"/>
                </a:solidFill>
                <a:latin typeface="Georgia"/>
                <a:ea typeface="Georgia"/>
                <a:cs typeface="Georgia"/>
                <a:sym typeface="Georgia"/>
              </a:rPr>
              <a:t>③</a:t>
            </a:r>
            <a:endParaRPr b="0" i="0" sz="1300" u="none" cap="none" strike="noStrike">
              <a:solidFill>
                <a:schemeClr val="dk1"/>
              </a:solidFill>
              <a:latin typeface="Calibri"/>
              <a:ea typeface="Calibri"/>
              <a:cs typeface="Calibri"/>
              <a:sym typeface="Calibri"/>
            </a:endParaRPr>
          </a:p>
        </p:txBody>
      </p:sp>
      <p:sp>
        <p:nvSpPr>
          <p:cNvPr id="242" name="Google Shape;242;p8"/>
          <p:cNvSpPr/>
          <p:nvPr/>
        </p:nvSpPr>
        <p:spPr>
          <a:xfrm>
            <a:off x="969264" y="3830726"/>
            <a:ext cx="3108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200"/>
              <a:buFont typeface="Calibri"/>
              <a:buNone/>
            </a:pPr>
            <a:r>
              <a:rPr b="1" i="0" lang="en-US" sz="1200" u="none" cap="none" strike="noStrike">
                <a:solidFill>
                  <a:srgbClr val="0A7A72"/>
                </a:solidFill>
                <a:latin typeface="Calibri"/>
                <a:ea typeface="Calibri"/>
                <a:cs typeface="Calibri"/>
                <a:sym typeface="Calibri"/>
              </a:rPr>
              <a:t>Create a weighted edge</a:t>
            </a:r>
            <a:endParaRPr b="0" i="0" sz="1200" u="none" cap="none" strike="noStrike">
              <a:solidFill>
                <a:schemeClr val="dk1"/>
              </a:solidFill>
              <a:latin typeface="Calibri"/>
              <a:ea typeface="Calibri"/>
              <a:cs typeface="Calibri"/>
              <a:sym typeface="Calibri"/>
            </a:endParaRPr>
          </a:p>
        </p:txBody>
      </p:sp>
      <p:sp>
        <p:nvSpPr>
          <p:cNvPr id="243" name="Google Shape;243;p8"/>
          <p:cNvSpPr/>
          <p:nvPr/>
        </p:nvSpPr>
        <p:spPr>
          <a:xfrm>
            <a:off x="969275" y="4105057"/>
            <a:ext cx="7699200" cy="885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rgbClr val="4A6A68"/>
                </a:solidFill>
                <a:latin typeface="Calibri"/>
                <a:ea typeface="Calibri"/>
                <a:cs typeface="Calibri"/>
                <a:sym typeface="Calibri"/>
              </a:rPr>
              <a:t>以下の形式でトリプレットが保存される：  		</a:t>
            </a:r>
            <a:r>
              <a:rPr b="1" lang="en-US" sz="1100">
                <a:solidFill>
                  <a:srgbClr val="4A6A68"/>
                </a:solidFill>
                <a:latin typeface="Calibri"/>
                <a:ea typeface="Calibri"/>
                <a:cs typeface="Calibri"/>
                <a:sym typeface="Calibri"/>
              </a:rPr>
              <a:t>(event₁ ,  relation,  event₂）</a:t>
            </a:r>
            <a:endParaRPr b="1" sz="1100">
              <a:solidFill>
                <a:srgbClr val="4A6A68"/>
              </a:solidFill>
              <a:latin typeface="Calibri"/>
              <a:ea typeface="Calibri"/>
              <a:cs typeface="Calibri"/>
              <a:sym typeface="Calibri"/>
            </a:endParaRPr>
          </a:p>
          <a:p>
            <a:pPr indent="0" lvl="0" marL="0" rtl="0" algn="l">
              <a:lnSpc>
                <a:spcPct val="115000"/>
              </a:lnSpc>
              <a:spcBef>
                <a:spcPts val="1200"/>
              </a:spcBef>
              <a:spcAft>
                <a:spcPts val="1200"/>
              </a:spcAft>
              <a:buClr>
                <a:schemeClr val="dk1"/>
              </a:buClr>
              <a:buSzPts val="1100"/>
              <a:buFont typeface="Arial"/>
              <a:buNone/>
            </a:pPr>
            <a:r>
              <a:rPr lang="en-US" sz="1100">
                <a:solidFill>
                  <a:srgbClr val="4A6A68"/>
                </a:solidFill>
                <a:latin typeface="Calibri"/>
                <a:ea typeface="Calibri"/>
                <a:cs typeface="Calibri"/>
                <a:sym typeface="Calibri"/>
              </a:rPr>
              <a:t>同じトリプレットが他の文書でも出現すると、そのエッジの重みが増加する</a:t>
            </a:r>
            <a:r>
              <a:rPr lang="en-US" sz="1100">
                <a:solidFill>
                  <a:srgbClr val="4A6A68"/>
                </a:solidFill>
                <a:latin typeface="Calibri"/>
                <a:ea typeface="Calibri"/>
                <a:cs typeface="Calibri"/>
                <a:sym typeface="Calibri"/>
              </a:rPr>
              <a:t>。</a:t>
            </a:r>
            <a:r>
              <a:rPr lang="en-US" sz="1100">
                <a:solidFill>
                  <a:srgbClr val="4A6A68"/>
                </a:solidFill>
                <a:latin typeface="Calibri"/>
                <a:ea typeface="Calibri"/>
                <a:cs typeface="Calibri"/>
                <a:sym typeface="Calibri"/>
              </a:rPr>
              <a:t> 重みが高いほど、一般的で信頼性の高い知識であることを示す。</a:t>
            </a:r>
            <a:endParaRPr sz="1100">
              <a:solidFill>
                <a:srgbClr val="4A6A68"/>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8" name="Shape 248"/>
        <p:cNvGrpSpPr/>
        <p:nvPr/>
      </p:nvGrpSpPr>
      <p:grpSpPr>
        <a:xfrm>
          <a:off x="0" y="0"/>
          <a:ext cx="0" cy="0"/>
          <a:chOff x="0" y="0"/>
          <a:chExt cx="0" cy="0"/>
        </a:xfrm>
      </p:grpSpPr>
      <p:sp>
        <p:nvSpPr>
          <p:cNvPr id="249" name="Google Shape;249;g3d1eafd1ad1_0_147"/>
          <p:cNvSpPr/>
          <p:nvPr/>
        </p:nvSpPr>
        <p:spPr>
          <a:xfrm>
            <a:off x="5363993" y="1979871"/>
            <a:ext cx="2955300" cy="3201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d1eafd1ad1_0_147"/>
          <p:cNvSpPr/>
          <p:nvPr/>
        </p:nvSpPr>
        <p:spPr>
          <a:xfrm>
            <a:off x="0" y="0"/>
            <a:ext cx="9144000" cy="5028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d1eafd1ad1_0_147"/>
          <p:cNvSpPr/>
          <p:nvPr/>
        </p:nvSpPr>
        <p:spPr>
          <a:xfrm>
            <a:off x="365760" y="0"/>
            <a:ext cx="84126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Step </a:t>
            </a:r>
            <a:r>
              <a:rPr b="1" lang="en-US" sz="1800">
                <a:solidFill>
                  <a:srgbClr val="FFFFFF"/>
                </a:solidFill>
                <a:latin typeface="Georgia"/>
                <a:ea typeface="Georgia"/>
                <a:cs typeface="Georgia"/>
                <a:sym typeface="Georgia"/>
              </a:rPr>
              <a:t>4</a:t>
            </a:r>
            <a:r>
              <a:rPr b="1" i="0" lang="en-US" sz="1800" u="none" cap="none" strike="noStrike">
                <a:solidFill>
                  <a:srgbClr val="FFFFFF"/>
                </a:solidFill>
                <a:latin typeface="Georgia"/>
                <a:ea typeface="Georgia"/>
                <a:cs typeface="Georgia"/>
                <a:sym typeface="Georgia"/>
              </a:rPr>
              <a:t> — Relation extraction</a:t>
            </a:r>
            <a:endParaRPr b="0" i="0" sz="1800" u="none" cap="none" strike="noStrike">
              <a:solidFill>
                <a:schemeClr val="dk1"/>
              </a:solidFill>
              <a:latin typeface="Calibri"/>
              <a:ea typeface="Calibri"/>
              <a:cs typeface="Calibri"/>
              <a:sym typeface="Calibri"/>
            </a:endParaRPr>
          </a:p>
        </p:txBody>
      </p:sp>
      <p:sp>
        <p:nvSpPr>
          <p:cNvPr id="252" name="Google Shape;252;g3d1eafd1ad1_0_147"/>
          <p:cNvSpPr/>
          <p:nvPr/>
        </p:nvSpPr>
        <p:spPr>
          <a:xfrm>
            <a:off x="334790" y="946667"/>
            <a:ext cx="50292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300"/>
              <a:buFont typeface="Georgia"/>
              <a:buNone/>
            </a:pPr>
            <a:r>
              <a:rPr b="1" i="0" lang="en-US" sz="1300" u="none" cap="none" strike="noStrike">
                <a:solidFill>
                  <a:srgbClr val="0D1B2A"/>
                </a:solidFill>
                <a:latin typeface="Georgia"/>
                <a:ea typeface="Georgia"/>
                <a:cs typeface="Georgia"/>
                <a:sym typeface="Georgia"/>
              </a:rPr>
              <a:t>19 discourse relation types</a:t>
            </a:r>
            <a:endParaRPr b="0" i="0" sz="1300" u="none" cap="none" strike="noStrike">
              <a:solidFill>
                <a:schemeClr val="dk1"/>
              </a:solidFill>
              <a:latin typeface="Calibri"/>
              <a:ea typeface="Calibri"/>
              <a:cs typeface="Calibri"/>
              <a:sym typeface="Calibri"/>
            </a:endParaRPr>
          </a:p>
        </p:txBody>
      </p:sp>
      <p:sp>
        <p:nvSpPr>
          <p:cNvPr id="253" name="Google Shape;253;g3d1eafd1ad1_0_147"/>
          <p:cNvSpPr/>
          <p:nvPr/>
        </p:nvSpPr>
        <p:spPr>
          <a:xfrm>
            <a:off x="334790" y="1330715"/>
            <a:ext cx="2194500" cy="402300"/>
          </a:xfrm>
          <a:prstGeom prst="rect">
            <a:avLst/>
          </a:prstGeom>
          <a:solidFill>
            <a:srgbClr val="E8F7F6"/>
          </a:solidFill>
          <a:ln cap="flat" cmpd="sng" w="12700">
            <a:solidFill>
              <a:srgbClr val="C4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d1eafd1ad1_0_147"/>
          <p:cNvSpPr/>
          <p:nvPr/>
        </p:nvSpPr>
        <p:spPr>
          <a:xfrm>
            <a:off x="398798" y="1349003"/>
            <a:ext cx="20664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Result</a:t>
            </a:r>
            <a:endParaRPr b="0" i="0" sz="1100" u="none" cap="none" strike="noStrike">
              <a:solidFill>
                <a:schemeClr val="dk1"/>
              </a:solidFill>
              <a:latin typeface="Calibri"/>
              <a:ea typeface="Calibri"/>
              <a:cs typeface="Calibri"/>
              <a:sym typeface="Calibri"/>
            </a:endParaRPr>
          </a:p>
        </p:txBody>
      </p:sp>
      <p:sp>
        <p:nvSpPr>
          <p:cNvPr id="255" name="Google Shape;255;g3d1eafd1ad1_0_147"/>
          <p:cNvSpPr/>
          <p:nvPr/>
        </p:nvSpPr>
        <p:spPr>
          <a:xfrm>
            <a:off x="398798" y="1531883"/>
            <a:ext cx="2066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900"/>
              <a:buFont typeface="Calibri"/>
              <a:buNone/>
            </a:pPr>
            <a:r>
              <a:rPr b="0" i="1" lang="en-US" sz="900" u="none" cap="none" strike="noStrike">
                <a:solidFill>
                  <a:srgbClr val="8FA6A4"/>
                </a:solidFill>
                <a:latin typeface="Calibri"/>
                <a:ea typeface="Calibri"/>
                <a:cs typeface="Calibri"/>
                <a:sym typeface="Calibri"/>
              </a:rPr>
              <a:t>so / therefore</a:t>
            </a:r>
            <a:endParaRPr b="0" i="0" sz="900" u="none" cap="none" strike="noStrike">
              <a:solidFill>
                <a:schemeClr val="dk1"/>
              </a:solidFill>
              <a:latin typeface="Calibri"/>
              <a:ea typeface="Calibri"/>
              <a:cs typeface="Calibri"/>
              <a:sym typeface="Calibri"/>
            </a:endParaRPr>
          </a:p>
        </p:txBody>
      </p:sp>
      <p:sp>
        <p:nvSpPr>
          <p:cNvPr id="256" name="Google Shape;256;g3d1eafd1ad1_0_147"/>
          <p:cNvSpPr/>
          <p:nvPr/>
        </p:nvSpPr>
        <p:spPr>
          <a:xfrm>
            <a:off x="334790" y="1806203"/>
            <a:ext cx="2194500" cy="402300"/>
          </a:xfrm>
          <a:prstGeom prst="rect">
            <a:avLst/>
          </a:prstGeom>
          <a:solidFill>
            <a:srgbClr val="E8F7F6"/>
          </a:solidFill>
          <a:ln cap="flat" cmpd="sng" w="12700">
            <a:solidFill>
              <a:srgbClr val="C4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g3d1eafd1ad1_0_147"/>
          <p:cNvSpPr/>
          <p:nvPr/>
        </p:nvSpPr>
        <p:spPr>
          <a:xfrm>
            <a:off x="398798" y="1824491"/>
            <a:ext cx="20664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Reason</a:t>
            </a:r>
            <a:endParaRPr b="0" i="0" sz="1100" u="none" cap="none" strike="noStrike">
              <a:solidFill>
                <a:schemeClr val="dk1"/>
              </a:solidFill>
              <a:latin typeface="Calibri"/>
              <a:ea typeface="Calibri"/>
              <a:cs typeface="Calibri"/>
              <a:sym typeface="Calibri"/>
            </a:endParaRPr>
          </a:p>
        </p:txBody>
      </p:sp>
      <p:sp>
        <p:nvSpPr>
          <p:cNvPr id="258" name="Google Shape;258;g3d1eafd1ad1_0_147"/>
          <p:cNvSpPr/>
          <p:nvPr/>
        </p:nvSpPr>
        <p:spPr>
          <a:xfrm>
            <a:off x="398798" y="2007371"/>
            <a:ext cx="2066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900"/>
              <a:buFont typeface="Calibri"/>
              <a:buNone/>
            </a:pPr>
            <a:r>
              <a:rPr b="0" i="1" lang="en-US" sz="900" u="none" cap="none" strike="noStrike">
                <a:solidFill>
                  <a:srgbClr val="8FA6A4"/>
                </a:solidFill>
                <a:latin typeface="Calibri"/>
                <a:ea typeface="Calibri"/>
                <a:cs typeface="Calibri"/>
                <a:sym typeface="Calibri"/>
              </a:rPr>
              <a:t>because / since</a:t>
            </a:r>
            <a:endParaRPr b="0" i="0" sz="900" u="none" cap="none" strike="noStrike">
              <a:solidFill>
                <a:schemeClr val="dk1"/>
              </a:solidFill>
              <a:latin typeface="Calibri"/>
              <a:ea typeface="Calibri"/>
              <a:cs typeface="Calibri"/>
              <a:sym typeface="Calibri"/>
            </a:endParaRPr>
          </a:p>
        </p:txBody>
      </p:sp>
      <p:sp>
        <p:nvSpPr>
          <p:cNvPr id="259" name="Google Shape;259;g3d1eafd1ad1_0_147"/>
          <p:cNvSpPr/>
          <p:nvPr/>
        </p:nvSpPr>
        <p:spPr>
          <a:xfrm>
            <a:off x="334790" y="2281691"/>
            <a:ext cx="2194500" cy="402300"/>
          </a:xfrm>
          <a:prstGeom prst="rect">
            <a:avLst/>
          </a:prstGeom>
          <a:solidFill>
            <a:srgbClr val="E8F7F6"/>
          </a:solidFill>
          <a:ln cap="flat" cmpd="sng" w="12700">
            <a:solidFill>
              <a:srgbClr val="C4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g3d1eafd1ad1_0_147"/>
          <p:cNvSpPr/>
          <p:nvPr/>
        </p:nvSpPr>
        <p:spPr>
          <a:xfrm>
            <a:off x="398798" y="2299979"/>
            <a:ext cx="20664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Condition</a:t>
            </a:r>
            <a:endParaRPr b="0" i="0" sz="1100" u="none" cap="none" strike="noStrike">
              <a:solidFill>
                <a:schemeClr val="dk1"/>
              </a:solidFill>
              <a:latin typeface="Calibri"/>
              <a:ea typeface="Calibri"/>
              <a:cs typeface="Calibri"/>
              <a:sym typeface="Calibri"/>
            </a:endParaRPr>
          </a:p>
        </p:txBody>
      </p:sp>
      <p:sp>
        <p:nvSpPr>
          <p:cNvPr id="261" name="Google Shape;261;g3d1eafd1ad1_0_147"/>
          <p:cNvSpPr/>
          <p:nvPr/>
        </p:nvSpPr>
        <p:spPr>
          <a:xfrm>
            <a:off x="398798" y="2482859"/>
            <a:ext cx="2066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900"/>
              <a:buFont typeface="Calibri"/>
              <a:buNone/>
            </a:pPr>
            <a:r>
              <a:rPr b="0" i="1" lang="en-US" sz="900" u="none" cap="none" strike="noStrike">
                <a:solidFill>
                  <a:srgbClr val="8FA6A4"/>
                </a:solidFill>
                <a:latin typeface="Calibri"/>
                <a:ea typeface="Calibri"/>
                <a:cs typeface="Calibri"/>
                <a:sym typeface="Calibri"/>
              </a:rPr>
              <a:t>if / unless</a:t>
            </a:r>
            <a:endParaRPr b="0" i="0" sz="900" u="none" cap="none" strike="noStrike">
              <a:solidFill>
                <a:schemeClr val="dk1"/>
              </a:solidFill>
              <a:latin typeface="Calibri"/>
              <a:ea typeface="Calibri"/>
              <a:cs typeface="Calibri"/>
              <a:sym typeface="Calibri"/>
            </a:endParaRPr>
          </a:p>
        </p:txBody>
      </p:sp>
      <p:sp>
        <p:nvSpPr>
          <p:cNvPr id="262" name="Google Shape;262;g3d1eafd1ad1_0_147"/>
          <p:cNvSpPr/>
          <p:nvPr/>
        </p:nvSpPr>
        <p:spPr>
          <a:xfrm>
            <a:off x="334790" y="2757179"/>
            <a:ext cx="2194500" cy="402300"/>
          </a:xfrm>
          <a:prstGeom prst="rect">
            <a:avLst/>
          </a:prstGeom>
          <a:solidFill>
            <a:srgbClr val="E8F7F6"/>
          </a:solidFill>
          <a:ln cap="flat" cmpd="sng" w="12700">
            <a:solidFill>
              <a:srgbClr val="C4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g3d1eafd1ad1_0_147"/>
          <p:cNvSpPr/>
          <p:nvPr/>
        </p:nvSpPr>
        <p:spPr>
          <a:xfrm>
            <a:off x="398798" y="2775467"/>
            <a:ext cx="20664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Contrast</a:t>
            </a:r>
            <a:endParaRPr b="0" i="0" sz="1100" u="none" cap="none" strike="noStrike">
              <a:solidFill>
                <a:schemeClr val="dk1"/>
              </a:solidFill>
              <a:latin typeface="Calibri"/>
              <a:ea typeface="Calibri"/>
              <a:cs typeface="Calibri"/>
              <a:sym typeface="Calibri"/>
            </a:endParaRPr>
          </a:p>
        </p:txBody>
      </p:sp>
      <p:sp>
        <p:nvSpPr>
          <p:cNvPr id="264" name="Google Shape;264;g3d1eafd1ad1_0_147"/>
          <p:cNvSpPr/>
          <p:nvPr/>
        </p:nvSpPr>
        <p:spPr>
          <a:xfrm>
            <a:off x="398798" y="2958347"/>
            <a:ext cx="2066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900"/>
              <a:buFont typeface="Calibri"/>
              <a:buNone/>
            </a:pPr>
            <a:r>
              <a:rPr b="0" i="1" lang="en-US" sz="900" u="none" cap="none" strike="noStrike">
                <a:solidFill>
                  <a:srgbClr val="8FA6A4"/>
                </a:solidFill>
                <a:latin typeface="Calibri"/>
                <a:ea typeface="Calibri"/>
                <a:cs typeface="Calibri"/>
                <a:sym typeface="Calibri"/>
              </a:rPr>
              <a:t>but / however / although</a:t>
            </a:r>
            <a:endParaRPr b="0" i="0" sz="900" u="none" cap="none" strike="noStrike">
              <a:solidFill>
                <a:schemeClr val="dk1"/>
              </a:solidFill>
              <a:latin typeface="Calibri"/>
              <a:ea typeface="Calibri"/>
              <a:cs typeface="Calibri"/>
              <a:sym typeface="Calibri"/>
            </a:endParaRPr>
          </a:p>
        </p:txBody>
      </p:sp>
      <p:sp>
        <p:nvSpPr>
          <p:cNvPr id="265" name="Google Shape;265;g3d1eafd1ad1_0_147"/>
          <p:cNvSpPr/>
          <p:nvPr/>
        </p:nvSpPr>
        <p:spPr>
          <a:xfrm>
            <a:off x="334790" y="3232667"/>
            <a:ext cx="2194500" cy="402300"/>
          </a:xfrm>
          <a:prstGeom prst="rect">
            <a:avLst/>
          </a:prstGeom>
          <a:solidFill>
            <a:srgbClr val="E8F7F6"/>
          </a:solidFill>
          <a:ln cap="flat" cmpd="sng" w="12700">
            <a:solidFill>
              <a:srgbClr val="C4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g3d1eafd1ad1_0_147"/>
          <p:cNvSpPr/>
          <p:nvPr/>
        </p:nvSpPr>
        <p:spPr>
          <a:xfrm>
            <a:off x="398798" y="3250955"/>
            <a:ext cx="20664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Concession</a:t>
            </a:r>
            <a:endParaRPr b="0" i="0" sz="1100" u="none" cap="none" strike="noStrike">
              <a:solidFill>
                <a:schemeClr val="dk1"/>
              </a:solidFill>
              <a:latin typeface="Calibri"/>
              <a:ea typeface="Calibri"/>
              <a:cs typeface="Calibri"/>
              <a:sym typeface="Calibri"/>
            </a:endParaRPr>
          </a:p>
        </p:txBody>
      </p:sp>
      <p:sp>
        <p:nvSpPr>
          <p:cNvPr id="267" name="Google Shape;267;g3d1eafd1ad1_0_147"/>
          <p:cNvSpPr/>
          <p:nvPr/>
        </p:nvSpPr>
        <p:spPr>
          <a:xfrm>
            <a:off x="398798" y="3433835"/>
            <a:ext cx="2066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900"/>
              <a:buFont typeface="Calibri"/>
              <a:buNone/>
            </a:pPr>
            <a:r>
              <a:rPr b="0" i="1" lang="en-US" sz="900" u="none" cap="none" strike="noStrike">
                <a:solidFill>
                  <a:srgbClr val="8FA6A4"/>
                </a:solidFill>
                <a:latin typeface="Calibri"/>
                <a:ea typeface="Calibri"/>
                <a:cs typeface="Calibri"/>
                <a:sym typeface="Calibri"/>
              </a:rPr>
              <a:t>even though / despite</a:t>
            </a:r>
            <a:endParaRPr b="0" i="0" sz="900" u="none" cap="none" strike="noStrike">
              <a:solidFill>
                <a:schemeClr val="dk1"/>
              </a:solidFill>
              <a:latin typeface="Calibri"/>
              <a:ea typeface="Calibri"/>
              <a:cs typeface="Calibri"/>
              <a:sym typeface="Calibri"/>
            </a:endParaRPr>
          </a:p>
        </p:txBody>
      </p:sp>
      <p:sp>
        <p:nvSpPr>
          <p:cNvPr id="268" name="Google Shape;268;g3d1eafd1ad1_0_147"/>
          <p:cNvSpPr/>
          <p:nvPr/>
        </p:nvSpPr>
        <p:spPr>
          <a:xfrm>
            <a:off x="334790" y="3708155"/>
            <a:ext cx="2194500" cy="402300"/>
          </a:xfrm>
          <a:prstGeom prst="rect">
            <a:avLst/>
          </a:prstGeom>
          <a:solidFill>
            <a:srgbClr val="E8F7F6"/>
          </a:solidFill>
          <a:ln cap="flat" cmpd="sng" w="12700">
            <a:solidFill>
              <a:srgbClr val="C4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3d1eafd1ad1_0_147"/>
          <p:cNvSpPr/>
          <p:nvPr/>
        </p:nvSpPr>
        <p:spPr>
          <a:xfrm>
            <a:off x="398798" y="3726443"/>
            <a:ext cx="20664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Conjunction</a:t>
            </a:r>
            <a:endParaRPr b="0" i="0" sz="1100" u="none" cap="none" strike="noStrike">
              <a:solidFill>
                <a:schemeClr val="dk1"/>
              </a:solidFill>
              <a:latin typeface="Calibri"/>
              <a:ea typeface="Calibri"/>
              <a:cs typeface="Calibri"/>
              <a:sym typeface="Calibri"/>
            </a:endParaRPr>
          </a:p>
        </p:txBody>
      </p:sp>
      <p:sp>
        <p:nvSpPr>
          <p:cNvPr id="270" name="Google Shape;270;g3d1eafd1ad1_0_147"/>
          <p:cNvSpPr/>
          <p:nvPr/>
        </p:nvSpPr>
        <p:spPr>
          <a:xfrm>
            <a:off x="398798" y="3909323"/>
            <a:ext cx="2066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900"/>
              <a:buFont typeface="Calibri"/>
              <a:buNone/>
            </a:pPr>
            <a:r>
              <a:rPr b="0" i="1" lang="en-US" sz="900" u="none" cap="none" strike="noStrike">
                <a:solidFill>
                  <a:srgbClr val="8FA6A4"/>
                </a:solidFill>
                <a:latin typeface="Calibri"/>
                <a:ea typeface="Calibri"/>
                <a:cs typeface="Calibri"/>
                <a:sym typeface="Calibri"/>
              </a:rPr>
              <a:t>and / also</a:t>
            </a:r>
            <a:endParaRPr b="0" i="0" sz="900" u="none" cap="none" strike="noStrike">
              <a:solidFill>
                <a:schemeClr val="dk1"/>
              </a:solidFill>
              <a:latin typeface="Calibri"/>
              <a:ea typeface="Calibri"/>
              <a:cs typeface="Calibri"/>
              <a:sym typeface="Calibri"/>
            </a:endParaRPr>
          </a:p>
        </p:txBody>
      </p:sp>
      <p:sp>
        <p:nvSpPr>
          <p:cNvPr id="271" name="Google Shape;271;g3d1eafd1ad1_0_147"/>
          <p:cNvSpPr/>
          <p:nvPr/>
        </p:nvSpPr>
        <p:spPr>
          <a:xfrm>
            <a:off x="2620790" y="1330715"/>
            <a:ext cx="2194500" cy="402300"/>
          </a:xfrm>
          <a:prstGeom prst="rect">
            <a:avLst/>
          </a:prstGeom>
          <a:solidFill>
            <a:srgbClr val="E8F7F6"/>
          </a:solidFill>
          <a:ln cap="flat" cmpd="sng" w="12700">
            <a:solidFill>
              <a:srgbClr val="C4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g3d1eafd1ad1_0_147"/>
          <p:cNvSpPr/>
          <p:nvPr/>
        </p:nvSpPr>
        <p:spPr>
          <a:xfrm>
            <a:off x="2684798" y="1349003"/>
            <a:ext cx="20664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Instantiation</a:t>
            </a:r>
            <a:endParaRPr b="0" i="0" sz="1100" u="none" cap="none" strike="noStrike">
              <a:solidFill>
                <a:schemeClr val="dk1"/>
              </a:solidFill>
              <a:latin typeface="Calibri"/>
              <a:ea typeface="Calibri"/>
              <a:cs typeface="Calibri"/>
              <a:sym typeface="Calibri"/>
            </a:endParaRPr>
          </a:p>
        </p:txBody>
      </p:sp>
      <p:sp>
        <p:nvSpPr>
          <p:cNvPr id="273" name="Google Shape;273;g3d1eafd1ad1_0_147"/>
          <p:cNvSpPr/>
          <p:nvPr/>
        </p:nvSpPr>
        <p:spPr>
          <a:xfrm>
            <a:off x="2684798" y="1531883"/>
            <a:ext cx="2066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900"/>
              <a:buFont typeface="Calibri"/>
              <a:buNone/>
            </a:pPr>
            <a:r>
              <a:rPr b="0" i="1" lang="en-US" sz="900" u="none" cap="none" strike="noStrike">
                <a:solidFill>
                  <a:srgbClr val="8FA6A4"/>
                </a:solidFill>
                <a:latin typeface="Calibri"/>
                <a:ea typeface="Calibri"/>
                <a:cs typeface="Calibri"/>
                <a:sym typeface="Calibri"/>
              </a:rPr>
              <a:t>for example / such as</a:t>
            </a:r>
            <a:endParaRPr b="0" i="0" sz="900" u="none" cap="none" strike="noStrike">
              <a:solidFill>
                <a:schemeClr val="dk1"/>
              </a:solidFill>
              <a:latin typeface="Calibri"/>
              <a:ea typeface="Calibri"/>
              <a:cs typeface="Calibri"/>
              <a:sym typeface="Calibri"/>
            </a:endParaRPr>
          </a:p>
        </p:txBody>
      </p:sp>
      <p:sp>
        <p:nvSpPr>
          <p:cNvPr id="274" name="Google Shape;274;g3d1eafd1ad1_0_147"/>
          <p:cNvSpPr/>
          <p:nvPr/>
        </p:nvSpPr>
        <p:spPr>
          <a:xfrm>
            <a:off x="2620790" y="1806203"/>
            <a:ext cx="2194500" cy="402300"/>
          </a:xfrm>
          <a:prstGeom prst="rect">
            <a:avLst/>
          </a:prstGeom>
          <a:solidFill>
            <a:srgbClr val="E8F7F6"/>
          </a:solidFill>
          <a:ln cap="flat" cmpd="sng" w="12700">
            <a:solidFill>
              <a:srgbClr val="C4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g3d1eafd1ad1_0_147"/>
          <p:cNvSpPr/>
          <p:nvPr/>
        </p:nvSpPr>
        <p:spPr>
          <a:xfrm>
            <a:off x="2684798" y="1824491"/>
            <a:ext cx="20664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Restatement</a:t>
            </a:r>
            <a:endParaRPr b="0" i="0" sz="1100" u="none" cap="none" strike="noStrike">
              <a:solidFill>
                <a:schemeClr val="dk1"/>
              </a:solidFill>
              <a:latin typeface="Calibri"/>
              <a:ea typeface="Calibri"/>
              <a:cs typeface="Calibri"/>
              <a:sym typeface="Calibri"/>
            </a:endParaRPr>
          </a:p>
        </p:txBody>
      </p:sp>
      <p:sp>
        <p:nvSpPr>
          <p:cNvPr id="276" name="Google Shape;276;g3d1eafd1ad1_0_147"/>
          <p:cNvSpPr/>
          <p:nvPr/>
        </p:nvSpPr>
        <p:spPr>
          <a:xfrm>
            <a:off x="2684798" y="2007371"/>
            <a:ext cx="2066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900"/>
              <a:buFont typeface="Calibri"/>
              <a:buNone/>
            </a:pPr>
            <a:r>
              <a:rPr b="0" i="1" lang="en-US" sz="900" u="none" cap="none" strike="noStrike">
                <a:solidFill>
                  <a:srgbClr val="8FA6A4"/>
                </a:solidFill>
                <a:latin typeface="Calibri"/>
                <a:ea typeface="Calibri"/>
                <a:cs typeface="Calibri"/>
                <a:sym typeface="Calibri"/>
              </a:rPr>
              <a:t>in other words / i.e.</a:t>
            </a:r>
            <a:endParaRPr b="0" i="0" sz="900" u="none" cap="none" strike="noStrike">
              <a:solidFill>
                <a:schemeClr val="dk1"/>
              </a:solidFill>
              <a:latin typeface="Calibri"/>
              <a:ea typeface="Calibri"/>
              <a:cs typeface="Calibri"/>
              <a:sym typeface="Calibri"/>
            </a:endParaRPr>
          </a:p>
        </p:txBody>
      </p:sp>
      <p:sp>
        <p:nvSpPr>
          <p:cNvPr id="277" name="Google Shape;277;g3d1eafd1ad1_0_147"/>
          <p:cNvSpPr/>
          <p:nvPr/>
        </p:nvSpPr>
        <p:spPr>
          <a:xfrm>
            <a:off x="2620790" y="2281691"/>
            <a:ext cx="2194500" cy="402300"/>
          </a:xfrm>
          <a:prstGeom prst="rect">
            <a:avLst/>
          </a:prstGeom>
          <a:solidFill>
            <a:srgbClr val="E8F7F6"/>
          </a:solidFill>
          <a:ln cap="flat" cmpd="sng" w="12700">
            <a:solidFill>
              <a:srgbClr val="C4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d1eafd1ad1_0_147"/>
          <p:cNvSpPr/>
          <p:nvPr/>
        </p:nvSpPr>
        <p:spPr>
          <a:xfrm>
            <a:off x="2684798" y="2299979"/>
            <a:ext cx="20664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Alternative</a:t>
            </a:r>
            <a:endParaRPr b="0" i="0" sz="1100" u="none" cap="none" strike="noStrike">
              <a:solidFill>
                <a:schemeClr val="dk1"/>
              </a:solidFill>
              <a:latin typeface="Calibri"/>
              <a:ea typeface="Calibri"/>
              <a:cs typeface="Calibri"/>
              <a:sym typeface="Calibri"/>
            </a:endParaRPr>
          </a:p>
        </p:txBody>
      </p:sp>
      <p:sp>
        <p:nvSpPr>
          <p:cNvPr id="279" name="Google Shape;279;g3d1eafd1ad1_0_147"/>
          <p:cNvSpPr/>
          <p:nvPr/>
        </p:nvSpPr>
        <p:spPr>
          <a:xfrm>
            <a:off x="2684798" y="2482859"/>
            <a:ext cx="2066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900"/>
              <a:buFont typeface="Calibri"/>
              <a:buNone/>
            </a:pPr>
            <a:r>
              <a:rPr b="0" i="1" lang="en-US" sz="900" u="none" cap="none" strike="noStrike">
                <a:solidFill>
                  <a:srgbClr val="8FA6A4"/>
                </a:solidFill>
                <a:latin typeface="Calibri"/>
                <a:ea typeface="Calibri"/>
                <a:cs typeface="Calibri"/>
                <a:sym typeface="Calibri"/>
              </a:rPr>
              <a:t>instead / rather</a:t>
            </a:r>
            <a:endParaRPr b="0" i="0" sz="900" u="none" cap="none" strike="noStrike">
              <a:solidFill>
                <a:schemeClr val="dk1"/>
              </a:solidFill>
              <a:latin typeface="Calibri"/>
              <a:ea typeface="Calibri"/>
              <a:cs typeface="Calibri"/>
              <a:sym typeface="Calibri"/>
            </a:endParaRPr>
          </a:p>
        </p:txBody>
      </p:sp>
      <p:sp>
        <p:nvSpPr>
          <p:cNvPr id="280" name="Google Shape;280;g3d1eafd1ad1_0_147"/>
          <p:cNvSpPr/>
          <p:nvPr/>
        </p:nvSpPr>
        <p:spPr>
          <a:xfrm>
            <a:off x="2620790" y="2757179"/>
            <a:ext cx="2194500" cy="402300"/>
          </a:xfrm>
          <a:prstGeom prst="rect">
            <a:avLst/>
          </a:prstGeom>
          <a:solidFill>
            <a:srgbClr val="E8F7F6"/>
          </a:solidFill>
          <a:ln cap="flat" cmpd="sng" w="12700">
            <a:solidFill>
              <a:srgbClr val="C4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g3d1eafd1ad1_0_147"/>
          <p:cNvSpPr/>
          <p:nvPr/>
        </p:nvSpPr>
        <p:spPr>
          <a:xfrm>
            <a:off x="2684798" y="2775467"/>
            <a:ext cx="20664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Co_Occurrence</a:t>
            </a:r>
            <a:endParaRPr b="0" i="0" sz="1100" u="none" cap="none" strike="noStrike">
              <a:solidFill>
                <a:schemeClr val="dk1"/>
              </a:solidFill>
              <a:latin typeface="Calibri"/>
              <a:ea typeface="Calibri"/>
              <a:cs typeface="Calibri"/>
              <a:sym typeface="Calibri"/>
            </a:endParaRPr>
          </a:p>
        </p:txBody>
      </p:sp>
      <p:sp>
        <p:nvSpPr>
          <p:cNvPr id="282" name="Google Shape;282;g3d1eafd1ad1_0_147"/>
          <p:cNvSpPr/>
          <p:nvPr/>
        </p:nvSpPr>
        <p:spPr>
          <a:xfrm>
            <a:off x="2684798" y="2958347"/>
            <a:ext cx="2066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900"/>
              <a:buFont typeface="Calibri"/>
              <a:buNone/>
            </a:pPr>
            <a:r>
              <a:rPr b="0" i="1" lang="en-US" sz="900" u="none" cap="none" strike="noStrike">
                <a:solidFill>
                  <a:srgbClr val="8FA6A4"/>
                </a:solidFill>
                <a:latin typeface="Calibri"/>
                <a:ea typeface="Calibri"/>
                <a:cs typeface="Calibri"/>
                <a:sym typeface="Calibri"/>
              </a:rPr>
              <a:t>same sentence context</a:t>
            </a:r>
            <a:endParaRPr b="0" i="0" sz="900" u="none" cap="none" strike="noStrike">
              <a:solidFill>
                <a:schemeClr val="dk1"/>
              </a:solidFill>
              <a:latin typeface="Calibri"/>
              <a:ea typeface="Calibri"/>
              <a:cs typeface="Calibri"/>
              <a:sym typeface="Calibri"/>
            </a:endParaRPr>
          </a:p>
        </p:txBody>
      </p:sp>
      <p:sp>
        <p:nvSpPr>
          <p:cNvPr id="283" name="Google Shape;283;g3d1eafd1ad1_0_147"/>
          <p:cNvSpPr/>
          <p:nvPr/>
        </p:nvSpPr>
        <p:spPr>
          <a:xfrm>
            <a:off x="2620790" y="3232667"/>
            <a:ext cx="2194500" cy="402300"/>
          </a:xfrm>
          <a:prstGeom prst="rect">
            <a:avLst/>
          </a:prstGeom>
          <a:solidFill>
            <a:srgbClr val="E8F7F6"/>
          </a:solidFill>
          <a:ln cap="flat" cmpd="sng" w="12700">
            <a:solidFill>
              <a:srgbClr val="C4EC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d1eafd1ad1_0_147"/>
          <p:cNvSpPr/>
          <p:nvPr/>
        </p:nvSpPr>
        <p:spPr>
          <a:xfrm>
            <a:off x="2684798" y="3250955"/>
            <a:ext cx="20664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A72"/>
              </a:buClr>
              <a:buSzPts val="1100"/>
              <a:buFont typeface="Calibri"/>
              <a:buNone/>
            </a:pPr>
            <a:r>
              <a:rPr b="1" i="0" lang="en-US" sz="1100" u="none" cap="none" strike="noStrike">
                <a:solidFill>
                  <a:srgbClr val="0A7A72"/>
                </a:solidFill>
                <a:latin typeface="Calibri"/>
                <a:ea typeface="Calibri"/>
                <a:cs typeface="Calibri"/>
                <a:sym typeface="Calibri"/>
              </a:rPr>
              <a:t>Synchronous</a:t>
            </a:r>
            <a:endParaRPr b="0" i="0" sz="1100" u="none" cap="none" strike="noStrike">
              <a:solidFill>
                <a:schemeClr val="dk1"/>
              </a:solidFill>
              <a:latin typeface="Calibri"/>
              <a:ea typeface="Calibri"/>
              <a:cs typeface="Calibri"/>
              <a:sym typeface="Calibri"/>
            </a:endParaRPr>
          </a:p>
        </p:txBody>
      </p:sp>
      <p:sp>
        <p:nvSpPr>
          <p:cNvPr id="285" name="Google Shape;285;g3d1eafd1ad1_0_147"/>
          <p:cNvSpPr/>
          <p:nvPr/>
        </p:nvSpPr>
        <p:spPr>
          <a:xfrm>
            <a:off x="2684798" y="3433835"/>
            <a:ext cx="2066400" cy="16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FA6A4"/>
              </a:buClr>
              <a:buSzPts val="900"/>
              <a:buFont typeface="Calibri"/>
              <a:buNone/>
            </a:pPr>
            <a:r>
              <a:rPr b="0" i="1" lang="en-US" sz="900" u="none" cap="none" strike="noStrike">
                <a:solidFill>
                  <a:srgbClr val="8FA6A4"/>
                </a:solidFill>
                <a:latin typeface="Calibri"/>
                <a:ea typeface="Calibri"/>
                <a:cs typeface="Calibri"/>
                <a:sym typeface="Calibri"/>
              </a:rPr>
              <a:t>meanwhile / at the same time</a:t>
            </a:r>
            <a:endParaRPr b="0" i="0" sz="900" u="none" cap="none" strike="noStrike">
              <a:solidFill>
                <a:schemeClr val="dk1"/>
              </a:solidFill>
              <a:latin typeface="Calibri"/>
              <a:ea typeface="Calibri"/>
              <a:cs typeface="Calibri"/>
              <a:sym typeface="Calibri"/>
            </a:endParaRPr>
          </a:p>
        </p:txBody>
      </p:sp>
      <p:sp>
        <p:nvSpPr>
          <p:cNvPr id="286" name="Google Shape;286;g3d1eafd1ad1_0_147"/>
          <p:cNvSpPr/>
          <p:nvPr/>
        </p:nvSpPr>
        <p:spPr>
          <a:xfrm>
            <a:off x="5312829" y="2007375"/>
            <a:ext cx="32658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6A68"/>
              </a:buClr>
              <a:buSzPts val="1150"/>
              <a:buFont typeface="Calibri"/>
              <a:buNone/>
            </a:pPr>
            <a:r>
              <a:rPr b="0" i="0" lang="en-US" sz="1150" u="none" cap="none" strike="noStrike">
                <a:solidFill>
                  <a:srgbClr val="4A6A68"/>
                </a:solidFill>
                <a:latin typeface="Calibri"/>
                <a:ea typeface="Calibri"/>
                <a:cs typeface="Calibri"/>
                <a:sym typeface="Calibri"/>
              </a:rPr>
              <a:t>From our </a:t>
            </a:r>
            <a:r>
              <a:rPr b="0" i="0" lang="en-US" sz="1150" u="none" cap="none" strike="noStrike">
                <a:solidFill>
                  <a:srgbClr val="4A6A68"/>
                </a:solidFill>
                <a:latin typeface="Calibri"/>
                <a:ea typeface="Calibri"/>
                <a:cs typeface="Calibri"/>
                <a:sym typeface="Calibri"/>
              </a:rPr>
              <a:t>example: </a:t>
            </a:r>
            <a:br>
              <a:rPr b="0" i="0" lang="en-US" sz="1150" u="none" cap="none" strike="noStrike">
                <a:solidFill>
                  <a:srgbClr val="4A6A68"/>
                </a:solidFill>
                <a:latin typeface="Calibri"/>
                <a:ea typeface="Calibri"/>
                <a:cs typeface="Calibri"/>
                <a:sym typeface="Calibri"/>
              </a:rPr>
            </a:br>
            <a:br>
              <a:rPr b="0" i="0" lang="en-US" sz="1150" u="none" cap="none" strike="noStrike">
                <a:solidFill>
                  <a:srgbClr val="4A6A68"/>
                </a:solidFill>
                <a:latin typeface="Calibri"/>
                <a:ea typeface="Calibri"/>
                <a:cs typeface="Calibri"/>
                <a:sym typeface="Calibri"/>
              </a:rPr>
            </a:br>
            <a:r>
              <a:rPr b="0" i="0" lang="en-US" sz="1150" u="none" cap="none" strike="noStrike">
                <a:solidFill>
                  <a:schemeClr val="lt1"/>
                </a:solidFill>
                <a:latin typeface="Consolas"/>
                <a:ea typeface="Consolas"/>
                <a:cs typeface="Consolas"/>
                <a:sym typeface="Consolas"/>
              </a:rPr>
              <a:t>"He was tired. </a:t>
            </a:r>
            <a:r>
              <a:rPr b="1" i="0" lang="en-US" sz="1150" u="none" cap="none" strike="noStrike">
                <a:solidFill>
                  <a:schemeClr val="accent4"/>
                </a:solidFill>
                <a:latin typeface="Consolas"/>
                <a:ea typeface="Consolas"/>
                <a:cs typeface="Consolas"/>
                <a:sym typeface="Consolas"/>
              </a:rPr>
              <a:t>So</a:t>
            </a:r>
            <a:r>
              <a:rPr b="1" i="0" lang="en-US" sz="1150" u="none" cap="none" strike="noStrike">
                <a:solidFill>
                  <a:schemeClr val="lt1"/>
                </a:solidFill>
                <a:latin typeface="Consolas"/>
                <a:ea typeface="Consolas"/>
                <a:cs typeface="Consolas"/>
                <a:sym typeface="Consolas"/>
              </a:rPr>
              <a:t> </a:t>
            </a:r>
            <a:r>
              <a:rPr b="0" i="0" lang="en-US" sz="1150" u="none" cap="none" strike="noStrike">
                <a:solidFill>
                  <a:schemeClr val="lt1"/>
                </a:solidFill>
                <a:latin typeface="Consolas"/>
                <a:ea typeface="Consolas"/>
                <a:cs typeface="Consolas"/>
                <a:sym typeface="Consolas"/>
              </a:rPr>
              <a:t>he </a:t>
            </a:r>
            <a:r>
              <a:rPr b="0" i="0" lang="en-US" sz="1150" u="none" cap="none" strike="noStrike">
                <a:solidFill>
                  <a:schemeClr val="lt1"/>
                </a:solidFill>
                <a:latin typeface="Consolas"/>
                <a:ea typeface="Consolas"/>
                <a:cs typeface="Consolas"/>
                <a:sym typeface="Consolas"/>
              </a:rPr>
              <a:t>went to bed.</a:t>
            </a:r>
            <a:r>
              <a:rPr b="0" i="0" lang="en-US" sz="1150" u="none" cap="none" strike="noStrike">
                <a:solidFill>
                  <a:schemeClr val="lt1"/>
                </a:solidFill>
                <a:latin typeface="Consolas"/>
                <a:ea typeface="Consolas"/>
                <a:cs typeface="Consolas"/>
                <a:sym typeface="Consolas"/>
              </a:rPr>
              <a:t>"  </a:t>
            </a:r>
            <a:br>
              <a:rPr b="0" i="0" lang="en-US" sz="1150" u="none" cap="none" strike="noStrike">
                <a:solidFill>
                  <a:schemeClr val="lt1"/>
                </a:solidFill>
                <a:latin typeface="Consolas"/>
                <a:ea typeface="Consolas"/>
                <a:cs typeface="Consolas"/>
                <a:sym typeface="Consolas"/>
              </a:rPr>
            </a:br>
            <a:br>
              <a:rPr b="0" i="0" lang="en-US" sz="1150" u="none" cap="none" strike="noStrike">
                <a:solidFill>
                  <a:srgbClr val="0D1B2A"/>
                </a:solidFill>
                <a:latin typeface="Consolas"/>
                <a:ea typeface="Consolas"/>
                <a:cs typeface="Consolas"/>
                <a:sym typeface="Consolas"/>
              </a:rPr>
            </a:br>
            <a:r>
              <a:rPr b="0" i="0" lang="en-US" sz="1150" u="none" cap="none" strike="noStrike">
                <a:solidFill>
                  <a:srgbClr val="4A6A68"/>
                </a:solidFill>
                <a:latin typeface="Calibri"/>
                <a:ea typeface="Calibri"/>
                <a:cs typeface="Calibri"/>
                <a:sym typeface="Calibri"/>
              </a:rPr>
              <a:t>→  "</a:t>
            </a:r>
            <a:r>
              <a:rPr b="0" i="0" lang="en-US" sz="1150" u="none" cap="none" strike="noStrike">
                <a:solidFill>
                  <a:srgbClr val="4A6A68"/>
                </a:solidFill>
                <a:latin typeface="Calibri"/>
                <a:ea typeface="Calibri"/>
                <a:cs typeface="Calibri"/>
                <a:sym typeface="Calibri"/>
              </a:rPr>
              <a:t>So</a:t>
            </a:r>
            <a:r>
              <a:rPr b="0" i="0" lang="en-US" sz="1150" u="none" cap="none" strike="noStrike">
                <a:solidFill>
                  <a:srgbClr val="4A6A68"/>
                </a:solidFill>
                <a:latin typeface="Calibri"/>
                <a:ea typeface="Calibri"/>
                <a:cs typeface="Calibri"/>
                <a:sym typeface="Calibri"/>
              </a:rPr>
              <a:t>" maps to </a:t>
            </a:r>
            <a:r>
              <a:rPr b="1" i="0" lang="en-US" sz="1150" u="none" cap="none" strike="noStrike">
                <a:solidFill>
                  <a:srgbClr val="0A7A72"/>
                </a:solidFill>
                <a:latin typeface="Calibri"/>
                <a:ea typeface="Calibri"/>
                <a:cs typeface="Calibri"/>
                <a:sym typeface="Calibri"/>
              </a:rPr>
              <a:t>Result</a:t>
            </a:r>
            <a:r>
              <a:rPr b="0" i="0" lang="en-US" sz="1150" u="none" cap="none" strike="noStrike">
                <a:solidFill>
                  <a:srgbClr val="4A6A68"/>
                </a:solidFill>
                <a:latin typeface="Calibri"/>
                <a:ea typeface="Calibri"/>
                <a:cs typeface="Calibri"/>
                <a:sym typeface="Calibri"/>
              </a:rPr>
              <a:t> — the tiredness caused going to bed.</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2026-03-23T20:10:13Z</dcterms:created>
  <dc:creator>PptxGenJS</dc:creator>
</cp:coreProperties>
</file>