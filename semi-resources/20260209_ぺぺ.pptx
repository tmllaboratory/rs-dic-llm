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60" r:id="rId3"/>
    <p:sldId id="259" r:id="rId4"/>
    <p:sldId id="258" r:id="rId5"/>
    <p:sldId id="261" r:id="rId6"/>
    <p:sldId id="262" r:id="rId7"/>
    <p:sldId id="297" r:id="rId8"/>
    <p:sldId id="295" r:id="rId9"/>
    <p:sldId id="293" r:id="rId10"/>
    <p:sldId id="294" r:id="rId11"/>
    <p:sldId id="296" r:id="rId12"/>
    <p:sldId id="298" r:id="rId13"/>
    <p:sldId id="299" r:id="rId14"/>
    <p:sldId id="265" r:id="rId15"/>
    <p:sldId id="300" r:id="rId16"/>
    <p:sldId id="301" r:id="rId17"/>
    <p:sldId id="303" r:id="rId18"/>
    <p:sldId id="304" r:id="rId19"/>
    <p:sldId id="273" r:id="rId20"/>
    <p:sldId id="305" r:id="rId21"/>
    <p:sldId id="306" r:id="rId22"/>
    <p:sldId id="272" r:id="rId23"/>
    <p:sldId id="270" r:id="rId24"/>
    <p:sldId id="268" r:id="rId25"/>
    <p:sldId id="274" r:id="rId26"/>
    <p:sldId id="277" r:id="rId27"/>
    <p:sldId id="278"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2316" autoAdjust="0"/>
  </p:normalViewPr>
  <p:slideViewPr>
    <p:cSldViewPr snapToGrid="0">
      <p:cViewPr>
        <p:scale>
          <a:sx n="50" d="100"/>
          <a:sy n="50" d="100"/>
        </p:scale>
        <p:origin x="1891"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F060D-3C3B-4FF0-A8D4-95003FE8E9F0}" type="datetimeFigureOut">
              <a:rPr lang="es-MX" smtClean="0"/>
              <a:t>09/02/2026</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ADAD4-FFEE-44FE-A51F-559B513FE96F}" type="slidenum">
              <a:rPr lang="es-MX" smtClean="0"/>
              <a:t>‹#›</a:t>
            </a:fld>
            <a:endParaRPr lang="es-MX"/>
          </a:p>
        </p:txBody>
      </p:sp>
    </p:spTree>
    <p:extLst>
      <p:ext uri="{BB962C8B-B14F-4D97-AF65-F5344CB8AC3E}">
        <p14:creationId xmlns:p14="http://schemas.microsoft.com/office/powerpoint/2010/main" val="155011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s-MX" dirty="0"/>
              <a:t>本日</a:t>
            </a:r>
            <a:r>
              <a:rPr lang="ja-JP" altLang="es-MX" dirty="0"/>
              <a:t>は、</a:t>
            </a:r>
            <a:r>
              <a:rPr lang="es-MX" b="1" dirty="0" err="1"/>
              <a:t>FastRAG</a:t>
            </a:r>
            <a:r>
              <a:rPr lang="es-MX" b="1" dirty="0"/>
              <a:t>: </a:t>
            </a:r>
            <a:r>
              <a:rPr lang="es-MX" b="1" dirty="0" err="1"/>
              <a:t>Retrieval-Augmented</a:t>
            </a:r>
            <a:r>
              <a:rPr lang="es-MX" b="1" dirty="0"/>
              <a:t> </a:t>
            </a:r>
            <a:r>
              <a:rPr lang="es-MX" b="1" dirty="0" err="1"/>
              <a:t>Generation</a:t>
            </a:r>
            <a:r>
              <a:rPr lang="es-MX" b="1" dirty="0"/>
              <a:t> </a:t>
            </a:r>
            <a:r>
              <a:rPr lang="es-MX" b="1" dirty="0" err="1"/>
              <a:t>for</a:t>
            </a:r>
            <a:r>
              <a:rPr lang="es-MX" b="1" dirty="0"/>
              <a:t> </a:t>
            </a:r>
            <a:r>
              <a:rPr lang="es-MX" b="1" dirty="0" err="1"/>
              <a:t>Semi-structured</a:t>
            </a:r>
            <a:r>
              <a:rPr lang="es-MX" b="1" dirty="0"/>
              <a:t> Data</a:t>
            </a:r>
            <a:r>
              <a:rPr lang="es-MX" dirty="0"/>
              <a:t> </a:t>
            </a:r>
            <a:r>
              <a:rPr lang="ja-JP" altLang="es-MX" dirty="0"/>
              <a:t>という</a:t>
            </a:r>
            <a:r>
              <a:rPr lang="zh-CN" altLang="es-MX" dirty="0"/>
              <a:t>論文</a:t>
            </a:r>
            <a:r>
              <a:rPr lang="ja-JP" altLang="es-MX" dirty="0"/>
              <a:t>について</a:t>
            </a:r>
            <a:r>
              <a:rPr lang="zh-CN" altLang="es-MX" dirty="0"/>
              <a:t>発表</a:t>
            </a:r>
            <a:r>
              <a:rPr lang="ja-JP" altLang="es-MX" dirty="0"/>
              <a:t>します。</a:t>
            </a:r>
            <a:endParaRPr lang="en-US" altLang="ja-JP" dirty="0"/>
          </a:p>
          <a:p>
            <a:endParaRPr lang="es-MX" dirty="0"/>
          </a:p>
        </p:txBody>
      </p:sp>
      <p:sp>
        <p:nvSpPr>
          <p:cNvPr id="4" name="Slide Number Placeholder 3"/>
          <p:cNvSpPr>
            <a:spLocks noGrp="1"/>
          </p:cNvSpPr>
          <p:nvPr>
            <p:ph type="sldNum" sz="quarter" idx="5"/>
          </p:nvPr>
        </p:nvSpPr>
        <p:spPr/>
        <p:txBody>
          <a:bodyPr/>
          <a:lstStyle/>
          <a:p>
            <a:fld id="{02B3E22B-53DC-4759-B9CE-F4DF395E544A}" type="slidenum">
              <a:rPr lang="es-MX" smtClean="0"/>
              <a:t>1</a:t>
            </a:fld>
            <a:endParaRPr lang="es-MX"/>
          </a:p>
        </p:txBody>
      </p:sp>
    </p:spTree>
    <p:extLst>
      <p:ext uri="{BB962C8B-B14F-4D97-AF65-F5344CB8AC3E}">
        <p14:creationId xmlns:p14="http://schemas.microsoft.com/office/powerpoint/2010/main" val="3261543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s-MX" sz="1200" kern="1200" dirty="0">
                <a:solidFill>
                  <a:schemeClr val="tx1"/>
                </a:solidFill>
                <a:effectLst/>
                <a:latin typeface="+mn-lt"/>
                <a:ea typeface="+mn-ea"/>
                <a:cs typeface="+mn-cs"/>
              </a:rPr>
              <a:t>要約として</a:t>
            </a:r>
          </a:p>
          <a:p>
            <a:r>
              <a:rPr lang="ja-JP" altLang="es-MX" sz="1200" kern="1200" dirty="0">
                <a:solidFill>
                  <a:schemeClr val="tx1"/>
                </a:solidFill>
                <a:effectLst/>
                <a:latin typeface="+mn-lt"/>
                <a:ea typeface="+mn-ea"/>
                <a:cs typeface="+mn-cs"/>
              </a:rPr>
              <a:t>先週を説明した通り、</a:t>
            </a:r>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は、ログやセキュリティレポート、設定ファイルのような</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大規模な半構造化テキストデータを対象としています。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これらのデータには明示的なスキーマがなく、非常に冗長</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じょうちょう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さらに、すべてをそのまま</a:t>
            </a:r>
            <a:r>
              <a:rPr lang="es-MX" sz="1200" kern="1200" dirty="0">
                <a:solidFill>
                  <a:schemeClr val="tx1"/>
                </a:solidFill>
                <a:effectLst/>
                <a:latin typeface="+mn-lt"/>
                <a:ea typeface="+mn-ea"/>
                <a:cs typeface="+mn-cs"/>
              </a:rPr>
              <a:t>LLM</a:t>
            </a:r>
            <a:r>
              <a:rPr lang="ja-JP" altLang="es-MX" sz="1200" kern="1200" dirty="0">
                <a:solidFill>
                  <a:schemeClr val="tx1"/>
                </a:solidFill>
                <a:effectLst/>
                <a:latin typeface="+mn-lt"/>
                <a:ea typeface="+mn-ea"/>
                <a:cs typeface="+mn-cs"/>
              </a:rPr>
              <a:t>に入力するのはコストが高く、現実的ではありません。</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そのため前処理の目的は、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情報を抽出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ちゅうしゅつ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することではなく、</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構造的な多様性を保</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たも</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ったままデータ量を削減</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さくげん</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すること</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つまり、異なるデータパターンを残しつつ、</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重複</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じゅうふく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をできるだけ取り除く、という考え方です。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a:t>
            </a:fld>
            <a:endParaRPr lang="es-MX"/>
          </a:p>
        </p:txBody>
      </p:sp>
    </p:spTree>
    <p:extLst>
      <p:ext uri="{BB962C8B-B14F-4D97-AF65-F5344CB8AC3E}">
        <p14:creationId xmlns:p14="http://schemas.microsoft.com/office/powerpoint/2010/main" val="615360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dirty="0"/>
              <a:t>ここまでは、</a:t>
            </a:r>
            <a:r>
              <a:rPr lang="es-MX" altLang="ja-JP" dirty="0" err="1"/>
              <a:t>FastRAG</a:t>
            </a:r>
            <a:r>
              <a:rPr lang="ja-JP" altLang="es-MX" dirty="0"/>
              <a:t>の全体的な動機について説明しました。</a:t>
            </a:r>
            <a:br>
              <a:rPr lang="ja-JP" altLang="es-MX" dirty="0"/>
            </a:br>
            <a:r>
              <a:rPr lang="ja-JP" altLang="es-MX" dirty="0"/>
              <a:t>ここからは、</a:t>
            </a:r>
            <a:r>
              <a:rPr lang="ja-JP" altLang="es-MX" b="1" dirty="0"/>
              <a:t>前処理のステージ</a:t>
            </a:r>
            <a:r>
              <a:rPr lang="ja-JP" altLang="es-MX" dirty="0"/>
              <a:t>について説明します。</a:t>
            </a:r>
          </a:p>
          <a:p>
            <a:r>
              <a:rPr lang="ja-JP" altLang="es-MX" dirty="0"/>
              <a:t>この前処理は、後続のサンプル選択を効率的に行うために、</a:t>
            </a:r>
            <a:br>
              <a:rPr lang="ja-JP" altLang="es-MX" dirty="0"/>
            </a:br>
            <a:r>
              <a:rPr lang="ja-JP" altLang="es-MX" dirty="0"/>
              <a:t>重要な構造を保ったままデータを整理する、非常に重要なステップです。</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3</a:t>
            </a:fld>
            <a:endParaRPr lang="es-MX"/>
          </a:p>
        </p:txBody>
      </p:sp>
    </p:spTree>
    <p:extLst>
      <p:ext uri="{BB962C8B-B14F-4D97-AF65-F5344CB8AC3E}">
        <p14:creationId xmlns:p14="http://schemas.microsoft.com/office/powerpoint/2010/main" val="881288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データセットを行や小さなチャンク単位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たんい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に分割</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ぶんかつ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こうすることで、データ全体ではなく、</a:t>
            </a:r>
            <a:r>
              <a:rPr lang="ja-JP" altLang="es-MX" sz="1200" b="1" kern="1200" dirty="0">
                <a:solidFill>
                  <a:schemeClr val="tx1"/>
                </a:solidFill>
                <a:effectLst/>
                <a:latin typeface="+mn-lt"/>
                <a:ea typeface="+mn-ea"/>
                <a:cs typeface="+mn-cs"/>
              </a:rPr>
              <a:t>局所的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きょくしょてき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な構造</a:t>
            </a:r>
            <a:r>
              <a:rPr lang="ja-JP" altLang="es-MX" sz="1200" b="0" kern="1200" dirty="0">
                <a:solidFill>
                  <a:schemeClr val="tx1"/>
                </a:solidFill>
                <a:effectLst/>
                <a:latin typeface="+mn-lt"/>
                <a:ea typeface="+mn-ea"/>
                <a:cs typeface="+mn-cs"/>
              </a:rPr>
              <a:t>を分析できるようになります。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また、チャンク単位で処理することで、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それぞれのデータに対して統計的な評価を行うことが可能になります。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各チャンクはキーワードのみで表現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ひょうげん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それを</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によってベクトル化します。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これにより、ノイズを</a:t>
            </a:r>
            <a:r>
              <a:rPr lang="ja-JP" altLang="es-MX" sz="1200" b="1" kern="1200" dirty="0">
                <a:solidFill>
                  <a:schemeClr val="tx1"/>
                </a:solidFill>
                <a:effectLst/>
                <a:latin typeface="+mn-lt"/>
                <a:ea typeface="+mn-ea"/>
                <a:cs typeface="+mn-cs"/>
              </a:rPr>
              <a:t>抑</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おさ</a:t>
            </a:r>
            <a:r>
              <a:rPr lang="es-MX" altLang="ja-JP" sz="1200"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えつつ</a:t>
            </a:r>
            <a:r>
              <a:rPr lang="ja-JP" altLang="es-MX" sz="1200" kern="1200" dirty="0">
                <a:solidFill>
                  <a:schemeClr val="tx1"/>
                </a:solidFill>
                <a:effectLst/>
                <a:latin typeface="+mn-lt"/>
                <a:ea typeface="+mn-ea"/>
                <a:cs typeface="+mn-cs"/>
              </a:rPr>
              <a:t>、重要な語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ご</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を数値的に捉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最後に、各チャンクごとにシャノンエントロピーを計算します。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エントロピーは、情報の多様性や構造的な豊かさを定量的に評価する指標</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しひょう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4</a:t>
            </a:fld>
            <a:endParaRPr lang="es-MX"/>
          </a:p>
        </p:txBody>
      </p:sp>
    </p:spTree>
    <p:extLst>
      <p:ext uri="{BB962C8B-B14F-4D97-AF65-F5344CB8AC3E}">
        <p14:creationId xmlns:p14="http://schemas.microsoft.com/office/powerpoint/2010/main" val="686239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のアルゴリズムは、生のテキストをそのまま扱うのではなく、</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データから抽出されたキーワードを対象に処理を行います。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これらのキーワードは、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データ形式の違いを表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あらわ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スキーマの候補</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こうほ</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となるフィールドを推測</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すいそく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する手がかりになります。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ここで重要なのは、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テキストの内容や意味を理解することではありません。</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目的はあくまで、</a:t>
            </a:r>
            <a:r>
              <a:rPr lang="ja-JP" altLang="es-MX" sz="1200" b="1" kern="1200" dirty="0">
                <a:solidFill>
                  <a:schemeClr val="tx1"/>
                </a:solidFill>
                <a:effectLst/>
                <a:latin typeface="+mn-lt"/>
                <a:ea typeface="+mn-ea"/>
                <a:cs typeface="+mn-cs"/>
              </a:rPr>
              <a:t>構造の多様性を捉</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とら</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えること</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キーワードに注目することで、</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は意味的な違いを無視しつつ、</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データ構造の違いだけを効率的に捉えることができます。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5</a:t>
            </a:fld>
            <a:endParaRPr lang="es-MX"/>
          </a:p>
        </p:txBody>
      </p:sp>
    </p:spTree>
    <p:extLst>
      <p:ext uri="{BB962C8B-B14F-4D97-AF65-F5344CB8AC3E}">
        <p14:creationId xmlns:p14="http://schemas.microsoft.com/office/powerpoint/2010/main" val="762909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sz="1200" kern="1200" dirty="0" err="1">
                <a:solidFill>
                  <a:schemeClr val="tx1"/>
                </a:solidFill>
                <a:effectLst/>
                <a:latin typeface="+mn-lt"/>
                <a:ea typeface="+mn-ea"/>
                <a:cs typeface="+mn-cs"/>
              </a:rPr>
              <a:t>Keyword</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extraction</a:t>
            </a:r>
            <a:r>
              <a:rPr lang="ja-JP" altLang="es-MX" sz="1200" kern="1200" dirty="0">
                <a:solidFill>
                  <a:schemeClr val="tx1"/>
                </a:solidFill>
                <a:effectLst/>
                <a:latin typeface="+mn-lt"/>
                <a:ea typeface="+mn-ea"/>
                <a:cs typeface="+mn-cs"/>
              </a:rPr>
              <a:t>の最初のステップが、</a:t>
            </a:r>
            <a:r>
              <a:rPr lang="ja-JP" altLang="es-MX" sz="1200" b="1" kern="1200" dirty="0">
                <a:solidFill>
                  <a:schemeClr val="tx1"/>
                </a:solidFill>
                <a:effectLst/>
                <a:latin typeface="+mn-lt"/>
                <a:ea typeface="+mn-ea"/>
                <a:cs typeface="+mn-cs"/>
              </a:rPr>
              <a:t>トークナイズ</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データセットの各行を、基本的なトークンに分割します。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トークンには、単語だけでなく、識別子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しきべつし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や技術用語も含まれます。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この段階では、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フィルタリングも重み付けも行いません。</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単純に、どのトークンが出現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しゅつげん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したかを記録</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きろく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するだけです。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ここで、データセット全体の語彙</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ごい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集合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しゅうごう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が得られます。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これが、後続</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こうぞく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の処理で構造的な特徴を見つけるための土台になります。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6</a:t>
            </a:fld>
            <a:endParaRPr lang="es-MX"/>
          </a:p>
        </p:txBody>
      </p:sp>
    </p:spTree>
    <p:extLst>
      <p:ext uri="{BB962C8B-B14F-4D97-AF65-F5344CB8AC3E}">
        <p14:creationId xmlns:p14="http://schemas.microsoft.com/office/powerpoint/2010/main" val="3005554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このスライドでは、</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マトリクスについて説明します。</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は、</a:t>
                </a:r>
                <a:r>
                  <a:rPr lang="ja-JP" altLang="es-MX" sz="1200" b="1" kern="1200" dirty="0">
                    <a:solidFill>
                      <a:schemeClr val="tx1"/>
                    </a:solidFill>
                    <a:effectLst/>
                    <a:latin typeface="+mn-lt"/>
                    <a:ea typeface="+mn-ea"/>
                    <a:cs typeface="+mn-cs"/>
                  </a:rPr>
                  <a:t>各キーワードが特定のチャンクにとってどれだけ重要か</a:t>
                </a:r>
                <a:r>
                  <a:rPr lang="ja-JP" altLang="es-MX" sz="1200" kern="1200" dirty="0">
                    <a:solidFill>
                      <a:schemeClr val="tx1"/>
                    </a:solidFill>
                    <a:effectLst/>
                    <a:latin typeface="+mn-lt"/>
                    <a:ea typeface="+mn-ea"/>
                    <a:cs typeface="+mn-cs"/>
                  </a:rPr>
                  <a:t>を数値で表す方法です。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a:t>
                </a:r>
                <a:r>
                  <a:rPr lang="es-MX" sz="1200" kern="1200" dirty="0">
                    <a:solidFill>
                      <a:schemeClr val="tx1"/>
                    </a:solidFill>
                    <a:effectLst/>
                    <a:latin typeface="+mn-lt"/>
                    <a:ea typeface="+mn-ea"/>
                    <a:cs typeface="+mn-cs"/>
                  </a:rPr>
                  <a:t>**TF</a:t>
                </a:r>
                <a:r>
                  <a:rPr lang="ja-JP" alt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Term</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Frequency</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ですが、これは次のように定義されます：</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r>
                        <a:rPr lang="es-MX" sz="1200" i="1" kern="1200">
                          <a:solidFill>
                            <a:schemeClr val="tx1"/>
                          </a:solidFill>
                          <a:effectLst/>
                          <a:latin typeface="+mn-lt"/>
                          <a:ea typeface="+mn-ea"/>
                          <a:cs typeface="+mn-cs"/>
                        </a:rPr>
                        <m:t>𝑇𝐹</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𝑡</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𝑑</m:t>
                      </m:r>
                      <m:r>
                        <a:rPr lang="es-MX" sz="1200" i="1" kern="1200">
                          <a:solidFill>
                            <a:schemeClr val="tx1"/>
                          </a:solidFill>
                          <a:effectLst/>
                          <a:latin typeface="+mn-lt"/>
                          <a:ea typeface="+mn-ea"/>
                          <a:cs typeface="+mn-cs"/>
                        </a:rPr>
                        <m:t>)=</m:t>
                      </m:r>
                      <m:f>
                        <m:fPr>
                          <m:ctrlPr>
                            <a:rPr lang="es-MX" sz="1200" i="1" kern="1200">
                              <a:solidFill>
                                <a:schemeClr val="tx1"/>
                              </a:solidFill>
                              <a:effectLst/>
                              <a:latin typeface="+mn-lt"/>
                              <a:ea typeface="+mn-ea"/>
                              <a:cs typeface="+mn-cs"/>
                            </a:rPr>
                          </m:ctrlPr>
                        </m:fPr>
                        <m:num>
                          <m:r>
                            <m:rPr>
                              <m:nor/>
                            </m:rPr>
                            <a:rPr lang="ja-JP" altLang="es-MX" sz="1200" kern="1200">
                              <a:solidFill>
                                <a:schemeClr val="tx1"/>
                              </a:solidFill>
                              <a:effectLst/>
                              <a:latin typeface="+mn-lt"/>
                              <a:ea typeface="+mn-ea"/>
                              <a:cs typeface="+mn-cs"/>
                            </a:rPr>
                            <m:t>チャンク</m:t>
                          </m:r>
                          <m:r>
                            <m:rPr>
                              <m:nor/>
                            </m:rPr>
                            <a:rPr lang="ja-JP" altLang="es-MX" sz="1200" kern="1200">
                              <a:solidFill>
                                <a:schemeClr val="tx1"/>
                              </a:solidFill>
                              <a:effectLst/>
                              <a:latin typeface="+mn-lt"/>
                              <a:ea typeface="+mn-ea"/>
                              <a:cs typeface="+mn-cs"/>
                            </a:rPr>
                            <m:t> </m:t>
                          </m:r>
                          <m:r>
                            <a:rPr lang="es-MX" sz="1200" i="1" kern="1200">
                              <a:solidFill>
                                <a:schemeClr val="tx1"/>
                              </a:solidFill>
                              <a:effectLst/>
                              <a:latin typeface="+mn-lt"/>
                              <a:ea typeface="+mn-ea"/>
                              <a:cs typeface="+mn-cs"/>
                            </a:rPr>
                            <m:t>𝑑</m:t>
                          </m:r>
                          <m:r>
                            <m:rPr>
                              <m:nor/>
                            </m:rPr>
                            <a:rPr lang="ja-JP" altLang="es-MX" sz="1200" kern="1200">
                              <a:solidFill>
                                <a:schemeClr val="tx1"/>
                              </a:solidFill>
                              <a:effectLst/>
                              <a:latin typeface="+mn-lt"/>
                              <a:ea typeface="+mn-ea"/>
                              <a:cs typeface="+mn-cs"/>
                            </a:rPr>
                            <m:t>におけるキーワード</m:t>
                          </m:r>
                          <m:r>
                            <m:rPr>
                              <m:nor/>
                            </m:rPr>
                            <a:rPr lang="ja-JP" altLang="es-MX" sz="1200" kern="1200">
                              <a:solidFill>
                                <a:schemeClr val="tx1"/>
                              </a:solidFill>
                              <a:effectLst/>
                              <a:latin typeface="+mn-lt"/>
                              <a:ea typeface="+mn-ea"/>
                              <a:cs typeface="+mn-cs"/>
                            </a:rPr>
                            <m:t> </m:t>
                          </m:r>
                          <m:r>
                            <a:rPr lang="es-MX" sz="1200" i="1" kern="1200">
                              <a:solidFill>
                                <a:schemeClr val="tx1"/>
                              </a:solidFill>
                              <a:effectLst/>
                              <a:latin typeface="+mn-lt"/>
                              <a:ea typeface="+mn-ea"/>
                              <a:cs typeface="+mn-cs"/>
                            </a:rPr>
                            <m:t>𝑡</m:t>
                          </m:r>
                          <m:r>
                            <m:rPr>
                              <m:nor/>
                            </m:rPr>
                            <a:rPr lang="ja-JP" altLang="es-MX" sz="1200" kern="1200">
                              <a:solidFill>
                                <a:schemeClr val="tx1"/>
                              </a:solidFill>
                              <a:effectLst/>
                              <a:latin typeface="+mn-lt"/>
                              <a:ea typeface="+mn-ea"/>
                              <a:cs typeface="+mn-cs"/>
                            </a:rPr>
                            <m:t>の出現回数</m:t>
                          </m:r>
                        </m:num>
                        <m:den>
                          <m:r>
                            <m:rPr>
                              <m:nor/>
                            </m:rPr>
                            <a:rPr lang="ja-JP" altLang="es-MX" sz="1200" kern="1200">
                              <a:solidFill>
                                <a:schemeClr val="tx1"/>
                              </a:solidFill>
                              <a:effectLst/>
                              <a:latin typeface="+mn-lt"/>
                              <a:ea typeface="+mn-ea"/>
                              <a:cs typeface="+mn-cs"/>
                            </a:rPr>
                            <m:t>チャンク</m:t>
                          </m:r>
                          <m:r>
                            <m:rPr>
                              <m:nor/>
                            </m:rPr>
                            <a:rPr lang="ja-JP" altLang="es-MX" sz="1200" kern="1200">
                              <a:solidFill>
                                <a:schemeClr val="tx1"/>
                              </a:solidFill>
                              <a:effectLst/>
                              <a:latin typeface="+mn-lt"/>
                              <a:ea typeface="+mn-ea"/>
                              <a:cs typeface="+mn-cs"/>
                            </a:rPr>
                            <m:t> </m:t>
                          </m:r>
                          <m:r>
                            <a:rPr lang="es-MX" sz="1200" i="1" kern="1200">
                              <a:solidFill>
                                <a:schemeClr val="tx1"/>
                              </a:solidFill>
                              <a:effectLst/>
                              <a:latin typeface="+mn-lt"/>
                              <a:ea typeface="+mn-ea"/>
                              <a:cs typeface="+mn-cs"/>
                            </a:rPr>
                            <m:t>𝑑</m:t>
                          </m:r>
                          <m:r>
                            <m:rPr>
                              <m:nor/>
                            </m:rPr>
                            <a:rPr lang="ja-JP" altLang="es-MX" sz="1200" kern="1200">
                              <a:solidFill>
                                <a:schemeClr val="tx1"/>
                              </a:solidFill>
                              <a:effectLst/>
                              <a:latin typeface="+mn-lt"/>
                              <a:ea typeface="+mn-ea"/>
                              <a:cs typeface="+mn-cs"/>
                            </a:rPr>
                            <m:t>の全キーワード数</m:t>
                          </m:r>
                        </m:den>
                      </m:f>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つまり、チャンク内でそのキーワードがどれくらい頻繁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ひんぱん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に現れるかを測ります。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r>
                  <a:rPr lang="es-MX" sz="1200" kern="1200" dirty="0">
                    <a:solidFill>
                      <a:schemeClr val="tx1"/>
                    </a:solidFill>
                    <a:effectLst/>
                    <a:latin typeface="+mn-lt"/>
                    <a:ea typeface="+mn-ea"/>
                    <a:cs typeface="+mn-cs"/>
                  </a:rPr>
                  <a:t>**IDF</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Inverse </a:t>
                </a:r>
                <a:r>
                  <a:rPr lang="es-MX" sz="1200" kern="1200" dirty="0" err="1">
                    <a:solidFill>
                      <a:schemeClr val="tx1"/>
                    </a:solidFill>
                    <a:effectLst/>
                    <a:latin typeface="+mn-lt"/>
                    <a:ea typeface="+mn-ea"/>
                    <a:cs typeface="+mn-cs"/>
                  </a:rPr>
                  <a:t>Document</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Frequency</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r>
                        <a:rPr lang="es-MX" sz="1200" i="1" kern="1200">
                          <a:solidFill>
                            <a:schemeClr val="tx1"/>
                          </a:solidFill>
                          <a:effectLst/>
                          <a:latin typeface="+mn-lt"/>
                          <a:ea typeface="+mn-ea"/>
                          <a:cs typeface="+mn-cs"/>
                        </a:rPr>
                        <m:t>𝐼𝐷𝐹</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𝑡</m:t>
                      </m:r>
                      <m:r>
                        <a:rPr lang="es-MX" sz="1200" i="1" kern="1200">
                          <a:solidFill>
                            <a:schemeClr val="tx1"/>
                          </a:solidFill>
                          <a:effectLst/>
                          <a:latin typeface="+mn-lt"/>
                          <a:ea typeface="+mn-ea"/>
                          <a:cs typeface="+mn-cs"/>
                        </a:rPr>
                        <m:t>)=</m:t>
                      </m:r>
                      <m:r>
                        <m:rPr>
                          <m:sty m:val="p"/>
                        </m:rPr>
                        <a:rPr lang="es-MX" sz="1200" kern="1200">
                          <a:solidFill>
                            <a:schemeClr val="tx1"/>
                          </a:solidFill>
                          <a:effectLst/>
                          <a:latin typeface="+mn-lt"/>
                          <a:ea typeface="+mn-ea"/>
                          <a:cs typeface="+mn-cs"/>
                        </a:rPr>
                        <m:t>log</m:t>
                      </m:r>
                      <m:r>
                        <a:rPr lang="es-MX" sz="1200" i="1" kern="1200">
                          <a:solidFill>
                            <a:schemeClr val="tx1"/>
                          </a:solidFill>
                          <a:effectLst/>
                          <a:latin typeface="+mn-lt"/>
                          <a:ea typeface="+mn-ea"/>
                          <a:cs typeface="+mn-cs"/>
                        </a:rPr>
                        <m:t>⁡</m:t>
                      </m:r>
                      <m:f>
                        <m:fPr>
                          <m:ctrlPr>
                            <a:rPr lang="es-MX" sz="1200" i="1" kern="1200">
                              <a:solidFill>
                                <a:schemeClr val="tx1"/>
                              </a:solidFill>
                              <a:effectLst/>
                              <a:latin typeface="+mn-lt"/>
                              <a:ea typeface="+mn-ea"/>
                              <a:cs typeface="+mn-cs"/>
                            </a:rPr>
                          </m:ctrlPr>
                        </m:fPr>
                        <m:num>
                          <m:r>
                            <a:rPr lang="es-MX" sz="1200" i="1" kern="1200">
                              <a:solidFill>
                                <a:schemeClr val="tx1"/>
                              </a:solidFill>
                              <a:effectLst/>
                              <a:latin typeface="+mn-lt"/>
                              <a:ea typeface="+mn-ea"/>
                              <a:cs typeface="+mn-cs"/>
                            </a:rPr>
                            <m:t>𝑁</m:t>
                          </m:r>
                        </m:num>
                        <m:den>
                          <m:r>
                            <a:rPr lang="es-MX" sz="1200" i="1" kern="1200">
                              <a:solidFill>
                                <a:schemeClr val="tx1"/>
                              </a:solidFill>
                              <a:effectLst/>
                              <a:latin typeface="+mn-lt"/>
                              <a:ea typeface="+mn-ea"/>
                              <a:cs typeface="+mn-cs"/>
                            </a:rPr>
                            <m:t>1+</m:t>
                          </m:r>
                          <m:r>
                            <a:rPr lang="es-MX" sz="1200" i="1" kern="1200">
                              <a:solidFill>
                                <a:schemeClr val="tx1"/>
                              </a:solidFill>
                              <a:effectLst/>
                              <a:latin typeface="+mn-lt"/>
                              <a:ea typeface="+mn-ea"/>
                              <a:cs typeface="+mn-cs"/>
                            </a:rPr>
                            <m:t>𝑑𝑓</m:t>
                          </m:r>
                        </m:den>
                      </m:f>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ここで </a:t>
                </a:r>
                <a14:m>
                  <m:oMath xmlns:m="http://schemas.openxmlformats.org/officeDocument/2006/math">
                    <m:r>
                      <a:rPr lang="es-MX" sz="1200" i="1" kern="1200">
                        <a:solidFill>
                          <a:schemeClr val="tx1"/>
                        </a:solidFill>
                        <a:effectLst/>
                        <a:latin typeface="+mn-lt"/>
                        <a:ea typeface="+mn-ea"/>
                        <a:cs typeface="+mn-cs"/>
                      </a:rPr>
                      <m:t>𝑁</m:t>
                    </m:r>
                  </m:oMath>
                </a14:m>
                <a:r>
                  <a:rPr lang="ja-JP" altLang="es-MX" sz="1200" kern="1200" dirty="0">
                    <a:solidFill>
                      <a:schemeClr val="tx1"/>
                    </a:solidFill>
                    <a:effectLst/>
                    <a:latin typeface="+mn-lt"/>
                    <a:ea typeface="+mn-ea"/>
                    <a:cs typeface="+mn-cs"/>
                  </a:rPr>
                  <a:t>はデータセット内のチャンク総数、</a:t>
                </a:r>
                <a14:m>
                  <m:oMath xmlns:m="http://schemas.openxmlformats.org/officeDocument/2006/math">
                    <m:r>
                      <a:rPr lang="es-MX" sz="1200" i="1" kern="1200">
                        <a:solidFill>
                          <a:schemeClr val="tx1"/>
                        </a:solidFill>
                        <a:effectLst/>
                        <a:latin typeface="+mn-lt"/>
                        <a:ea typeface="+mn-ea"/>
                        <a:cs typeface="+mn-cs"/>
                      </a:rPr>
                      <m:t>𝑑𝑓</m:t>
                    </m:r>
                  </m:oMath>
                </a14:m>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はそのキーワードが出現するチャンクの数です。</a:t>
                </a:r>
                <a:endParaRPr lang="es-MX" sz="1200" kern="1200" dirty="0">
                  <a:solidFill>
                    <a:schemeClr val="tx1"/>
                  </a:solidFill>
                  <a:effectLst/>
                  <a:latin typeface="+mn-lt"/>
                  <a:ea typeface="+mn-ea"/>
                  <a:cs typeface="+mn-cs"/>
                </a:endParaRPr>
              </a:p>
              <a:p>
                <a:pPr lvl="0"/>
                <a:r>
                  <a:rPr lang="es-MX" sz="1200" kern="1200" dirty="0">
                    <a:solidFill>
                      <a:schemeClr val="tx1"/>
                    </a:solidFill>
                    <a:effectLst/>
                    <a:latin typeface="+mn-lt"/>
                    <a:ea typeface="+mn-ea"/>
                    <a:cs typeface="+mn-cs"/>
                  </a:rPr>
                  <a:t>IDF</a:t>
                </a:r>
                <a:r>
                  <a:rPr lang="ja-JP" altLang="es-MX" sz="1200" kern="1200" dirty="0">
                    <a:solidFill>
                      <a:schemeClr val="tx1"/>
                    </a:solidFill>
                    <a:effectLst/>
                    <a:latin typeface="+mn-lt"/>
                    <a:ea typeface="+mn-ea"/>
                    <a:cs typeface="+mn-cs"/>
                  </a:rPr>
                  <a:t>は、</a:t>
                </a:r>
                <a:r>
                  <a:rPr lang="ja-JP" altLang="es-MX" sz="1200" b="1" kern="1200" dirty="0">
                    <a:solidFill>
                      <a:schemeClr val="tx1"/>
                    </a:solidFill>
                    <a:effectLst/>
                    <a:latin typeface="+mn-lt"/>
                    <a:ea typeface="+mn-ea"/>
                    <a:cs typeface="+mn-cs"/>
                  </a:rPr>
                  <a:t>全体でどれだけ希少か</a:t>
                </a:r>
                <a:r>
                  <a:rPr lang="ja-JP" altLang="es-MX" sz="1200" kern="1200" dirty="0">
                    <a:solidFill>
                      <a:schemeClr val="tx1"/>
                    </a:solidFill>
                    <a:effectLst/>
                    <a:latin typeface="+mn-lt"/>
                    <a:ea typeface="+mn-ea"/>
                    <a:cs typeface="+mn-cs"/>
                  </a:rPr>
                  <a:t>を表します。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最後に、</a:t>
                </a:r>
                <a:r>
                  <a:rPr lang="es-MX" sz="1200" kern="1200" dirty="0">
                    <a:solidFill>
                      <a:schemeClr val="tx1"/>
                    </a:solidFill>
                    <a:effectLst/>
                    <a:latin typeface="+mn-lt"/>
                    <a:ea typeface="+mn-ea"/>
                    <a:cs typeface="+mn-cs"/>
                  </a:rPr>
                  <a:t>TF</a:t>
                </a:r>
                <a:r>
                  <a:rPr lang="ja-JP" altLang="es-MX" sz="1200" kern="1200" dirty="0">
                    <a:solidFill>
                      <a:schemeClr val="tx1"/>
                    </a:solidFill>
                    <a:effectLst/>
                    <a:latin typeface="+mn-lt"/>
                    <a:ea typeface="+mn-ea"/>
                    <a:cs typeface="+mn-cs"/>
                  </a:rPr>
                  <a:t>と</a:t>
                </a:r>
                <a:r>
                  <a:rPr lang="es-MX" sz="1200" kern="1200" dirty="0">
                    <a:solidFill>
                      <a:schemeClr val="tx1"/>
                    </a:solidFill>
                    <a:effectLst/>
                    <a:latin typeface="+mn-lt"/>
                    <a:ea typeface="+mn-ea"/>
                    <a:cs typeface="+mn-cs"/>
                  </a:rPr>
                  <a:t>IDF</a:t>
                </a:r>
                <a:r>
                  <a:rPr lang="ja-JP" altLang="es-MX" sz="1200" kern="1200" dirty="0">
                    <a:solidFill>
                      <a:schemeClr val="tx1"/>
                    </a:solidFill>
                    <a:effectLst/>
                    <a:latin typeface="+mn-lt"/>
                    <a:ea typeface="+mn-ea"/>
                    <a:cs typeface="+mn-cs"/>
                  </a:rPr>
                  <a:t>を掛け合わせて</a:t>
                </a:r>
                <a:r>
                  <a:rPr lang="es-MX" sz="1200" b="1"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を計算します：</a:t>
                </a:r>
                <a:endParaRPr lang="es-MX" sz="1200" kern="1200" dirty="0">
                  <a:solidFill>
                    <a:schemeClr val="tx1"/>
                  </a:solidFill>
                  <a:effectLst/>
                  <a:latin typeface="+mn-lt"/>
                  <a:ea typeface="+mn-ea"/>
                  <a:cs typeface="+mn-cs"/>
                </a:endParaRPr>
              </a:p>
              <a:p>
                <a14:m>
                  <m:oMathPara xmlns:m="http://schemas.openxmlformats.org/officeDocument/2006/math">
                    <m:oMathParaPr>
                      <m:jc m:val="centerGroup"/>
                    </m:oMathParaPr>
                    <m:oMath xmlns:m="http://schemas.openxmlformats.org/officeDocument/2006/math">
                      <m:r>
                        <a:rPr lang="es-MX" sz="1200" i="1" kern="1200">
                          <a:solidFill>
                            <a:schemeClr val="tx1"/>
                          </a:solidFill>
                          <a:effectLst/>
                          <a:latin typeface="+mn-lt"/>
                          <a:ea typeface="+mn-ea"/>
                          <a:cs typeface="+mn-cs"/>
                        </a:rPr>
                        <m:t>𝑇𝐹𝐼𝐷𝐹</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𝑡</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𝑑</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𝑇𝐹</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𝑡</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𝑑</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𝐼𝐷𝐹</m:t>
                      </m:r>
                      <m:r>
                        <a:rPr lang="es-MX" sz="1200" i="1" kern="1200">
                          <a:solidFill>
                            <a:schemeClr val="tx1"/>
                          </a:solidFill>
                          <a:effectLst/>
                          <a:latin typeface="+mn-lt"/>
                          <a:ea typeface="+mn-ea"/>
                          <a:cs typeface="+mn-cs"/>
                        </a:rPr>
                        <m:t>(</m:t>
                      </m:r>
                      <m:r>
                        <a:rPr lang="es-MX" sz="1200" i="1" kern="1200">
                          <a:solidFill>
                            <a:schemeClr val="tx1"/>
                          </a:solidFill>
                          <a:effectLst/>
                          <a:latin typeface="+mn-lt"/>
                          <a:ea typeface="+mn-ea"/>
                          <a:cs typeface="+mn-cs"/>
                        </a:rPr>
                        <m:t>𝑡</m:t>
                      </m:r>
                      <m:r>
                        <a:rPr lang="es-MX" sz="1200" i="1" kern="1200">
                          <a:solidFill>
                            <a:schemeClr val="tx1"/>
                          </a:solidFill>
                          <a:effectLst/>
                          <a:latin typeface="+mn-lt"/>
                          <a:ea typeface="+mn-ea"/>
                          <a:cs typeface="+mn-cs"/>
                        </a:rPr>
                        <m:t>)</m:t>
                      </m:r>
                    </m:oMath>
                  </m:oMathPara>
                </a14:m>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これにより、チャンク内で頻繁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ひんぱん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に出現し、かつ全体では珍しいキーワードが</a:t>
                </a:r>
                <a:r>
                  <a:rPr lang="ja-JP" altLang="es-MX" sz="1200" b="1" kern="1200" dirty="0">
                    <a:solidFill>
                      <a:schemeClr val="tx1"/>
                    </a:solidFill>
                    <a:effectLst/>
                    <a:latin typeface="+mn-lt"/>
                    <a:ea typeface="+mn-ea"/>
                    <a:cs typeface="+mn-cs"/>
                  </a:rPr>
                  <a:t>強く重視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じゅうし</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一方、全体に共通して出現するキーワードは自動的に重みが下がり、ノイズとして扱われにくくなります。</a:t>
                </a:r>
                <a:endParaRPr lang="es-MX"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MX"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s-MX" sz="1200" kern="1200" dirty="0">
                    <a:solidFill>
                      <a:schemeClr val="tx1"/>
                    </a:solidFill>
                    <a:effectLst/>
                    <a:latin typeface="+mn-lt"/>
                    <a:ea typeface="+mn-ea"/>
                    <a:cs typeface="+mn-cs"/>
                  </a:rPr>
                  <a:t>簡単に言えば、</a:t>
                </a:r>
                <a:r>
                  <a:rPr lang="es-MX" sz="1200" b="1" kern="1200" dirty="0">
                    <a:solidFill>
                      <a:schemeClr val="tx1"/>
                    </a:solidFill>
                    <a:effectLst/>
                    <a:latin typeface="+mn-lt"/>
                    <a:ea typeface="+mn-ea"/>
                    <a:cs typeface="+mn-cs"/>
                  </a:rPr>
                  <a:t>TF</a:t>
                </a:r>
                <a:r>
                  <a:rPr lang="ja-JP" altLang="es-MX" sz="1200" b="1" kern="1200" dirty="0">
                    <a:solidFill>
                      <a:schemeClr val="tx1"/>
                    </a:solidFill>
                    <a:effectLst/>
                    <a:latin typeface="+mn-lt"/>
                    <a:ea typeface="+mn-ea"/>
                    <a:cs typeface="+mn-cs"/>
                  </a:rPr>
                  <a:t>が局所的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きょくしょてき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な重要度、</a:t>
                </a:r>
                <a:r>
                  <a:rPr lang="es-MX" sz="1200" b="1" kern="1200" dirty="0">
                    <a:solidFill>
                      <a:schemeClr val="tx1"/>
                    </a:solidFill>
                    <a:effectLst/>
                    <a:latin typeface="+mn-lt"/>
                    <a:ea typeface="+mn-ea"/>
                    <a:cs typeface="+mn-cs"/>
                  </a:rPr>
                  <a:t>IDF</a:t>
                </a:r>
                <a:r>
                  <a:rPr lang="ja-JP" altLang="es-MX" sz="1200" b="1" kern="1200" dirty="0">
                    <a:solidFill>
                      <a:schemeClr val="tx1"/>
                    </a:solidFill>
                    <a:effectLst/>
                    <a:latin typeface="+mn-lt"/>
                    <a:ea typeface="+mn-ea"/>
                    <a:cs typeface="+mn-cs"/>
                  </a:rPr>
                  <a:t>がグローバルな希少性を示し、その掛け算でチャンクの特徴を効率的に抽出</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ちゅうしゅつ</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できる</a:t>
                </a:r>
                <a:r>
                  <a:rPr lang="ja-JP" altLang="es-MX" sz="1200" b="0" kern="1200" dirty="0">
                    <a:solidFill>
                      <a:schemeClr val="tx1"/>
                    </a:solidFill>
                    <a:effectLst/>
                    <a:latin typeface="+mn-lt"/>
                    <a:ea typeface="+mn-ea"/>
                    <a:cs typeface="+mn-cs"/>
                  </a:rPr>
                  <a:t>のが</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の強みです。」</a:t>
                </a:r>
                <a:endParaRPr lang="es-MX" sz="1200" kern="1200" dirty="0">
                  <a:solidFill>
                    <a:schemeClr val="tx1"/>
                  </a:solidFill>
                  <a:effectLst/>
                  <a:latin typeface="+mn-lt"/>
                  <a:ea typeface="+mn-ea"/>
                  <a:cs typeface="+mn-cs"/>
                </a:endParaRPr>
              </a:p>
              <a:p>
                <a:endParaRPr lang="es-MX" dirty="0"/>
              </a:p>
            </p:txBody>
          </p:sp>
        </mc:Choice>
        <mc:Fallback>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このスライドでは、</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マトリクスについて説明します。</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は、</a:t>
                </a:r>
                <a:r>
                  <a:rPr lang="ja-JP" altLang="es-MX" sz="1200" b="1" kern="1200" dirty="0">
                    <a:solidFill>
                      <a:schemeClr val="tx1"/>
                    </a:solidFill>
                    <a:effectLst/>
                    <a:latin typeface="+mn-lt"/>
                    <a:ea typeface="+mn-ea"/>
                    <a:cs typeface="+mn-cs"/>
                  </a:rPr>
                  <a:t>各キーワードが特定のチャンクにとってどれだけ重要か</a:t>
                </a:r>
                <a:r>
                  <a:rPr lang="ja-JP" altLang="es-MX" sz="1200" kern="1200" dirty="0">
                    <a:solidFill>
                      <a:schemeClr val="tx1"/>
                    </a:solidFill>
                    <a:effectLst/>
                    <a:latin typeface="+mn-lt"/>
                    <a:ea typeface="+mn-ea"/>
                    <a:cs typeface="+mn-cs"/>
                  </a:rPr>
                  <a:t>を数値で表す方法です。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まず、</a:t>
                </a:r>
                <a:r>
                  <a:rPr lang="es-MX" sz="1200" kern="1200" dirty="0">
                    <a:solidFill>
                      <a:schemeClr val="tx1"/>
                    </a:solidFill>
                    <a:effectLst/>
                    <a:latin typeface="+mn-lt"/>
                    <a:ea typeface="+mn-ea"/>
                    <a:cs typeface="+mn-cs"/>
                  </a:rPr>
                  <a:t>**TF</a:t>
                </a:r>
                <a:r>
                  <a:rPr lang="ja-JP" altLang="es-MX"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Term</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Frequency</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ですが、これは次のように定義されます：</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𝑇𝐹(𝑡,𝑑)=(</a:t>
                </a:r>
                <a:r>
                  <a:rPr lang="ja-JP" altLang="es-MX" sz="1200" i="0" kern="1200">
                    <a:solidFill>
                      <a:schemeClr val="tx1"/>
                    </a:solidFill>
                    <a:effectLst/>
                    <a:latin typeface="+mn-lt"/>
                    <a:ea typeface="+mn-ea"/>
                    <a:cs typeface="+mn-cs"/>
                  </a:rPr>
                  <a:t>"チャンク </a:t>
                </a:r>
                <a:r>
                  <a:rPr lang="es-MX" altLang="ja-JP" sz="1200" i="0" kern="1200">
                    <a:solidFill>
                      <a:schemeClr val="tx1"/>
                    </a:solidFill>
                    <a:effectLst/>
                    <a:latin typeface="+mn-lt"/>
                    <a:ea typeface="+mn-ea"/>
                    <a:cs typeface="+mn-cs"/>
                  </a:rPr>
                  <a:t>" </a:t>
                </a:r>
                <a:r>
                  <a:rPr lang="es-MX" sz="1200" i="0" kern="1200">
                    <a:solidFill>
                      <a:schemeClr val="tx1"/>
                    </a:solidFill>
                    <a:effectLst/>
                    <a:latin typeface="+mn-lt"/>
                    <a:ea typeface="+mn-ea"/>
                    <a:cs typeface="+mn-cs"/>
                  </a:rPr>
                  <a:t>𝑑</a:t>
                </a:r>
                <a:r>
                  <a:rPr lang="ja-JP" altLang="es-MX" sz="1200" i="0" kern="1200">
                    <a:solidFill>
                      <a:schemeClr val="tx1"/>
                    </a:solidFill>
                    <a:effectLst/>
                    <a:latin typeface="+mn-lt"/>
                    <a:ea typeface="+mn-ea"/>
                    <a:cs typeface="+mn-cs"/>
                  </a:rPr>
                  <a:t>"におけるキーワード </a:t>
                </a:r>
                <a:r>
                  <a:rPr lang="es-MX" altLang="ja-JP" sz="1200" i="0" kern="1200">
                    <a:solidFill>
                      <a:schemeClr val="tx1"/>
                    </a:solidFill>
                    <a:effectLst/>
                    <a:latin typeface="+mn-lt"/>
                    <a:ea typeface="+mn-ea"/>
                    <a:cs typeface="+mn-cs"/>
                  </a:rPr>
                  <a:t>" </a:t>
                </a:r>
                <a:r>
                  <a:rPr lang="es-MX" sz="1200" i="0" kern="1200">
                    <a:solidFill>
                      <a:schemeClr val="tx1"/>
                    </a:solidFill>
                    <a:effectLst/>
                    <a:latin typeface="+mn-lt"/>
                    <a:ea typeface="+mn-ea"/>
                    <a:cs typeface="+mn-cs"/>
                  </a:rPr>
                  <a:t>𝑡</a:t>
                </a:r>
                <a:r>
                  <a:rPr lang="ja-JP" altLang="es-MX" sz="1200" i="0" kern="1200">
                    <a:solidFill>
                      <a:schemeClr val="tx1"/>
                    </a:solidFill>
                    <a:effectLst/>
                    <a:latin typeface="+mn-lt"/>
                    <a:ea typeface="+mn-ea"/>
                    <a:cs typeface="+mn-cs"/>
                  </a:rPr>
                  <a:t>"の出現回数" </a:t>
                </a:r>
                <a:r>
                  <a:rPr lang="es-MX" altLang="ja-JP" sz="1200" i="0" kern="1200">
                    <a:solidFill>
                      <a:schemeClr val="tx1"/>
                    </a:solidFill>
                    <a:effectLst/>
                    <a:latin typeface="+mn-lt"/>
                    <a:ea typeface="+mn-ea"/>
                    <a:cs typeface="+mn-cs"/>
                  </a:rPr>
                  <a:t>)/(</a:t>
                </a:r>
                <a:r>
                  <a:rPr lang="ja-JP" altLang="es-MX" sz="1200" i="0" kern="1200">
                    <a:solidFill>
                      <a:schemeClr val="tx1"/>
                    </a:solidFill>
                    <a:effectLst/>
                    <a:latin typeface="+mn-lt"/>
                    <a:ea typeface="+mn-ea"/>
                    <a:cs typeface="+mn-cs"/>
                  </a:rPr>
                  <a:t>"チャンク </a:t>
                </a:r>
                <a:r>
                  <a:rPr lang="es-MX" altLang="ja-JP" sz="1200" i="0" kern="1200">
                    <a:solidFill>
                      <a:schemeClr val="tx1"/>
                    </a:solidFill>
                    <a:effectLst/>
                    <a:latin typeface="+mn-lt"/>
                    <a:ea typeface="+mn-ea"/>
                    <a:cs typeface="+mn-cs"/>
                  </a:rPr>
                  <a:t>" </a:t>
                </a:r>
                <a:r>
                  <a:rPr lang="es-MX" sz="1200" i="0" kern="1200">
                    <a:solidFill>
                      <a:schemeClr val="tx1"/>
                    </a:solidFill>
                    <a:effectLst/>
                    <a:latin typeface="+mn-lt"/>
                    <a:ea typeface="+mn-ea"/>
                    <a:cs typeface="+mn-cs"/>
                  </a:rPr>
                  <a:t>𝑑</a:t>
                </a:r>
                <a:r>
                  <a:rPr lang="ja-JP" altLang="es-MX" sz="1200" i="0" kern="1200">
                    <a:solidFill>
                      <a:schemeClr val="tx1"/>
                    </a:solidFill>
                    <a:effectLst/>
                    <a:latin typeface="+mn-lt"/>
                    <a:ea typeface="+mn-ea"/>
                    <a:cs typeface="+mn-cs"/>
                  </a:rPr>
                  <a:t>"の全キーワード数" </a:t>
                </a:r>
                <a:r>
                  <a:rPr lang="es-MX" altLang="ja-JP" sz="1200" i="0" kern="1200">
                    <a:solidFill>
                      <a:schemeClr val="tx1"/>
                    </a:solidFill>
                    <a:effectLst/>
                    <a:latin typeface="+mn-lt"/>
                    <a:ea typeface="+mn-ea"/>
                    <a:cs typeface="+mn-cs"/>
                  </a:rPr>
                  <a:t>)</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つまり、チャンク内でそのキーワードがどれくらい頻繁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ひんぱん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に現れるかを測ります。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次に、</a:t>
                </a:r>
                <a:r>
                  <a:rPr lang="es-MX" sz="1200" kern="1200" dirty="0">
                    <a:solidFill>
                      <a:schemeClr val="tx1"/>
                    </a:solidFill>
                    <a:effectLst/>
                    <a:latin typeface="+mn-lt"/>
                    <a:ea typeface="+mn-ea"/>
                    <a:cs typeface="+mn-cs"/>
                  </a:rPr>
                  <a:t>**IDF</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Inverse </a:t>
                </a:r>
                <a:r>
                  <a:rPr lang="es-MX" sz="1200" kern="1200" dirty="0" err="1">
                    <a:solidFill>
                      <a:schemeClr val="tx1"/>
                    </a:solidFill>
                    <a:effectLst/>
                    <a:latin typeface="+mn-lt"/>
                    <a:ea typeface="+mn-ea"/>
                    <a:cs typeface="+mn-cs"/>
                  </a:rPr>
                  <a:t>Document</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Frequency</a:t>
                </a:r>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𝐼𝐷𝐹(𝑡)=log⁡𝑁/(1+𝑑𝑓)</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ここで </a:t>
                </a:r>
                <a:r>
                  <a:rPr lang="es-MX" sz="1200" i="0" kern="1200">
                    <a:solidFill>
                      <a:schemeClr val="tx1"/>
                    </a:solidFill>
                    <a:effectLst/>
                    <a:latin typeface="+mn-lt"/>
                    <a:ea typeface="+mn-ea"/>
                    <a:cs typeface="+mn-cs"/>
                  </a:rPr>
                  <a:t>𝑁</a:t>
                </a:r>
                <a:r>
                  <a:rPr lang="ja-JP" altLang="es-MX" sz="1200" kern="1200" dirty="0">
                    <a:solidFill>
                      <a:schemeClr val="tx1"/>
                    </a:solidFill>
                    <a:effectLst/>
                    <a:latin typeface="+mn-lt"/>
                    <a:ea typeface="+mn-ea"/>
                    <a:cs typeface="+mn-cs"/>
                  </a:rPr>
                  <a:t>はデータセット内のチャンク総数、</a:t>
                </a:r>
                <a:r>
                  <a:rPr lang="es-MX" sz="1200" i="0" kern="1200">
                    <a:solidFill>
                      <a:schemeClr val="tx1"/>
                    </a:solidFill>
                    <a:effectLst/>
                    <a:latin typeface="+mn-lt"/>
                    <a:ea typeface="+mn-ea"/>
                    <a:cs typeface="+mn-cs"/>
                  </a:rPr>
                  <a:t>𝑑𝑓</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はそのキーワードが出現するチャンクの数です。</a:t>
                </a:r>
                <a:endParaRPr lang="es-MX" sz="1200" kern="1200" dirty="0">
                  <a:solidFill>
                    <a:schemeClr val="tx1"/>
                  </a:solidFill>
                  <a:effectLst/>
                  <a:latin typeface="+mn-lt"/>
                  <a:ea typeface="+mn-ea"/>
                  <a:cs typeface="+mn-cs"/>
                </a:endParaRPr>
              </a:p>
              <a:p>
                <a:pPr lvl="0"/>
                <a:r>
                  <a:rPr lang="es-MX" sz="1200" kern="1200" dirty="0">
                    <a:solidFill>
                      <a:schemeClr val="tx1"/>
                    </a:solidFill>
                    <a:effectLst/>
                    <a:latin typeface="+mn-lt"/>
                    <a:ea typeface="+mn-ea"/>
                    <a:cs typeface="+mn-cs"/>
                  </a:rPr>
                  <a:t>IDF</a:t>
                </a:r>
                <a:r>
                  <a:rPr lang="ja-JP" altLang="es-MX" sz="1200" kern="1200" dirty="0">
                    <a:solidFill>
                      <a:schemeClr val="tx1"/>
                    </a:solidFill>
                    <a:effectLst/>
                    <a:latin typeface="+mn-lt"/>
                    <a:ea typeface="+mn-ea"/>
                    <a:cs typeface="+mn-cs"/>
                  </a:rPr>
                  <a:t>は、</a:t>
                </a:r>
                <a:r>
                  <a:rPr lang="ja-JP" altLang="es-MX" sz="1200" b="1" kern="1200" dirty="0">
                    <a:solidFill>
                      <a:schemeClr val="tx1"/>
                    </a:solidFill>
                    <a:effectLst/>
                    <a:latin typeface="+mn-lt"/>
                    <a:ea typeface="+mn-ea"/>
                    <a:cs typeface="+mn-cs"/>
                  </a:rPr>
                  <a:t>全体でどれだけ希少か</a:t>
                </a:r>
                <a:r>
                  <a:rPr lang="ja-JP" altLang="es-MX" sz="1200" kern="1200" dirty="0">
                    <a:solidFill>
                      <a:schemeClr val="tx1"/>
                    </a:solidFill>
                    <a:effectLst/>
                    <a:latin typeface="+mn-lt"/>
                    <a:ea typeface="+mn-ea"/>
                    <a:cs typeface="+mn-cs"/>
                  </a:rPr>
                  <a:t>を表します。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最後に、</a:t>
                </a:r>
                <a:r>
                  <a:rPr lang="es-MX" sz="1200" kern="1200" dirty="0">
                    <a:solidFill>
                      <a:schemeClr val="tx1"/>
                    </a:solidFill>
                    <a:effectLst/>
                    <a:latin typeface="+mn-lt"/>
                    <a:ea typeface="+mn-ea"/>
                    <a:cs typeface="+mn-cs"/>
                  </a:rPr>
                  <a:t>TF</a:t>
                </a:r>
                <a:r>
                  <a:rPr lang="ja-JP" altLang="es-MX" sz="1200" kern="1200" dirty="0">
                    <a:solidFill>
                      <a:schemeClr val="tx1"/>
                    </a:solidFill>
                    <a:effectLst/>
                    <a:latin typeface="+mn-lt"/>
                    <a:ea typeface="+mn-ea"/>
                    <a:cs typeface="+mn-cs"/>
                  </a:rPr>
                  <a:t>と</a:t>
                </a:r>
                <a:r>
                  <a:rPr lang="es-MX" sz="1200" kern="1200" dirty="0">
                    <a:solidFill>
                      <a:schemeClr val="tx1"/>
                    </a:solidFill>
                    <a:effectLst/>
                    <a:latin typeface="+mn-lt"/>
                    <a:ea typeface="+mn-ea"/>
                    <a:cs typeface="+mn-cs"/>
                  </a:rPr>
                  <a:t>IDF</a:t>
                </a:r>
                <a:r>
                  <a:rPr lang="ja-JP" altLang="es-MX" sz="1200" kern="1200" dirty="0">
                    <a:solidFill>
                      <a:schemeClr val="tx1"/>
                    </a:solidFill>
                    <a:effectLst/>
                    <a:latin typeface="+mn-lt"/>
                    <a:ea typeface="+mn-ea"/>
                    <a:cs typeface="+mn-cs"/>
                  </a:rPr>
                  <a:t>を掛け合わせて</a:t>
                </a:r>
                <a:r>
                  <a:rPr lang="es-MX" sz="1200" b="1"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を計算します：</a:t>
                </a:r>
                <a:endParaRPr lang="es-MX" sz="1200" kern="1200" dirty="0">
                  <a:solidFill>
                    <a:schemeClr val="tx1"/>
                  </a:solidFill>
                  <a:effectLst/>
                  <a:latin typeface="+mn-lt"/>
                  <a:ea typeface="+mn-ea"/>
                  <a:cs typeface="+mn-cs"/>
                </a:endParaRPr>
              </a:p>
              <a:p>
                <a:r>
                  <a:rPr lang="es-MX" sz="1200" i="0" kern="1200">
                    <a:solidFill>
                      <a:schemeClr val="tx1"/>
                    </a:solidFill>
                    <a:effectLst/>
                    <a:latin typeface="+mn-lt"/>
                    <a:ea typeface="+mn-ea"/>
                    <a:cs typeface="+mn-cs"/>
                  </a:rPr>
                  <a:t>𝑇𝐹𝐼𝐷𝐹(𝑡,𝑑)=𝑇𝐹(𝑡,𝑑)×𝐼𝐷𝐹(𝑡)</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これにより、チャンク内で頻繁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ひんぱん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に出現し、かつ全体では珍しいキーワードが</a:t>
                </a:r>
                <a:r>
                  <a:rPr lang="ja-JP" altLang="es-MX" sz="1200" b="1" kern="1200" dirty="0">
                    <a:solidFill>
                      <a:schemeClr val="tx1"/>
                    </a:solidFill>
                    <a:effectLst/>
                    <a:latin typeface="+mn-lt"/>
                    <a:ea typeface="+mn-ea"/>
                    <a:cs typeface="+mn-cs"/>
                  </a:rPr>
                  <a:t>強く重視</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じゅうし</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一方、全体に共通して出現するキーワードは自動的に重みが下がり、ノイズとして扱われにくくなります。</a:t>
                </a:r>
                <a:endParaRPr lang="es-MX"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MX"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s-MX" sz="1200" kern="1200" dirty="0">
                    <a:solidFill>
                      <a:schemeClr val="tx1"/>
                    </a:solidFill>
                    <a:effectLst/>
                    <a:latin typeface="+mn-lt"/>
                    <a:ea typeface="+mn-ea"/>
                    <a:cs typeface="+mn-cs"/>
                  </a:rPr>
                  <a:t>簡単に言えば、</a:t>
                </a:r>
                <a:r>
                  <a:rPr lang="es-MX" sz="1200" b="1" kern="1200" dirty="0">
                    <a:solidFill>
                      <a:schemeClr val="tx1"/>
                    </a:solidFill>
                    <a:effectLst/>
                    <a:latin typeface="+mn-lt"/>
                    <a:ea typeface="+mn-ea"/>
                    <a:cs typeface="+mn-cs"/>
                  </a:rPr>
                  <a:t>TF</a:t>
                </a:r>
                <a:r>
                  <a:rPr lang="ja-JP" altLang="es-MX" sz="1200" b="1" kern="1200" dirty="0">
                    <a:solidFill>
                      <a:schemeClr val="tx1"/>
                    </a:solidFill>
                    <a:effectLst/>
                    <a:latin typeface="+mn-lt"/>
                    <a:ea typeface="+mn-ea"/>
                    <a:cs typeface="+mn-cs"/>
                  </a:rPr>
                  <a:t>が局所的</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きょくしょてき</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な重要度、</a:t>
                </a:r>
                <a:r>
                  <a:rPr lang="es-MX" sz="1200" b="1" kern="1200" dirty="0">
                    <a:solidFill>
                      <a:schemeClr val="tx1"/>
                    </a:solidFill>
                    <a:effectLst/>
                    <a:latin typeface="+mn-lt"/>
                    <a:ea typeface="+mn-ea"/>
                    <a:cs typeface="+mn-cs"/>
                  </a:rPr>
                  <a:t>IDF</a:t>
                </a:r>
                <a:r>
                  <a:rPr lang="ja-JP" altLang="es-MX" sz="1200" b="1" kern="1200" dirty="0">
                    <a:solidFill>
                      <a:schemeClr val="tx1"/>
                    </a:solidFill>
                    <a:effectLst/>
                    <a:latin typeface="+mn-lt"/>
                    <a:ea typeface="+mn-ea"/>
                    <a:cs typeface="+mn-cs"/>
                  </a:rPr>
                  <a:t>がグローバルな希少性を示し、その掛け算でチャンクの特徴を効率的に抽出</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ちゅうしゅつ</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できる</a:t>
                </a:r>
                <a:r>
                  <a:rPr lang="ja-JP" altLang="es-MX" sz="1200" b="0" kern="1200" dirty="0">
                    <a:solidFill>
                      <a:schemeClr val="tx1"/>
                    </a:solidFill>
                    <a:effectLst/>
                    <a:latin typeface="+mn-lt"/>
                    <a:ea typeface="+mn-ea"/>
                    <a:cs typeface="+mn-cs"/>
                  </a:rPr>
                  <a:t>のが</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の強みです。」</a:t>
                </a:r>
                <a:endParaRPr lang="es-MX" sz="1200" kern="1200" dirty="0">
                  <a:solidFill>
                    <a:schemeClr val="tx1"/>
                  </a:solidFill>
                  <a:effectLst/>
                  <a:latin typeface="+mn-lt"/>
                  <a:ea typeface="+mn-ea"/>
                  <a:cs typeface="+mn-cs"/>
                </a:endParaRPr>
              </a:p>
              <a:p>
                <a:endParaRPr lang="es-MX" dirty="0"/>
              </a:p>
            </p:txBody>
          </p:sp>
        </mc:Fallback>
      </mc:AlternateContent>
      <p:sp>
        <p:nvSpPr>
          <p:cNvPr id="4" name="Slide Number Placeholder 3"/>
          <p:cNvSpPr>
            <a:spLocks noGrp="1"/>
          </p:cNvSpPr>
          <p:nvPr>
            <p:ph type="sldNum" sz="quarter" idx="5"/>
          </p:nvPr>
        </p:nvSpPr>
        <p:spPr/>
        <p:txBody>
          <a:bodyPr/>
          <a:lstStyle/>
          <a:p>
            <a:fld id="{636ADAD4-FFEE-44FE-A51F-559B513FE96F}" type="slidenum">
              <a:rPr lang="es-MX" smtClean="0"/>
              <a:t>7</a:t>
            </a:fld>
            <a:endParaRPr lang="es-MX"/>
          </a:p>
        </p:txBody>
      </p:sp>
    </p:spTree>
    <p:extLst>
      <p:ext uri="{BB962C8B-B14F-4D97-AF65-F5344CB8AC3E}">
        <p14:creationId xmlns:p14="http://schemas.microsoft.com/office/powerpoint/2010/main" val="2271407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s-MX" dirty="0"/>
              <a:t>「次に、各チャンク内で単語がどれだけ出現するかを計算します。これが</a:t>
            </a:r>
            <a:r>
              <a:rPr lang="es-MX" altLang="ja-JP" dirty="0" err="1"/>
              <a:t>Term</a:t>
            </a:r>
            <a:r>
              <a:rPr lang="es-MX" altLang="ja-JP" dirty="0"/>
              <a:t> </a:t>
            </a:r>
            <a:r>
              <a:rPr lang="es-MX" altLang="ja-JP" dirty="0" err="1"/>
              <a:t>Frequency</a:t>
            </a:r>
            <a:r>
              <a:rPr lang="ja-JP" altLang="es-MX" dirty="0"/>
              <a:t>（</a:t>
            </a:r>
            <a:r>
              <a:rPr lang="es-MX" altLang="ja-JP" dirty="0"/>
              <a:t>TF</a:t>
            </a:r>
            <a:r>
              <a:rPr lang="ja-JP" altLang="es-MX" dirty="0"/>
              <a:t>）です。</a:t>
            </a:r>
            <a:br>
              <a:rPr lang="es-MX" altLang="ja-JP" dirty="0"/>
            </a:br>
            <a:r>
              <a:rPr lang="es-MX" altLang="ja-JP" dirty="0"/>
              <a:t>TF</a:t>
            </a:r>
            <a:r>
              <a:rPr lang="ja-JP" altLang="es-MX" dirty="0"/>
              <a:t>はチャンクごとの局所</a:t>
            </a:r>
            <a:r>
              <a:rPr lang="es-MX" altLang="ja-JP" dirty="0"/>
              <a:t>(</a:t>
            </a:r>
            <a:r>
              <a:rPr lang="ja-JP" altLang="es-MX" dirty="0">
                <a:effectLst/>
              </a:rPr>
              <a:t>きょくしょ</a:t>
            </a:r>
            <a:r>
              <a:rPr lang="es-MX" altLang="ja-JP" dirty="0"/>
              <a:t>)</a:t>
            </a:r>
            <a:r>
              <a:rPr lang="ja-JP" altLang="es-MX" dirty="0"/>
              <a:t>的な重要度を示します。しかし、これは単純に「このチャンクで何回出たか」だけを見ているので、文章全体での重要性や識別力は反映されません。」</a:t>
            </a:r>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9</a:t>
            </a:fld>
            <a:endParaRPr lang="es-MX"/>
          </a:p>
        </p:txBody>
      </p:sp>
    </p:spTree>
    <p:extLst>
      <p:ext uri="{BB962C8B-B14F-4D97-AF65-F5344CB8AC3E}">
        <p14:creationId xmlns:p14="http://schemas.microsoft.com/office/powerpoint/2010/main" val="4283607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s-MX" dirty="0"/>
              <a:t>次のステップは</a:t>
            </a:r>
            <a:r>
              <a:rPr lang="es-MX" altLang="ja-JP" dirty="0" err="1"/>
              <a:t>Document</a:t>
            </a:r>
            <a:r>
              <a:rPr lang="es-MX" altLang="ja-JP" dirty="0"/>
              <a:t> </a:t>
            </a:r>
            <a:r>
              <a:rPr lang="es-MX" altLang="ja-JP" dirty="0" err="1"/>
              <a:t>Frequency</a:t>
            </a:r>
            <a:r>
              <a:rPr lang="ja-JP" altLang="es-MX" dirty="0"/>
              <a:t>（</a:t>
            </a:r>
            <a:r>
              <a:rPr lang="es-MX" altLang="ja-JP" dirty="0"/>
              <a:t>DF</a:t>
            </a:r>
            <a:r>
              <a:rPr lang="ja-JP" altLang="es-MX" dirty="0"/>
              <a:t>）です。</a:t>
            </a:r>
            <a:br>
              <a:rPr lang="ja-JP" altLang="es-MX" dirty="0"/>
            </a:br>
            <a:r>
              <a:rPr lang="es-MX" altLang="ja-JP" dirty="0"/>
              <a:t>DF</a:t>
            </a:r>
            <a:r>
              <a:rPr lang="ja-JP" altLang="es-MX" dirty="0"/>
              <a:t>は、各キーワードが全チャンクのうちいくつに現れるかを示します。</a:t>
            </a:r>
            <a:br>
              <a:rPr lang="ja-JP" altLang="es-MX" dirty="0"/>
            </a:br>
            <a:r>
              <a:rPr lang="ja-JP" altLang="es-MX" dirty="0"/>
              <a:t>この例では、チャンクの総数 </a:t>
            </a:r>
            <a:r>
              <a:rPr lang="es-MX" altLang="ja-JP" dirty="0"/>
              <a:t>N = 3 </a:t>
            </a:r>
            <a:r>
              <a:rPr lang="ja-JP" altLang="es-MX" dirty="0"/>
              <a:t>です。</a:t>
            </a:r>
            <a:br>
              <a:rPr lang="es-MX" altLang="ja-JP" dirty="0"/>
            </a:br>
            <a:br>
              <a:rPr lang="es-MX" altLang="ja-JP" dirty="0"/>
            </a:br>
            <a:r>
              <a:rPr lang="es-MX" sz="1200" kern="1200" dirty="0">
                <a:solidFill>
                  <a:schemeClr val="tx1"/>
                </a:solidFill>
                <a:effectLst/>
                <a:latin typeface="+mn-lt"/>
                <a:ea typeface="+mn-ea"/>
                <a:cs typeface="+mn-cs"/>
              </a:rPr>
              <a:t>DF</a:t>
            </a:r>
            <a:r>
              <a:rPr lang="ja-JP" altLang="es-MX" sz="1200" kern="1200" dirty="0">
                <a:solidFill>
                  <a:schemeClr val="tx1"/>
                </a:solidFill>
                <a:effectLst/>
                <a:latin typeface="+mn-lt"/>
                <a:ea typeface="+mn-ea"/>
                <a:cs typeface="+mn-cs"/>
              </a:rPr>
              <a:t>は、ある単語が全体でどれくらい一般的かを測る指標です。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これにより、単に出現する頻度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ひんど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だけでなく、その単語のグローバルな重要性も考慮</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こうりょ</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できるようになります。」</a:t>
            </a:r>
            <a:endParaRPr lang="es-MX" sz="1200" kern="1200" dirty="0">
              <a:solidFill>
                <a:schemeClr val="tx1"/>
              </a:solidFill>
              <a:effectLst/>
              <a:latin typeface="+mn-lt"/>
              <a:ea typeface="+mn-ea"/>
              <a:cs typeface="+mn-cs"/>
            </a:endParaRP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10</a:t>
            </a:fld>
            <a:endParaRPr lang="es-MX"/>
          </a:p>
        </p:txBody>
      </p:sp>
    </p:spTree>
    <p:extLst>
      <p:ext uri="{BB962C8B-B14F-4D97-AF65-F5344CB8AC3E}">
        <p14:creationId xmlns:p14="http://schemas.microsoft.com/office/powerpoint/2010/main" val="2428833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「次に、</a:t>
            </a:r>
            <a:r>
              <a:rPr lang="es-MX" sz="1200" b="1" kern="1200" dirty="0">
                <a:solidFill>
                  <a:schemeClr val="tx1"/>
                </a:solidFill>
                <a:effectLst/>
                <a:latin typeface="+mn-lt"/>
                <a:ea typeface="+mn-ea"/>
                <a:cs typeface="+mn-cs"/>
              </a:rPr>
              <a:t>IDF</a:t>
            </a:r>
            <a:r>
              <a:rPr lang="ja-JP" altLang="es-MX" sz="1200" kern="1200" dirty="0">
                <a:solidFill>
                  <a:schemeClr val="tx1"/>
                </a:solidFill>
                <a:effectLst/>
                <a:latin typeface="+mn-lt"/>
                <a:ea typeface="+mn-ea"/>
                <a:cs typeface="+mn-cs"/>
              </a:rPr>
              <a:t>の計算について見ていきましょう。この指標の主な役割は、</a:t>
            </a:r>
            <a:r>
              <a:rPr lang="es-MX" altLang="ja-JP"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どこにでもある単語</a:t>
            </a:r>
            <a:r>
              <a:rPr lang="es-MX" altLang="ja-JP"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にペナルティを与えること</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数式を見ると、全チャンク数（Ｎ）を、その単語が含まれるチャンク数（ＤＦ）で割っています。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ログの例に注目してください。</a:t>
            </a:r>
            <a:r>
              <a:rPr lang="es-MX" altLang="ja-JP" sz="1200" b="1" kern="1200" dirty="0">
                <a:solidFill>
                  <a:schemeClr val="tx1"/>
                </a:solidFill>
                <a:effectLst/>
                <a:latin typeface="+mn-lt"/>
                <a:ea typeface="+mn-ea"/>
                <a:cs typeface="+mn-cs"/>
              </a:rPr>
              <a:t>『</a:t>
            </a:r>
            <a:r>
              <a:rPr lang="es-MX" sz="1200" b="1" kern="1200" dirty="0">
                <a:solidFill>
                  <a:schemeClr val="tx1"/>
                </a:solidFill>
                <a:effectLst/>
                <a:latin typeface="+mn-lt"/>
                <a:ea typeface="+mn-ea"/>
                <a:cs typeface="+mn-cs"/>
              </a:rPr>
              <a:t>status</a:t>
            </a:r>
            <a:r>
              <a:rPr lang="es-MX" altLang="ja-JP"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という単語は</a:t>
            </a:r>
            <a:r>
              <a:rPr lang="es-MX" sz="1200" b="1" kern="1200" dirty="0">
                <a:solidFill>
                  <a:schemeClr val="tx1"/>
                </a:solidFill>
                <a:effectLst/>
                <a:latin typeface="+mn-lt"/>
                <a:ea typeface="+mn-ea"/>
                <a:cs typeface="+mn-cs"/>
              </a:rPr>
              <a:t>3</a:t>
            </a:r>
            <a:r>
              <a:rPr lang="ja-JP" altLang="es-MX" sz="1200" b="1" kern="1200" dirty="0">
                <a:solidFill>
                  <a:schemeClr val="tx1"/>
                </a:solidFill>
                <a:effectLst/>
                <a:latin typeface="+mn-lt"/>
                <a:ea typeface="+mn-ea"/>
                <a:cs typeface="+mn-cs"/>
              </a:rPr>
              <a:t>つ全てのチャンクに出現しています。そのため、３／３＝</a:t>
            </a:r>
            <a:r>
              <a:rPr lang="es-MX" altLang="ja-JP" sz="1200" b="1" kern="1200" dirty="0">
                <a:solidFill>
                  <a:schemeClr val="tx1"/>
                </a:solidFill>
                <a:effectLst/>
                <a:latin typeface="+mn-lt"/>
                <a:ea typeface="+mn-ea"/>
                <a:cs typeface="+mn-cs"/>
              </a:rPr>
              <a:t>1</a:t>
            </a:r>
            <a:r>
              <a:rPr lang="ja-JP" altLang="es-MX" sz="1200" b="1" kern="1200" dirty="0">
                <a:solidFill>
                  <a:schemeClr val="tx1"/>
                </a:solidFill>
                <a:effectLst/>
                <a:latin typeface="+mn-lt"/>
                <a:ea typeface="+mn-ea"/>
                <a:cs typeface="+mn-cs"/>
              </a:rPr>
              <a:t>となりｌｏｇ（１）＝０、つまり重みはゼロ</a:t>
            </a:r>
            <a:r>
              <a:rPr lang="ja-JP" altLang="es-MX" sz="1200" kern="1200" dirty="0">
                <a:solidFill>
                  <a:schemeClr val="tx1"/>
                </a:solidFill>
                <a:effectLst/>
                <a:latin typeface="+mn-lt"/>
                <a:ea typeface="+mn-ea"/>
                <a:cs typeface="+mn-cs"/>
              </a:rPr>
              <a:t>になります。</a:t>
            </a:r>
            <a:r>
              <a:rPr lang="es-MX" altLang="ja-JP"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status</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にはチャンクを区別するための特徴が何もない、ということです。一方で、</a:t>
            </a:r>
            <a:r>
              <a:rPr lang="es-MX" sz="1200" kern="1200" dirty="0">
                <a:solidFill>
                  <a:schemeClr val="tx1"/>
                </a:solidFill>
                <a:effectLst/>
                <a:latin typeface="+mn-lt"/>
                <a:ea typeface="+mn-ea"/>
                <a:cs typeface="+mn-cs"/>
              </a:rPr>
              <a:t>**</a:t>
            </a:r>
            <a:r>
              <a:rPr lang="es-MX" altLang="ja-JP"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INFO</a:t>
            </a:r>
            <a:r>
              <a:rPr lang="es-MX" altLang="ja-JP" sz="1200"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や</a:t>
            </a:r>
            <a:r>
              <a:rPr lang="es-MX" altLang="ja-JP"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amount</a:t>
            </a:r>
            <a:r>
              <a:rPr lang="es-MX" altLang="ja-JP"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のような珍しい単語は、</a:t>
            </a:r>
            <a:r>
              <a:rPr lang="es-MX" sz="1200" b="1" kern="1200" dirty="0">
                <a:solidFill>
                  <a:schemeClr val="tx1"/>
                </a:solidFill>
                <a:effectLst/>
                <a:latin typeface="+mn-lt"/>
                <a:ea typeface="+mn-ea"/>
                <a:cs typeface="+mn-cs"/>
              </a:rPr>
              <a:t>1.10</a:t>
            </a:r>
            <a:r>
              <a:rPr lang="ja-JP" altLang="es-MX" sz="1200" kern="1200" dirty="0">
                <a:solidFill>
                  <a:schemeClr val="tx1"/>
                </a:solidFill>
                <a:effectLst/>
                <a:latin typeface="+mn-lt"/>
                <a:ea typeface="+mn-ea"/>
                <a:cs typeface="+mn-cs"/>
              </a:rPr>
              <a:t>という高いスコアを得ます。</a:t>
            </a:r>
            <a:r>
              <a:rPr lang="es-MX" sz="1200" kern="1200" dirty="0">
                <a:solidFill>
                  <a:schemeClr val="tx1"/>
                </a:solidFill>
                <a:effectLst/>
                <a:latin typeface="+mn-lt"/>
                <a:ea typeface="+mn-ea"/>
                <a:cs typeface="+mn-cs"/>
              </a:rPr>
              <a:t>IDF</a:t>
            </a:r>
            <a:r>
              <a:rPr lang="ja-JP" altLang="es-MX" sz="1200" kern="1200" dirty="0">
                <a:solidFill>
                  <a:schemeClr val="tx1"/>
                </a:solidFill>
                <a:effectLst/>
                <a:latin typeface="+mn-lt"/>
                <a:ea typeface="+mn-ea"/>
                <a:cs typeface="+mn-cs"/>
              </a:rPr>
              <a:t>を使うことで、ありふれた言葉が重要な情報をかき消さないようにしているのです。」</a:t>
            </a:r>
            <a:endParaRPr lang="es-MX" sz="1200" kern="1200" dirty="0">
              <a:solidFill>
                <a:schemeClr val="tx1"/>
              </a:solidFill>
              <a:effectLst/>
              <a:latin typeface="+mn-lt"/>
              <a:ea typeface="+mn-ea"/>
              <a:cs typeface="+mn-cs"/>
            </a:endParaRP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11</a:t>
            </a:fld>
            <a:endParaRPr lang="es-MX"/>
          </a:p>
        </p:txBody>
      </p:sp>
    </p:spTree>
    <p:extLst>
      <p:ext uri="{BB962C8B-B14F-4D97-AF65-F5344CB8AC3E}">
        <p14:creationId xmlns:p14="http://schemas.microsoft.com/office/powerpoint/2010/main" val="687261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altLang="ja-JP"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を計算して</a:t>
            </a:r>
            <a:endParaRPr lang="es-MX"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MX"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s-MX" sz="1200" kern="1200" dirty="0">
                <a:solidFill>
                  <a:schemeClr val="tx1"/>
                </a:solidFill>
                <a:effectLst/>
                <a:latin typeface="+mn-lt"/>
                <a:ea typeface="+mn-ea"/>
                <a:cs typeface="+mn-cs"/>
              </a:rPr>
              <a:t>客チャンクがこのようになります</a:t>
            </a:r>
            <a:br>
              <a:rPr lang="es-MX" altLang="ja-JP" sz="1200" kern="1200" dirty="0">
                <a:solidFill>
                  <a:schemeClr val="tx1"/>
                </a:solidFill>
                <a:effectLst/>
                <a:latin typeface="+mn-lt"/>
                <a:ea typeface="+mn-ea"/>
                <a:cs typeface="+mn-cs"/>
              </a:rPr>
            </a:br>
            <a:br>
              <a:rPr lang="es-MX" altLang="ja-JP"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を使うことで、単なる出現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しゅつげん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頻度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ひんど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だけでは分からなかった「情報の識別力</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しきべつりょく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」が数値化され、文書間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ぶんしょかん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の比較や分類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ぶんるい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が容易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ようい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になります。</a:t>
            </a:r>
            <a:endParaRPr lang="es-MX" sz="1200" kern="1200" dirty="0">
              <a:solidFill>
                <a:schemeClr val="tx1"/>
              </a:solidFill>
              <a:effectLst/>
              <a:latin typeface="+mn-lt"/>
              <a:ea typeface="+mn-ea"/>
              <a:cs typeface="+mn-cs"/>
            </a:endParaRP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12</a:t>
            </a:fld>
            <a:endParaRPr lang="es-MX"/>
          </a:p>
        </p:txBody>
      </p:sp>
    </p:spTree>
    <p:extLst>
      <p:ext uri="{BB962C8B-B14F-4D97-AF65-F5344CB8AC3E}">
        <p14:creationId xmlns:p14="http://schemas.microsoft.com/office/powerpoint/2010/main" val="2484596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dirty="0"/>
              <a:t>最後に</a:t>
            </a:r>
            <a:endParaRPr lang="es-MX" altLang="ja-JP" dirty="0"/>
          </a:p>
          <a:p>
            <a:r>
              <a:rPr lang="ja-JP" altLang="es-MX" dirty="0"/>
              <a:t>「チャンクごとに、長さや含まれるキーワードの数は違うことがある。</a:t>
            </a:r>
            <a:br>
              <a:rPr lang="ja-JP" altLang="es-MX" dirty="0"/>
            </a:br>
            <a:r>
              <a:rPr lang="ja-JP" altLang="es-MX" dirty="0"/>
              <a:t>もしこのまま比較すると、長いチャンクやキーワードが多いチャンクだけが大きな値になってしまい、公平に比べられない。</a:t>
            </a:r>
          </a:p>
          <a:p>
            <a:r>
              <a:rPr lang="ja-JP" altLang="es-MX" dirty="0"/>
              <a:t>そこで、ベクトルを</a:t>
            </a:r>
            <a:r>
              <a:rPr lang="ja-JP" altLang="es-MX" b="1" dirty="0"/>
              <a:t>正規化</a:t>
            </a:r>
            <a:r>
              <a:rPr lang="ja-JP" altLang="es-MX" dirty="0"/>
              <a:t>する。</a:t>
            </a:r>
            <a:br>
              <a:rPr lang="ja-JP" altLang="es-MX" dirty="0"/>
            </a:br>
            <a:r>
              <a:rPr lang="ja-JP" altLang="es-MX" dirty="0"/>
              <a:t>数式で表すと、</a:t>
            </a:r>
          </a:p>
          <a:p>
            <a:endParaRPr lang="ja-JP" altLang="es-MX" b="0" dirty="0"/>
          </a:p>
          <a:p>
            <a:r>
              <a:rPr lang="ja-JP" altLang="es-MX" dirty="0"/>
              <a:t>正規化（せいきか）することで、</a:t>
            </a:r>
            <a:r>
              <a:rPr lang="ja-JP" altLang="es-MX" b="1" dirty="0"/>
              <a:t>大きさの違いをなくし</a:t>
            </a:r>
            <a:r>
              <a:rPr lang="ja-JP" altLang="es-MX" dirty="0"/>
              <a:t>、</a:t>
            </a:r>
            <a:br>
              <a:rPr lang="ja-JP" altLang="es-MX" dirty="0"/>
            </a:br>
            <a:r>
              <a:rPr lang="ja-JP" altLang="es-MX" dirty="0"/>
              <a:t>各チャンクの</a:t>
            </a:r>
            <a:r>
              <a:rPr lang="ja-JP" altLang="es-MX" b="1" dirty="0"/>
              <a:t>構造の特徴だけを公平（こうへい）に比較できる</a:t>
            </a:r>
            <a:r>
              <a:rPr lang="ja-JP" altLang="es-MX" dirty="0"/>
              <a:t>ようになる。</a:t>
            </a:r>
            <a:endParaRPr lang="es-MX" altLang="ja-JP" dirty="0"/>
          </a:p>
          <a:p>
            <a:endParaRPr lang="es-MX" altLang="ja-JP" dirty="0"/>
          </a:p>
          <a:p>
            <a:r>
              <a:rPr lang="ja-JP" altLang="es-MX" dirty="0"/>
              <a:t>つまり、ベクトルの方向を比べることで、内容の違いに注目できるのである。」</a:t>
            </a:r>
          </a:p>
        </p:txBody>
      </p:sp>
      <p:sp>
        <p:nvSpPr>
          <p:cNvPr id="4" name="Slide Number Placeholder 3"/>
          <p:cNvSpPr>
            <a:spLocks noGrp="1"/>
          </p:cNvSpPr>
          <p:nvPr>
            <p:ph type="sldNum" sz="quarter" idx="5"/>
          </p:nvPr>
        </p:nvSpPr>
        <p:spPr/>
        <p:txBody>
          <a:bodyPr/>
          <a:lstStyle/>
          <a:p>
            <a:fld id="{636ADAD4-FFEE-44FE-A51F-559B513FE96F}" type="slidenum">
              <a:rPr lang="es-MX" smtClean="0"/>
              <a:t>13</a:t>
            </a:fld>
            <a:endParaRPr lang="es-MX"/>
          </a:p>
        </p:txBody>
      </p:sp>
    </p:spTree>
    <p:extLst>
      <p:ext uri="{BB962C8B-B14F-4D97-AF65-F5344CB8AC3E}">
        <p14:creationId xmlns:p14="http://schemas.microsoft.com/office/powerpoint/2010/main" val="2050288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次に、このベクトルに</a:t>
            </a:r>
            <a:r>
              <a:rPr lang="es-MX" sz="1200" b="1" kern="1200" dirty="0">
                <a:solidFill>
                  <a:schemeClr val="tx1"/>
                </a:solidFill>
                <a:effectLst/>
                <a:latin typeface="+mn-lt"/>
                <a:ea typeface="+mn-ea"/>
                <a:cs typeface="+mn-cs"/>
              </a:rPr>
              <a:t>K-</a:t>
            </a:r>
            <a:r>
              <a:rPr lang="es-MX" sz="1200" b="1" kern="1200" dirty="0" err="1">
                <a:solidFill>
                  <a:schemeClr val="tx1"/>
                </a:solidFill>
                <a:effectLst/>
                <a:latin typeface="+mn-lt"/>
                <a:ea typeface="+mn-ea"/>
                <a:cs typeface="+mn-cs"/>
              </a:rPr>
              <a:t>means</a:t>
            </a:r>
            <a:r>
              <a:rPr lang="ja-JP" altLang="es-MX" sz="1200" b="1" kern="1200" dirty="0">
                <a:solidFill>
                  <a:schemeClr val="tx1"/>
                </a:solidFill>
                <a:effectLst/>
                <a:latin typeface="+mn-lt"/>
                <a:ea typeface="+mn-ea"/>
                <a:cs typeface="+mn-cs"/>
              </a:rPr>
              <a:t>クラスタリング</a:t>
            </a:r>
            <a:r>
              <a:rPr lang="ja-JP" altLang="es-MX" sz="1200" kern="1200" dirty="0">
                <a:solidFill>
                  <a:schemeClr val="tx1"/>
                </a:solidFill>
                <a:effectLst/>
                <a:latin typeface="+mn-lt"/>
                <a:ea typeface="+mn-ea"/>
                <a:cs typeface="+mn-cs"/>
              </a:rPr>
              <a:t>を適用する。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直感（ちょっかん）的に言うと、</a:t>
            </a:r>
            <a:r>
              <a:rPr lang="ja-JP" altLang="es-MX" sz="1200" b="1" kern="1200" dirty="0">
                <a:solidFill>
                  <a:schemeClr val="tx1"/>
                </a:solidFill>
                <a:effectLst/>
                <a:latin typeface="+mn-lt"/>
                <a:ea typeface="+mn-ea"/>
                <a:cs typeface="+mn-cs"/>
              </a:rPr>
              <a:t>構造が似ている行が同じクラスタに集まる</a:t>
            </a:r>
            <a:r>
              <a:rPr lang="ja-JP" altLang="es-MX" sz="1200" kern="1200" dirty="0">
                <a:solidFill>
                  <a:schemeClr val="tx1"/>
                </a:solidFill>
                <a:effectLst/>
                <a:latin typeface="+mn-lt"/>
                <a:ea typeface="+mn-ea"/>
                <a:cs typeface="+mn-cs"/>
              </a:rPr>
              <a:t>ということだ。</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つまり、各クラスタは、</a:t>
            </a:r>
            <a:r>
              <a:rPr lang="ja-JP" altLang="es-MX" sz="1200" b="1" kern="1200" dirty="0">
                <a:solidFill>
                  <a:schemeClr val="tx1"/>
                </a:solidFill>
                <a:effectLst/>
                <a:latin typeface="+mn-lt"/>
                <a:ea typeface="+mn-ea"/>
                <a:cs typeface="+mn-cs"/>
              </a:rPr>
              <a:t>テキスト内で繰り返し現れる構造パターン</a:t>
            </a:r>
            <a:r>
              <a:rPr lang="ja-JP" altLang="es-MX" sz="1200" kern="1200" dirty="0">
                <a:solidFill>
                  <a:schemeClr val="tx1"/>
                </a:solidFill>
                <a:effectLst/>
                <a:latin typeface="+mn-lt"/>
                <a:ea typeface="+mn-ea"/>
                <a:cs typeface="+mn-cs"/>
              </a:rPr>
              <a:t>を表している。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これによって、具体的な単語が違っても、よく出てくるパターンを見つけることができるのである。」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636ADAD4-FFEE-44FE-A51F-559B513FE96F}" type="slidenum">
              <a:rPr lang="es-MX" smtClean="0"/>
              <a:t>14</a:t>
            </a:fld>
            <a:endParaRPr lang="es-MX"/>
          </a:p>
        </p:txBody>
      </p:sp>
    </p:spTree>
    <p:extLst>
      <p:ext uri="{BB962C8B-B14F-4D97-AF65-F5344CB8AC3E}">
        <p14:creationId xmlns:p14="http://schemas.microsoft.com/office/powerpoint/2010/main" val="1623584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K-</a:t>
            </a:r>
            <a:r>
              <a:rPr lang="es-MX" sz="1200" kern="1200" dirty="0" err="1">
                <a:solidFill>
                  <a:schemeClr val="tx1"/>
                </a:solidFill>
                <a:effectLst/>
                <a:latin typeface="+mn-lt"/>
                <a:ea typeface="+mn-ea"/>
                <a:cs typeface="+mn-cs"/>
              </a:rPr>
              <a:t>means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では、あらかじめ</a:t>
            </a:r>
            <a:r>
              <a:rPr lang="ja-JP" altLang="es-MX" sz="1200" b="1" kern="1200" dirty="0">
                <a:solidFill>
                  <a:schemeClr val="tx1"/>
                </a:solidFill>
                <a:effectLst/>
                <a:latin typeface="+mn-lt"/>
                <a:ea typeface="+mn-ea"/>
                <a:cs typeface="+mn-cs"/>
              </a:rPr>
              <a:t>クラスタ数</a:t>
            </a:r>
            <a:r>
              <a:rPr lang="es-MX" sz="1200" b="1" kern="1200" dirty="0">
                <a:solidFill>
                  <a:schemeClr val="tx1"/>
                </a:solidFill>
                <a:effectLst/>
                <a:latin typeface="+mn-lt"/>
                <a:ea typeface="+mn-ea"/>
                <a:cs typeface="+mn-cs"/>
              </a:rPr>
              <a:t> K</a:t>
            </a:r>
            <a:r>
              <a:rPr lang="ja-JP" altLang="es-MX" sz="1200" kern="1200" dirty="0">
                <a:solidFill>
                  <a:schemeClr val="tx1"/>
                </a:solidFill>
                <a:effectLst/>
                <a:latin typeface="+mn-lt"/>
                <a:ea typeface="+mn-ea"/>
                <a:cs typeface="+mn-cs"/>
              </a:rPr>
              <a:t>を決める必要がある。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ここで注意すべきは、この</a:t>
            </a:r>
            <a:r>
              <a:rPr lang="es-MX" sz="1200" kern="1200" dirty="0">
                <a:solidFill>
                  <a:schemeClr val="tx1"/>
                </a:solidFill>
                <a:effectLst/>
                <a:latin typeface="+mn-lt"/>
                <a:ea typeface="+mn-ea"/>
                <a:cs typeface="+mn-cs"/>
              </a:rPr>
              <a:t> K </a:t>
            </a:r>
            <a:r>
              <a:rPr lang="ja-JP" altLang="es-MX" sz="1200" kern="1200" dirty="0">
                <a:solidFill>
                  <a:schemeClr val="tx1"/>
                </a:solidFill>
                <a:effectLst/>
                <a:latin typeface="+mn-lt"/>
                <a:ea typeface="+mn-ea"/>
                <a:cs typeface="+mn-cs"/>
              </a:rPr>
              <a:t>は意味的なトピックを表すのではなく、</a:t>
            </a:r>
            <a:r>
              <a:rPr lang="ja-JP" altLang="es-MX" sz="1200" b="1" kern="1200" dirty="0">
                <a:solidFill>
                  <a:schemeClr val="tx1"/>
                </a:solidFill>
                <a:effectLst/>
                <a:latin typeface="+mn-lt"/>
                <a:ea typeface="+mn-ea"/>
                <a:cs typeface="+mn-cs"/>
              </a:rPr>
              <a:t>構造的なパターンの数</a:t>
            </a:r>
            <a:r>
              <a:rPr lang="ja-JP" altLang="es-MX" sz="1200" kern="1200" dirty="0">
                <a:solidFill>
                  <a:schemeClr val="tx1"/>
                </a:solidFill>
                <a:effectLst/>
                <a:latin typeface="+mn-lt"/>
                <a:ea typeface="+mn-ea"/>
                <a:cs typeface="+mn-cs"/>
              </a:rPr>
              <a:t>を表している点である。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a:t>
            </a:r>
            <a:r>
              <a:rPr lang="es-MX" sz="1200" b="1" kern="1200" dirty="0">
                <a:solidFill>
                  <a:schemeClr val="tx1"/>
                </a:solidFill>
                <a:effectLst/>
                <a:latin typeface="+mn-lt"/>
                <a:ea typeface="+mn-ea"/>
                <a:cs typeface="+mn-cs"/>
              </a:rPr>
              <a:t>1</a:t>
            </a:r>
            <a:r>
              <a:rPr lang="ja-JP" altLang="es-MX" sz="1200" b="1" kern="1200" dirty="0">
                <a:solidFill>
                  <a:schemeClr val="tx1"/>
                </a:solidFill>
                <a:effectLst/>
                <a:latin typeface="+mn-lt"/>
                <a:ea typeface="+mn-ea"/>
                <a:cs typeface="+mn-cs"/>
              </a:rPr>
              <a:t>つのクラスタ</a:t>
            </a:r>
            <a:r>
              <a:rPr lang="es-MX" sz="1200" b="1" kern="1200" dirty="0">
                <a:solidFill>
                  <a:schemeClr val="tx1"/>
                </a:solidFill>
                <a:effectLst/>
                <a:latin typeface="+mn-lt"/>
                <a:ea typeface="+mn-ea"/>
                <a:cs typeface="+mn-cs"/>
              </a:rPr>
              <a:t> ≈ 1</a:t>
            </a:r>
            <a:r>
              <a:rPr lang="ja-JP" altLang="es-MX" sz="1200" b="1" kern="1200" dirty="0">
                <a:solidFill>
                  <a:schemeClr val="tx1"/>
                </a:solidFill>
                <a:effectLst/>
                <a:latin typeface="+mn-lt"/>
                <a:ea typeface="+mn-ea"/>
                <a:cs typeface="+mn-cs"/>
              </a:rPr>
              <a:t>つの繰り返し現れる構造</a:t>
            </a:r>
            <a:r>
              <a:rPr lang="ja-JP" altLang="es-MX" sz="1200" kern="1200" dirty="0">
                <a:solidFill>
                  <a:schemeClr val="tx1"/>
                </a:solidFill>
                <a:effectLst/>
                <a:latin typeface="+mn-lt"/>
                <a:ea typeface="+mn-ea"/>
                <a:cs typeface="+mn-cs"/>
              </a:rPr>
              <a:t>だ。</a:t>
            </a:r>
            <a:endParaRPr lang="es-MX" sz="1200" kern="1200" dirty="0">
              <a:solidFill>
                <a:schemeClr val="tx1"/>
              </a:solidFill>
              <a:effectLst/>
              <a:latin typeface="+mn-lt"/>
              <a:ea typeface="+mn-ea"/>
              <a:cs typeface="+mn-cs"/>
            </a:endParaRPr>
          </a:p>
          <a:p>
            <a:pPr lvl="0"/>
            <a:r>
              <a:rPr lang="es-MX" sz="1200" kern="1200" dirty="0">
                <a:solidFill>
                  <a:schemeClr val="tx1"/>
                </a:solidFill>
                <a:effectLst/>
                <a:latin typeface="+mn-lt"/>
                <a:ea typeface="+mn-ea"/>
                <a:cs typeface="+mn-cs"/>
              </a:rPr>
              <a:t>K </a:t>
            </a:r>
            <a:r>
              <a:rPr lang="ja-JP" altLang="es-MX" sz="1200" kern="1200" dirty="0">
                <a:solidFill>
                  <a:schemeClr val="tx1"/>
                </a:solidFill>
                <a:effectLst/>
                <a:latin typeface="+mn-lt"/>
                <a:ea typeface="+mn-ea"/>
                <a:cs typeface="+mn-cs"/>
              </a:rPr>
              <a:t>が大きいと、より細かい構造の違いを捉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とら</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えることができる。</a:t>
            </a:r>
            <a:endParaRPr lang="es-MX" sz="1200" kern="1200" dirty="0">
              <a:solidFill>
                <a:schemeClr val="tx1"/>
              </a:solidFill>
              <a:effectLst/>
              <a:latin typeface="+mn-lt"/>
              <a:ea typeface="+mn-ea"/>
              <a:cs typeface="+mn-cs"/>
            </a:endParaRPr>
          </a:p>
          <a:p>
            <a:pPr lvl="0"/>
            <a:r>
              <a:rPr lang="es-MX" sz="1200" kern="1200" dirty="0">
                <a:solidFill>
                  <a:schemeClr val="tx1"/>
                </a:solidFill>
                <a:effectLst/>
                <a:latin typeface="+mn-lt"/>
                <a:ea typeface="+mn-ea"/>
                <a:cs typeface="+mn-cs"/>
              </a:rPr>
              <a:t>K </a:t>
            </a:r>
            <a:r>
              <a:rPr lang="ja-JP" altLang="es-MX" sz="1200" kern="1200" dirty="0">
                <a:solidFill>
                  <a:schemeClr val="tx1"/>
                </a:solidFill>
                <a:effectLst/>
                <a:latin typeface="+mn-lt"/>
                <a:ea typeface="+mn-ea"/>
                <a:cs typeface="+mn-cs"/>
              </a:rPr>
              <a:t>が小さいと、大まかな構造を表すことになる。</a:t>
            </a:r>
            <a:endParaRPr lang="es-MX" sz="1200" kern="1200" dirty="0">
              <a:solidFill>
                <a:schemeClr val="tx1"/>
              </a:solidFill>
              <a:effectLst/>
              <a:latin typeface="+mn-lt"/>
              <a:ea typeface="+mn-ea"/>
              <a:cs typeface="+mn-cs"/>
            </a:endParaRPr>
          </a:p>
          <a:p>
            <a:r>
              <a:rPr lang="es-MX" sz="1200" kern="1200" dirty="0" err="1">
                <a:solidFill>
                  <a:schemeClr val="tx1"/>
                </a:solidFill>
                <a:effectLst/>
                <a:latin typeface="+mn-lt"/>
                <a:ea typeface="+mn-ea"/>
                <a:cs typeface="+mn-cs"/>
              </a:rPr>
              <a:t>FastRAG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においては、</a:t>
            </a:r>
            <a:r>
              <a:rPr lang="es-MX" sz="1200" b="1" kern="1200" dirty="0">
                <a:solidFill>
                  <a:schemeClr val="tx1"/>
                </a:solidFill>
                <a:effectLst/>
                <a:latin typeface="+mn-lt"/>
                <a:ea typeface="+mn-ea"/>
                <a:cs typeface="+mn-cs"/>
              </a:rPr>
              <a:t>K </a:t>
            </a:r>
            <a:r>
              <a:rPr lang="ja-JP" altLang="es-MX" sz="1200" b="1" kern="1200" dirty="0">
                <a:solidFill>
                  <a:schemeClr val="tx1"/>
                </a:solidFill>
                <a:effectLst/>
                <a:latin typeface="+mn-lt"/>
                <a:ea typeface="+mn-ea"/>
                <a:cs typeface="+mn-cs"/>
              </a:rPr>
              <a:t>はデータセットに含まれる構造テンプレートの数</a:t>
            </a:r>
            <a:r>
              <a:rPr lang="ja-JP" altLang="es-MX" sz="1200" kern="1200" dirty="0">
                <a:solidFill>
                  <a:schemeClr val="tx1"/>
                </a:solidFill>
                <a:effectLst/>
                <a:latin typeface="+mn-lt"/>
                <a:ea typeface="+mn-ea"/>
                <a:cs typeface="+mn-cs"/>
              </a:rPr>
              <a:t>を意味している。」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15</a:t>
            </a:fld>
            <a:endParaRPr lang="es-MX"/>
          </a:p>
        </p:txBody>
      </p:sp>
    </p:spTree>
    <p:extLst>
      <p:ext uri="{BB962C8B-B14F-4D97-AF65-F5344CB8AC3E}">
        <p14:creationId xmlns:p14="http://schemas.microsoft.com/office/powerpoint/2010/main" val="2839642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K </a:t>
            </a:r>
            <a:r>
              <a:rPr lang="ja-JP" altLang="es-MX" sz="1200" kern="1200" dirty="0">
                <a:solidFill>
                  <a:schemeClr val="tx1"/>
                </a:solidFill>
                <a:effectLst/>
                <a:latin typeface="+mn-lt"/>
                <a:ea typeface="+mn-ea"/>
                <a:cs typeface="+mn-cs"/>
              </a:rPr>
              <a:t>が決まると、</a:t>
            </a:r>
            <a:r>
              <a:rPr lang="es-MX" sz="1200" kern="1200" dirty="0">
                <a:solidFill>
                  <a:schemeClr val="tx1"/>
                </a:solidFill>
                <a:effectLst/>
                <a:latin typeface="+mn-lt"/>
                <a:ea typeface="+mn-ea"/>
                <a:cs typeface="+mn-cs"/>
              </a:rPr>
              <a:t>K-</a:t>
            </a:r>
            <a:r>
              <a:rPr lang="es-MX" sz="1200" kern="1200" dirty="0" err="1">
                <a:solidFill>
                  <a:schemeClr val="tx1"/>
                </a:solidFill>
                <a:effectLst/>
                <a:latin typeface="+mn-lt"/>
                <a:ea typeface="+mn-ea"/>
                <a:cs typeface="+mn-cs"/>
              </a:rPr>
              <a:t>means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r>
              <a:rPr lang="es-MX" sz="1200" b="1" kern="1200" dirty="0">
                <a:solidFill>
                  <a:schemeClr val="tx1"/>
                </a:solidFill>
                <a:effectLst/>
                <a:latin typeface="+mn-lt"/>
                <a:ea typeface="+mn-ea"/>
                <a:cs typeface="+mn-cs"/>
              </a:rPr>
              <a:t>K </a:t>
            </a:r>
            <a:r>
              <a:rPr lang="ja-JP" altLang="es-MX" sz="1200" b="1" kern="1200" dirty="0">
                <a:solidFill>
                  <a:schemeClr val="tx1"/>
                </a:solidFill>
                <a:effectLst/>
                <a:latin typeface="+mn-lt"/>
                <a:ea typeface="+mn-ea"/>
                <a:cs typeface="+mn-cs"/>
              </a:rPr>
              <a:t>個のセントロイド</a:t>
            </a:r>
            <a:r>
              <a:rPr lang="ja-JP" altLang="es-MX" sz="1200" kern="1200" dirty="0">
                <a:solidFill>
                  <a:schemeClr val="tx1"/>
                </a:solidFill>
                <a:effectLst/>
                <a:latin typeface="+mn-lt"/>
                <a:ea typeface="+mn-ea"/>
                <a:cs typeface="+mn-cs"/>
              </a:rPr>
              <a:t>を初期化する。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セントロイドとは、チャンクと同じ</a:t>
            </a:r>
            <a:r>
              <a:rPr lang="es-MX" sz="1200" kern="1200" dirty="0">
                <a:solidFill>
                  <a:schemeClr val="tx1"/>
                </a:solidFill>
                <a:effectLst/>
                <a:latin typeface="+mn-lt"/>
                <a:ea typeface="+mn-ea"/>
                <a:cs typeface="+mn-cs"/>
              </a:rPr>
              <a:t> TF-IDF </a:t>
            </a:r>
            <a:r>
              <a:rPr lang="ja-JP" altLang="es-MX" sz="1200" kern="1200" dirty="0">
                <a:solidFill>
                  <a:schemeClr val="tx1"/>
                </a:solidFill>
                <a:effectLst/>
                <a:latin typeface="+mn-lt"/>
                <a:ea typeface="+mn-ea"/>
                <a:cs typeface="+mn-cs"/>
              </a:rPr>
              <a:t>空間上</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くうかんじょう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のベクトルで、</a:t>
            </a:r>
            <a:r>
              <a:rPr lang="ja-JP" altLang="es-MX" sz="1200" b="1" kern="1200" dirty="0">
                <a:solidFill>
                  <a:schemeClr val="tx1"/>
                </a:solidFill>
                <a:effectLst/>
                <a:latin typeface="+mn-lt"/>
                <a:ea typeface="+mn-ea"/>
                <a:cs typeface="+mn-cs"/>
              </a:rPr>
              <a:t>クラスタを代表する仮想</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かそう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的な点</a:t>
            </a:r>
            <a:r>
              <a:rPr lang="ja-JP" altLang="es-MX" sz="1200" b="0" kern="1200" dirty="0">
                <a:solidFill>
                  <a:schemeClr val="tx1"/>
                </a:solidFill>
                <a:effectLst/>
                <a:latin typeface="+mn-lt"/>
                <a:ea typeface="+mn-ea"/>
                <a:cs typeface="+mn-cs"/>
              </a:rPr>
              <a:t>である。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初期段階では、</a:t>
            </a:r>
            <a:r>
              <a:rPr lang="ja-JP" altLang="es-MX" sz="1200" b="1" kern="1200" dirty="0">
                <a:solidFill>
                  <a:schemeClr val="tx1"/>
                </a:solidFill>
                <a:effectLst/>
                <a:latin typeface="+mn-lt"/>
                <a:ea typeface="+mn-ea"/>
                <a:cs typeface="+mn-cs"/>
              </a:rPr>
              <a:t>実際のチャンクである必要はない</a:t>
            </a:r>
            <a:r>
              <a:rPr lang="ja-JP" altLang="es-MX" sz="120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セントロイドはランダムに選ばれることもあれば、簡単なヒューリスティックで選ばれることもある。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アルゴリズムが進むにつれて、セントロイドはクラスタをよりよく表す位置</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いち</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に移動していく。」</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16</a:t>
            </a:fld>
            <a:endParaRPr lang="es-MX"/>
          </a:p>
        </p:txBody>
      </p:sp>
    </p:spTree>
    <p:extLst>
      <p:ext uri="{BB962C8B-B14F-4D97-AF65-F5344CB8AC3E}">
        <p14:creationId xmlns:p14="http://schemas.microsoft.com/office/powerpoint/2010/main" val="4133641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ja-JP" altLang="es-MX" dirty="0"/>
                  <a:t>「各正規化済みチャンクベクトル、</a:t>
                </a:r>
                <a14:m>
                  <m:oMath xmlns:m="http://schemas.openxmlformats.org/officeDocument/2006/math">
                    <m:sSub>
                      <m:sSubPr>
                        <m:ctrlPr>
                          <a:rPr lang="ja-JP" altLang="es-MX" sz="1200" kern="1200">
                            <a:solidFill>
                              <a:schemeClr val="tx1"/>
                            </a:solidFill>
                            <a:latin typeface="+mn-lt"/>
                            <a:ea typeface="+mn-ea"/>
                            <a:cs typeface="+mn-cs"/>
                          </a:rPr>
                        </m:ctrlPr>
                      </m:sSubPr>
                      <m:e>
                        <m:acc>
                          <m:accPr>
                            <m:chr m:val="⃗"/>
                            <m:ctrlPr>
                              <a:rPr lang="ja-JP" altLang="es-MX" sz="1200" kern="1200">
                                <a:solidFill>
                                  <a:schemeClr val="tx1"/>
                                </a:solidFill>
                                <a:latin typeface="+mn-lt"/>
                                <a:ea typeface="+mn-ea"/>
                                <a:cs typeface="+mn-cs"/>
                              </a:rPr>
                            </m:ctrlPr>
                          </m:accPr>
                          <m:e>
                            <m:r>
                              <a:rPr lang="ja-JP" altLang="es-MX" sz="1200" i="1" kern="1200">
                                <a:solidFill>
                                  <a:schemeClr val="tx1"/>
                                </a:solidFill>
                                <a:latin typeface="+mn-lt"/>
                                <a:ea typeface="+mn-ea"/>
                                <a:cs typeface="+mn-cs"/>
                              </a:rPr>
                              <m:t>𝑥</m:t>
                            </m:r>
                          </m:e>
                        </m:acc>
                      </m:e>
                      <m:sub>
                        <m:r>
                          <a:rPr lang="ja-JP" altLang="es-MX" sz="1200" i="1" kern="1200">
                            <a:solidFill>
                              <a:schemeClr val="tx1"/>
                            </a:solidFill>
                            <a:latin typeface="+mn-lt"/>
                            <a:ea typeface="+mn-ea"/>
                            <a:cs typeface="+mn-cs"/>
                          </a:rPr>
                          <m:t>𝑖</m:t>
                        </m:r>
                      </m:sub>
                    </m:sSub>
                  </m:oMath>
                </a14:m>
                <a:r>
                  <a:rPr lang="ja-JP" altLang="es-MX" dirty="0"/>
                  <a:t> に対して、まず</a:t>
                </a:r>
                <a:r>
                  <a:rPr lang="ja-JP" altLang="es-MX" b="1" dirty="0"/>
                  <a:t>すべてのセントロイドとの距離を計算</a:t>
                </a:r>
                <a:r>
                  <a:rPr lang="ja-JP" altLang="es-MX" dirty="0"/>
                  <a:t>する。そして、</a:t>
                </a:r>
                <a:r>
                  <a:rPr lang="ja-JP" altLang="es-MX" b="1" dirty="0"/>
                  <a:t>最も近いセントロイドに割り当てる</a:t>
                </a:r>
                <a:r>
                  <a:rPr lang="ja-JP" altLang="es-MX" dirty="0"/>
                  <a:t>のである。</a:t>
                </a:r>
              </a:p>
              <a:p>
                <a:endParaRPr lang="es-MX" altLang="ja-JP" dirty="0"/>
              </a:p>
              <a:p>
                <a:r>
                  <a:rPr lang="ja-JP" altLang="es-MX" dirty="0"/>
                  <a:t>次に、各クラスタについて、</a:t>
                </a:r>
                <a:r>
                  <a:rPr lang="ja-JP" altLang="es-MX" b="1" dirty="0"/>
                  <a:t>そのクラスタに所属（しょぞく）するベクトルの平均</a:t>
                </a:r>
                <a:r>
                  <a:rPr lang="ja-JP" altLang="es-MX" dirty="0"/>
                  <a:t>を計算する。</a:t>
                </a:r>
                <a:br>
                  <a:rPr lang="ja-JP" altLang="es-MX" dirty="0"/>
                </a:br>
                <a:r>
                  <a:rPr lang="ja-JP" altLang="es-MX" dirty="0"/>
                  <a:t>数式で表すと、次のようになる：</a:t>
                </a: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ここで、</a:t>
                </a:r>
                <a14:m>
                  <m:oMath xmlns:m="http://schemas.openxmlformats.org/officeDocument/2006/math">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𝐶</m:t>
                        </m:r>
                      </m:e>
                      <m:sub>
                        <m:r>
                          <a:rPr lang="es-MX" sz="1200" i="1" kern="1200">
                            <a:solidFill>
                              <a:schemeClr val="tx1"/>
                            </a:solidFill>
                            <a:effectLst/>
                            <a:latin typeface="+mn-lt"/>
                            <a:ea typeface="+mn-ea"/>
                            <a:cs typeface="+mn-cs"/>
                          </a:rPr>
                          <m:t>𝑘</m:t>
                        </m:r>
                      </m:sub>
                    </m:sSub>
                  </m:oMath>
                </a14:m>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はクラスタ</a:t>
                </a:r>
                <a:r>
                  <a:rPr lang="es-MX" sz="1200" kern="1200" dirty="0">
                    <a:solidFill>
                      <a:schemeClr val="tx1"/>
                    </a:solidFill>
                    <a:effectLst/>
                    <a:latin typeface="+mn-lt"/>
                    <a:ea typeface="+mn-ea"/>
                    <a:cs typeface="+mn-cs"/>
                  </a:rPr>
                  <a:t> k </a:t>
                </a:r>
                <a:r>
                  <a:rPr lang="ja-JP" altLang="es-MX" sz="1200" kern="1200" dirty="0">
                    <a:solidFill>
                      <a:schemeClr val="tx1"/>
                    </a:solidFill>
                    <a:effectLst/>
                    <a:latin typeface="+mn-lt"/>
                    <a:ea typeface="+mn-ea"/>
                    <a:cs typeface="+mn-cs"/>
                  </a:rPr>
                  <a:t>に所属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しょぞく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するベクトルの集合、</a:t>
                </a:r>
                <a14:m>
                  <m:oMath xmlns:m="http://schemas.openxmlformats.org/officeDocument/2006/math">
                    <m:r>
                      <a:rPr lang="es-MX" sz="1200" kern="1200">
                        <a:solidFill>
                          <a:schemeClr val="tx1"/>
                        </a:solidFill>
                        <a:effectLst/>
                        <a:latin typeface="+mn-lt"/>
                        <a:ea typeface="+mn-ea"/>
                        <a:cs typeface="+mn-cs"/>
                      </a:rPr>
                      <m:t>∣</m:t>
                    </m:r>
                    <m:sSub>
                      <m:sSubPr>
                        <m:ctrlPr>
                          <a:rPr lang="es-MX" sz="1200" i="1" kern="1200">
                            <a:solidFill>
                              <a:schemeClr val="tx1"/>
                            </a:solidFill>
                            <a:effectLst/>
                            <a:latin typeface="+mn-lt"/>
                            <a:ea typeface="+mn-ea"/>
                            <a:cs typeface="+mn-cs"/>
                          </a:rPr>
                        </m:ctrlPr>
                      </m:sSubPr>
                      <m:e>
                        <m:r>
                          <a:rPr lang="es-MX" sz="1200" i="1" kern="1200">
                            <a:solidFill>
                              <a:schemeClr val="tx1"/>
                            </a:solidFill>
                            <a:effectLst/>
                            <a:latin typeface="+mn-lt"/>
                            <a:ea typeface="+mn-ea"/>
                            <a:cs typeface="+mn-cs"/>
                          </a:rPr>
                          <m:t>𝐶</m:t>
                        </m:r>
                      </m:e>
                      <m:sub>
                        <m:r>
                          <a:rPr lang="es-MX" sz="1200" i="1" kern="1200">
                            <a:solidFill>
                              <a:schemeClr val="tx1"/>
                            </a:solidFill>
                            <a:effectLst/>
                            <a:latin typeface="+mn-lt"/>
                            <a:ea typeface="+mn-ea"/>
                            <a:cs typeface="+mn-cs"/>
                          </a:rPr>
                          <m:t>𝑘</m:t>
                        </m:r>
                      </m:sub>
                    </m:sSub>
                    <m:r>
                      <a:rPr lang="es-MX" sz="1200" kern="1200">
                        <a:solidFill>
                          <a:schemeClr val="tx1"/>
                        </a:solidFill>
                        <a:effectLst/>
                        <a:latin typeface="+mn-lt"/>
                        <a:ea typeface="+mn-ea"/>
                        <a:cs typeface="+mn-cs"/>
                      </a:rPr>
                      <m:t>∣</m:t>
                    </m:r>
                  </m:oMath>
                </a14:m>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はその数である。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この平均ベクトルが</a:t>
                </a:r>
                <a:r>
                  <a:rPr lang="ja-JP" altLang="es-MX" sz="1200" b="1" kern="1200" dirty="0">
                    <a:solidFill>
                      <a:schemeClr val="tx1"/>
                    </a:solidFill>
                    <a:effectLst/>
                    <a:latin typeface="+mn-lt"/>
                    <a:ea typeface="+mn-ea"/>
                    <a:cs typeface="+mn-cs"/>
                  </a:rPr>
                  <a:t>新しいセントロイド</a:t>
                </a:r>
                <a:r>
                  <a:rPr lang="ja-JP" altLang="es-MX" sz="1200" kern="1200" dirty="0">
                    <a:solidFill>
                      <a:schemeClr val="tx1"/>
                    </a:solidFill>
                    <a:effectLst/>
                    <a:latin typeface="+mn-lt"/>
                    <a:ea typeface="+mn-ea"/>
                    <a:cs typeface="+mn-cs"/>
                  </a:rPr>
                  <a:t>となる。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つまり、セントロイドはクラスタの</a:t>
                </a:r>
                <a:r>
                  <a:rPr lang="ja-JP" altLang="es-MX" sz="1200" b="1" kern="1200" dirty="0">
                    <a:solidFill>
                      <a:schemeClr val="tx1"/>
                    </a:solidFill>
                    <a:effectLst/>
                    <a:latin typeface="+mn-lt"/>
                    <a:ea typeface="+mn-ea"/>
                    <a:cs typeface="+mn-cs"/>
                  </a:rPr>
                  <a:t>代表的な構造</a:t>
                </a:r>
                <a:r>
                  <a:rPr lang="ja-JP" altLang="es-MX" sz="1200" kern="1200" dirty="0">
                    <a:solidFill>
                      <a:schemeClr val="tx1"/>
                    </a:solidFill>
                    <a:effectLst/>
                    <a:latin typeface="+mn-lt"/>
                    <a:ea typeface="+mn-ea"/>
                    <a:cs typeface="+mn-cs"/>
                  </a:rPr>
                  <a:t>を表すことになる。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その後、次を繰り返す：</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チャンクを</a:t>
                </a:r>
                <a:r>
                  <a:rPr lang="ja-JP" altLang="es-MX" sz="1200" b="1" kern="1200" dirty="0">
                    <a:solidFill>
                      <a:schemeClr val="tx1"/>
                    </a:solidFill>
                    <a:effectLst/>
                    <a:latin typeface="+mn-lt"/>
                    <a:ea typeface="+mn-ea"/>
                    <a:cs typeface="+mn-cs"/>
                  </a:rPr>
                  <a:t>最も近いセントロイドに再割り当て</a:t>
                </a:r>
                <a:r>
                  <a:rPr lang="ja-JP" altLang="es-MX" sz="1200" kern="1200" dirty="0">
                    <a:solidFill>
                      <a:schemeClr val="tx1"/>
                    </a:solidFill>
                    <a:effectLst/>
                    <a:latin typeface="+mn-lt"/>
                    <a:ea typeface="+mn-ea"/>
                    <a:cs typeface="+mn-cs"/>
                  </a:rPr>
                  <a:t>する。</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新しい割り当てに基づいて</a:t>
                </a:r>
                <a:r>
                  <a:rPr lang="ja-JP" altLang="es-MX" sz="1200" b="1" kern="1200" dirty="0">
                    <a:solidFill>
                      <a:schemeClr val="tx1"/>
                    </a:solidFill>
                    <a:effectLst/>
                    <a:latin typeface="+mn-lt"/>
                    <a:ea typeface="+mn-ea"/>
                    <a:cs typeface="+mn-cs"/>
                  </a:rPr>
                  <a:t>セントロイドを再計算</a:t>
                </a:r>
                <a:r>
                  <a:rPr lang="ja-JP" altLang="es-MX" sz="1200" kern="1200" dirty="0">
                    <a:solidFill>
                      <a:schemeClr val="tx1"/>
                    </a:solidFill>
                    <a:effectLst/>
                    <a:latin typeface="+mn-lt"/>
                    <a:ea typeface="+mn-ea"/>
                    <a:cs typeface="+mn-cs"/>
                  </a:rPr>
                  <a:t>する。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このプロセスは、次の条件のいずれかを満たすまで続く：</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割り当てが変わらなくなる、または</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変化が無視できる程度になる。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収束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しゅうそく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すると、クラスタは安定し、セントロイドはデータセット内で</a:t>
                </a:r>
                <a:r>
                  <a:rPr lang="ja-JP" altLang="es-MX" sz="1200" b="1" kern="1200" dirty="0">
                    <a:solidFill>
                      <a:schemeClr val="tx1"/>
                    </a:solidFill>
                    <a:effectLst/>
                    <a:latin typeface="+mn-lt"/>
                    <a:ea typeface="+mn-ea"/>
                    <a:cs typeface="+mn-cs"/>
                  </a:rPr>
                  <a:t>繰り返し現れる構造パターン</a:t>
                </a:r>
                <a:r>
                  <a:rPr lang="ja-JP" altLang="es-MX" sz="1200" kern="1200" dirty="0">
                    <a:solidFill>
                      <a:schemeClr val="tx1"/>
                    </a:solidFill>
                    <a:effectLst/>
                    <a:latin typeface="+mn-lt"/>
                    <a:ea typeface="+mn-ea"/>
                    <a:cs typeface="+mn-cs"/>
                  </a:rPr>
                  <a:t>を表すことになる。」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mc:Choice>
        <mc:Fallback>
          <p:sp>
            <p:nvSpPr>
              <p:cNvPr id="3" name="Notes Placeholder 2"/>
              <p:cNvSpPr>
                <a:spLocks noGrp="1"/>
              </p:cNvSpPr>
              <p:nvPr>
                <p:ph type="body" idx="1"/>
              </p:nvPr>
            </p:nvSpPr>
            <p:spPr/>
            <p:txBody>
              <a:bodyPr/>
              <a:lstStyle/>
              <a:p>
                <a:r>
                  <a:rPr lang="ja-JP" altLang="es-MX" dirty="0"/>
                  <a:t>「各正規化済みチャンクベクトル、</a:t>
                </a:r>
                <a:r>
                  <a:rPr lang="ja-JP" altLang="es-MX" sz="1200" i="0" kern="1200">
                    <a:solidFill>
                      <a:schemeClr val="tx1"/>
                    </a:solidFill>
                    <a:latin typeface="+mn-lt"/>
                    <a:ea typeface="+mn-ea"/>
                    <a:cs typeface="+mn-cs"/>
                  </a:rPr>
                  <a:t>𝑥 ⃗_𝑖</a:t>
                </a:r>
                <a:r>
                  <a:rPr lang="ja-JP" altLang="es-MX" dirty="0"/>
                  <a:t> に対して、まず</a:t>
                </a:r>
                <a:r>
                  <a:rPr lang="ja-JP" altLang="es-MX" b="1" dirty="0"/>
                  <a:t>すべてのセントロイドとの距離を計算</a:t>
                </a:r>
                <a:r>
                  <a:rPr lang="ja-JP" altLang="es-MX" dirty="0"/>
                  <a:t>する。そして、</a:t>
                </a:r>
                <a:r>
                  <a:rPr lang="ja-JP" altLang="es-MX" b="1" dirty="0"/>
                  <a:t>最も近いセントロイドに割り当てる</a:t>
                </a:r>
                <a:r>
                  <a:rPr lang="ja-JP" altLang="es-MX" dirty="0"/>
                  <a:t>のである。</a:t>
                </a:r>
              </a:p>
              <a:p>
                <a:endParaRPr lang="es-MX" altLang="ja-JP" dirty="0"/>
              </a:p>
              <a:p>
                <a:r>
                  <a:rPr lang="ja-JP" altLang="es-MX" dirty="0"/>
                  <a:t>次に、各クラスタについて、</a:t>
                </a:r>
                <a:r>
                  <a:rPr lang="ja-JP" altLang="es-MX" b="1" dirty="0"/>
                  <a:t>そのクラスタに所属（しょぞく）するベクトルの平均</a:t>
                </a:r>
                <a:r>
                  <a:rPr lang="ja-JP" altLang="es-MX" dirty="0"/>
                  <a:t>を計算する。</a:t>
                </a:r>
                <a:br>
                  <a:rPr lang="ja-JP" altLang="es-MX" dirty="0"/>
                </a:br>
                <a:r>
                  <a:rPr lang="ja-JP" altLang="es-MX" dirty="0"/>
                  <a:t>数式で表すと、次のようになる：</a:t>
                </a: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ここで、</a:t>
                </a:r>
                <a:r>
                  <a:rPr lang="es-MX" sz="1200" i="0" kern="1200">
                    <a:solidFill>
                      <a:schemeClr val="tx1"/>
                    </a:solidFill>
                    <a:effectLst/>
                    <a:latin typeface="+mn-lt"/>
                    <a:ea typeface="+mn-ea"/>
                    <a:cs typeface="+mn-cs"/>
                  </a:rPr>
                  <a:t>𝐶_𝑘</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はクラスタ</a:t>
                </a:r>
                <a:r>
                  <a:rPr lang="es-MX" sz="1200" kern="1200" dirty="0">
                    <a:solidFill>
                      <a:schemeClr val="tx1"/>
                    </a:solidFill>
                    <a:effectLst/>
                    <a:latin typeface="+mn-lt"/>
                    <a:ea typeface="+mn-ea"/>
                    <a:cs typeface="+mn-cs"/>
                  </a:rPr>
                  <a:t> k </a:t>
                </a:r>
                <a:r>
                  <a:rPr lang="ja-JP" altLang="es-MX" sz="1200" kern="1200" dirty="0">
                    <a:solidFill>
                      <a:schemeClr val="tx1"/>
                    </a:solidFill>
                    <a:effectLst/>
                    <a:latin typeface="+mn-lt"/>
                    <a:ea typeface="+mn-ea"/>
                    <a:cs typeface="+mn-cs"/>
                  </a:rPr>
                  <a:t>に所属</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しょぞく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するベクトルの集合、</a:t>
                </a:r>
                <a:r>
                  <a:rPr lang="es-MX" sz="1200" i="0" kern="1200">
                    <a:solidFill>
                      <a:schemeClr val="tx1"/>
                    </a:solidFill>
                    <a:effectLst/>
                    <a:latin typeface="+mn-lt"/>
                    <a:ea typeface="+mn-ea"/>
                    <a:cs typeface="+mn-cs"/>
                  </a:rPr>
                  <a:t>∣𝐶_𝑘∣</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はその数である。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この平均ベクトルが</a:t>
                </a:r>
                <a:r>
                  <a:rPr lang="ja-JP" altLang="es-MX" sz="1200" b="1" kern="1200" dirty="0">
                    <a:solidFill>
                      <a:schemeClr val="tx1"/>
                    </a:solidFill>
                    <a:effectLst/>
                    <a:latin typeface="+mn-lt"/>
                    <a:ea typeface="+mn-ea"/>
                    <a:cs typeface="+mn-cs"/>
                  </a:rPr>
                  <a:t>新しいセントロイド</a:t>
                </a:r>
                <a:r>
                  <a:rPr lang="ja-JP" altLang="es-MX" sz="1200" kern="1200" dirty="0">
                    <a:solidFill>
                      <a:schemeClr val="tx1"/>
                    </a:solidFill>
                    <a:effectLst/>
                    <a:latin typeface="+mn-lt"/>
                    <a:ea typeface="+mn-ea"/>
                    <a:cs typeface="+mn-cs"/>
                  </a:rPr>
                  <a:t>となる。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つまり、セントロイドはクラスタの</a:t>
                </a:r>
                <a:r>
                  <a:rPr lang="ja-JP" altLang="es-MX" sz="1200" b="1" kern="1200" dirty="0">
                    <a:solidFill>
                      <a:schemeClr val="tx1"/>
                    </a:solidFill>
                    <a:effectLst/>
                    <a:latin typeface="+mn-lt"/>
                    <a:ea typeface="+mn-ea"/>
                    <a:cs typeface="+mn-cs"/>
                  </a:rPr>
                  <a:t>代表的な構造</a:t>
                </a:r>
                <a:r>
                  <a:rPr lang="ja-JP" altLang="es-MX" sz="1200" kern="1200" dirty="0">
                    <a:solidFill>
                      <a:schemeClr val="tx1"/>
                    </a:solidFill>
                    <a:effectLst/>
                    <a:latin typeface="+mn-lt"/>
                    <a:ea typeface="+mn-ea"/>
                    <a:cs typeface="+mn-cs"/>
                  </a:rPr>
                  <a:t>を表すことになる。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その後、次を繰り返す：</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チャンクを</a:t>
                </a:r>
                <a:r>
                  <a:rPr lang="ja-JP" altLang="es-MX" sz="1200" b="1" kern="1200" dirty="0">
                    <a:solidFill>
                      <a:schemeClr val="tx1"/>
                    </a:solidFill>
                    <a:effectLst/>
                    <a:latin typeface="+mn-lt"/>
                    <a:ea typeface="+mn-ea"/>
                    <a:cs typeface="+mn-cs"/>
                  </a:rPr>
                  <a:t>最も近いセントロイドに再割り当て</a:t>
                </a:r>
                <a:r>
                  <a:rPr lang="ja-JP" altLang="es-MX" sz="1200" kern="1200" dirty="0">
                    <a:solidFill>
                      <a:schemeClr val="tx1"/>
                    </a:solidFill>
                    <a:effectLst/>
                    <a:latin typeface="+mn-lt"/>
                    <a:ea typeface="+mn-ea"/>
                    <a:cs typeface="+mn-cs"/>
                  </a:rPr>
                  <a:t>する。</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新しい割り当てに基づいて</a:t>
                </a:r>
                <a:r>
                  <a:rPr lang="ja-JP" altLang="es-MX" sz="1200" b="1" kern="1200" dirty="0">
                    <a:solidFill>
                      <a:schemeClr val="tx1"/>
                    </a:solidFill>
                    <a:effectLst/>
                    <a:latin typeface="+mn-lt"/>
                    <a:ea typeface="+mn-ea"/>
                    <a:cs typeface="+mn-cs"/>
                  </a:rPr>
                  <a:t>セントロイドを再計算</a:t>
                </a:r>
                <a:r>
                  <a:rPr lang="ja-JP" altLang="es-MX" sz="1200" kern="1200" dirty="0">
                    <a:solidFill>
                      <a:schemeClr val="tx1"/>
                    </a:solidFill>
                    <a:effectLst/>
                    <a:latin typeface="+mn-lt"/>
                    <a:ea typeface="+mn-ea"/>
                    <a:cs typeface="+mn-cs"/>
                  </a:rPr>
                  <a:t>する。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このプロセスは、次の条件のいずれかを満たすまで続く：</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割り当てが変わらなくなる、または</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変化が無視できる程度になる。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収束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しゅうそく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すると、クラスタは安定し、セントロイドはデータセット内で</a:t>
                </a:r>
                <a:r>
                  <a:rPr lang="ja-JP" altLang="es-MX" sz="1200" b="1" kern="1200" dirty="0">
                    <a:solidFill>
                      <a:schemeClr val="tx1"/>
                    </a:solidFill>
                    <a:effectLst/>
                    <a:latin typeface="+mn-lt"/>
                    <a:ea typeface="+mn-ea"/>
                    <a:cs typeface="+mn-cs"/>
                  </a:rPr>
                  <a:t>繰り返し現れる構造パターン</a:t>
                </a:r>
                <a:r>
                  <a:rPr lang="ja-JP" altLang="es-MX" sz="1200" kern="1200" dirty="0">
                    <a:solidFill>
                      <a:schemeClr val="tx1"/>
                    </a:solidFill>
                    <a:effectLst/>
                    <a:latin typeface="+mn-lt"/>
                    <a:ea typeface="+mn-ea"/>
                    <a:cs typeface="+mn-cs"/>
                  </a:rPr>
                  <a:t>を表すことになる。」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mc:Fallback>
      </mc:AlternateContent>
      <p:sp>
        <p:nvSpPr>
          <p:cNvPr id="4" name="Slide Number Placeholder 3"/>
          <p:cNvSpPr>
            <a:spLocks noGrp="1"/>
          </p:cNvSpPr>
          <p:nvPr>
            <p:ph type="sldNum" sz="quarter" idx="5"/>
          </p:nvPr>
        </p:nvSpPr>
        <p:spPr/>
        <p:txBody>
          <a:bodyPr/>
          <a:lstStyle/>
          <a:p>
            <a:fld id="{636ADAD4-FFEE-44FE-A51F-559B513FE96F}" type="slidenum">
              <a:rPr lang="es-MX" smtClean="0"/>
              <a:t>17</a:t>
            </a:fld>
            <a:endParaRPr lang="es-MX"/>
          </a:p>
        </p:txBody>
      </p:sp>
    </p:spTree>
    <p:extLst>
      <p:ext uri="{BB962C8B-B14F-4D97-AF65-F5344CB8AC3E}">
        <p14:creationId xmlns:p14="http://schemas.microsoft.com/office/powerpoint/2010/main" val="278684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K-</a:t>
            </a:r>
            <a:r>
              <a:rPr lang="es-MX" sz="1200" kern="1200" dirty="0" err="1">
                <a:solidFill>
                  <a:schemeClr val="tx1"/>
                </a:solidFill>
                <a:effectLst/>
                <a:latin typeface="+mn-lt"/>
                <a:ea typeface="+mn-ea"/>
                <a:cs typeface="+mn-cs"/>
              </a:rPr>
              <a:t>means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の結果として、まず、</a:t>
            </a:r>
            <a:r>
              <a:rPr lang="ja-JP" altLang="es-MX" sz="1200" b="1" kern="1200" dirty="0">
                <a:solidFill>
                  <a:schemeClr val="tx1"/>
                </a:solidFill>
                <a:effectLst/>
                <a:latin typeface="+mn-lt"/>
                <a:ea typeface="+mn-ea"/>
                <a:cs typeface="+mn-cs"/>
              </a:rPr>
              <a:t>各チャンクがどのクラスタに入ったか</a:t>
            </a:r>
            <a:r>
              <a:rPr lang="ja-JP" altLang="es-MX" sz="1200" kern="1200" dirty="0">
                <a:solidFill>
                  <a:schemeClr val="tx1"/>
                </a:solidFill>
                <a:effectLst/>
                <a:latin typeface="+mn-lt"/>
                <a:ea typeface="+mn-ea"/>
                <a:cs typeface="+mn-cs"/>
              </a:rPr>
              <a:t>が分かる。</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そして、</a:t>
            </a:r>
            <a:r>
              <a:rPr lang="ja-JP" altLang="es-MX" sz="1200" b="1" kern="1200" dirty="0">
                <a:solidFill>
                  <a:schemeClr val="tx1"/>
                </a:solidFill>
                <a:effectLst/>
                <a:latin typeface="+mn-lt"/>
                <a:ea typeface="+mn-ea"/>
                <a:cs typeface="+mn-cs"/>
              </a:rPr>
              <a:t>各クラスタのセントロイド</a:t>
            </a:r>
            <a:r>
              <a:rPr lang="ja-JP" altLang="es-MX" sz="1200" kern="1200" dirty="0">
                <a:solidFill>
                  <a:schemeClr val="tx1"/>
                </a:solidFill>
                <a:effectLst/>
                <a:latin typeface="+mn-lt"/>
                <a:ea typeface="+mn-ea"/>
                <a:cs typeface="+mn-cs"/>
              </a:rPr>
              <a:t>も分かる。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これらはその後、いろいろな場面で使える。</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例えば、データセットの</a:t>
            </a:r>
            <a:r>
              <a:rPr lang="ja-JP" altLang="es-MX" sz="1200" b="1" kern="1200" dirty="0">
                <a:solidFill>
                  <a:schemeClr val="tx1"/>
                </a:solidFill>
                <a:effectLst/>
                <a:latin typeface="+mn-lt"/>
                <a:ea typeface="+mn-ea"/>
                <a:cs typeface="+mn-cs"/>
              </a:rPr>
              <a:t>構造の多様性を把握</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はあく</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することや、</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同じようなチャンクの繰り返しを避</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さ</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ける</a:t>
            </a:r>
            <a:r>
              <a:rPr lang="ja-JP" altLang="es-MX" sz="1200" b="0" kern="1200" dirty="0">
                <a:solidFill>
                  <a:schemeClr val="tx1"/>
                </a:solidFill>
                <a:effectLst/>
                <a:latin typeface="+mn-lt"/>
                <a:ea typeface="+mn-ea"/>
                <a:cs typeface="+mn-cs"/>
              </a:rPr>
              <a:t>ことに役立つ。</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さらに、次の</a:t>
            </a:r>
            <a:r>
              <a:rPr lang="ja-JP" altLang="es-MX" sz="1200" b="1" kern="1200" dirty="0">
                <a:solidFill>
                  <a:schemeClr val="tx1"/>
                </a:solidFill>
                <a:effectLst/>
                <a:latin typeface="+mn-lt"/>
                <a:ea typeface="+mn-ea"/>
                <a:cs typeface="+mn-cs"/>
              </a:rPr>
              <a:t>チャンク選択の処理の基盤</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きばん</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としても使える。」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18</a:t>
            </a:fld>
            <a:endParaRPr lang="es-MX"/>
          </a:p>
        </p:txBody>
      </p:sp>
    </p:spTree>
    <p:extLst>
      <p:ext uri="{BB962C8B-B14F-4D97-AF65-F5344CB8AC3E}">
        <p14:creationId xmlns:p14="http://schemas.microsoft.com/office/powerpoint/2010/main" val="2812073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b="1" kern="1200" dirty="0">
                <a:solidFill>
                  <a:schemeClr val="tx1"/>
                </a:solidFill>
                <a:effectLst/>
                <a:latin typeface="+mn-lt"/>
                <a:ea typeface="+mn-ea"/>
                <a:cs typeface="+mn-cs"/>
              </a:rPr>
              <a:t>シャノンエントロピーとは何か？</a:t>
            </a:r>
            <a:r>
              <a:rPr lang="ja-JP" altLang="es-MX" sz="1200" kern="1200" dirty="0">
                <a:solidFill>
                  <a:schemeClr val="tx1"/>
                </a:solidFill>
                <a:effectLst/>
                <a:latin typeface="+mn-lt"/>
                <a:ea typeface="+mn-ea"/>
                <a:cs typeface="+mn-cs"/>
              </a:rPr>
              <a:t> 「簡単に言うと、シャノンエントロピーとは情報の</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予測</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よそく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しにくさ</a:t>
            </a:r>
            <a:r>
              <a:rPr lang="es-MX" altLang="ja-JP" sz="1200"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を測る指標</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しひょう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です</a:t>
            </a:r>
            <a:endParaRPr lang="es-MX" altLang="ja-JP" sz="1200" b="1" kern="1200" dirty="0">
              <a:solidFill>
                <a:schemeClr val="tx1"/>
              </a:solidFill>
              <a:effectLst/>
              <a:latin typeface="+mn-lt"/>
              <a:ea typeface="+mn-ea"/>
              <a:cs typeface="+mn-cs"/>
            </a:endParaRPr>
          </a:p>
          <a:p>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「エントロピーが高いほど、そのチャンクには多様で独自</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どくじ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の情報を多く含まれていることがわかります。逆に、エントロピーが低いチャンクは内容が重複</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じゅうふく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している可能性が高いです。これを利用することで、</a:t>
            </a:r>
            <a:r>
              <a:rPr lang="es-MX" sz="1200" kern="1200" dirty="0" err="1">
                <a:solidFill>
                  <a:schemeClr val="tx1"/>
                </a:solidFill>
                <a:effectLst/>
                <a:latin typeface="+mn-lt"/>
                <a:ea typeface="+mn-ea"/>
                <a:cs typeface="+mn-cs"/>
              </a:rPr>
              <a:t>FastRAG</a:t>
            </a:r>
            <a:r>
              <a:rPr lang="ja-JP" altLang="es-MX" sz="1200" kern="1200" dirty="0">
                <a:solidFill>
                  <a:schemeClr val="tx1"/>
                </a:solidFill>
                <a:effectLst/>
                <a:latin typeface="+mn-lt"/>
                <a:ea typeface="+mn-ea"/>
                <a:cs typeface="+mn-cs"/>
              </a:rPr>
              <a:t>はより効率的に</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情報の密度が高いチャンク</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を特定し、検索の精度とスピードを向上させているのです。」</a:t>
            </a:r>
            <a:endParaRPr lang="es-MX" sz="1200" kern="1200" dirty="0">
              <a:solidFill>
                <a:schemeClr val="tx1"/>
              </a:solidFill>
              <a:effectLst/>
              <a:latin typeface="+mn-lt"/>
              <a:ea typeface="+mn-ea"/>
              <a:cs typeface="+mn-cs"/>
            </a:endParaRP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19</a:t>
            </a:fld>
            <a:endParaRPr lang="es-MX"/>
          </a:p>
        </p:txBody>
      </p:sp>
    </p:spTree>
    <p:extLst>
      <p:ext uri="{BB962C8B-B14F-4D97-AF65-F5344CB8AC3E}">
        <p14:creationId xmlns:p14="http://schemas.microsoft.com/office/powerpoint/2010/main" val="25568232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それで、</a:t>
            </a:r>
            <a:r>
              <a:rPr lang="es-MX" sz="1200" kern="1200" dirty="0" err="1">
                <a:solidFill>
                  <a:schemeClr val="tx1"/>
                </a:solidFill>
                <a:effectLst/>
                <a:latin typeface="+mn-lt"/>
                <a:ea typeface="+mn-ea"/>
                <a:cs typeface="+mn-cs"/>
              </a:rPr>
              <a:t>shannon</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entropy</a:t>
            </a:r>
            <a:r>
              <a:rPr lang="ja-JP" altLang="es-MX" sz="1200" kern="1200" dirty="0">
                <a:solidFill>
                  <a:schemeClr val="tx1"/>
                </a:solidFill>
                <a:effectLst/>
                <a:latin typeface="+mn-lt"/>
                <a:ea typeface="+mn-ea"/>
                <a:cs typeface="+mn-cs"/>
              </a:rPr>
              <a:t>の式について説明します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まず、 ｐｉについてです。これは各キーワードの出現</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しゅつげん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確率、つまり</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そのチャンク内の全単語数に対する、特定のキーワードの出現回数</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です。この分布を見ることで、チャンクがどれほど</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バランスが良いか</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がわかります。同じ単語ばかりが繰り返されているのか、あるいは多様な言葉が含まれているのかを判断します。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「次に</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驚き</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の要素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ようそ</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です。なぜここで（</a:t>
            </a:r>
            <a:r>
              <a:rPr lang="es-MX" sz="1200" kern="1200" dirty="0">
                <a:solidFill>
                  <a:schemeClr val="tx1"/>
                </a:solidFill>
                <a:effectLst/>
                <a:latin typeface="+mn-lt"/>
                <a:ea typeface="+mn-ea"/>
                <a:cs typeface="+mn-cs"/>
              </a:rPr>
              <a:t>log</a:t>
            </a:r>
            <a:r>
              <a:rPr lang="ja-JP" altLang="es-MX" sz="1200" kern="1200" dirty="0">
                <a:solidFill>
                  <a:schemeClr val="tx1"/>
                </a:solidFill>
                <a:effectLst/>
                <a:latin typeface="+mn-lt"/>
                <a:ea typeface="+mn-ea"/>
                <a:cs typeface="+mn-cs"/>
              </a:rPr>
              <a:t>）を使うのでしょうか？ 数学的な理由は、情報を</a:t>
            </a:r>
            <a:r>
              <a:rPr lang="es-MX" altLang="ja-JP" sz="1200" kern="1200" dirty="0">
                <a:solidFill>
                  <a:schemeClr val="tx1"/>
                </a:solidFill>
                <a:effectLst/>
                <a:latin typeface="+mn-lt"/>
                <a:ea typeface="+mn-ea"/>
                <a:cs typeface="+mn-cs"/>
              </a:rPr>
              <a:t>『</a:t>
            </a:r>
            <a:r>
              <a:rPr lang="es-MX" sz="1200" kern="1200" dirty="0" err="1">
                <a:solidFill>
                  <a:schemeClr val="tx1"/>
                </a:solidFill>
                <a:effectLst/>
                <a:latin typeface="+mn-lt"/>
                <a:ea typeface="+mn-ea"/>
                <a:cs typeface="+mn-cs"/>
              </a:rPr>
              <a:t>addictive</a:t>
            </a:r>
            <a:r>
              <a:rPr lang="es-MX" altLang="ja-JP"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で扱</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あつか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いたいからです。</a:t>
            </a:r>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つの独立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どくりつ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した出来事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できごと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が起きる確率は掛</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ざん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になりますが、得られる</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情報量</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は足し算になるべきです。対数を使うことで掛</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け算を足し算に変換でき、チャンク全体の情報を合計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ごうけい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できるようになります。</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珍しい単語</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あたい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が高い（大きな驚き）</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よく出る単語</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値が低い（小さな驚き）」</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3. </a:t>
            </a:r>
            <a:r>
              <a:rPr lang="ja-JP" altLang="es-MX" sz="1200" kern="1200" dirty="0">
                <a:solidFill>
                  <a:schemeClr val="tx1"/>
                </a:solidFill>
                <a:effectLst/>
                <a:latin typeface="+mn-lt"/>
                <a:ea typeface="+mn-ea"/>
                <a:cs typeface="+mn-cs"/>
              </a:rPr>
              <a:t>なぜ「底が</a:t>
            </a:r>
            <a:r>
              <a:rPr lang="es-MX" sz="1200" kern="1200" dirty="0">
                <a:solidFill>
                  <a:schemeClr val="tx1"/>
                </a:solidFill>
                <a:effectLst/>
                <a:latin typeface="+mn-lt"/>
                <a:ea typeface="+mn-ea"/>
                <a:cs typeface="+mn-cs"/>
              </a:rPr>
              <a:t> 2</a:t>
            </a:r>
            <a:r>
              <a:rPr lang="ja-JP" altLang="es-MX" sz="1200" kern="1200" dirty="0">
                <a:solidFill>
                  <a:schemeClr val="tx1"/>
                </a:solidFill>
                <a:effectLst/>
                <a:latin typeface="+mn-lt"/>
                <a:ea typeface="+mn-ea"/>
                <a:cs typeface="+mn-cs"/>
              </a:rPr>
              <a:t>」なのか？</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対数の底（てい）に </a:t>
            </a:r>
            <a:r>
              <a:rPr lang="es-MX" sz="1200" kern="1200" dirty="0">
                <a:solidFill>
                  <a:schemeClr val="tx1"/>
                </a:solidFill>
                <a:effectLst/>
                <a:latin typeface="+mn-lt"/>
                <a:ea typeface="+mn-ea"/>
                <a:cs typeface="+mn-cs"/>
              </a:rPr>
              <a:t>2 </a:t>
            </a:r>
            <a:r>
              <a:rPr lang="ja-JP" altLang="es-MX" sz="1200" kern="1200" dirty="0">
                <a:solidFill>
                  <a:schemeClr val="tx1"/>
                </a:solidFill>
                <a:effectLst/>
                <a:latin typeface="+mn-lt"/>
                <a:ea typeface="+mn-ea"/>
                <a:cs typeface="+mn-cs"/>
              </a:rPr>
              <a:t>を使うのは、情報を</a:t>
            </a:r>
            <a:r>
              <a:rPr lang="es-MX" sz="1200" kern="1200" dirty="0">
                <a:solidFill>
                  <a:schemeClr val="tx1"/>
                </a:solidFill>
                <a:effectLst/>
                <a:latin typeface="+mn-lt"/>
                <a:ea typeface="+mn-ea"/>
                <a:cs typeface="+mn-cs"/>
              </a:rPr>
              <a:t>**</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ビット</a:t>
            </a:r>
            <a:r>
              <a:rPr lang="es-MX" altLang="ja-JP"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で測るためです。</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ビットは</a:t>
            </a:r>
            <a:r>
              <a:rPr lang="es-MX" altLang="ja-JP"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Yes</a:t>
            </a:r>
            <a:r>
              <a:rPr lang="ja-JP" altLang="es-MX" sz="1200" kern="1200" dirty="0">
                <a:solidFill>
                  <a:schemeClr val="tx1"/>
                </a:solidFill>
                <a:effectLst/>
                <a:latin typeface="+mn-lt"/>
                <a:ea typeface="+mn-ea"/>
                <a:cs typeface="+mn-cs"/>
              </a:rPr>
              <a:t>か</a:t>
            </a:r>
            <a:r>
              <a:rPr lang="es-MX" sz="1200" kern="1200" dirty="0">
                <a:solidFill>
                  <a:schemeClr val="tx1"/>
                </a:solidFill>
                <a:effectLst/>
                <a:latin typeface="+mn-lt"/>
                <a:ea typeface="+mn-ea"/>
                <a:cs typeface="+mn-cs"/>
              </a:rPr>
              <a:t>No</a:t>
            </a:r>
            <a:r>
              <a:rPr lang="ja-JP" altLang="es-MX" sz="1200" kern="1200" dirty="0">
                <a:solidFill>
                  <a:schemeClr val="tx1"/>
                </a:solidFill>
                <a:effectLst/>
                <a:latin typeface="+mn-lt"/>
                <a:ea typeface="+mn-ea"/>
                <a:cs typeface="+mn-cs"/>
              </a:rPr>
              <a:t>か</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という</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つの判断に相当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そうとう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します。つまり、エントロピーはその単語を特定するために必要な</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平均的な判断</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はんだん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回数</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かいすう</a:t>
            </a:r>
            <a:r>
              <a:rPr lang="es-MX" sz="1200" kern="1200" dirty="0">
                <a:solidFill>
                  <a:schemeClr val="tx1"/>
                </a:solidFill>
                <a:effectLst/>
                <a:latin typeface="+mn-lt"/>
                <a:ea typeface="+mn-ea"/>
                <a:cs typeface="+mn-cs"/>
              </a:rPr>
              <a:t>)</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を表しているのです。」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「最後に、</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驚き</a:t>
            </a:r>
            <a:r>
              <a:rPr lang="es-MX" sz="1200" kern="1200" dirty="0">
                <a:solidFill>
                  <a:schemeClr val="tx1"/>
                </a:solidFill>
                <a:effectLst/>
                <a:latin typeface="+mn-lt"/>
                <a:ea typeface="+mn-ea"/>
                <a:cs typeface="+mn-cs"/>
              </a:rPr>
              <a:t> ()</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頻度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ひんど</a:t>
            </a:r>
            <a:r>
              <a:rPr lang="es-MX" sz="1200" kern="1200" dirty="0">
                <a:solidFill>
                  <a:schemeClr val="tx1"/>
                </a:solidFill>
                <a:effectLst/>
                <a:latin typeface="+mn-lt"/>
                <a:ea typeface="+mn-ea"/>
                <a:cs typeface="+mn-cs"/>
              </a:rPr>
              <a:t>) ()</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を掛</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け合わせます。 なぜなら、いくら驚くような単語でも、めったに出現しなければチャンク全体の特徴とは言えないからです。 Ｐｉを掛けることで、頻出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ひんしゅつ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する単語に適切な重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おも</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みを与えます。これにより、単なる珍しい単語に惑</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まど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わされることなく、チャンク全体の真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の情報密度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みつど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の平均を算出できるのです。」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20</a:t>
            </a:fld>
            <a:endParaRPr lang="es-MX"/>
          </a:p>
        </p:txBody>
      </p:sp>
    </p:spTree>
    <p:extLst>
      <p:ext uri="{BB962C8B-B14F-4D97-AF65-F5344CB8AC3E}">
        <p14:creationId xmlns:p14="http://schemas.microsoft.com/office/powerpoint/2010/main" val="735700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では、実際のチャンクがどう見えるか比較してみましょう。</a:t>
            </a:r>
            <a:endParaRPr lang="es-MX" sz="1200" kern="1200" dirty="0">
              <a:solidFill>
                <a:schemeClr val="tx1"/>
              </a:solidFill>
              <a:effectLst/>
              <a:latin typeface="+mn-lt"/>
              <a:ea typeface="+mn-ea"/>
              <a:cs typeface="+mn-cs"/>
            </a:endParaRPr>
          </a:p>
          <a:p>
            <a:r>
              <a:rPr lang="es-MX" sz="1200" b="1" kern="1200" dirty="0">
                <a:solidFill>
                  <a:schemeClr val="tx1"/>
                </a:solidFill>
                <a:effectLst/>
                <a:latin typeface="+mn-lt"/>
                <a:ea typeface="+mn-ea"/>
                <a:cs typeface="+mn-cs"/>
              </a:rPr>
              <a:t> </a:t>
            </a:r>
            <a:endParaRPr lang="es-MX" sz="1200" kern="1200" dirty="0">
              <a:solidFill>
                <a:schemeClr val="tx1"/>
              </a:solidFill>
              <a:effectLst/>
              <a:latin typeface="+mn-lt"/>
              <a:ea typeface="+mn-ea"/>
              <a:cs typeface="+mn-cs"/>
            </a:endParaRPr>
          </a:p>
          <a:p>
            <a:r>
              <a:rPr lang="ja-JP" altLang="es-MX" sz="1200" b="1" kern="1200" dirty="0">
                <a:solidFill>
                  <a:schemeClr val="tx1"/>
                </a:solidFill>
                <a:effectLst/>
                <a:latin typeface="+mn-lt"/>
                <a:ea typeface="+mn-ea"/>
                <a:cs typeface="+mn-cs"/>
              </a:rPr>
              <a:t>まずは、低エントロピーです。</a:t>
            </a:r>
            <a:r>
              <a:rPr lang="ja-JP" altLang="es-MX" sz="1200" kern="1200" dirty="0">
                <a:solidFill>
                  <a:schemeClr val="tx1"/>
                </a:solidFill>
                <a:effectLst/>
                <a:latin typeface="+mn-lt"/>
                <a:ea typeface="+mn-ea"/>
                <a:cs typeface="+mn-cs"/>
              </a:rPr>
              <a:t> これは一言で言うと</a:t>
            </a:r>
            <a:r>
              <a:rPr lang="es-MX" sz="1200" kern="1200" dirty="0">
                <a:solidFill>
                  <a:schemeClr val="tx1"/>
                </a:solidFill>
                <a:effectLst/>
                <a:latin typeface="+mn-lt"/>
                <a:ea typeface="+mn-ea"/>
                <a:cs typeface="+mn-cs"/>
              </a:rPr>
              <a:t>**</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予測しやすい</a:t>
            </a:r>
            <a:r>
              <a:rPr lang="es-MX" altLang="ja-JP" sz="1200" kern="1200" dirty="0">
                <a:solidFill>
                  <a:schemeClr val="tx1"/>
                </a:solidFill>
                <a:effectLst/>
                <a:latin typeface="+mn-lt"/>
                <a:ea typeface="+mn-ea"/>
                <a:cs typeface="+mn-cs"/>
              </a:rPr>
              <a:t>』</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チャンクです。 特定のキーワードばかりが使われていて、構造が単調です。繰り返しが多いため、次に何がくるか簡単に予測できてしまいます。つまり、独自</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どくじ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の情報量は少ないと言えます。</a:t>
            </a:r>
            <a:endParaRPr lang="es-MX" sz="1200" kern="1200" dirty="0">
              <a:solidFill>
                <a:schemeClr val="tx1"/>
              </a:solidFill>
              <a:effectLst/>
              <a:latin typeface="+mn-lt"/>
              <a:ea typeface="+mn-ea"/>
              <a:cs typeface="+mn-cs"/>
            </a:endParaRPr>
          </a:p>
          <a:p>
            <a:r>
              <a:rPr lang="es-MX" sz="1200" b="1" kern="1200" dirty="0">
                <a:solidFill>
                  <a:schemeClr val="tx1"/>
                </a:solidFill>
                <a:effectLst/>
                <a:latin typeface="+mn-lt"/>
                <a:ea typeface="+mn-ea"/>
                <a:cs typeface="+mn-cs"/>
              </a:rPr>
              <a:t> </a:t>
            </a:r>
            <a:endParaRPr lang="es-MX" sz="1200" kern="1200" dirty="0">
              <a:solidFill>
                <a:schemeClr val="tx1"/>
              </a:solidFill>
              <a:effectLst/>
              <a:latin typeface="+mn-lt"/>
              <a:ea typeface="+mn-ea"/>
              <a:cs typeface="+mn-cs"/>
            </a:endParaRPr>
          </a:p>
          <a:p>
            <a:r>
              <a:rPr lang="ja-JP" altLang="es-MX" sz="1200" b="1" kern="1200" dirty="0">
                <a:solidFill>
                  <a:schemeClr val="tx1"/>
                </a:solidFill>
                <a:effectLst/>
                <a:latin typeface="+mn-lt"/>
                <a:ea typeface="+mn-ea"/>
                <a:cs typeface="+mn-cs"/>
              </a:rPr>
              <a:t>次に、高エントロピーです。</a:t>
            </a:r>
            <a:r>
              <a:rPr lang="ja-JP" altLang="es-MX" sz="1200" kern="1200" dirty="0">
                <a:solidFill>
                  <a:schemeClr val="tx1"/>
                </a:solidFill>
                <a:effectLst/>
                <a:latin typeface="+mn-lt"/>
                <a:ea typeface="+mn-ea"/>
                <a:cs typeface="+mn-cs"/>
              </a:rPr>
              <a:t> こちらは</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情報が豊かな</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チャンクです。 多くの異なるキーワードが含まれており、構造が豊かです。予測しにくいのが特徴ですが、その</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予測しにくさ</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こそが、情報密度が高いというサインなのです。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まとめると、低エントロピーは</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単調</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たんちょう</a:t>
            </a:r>
            <a:r>
              <a:rPr lang="es-MX" sz="1200" kern="1200" dirty="0">
                <a:solidFill>
                  <a:schemeClr val="tx1"/>
                </a:solidFill>
                <a:effectLst/>
                <a:latin typeface="+mn-lt"/>
                <a:ea typeface="+mn-ea"/>
                <a:cs typeface="+mn-cs"/>
              </a:rPr>
              <a:t>)</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、高エントロピーは</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多様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たよう</a:t>
            </a:r>
            <a:r>
              <a:rPr lang="es-MX" sz="1200" kern="1200" dirty="0">
                <a:solidFill>
                  <a:schemeClr val="tx1"/>
                </a:solidFill>
                <a:effectLst/>
                <a:latin typeface="+mn-lt"/>
                <a:ea typeface="+mn-ea"/>
                <a:cs typeface="+mn-cs"/>
              </a:rPr>
              <a:t>)</a:t>
            </a:r>
            <a:r>
              <a:rPr lang="es-MX" altLang="ja-JP"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ということになります。」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21</a:t>
            </a:fld>
            <a:endParaRPr lang="es-MX"/>
          </a:p>
        </p:txBody>
      </p:sp>
    </p:spTree>
    <p:extLst>
      <p:ext uri="{BB962C8B-B14F-4D97-AF65-F5344CB8AC3E}">
        <p14:creationId xmlns:p14="http://schemas.microsoft.com/office/powerpoint/2010/main" val="1062227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s-MX" sz="1200" kern="1200" dirty="0">
                <a:solidFill>
                  <a:schemeClr val="tx1"/>
                </a:solidFill>
                <a:effectLst/>
                <a:latin typeface="+mn-lt"/>
                <a:ea typeface="+mn-ea"/>
                <a:cs typeface="+mn-cs"/>
              </a:rPr>
              <a:t>前処理が終わったところで、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ここから</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FastRAG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の中核となる </a:t>
            </a:r>
            <a:r>
              <a:rPr lang="ja-JP" altLang="es-MX" sz="1200" b="1" kern="1200" dirty="0">
                <a:solidFill>
                  <a:schemeClr val="tx1"/>
                </a:solidFill>
                <a:effectLst/>
                <a:latin typeface="+mn-lt"/>
                <a:ea typeface="+mn-ea"/>
                <a:cs typeface="+mn-cs"/>
              </a:rPr>
              <a:t>アルゴリズム</a:t>
            </a:r>
            <a:r>
              <a:rPr lang="ja-JP" altLang="es-MX" sz="1200" kern="1200" dirty="0">
                <a:solidFill>
                  <a:schemeClr val="tx1"/>
                </a:solidFill>
                <a:effectLst/>
                <a:latin typeface="+mn-lt"/>
                <a:ea typeface="+mn-ea"/>
                <a:cs typeface="+mn-cs"/>
              </a:rPr>
              <a:t> に入ります。</a:t>
            </a:r>
            <a:endParaRPr lang="es-MX" sz="1200" kern="1200" dirty="0">
              <a:solidFill>
                <a:schemeClr val="tx1"/>
              </a:solidFill>
              <a:effectLst/>
              <a:latin typeface="+mn-lt"/>
              <a:ea typeface="+mn-ea"/>
              <a:cs typeface="+mn-cs"/>
            </a:endParaRP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22</a:t>
            </a:fld>
            <a:endParaRPr lang="es-MX"/>
          </a:p>
        </p:txBody>
      </p:sp>
    </p:spTree>
    <p:extLst>
      <p:ext uri="{BB962C8B-B14F-4D97-AF65-F5344CB8AC3E}">
        <p14:creationId xmlns:p14="http://schemas.microsoft.com/office/powerpoint/2010/main" val="5420628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このアルゴリズムの目的は、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非常に大規模な半構造化</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はんこうぞうか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データセットの中から</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少数</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しょうすう</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の重要なチャンクを選択すること</a:t>
            </a:r>
            <a:r>
              <a:rPr lang="ja-JP" altLang="es-MX" sz="1200" b="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選ばれるチャンクはランダムではありません。</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それらは全体として、</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できるだけ多くの </a:t>
            </a:r>
            <a:r>
              <a:rPr lang="ja-JP" altLang="es-MX" sz="1200" b="1" kern="1200" dirty="0">
                <a:solidFill>
                  <a:schemeClr val="tx1"/>
                </a:solidFill>
                <a:effectLst/>
                <a:latin typeface="+mn-lt"/>
                <a:ea typeface="+mn-ea"/>
                <a:cs typeface="+mn-cs"/>
              </a:rPr>
              <a:t>キーワードを被覆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ひふく</a:t>
            </a:r>
            <a:r>
              <a:rPr lang="es-MX" sz="1200" b="1" kern="1200" dirty="0">
                <a:solidFill>
                  <a:schemeClr val="tx1"/>
                </a:solidFill>
                <a:effectLst/>
                <a:latin typeface="+mn-lt"/>
                <a:ea typeface="+mn-ea"/>
                <a:cs typeface="+mn-cs"/>
              </a:rPr>
              <a:t>)</a:t>
            </a:r>
            <a:r>
              <a:rPr lang="ja-JP" altLang="es-MX" sz="1200" b="1" kern="1200" dirty="0">
                <a:solidFill>
                  <a:schemeClr val="tx1"/>
                </a:solidFill>
                <a:effectLst/>
                <a:latin typeface="+mn-lt"/>
                <a:ea typeface="+mn-ea"/>
                <a:cs typeface="+mn-cs"/>
              </a:rPr>
              <a:t>し</a:t>
            </a:r>
            <a:r>
              <a:rPr lang="ja-JP" altLang="es-MX" sz="1200" b="0" kern="1200" dirty="0">
                <a:solidFill>
                  <a:schemeClr val="tx1"/>
                </a:solidFill>
                <a:effectLst/>
                <a:latin typeface="+mn-lt"/>
                <a:ea typeface="+mn-ea"/>
                <a:cs typeface="+mn-cs"/>
              </a:rPr>
              <a:t>、</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情報量と構造的多様性が </a:t>
            </a:r>
            <a:r>
              <a:rPr lang="ja-JP" altLang="es-MX" sz="1200" b="1" kern="1200" dirty="0">
                <a:solidFill>
                  <a:schemeClr val="tx1"/>
                </a:solidFill>
                <a:effectLst/>
                <a:latin typeface="+mn-lt"/>
                <a:ea typeface="+mn-ea"/>
                <a:cs typeface="+mn-cs"/>
              </a:rPr>
              <a:t>高くなる</a:t>
            </a:r>
            <a:r>
              <a:rPr lang="ja-JP" altLang="es-MX" sz="1200" kern="1200" dirty="0">
                <a:solidFill>
                  <a:schemeClr val="tx1"/>
                </a:solidFill>
                <a:effectLst/>
                <a:latin typeface="+mn-lt"/>
                <a:ea typeface="+mn-ea"/>
                <a:cs typeface="+mn-cs"/>
              </a:rPr>
              <a:t> ように選択されます。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そして、選択されたチャンクだけが、</a:t>
            </a:r>
            <a:endParaRPr lang="es-MX" sz="1200" kern="1200" dirty="0">
              <a:solidFill>
                <a:schemeClr val="tx1"/>
              </a:solidFill>
              <a:effectLst/>
              <a:latin typeface="+mn-lt"/>
              <a:ea typeface="+mn-ea"/>
              <a:cs typeface="+mn-cs"/>
            </a:endParaRPr>
          </a:p>
          <a:p>
            <a:pPr lvl="0"/>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への入力として使用され、</a:t>
            </a:r>
            <a:endParaRPr lang="es-MX" sz="1200" kern="1200" dirty="0">
              <a:solidFill>
                <a:schemeClr val="tx1"/>
              </a:solidFill>
              <a:effectLst/>
              <a:latin typeface="+mn-lt"/>
              <a:ea typeface="+mn-ea"/>
              <a:cs typeface="+mn-cs"/>
            </a:endParaRPr>
          </a:p>
          <a:p>
            <a:pPr lvl="0"/>
            <a:r>
              <a:rPr lang="ja-JP" altLang="es-MX" sz="1200" b="1" kern="1200" dirty="0">
                <a:solidFill>
                  <a:schemeClr val="tx1"/>
                </a:solidFill>
                <a:effectLst/>
                <a:latin typeface="+mn-lt"/>
                <a:ea typeface="+mn-ea"/>
                <a:cs typeface="+mn-cs"/>
              </a:rPr>
              <a:t>スキーマ学習</a:t>
            </a:r>
            <a:r>
              <a:rPr lang="ja-JP" altLang="es-MX" sz="1200" kern="1200" dirty="0">
                <a:solidFill>
                  <a:schemeClr val="tx1"/>
                </a:solidFill>
                <a:effectLst/>
                <a:latin typeface="+mn-lt"/>
                <a:ea typeface="+mn-ea"/>
                <a:cs typeface="+mn-cs"/>
              </a:rPr>
              <a:t> と </a:t>
            </a:r>
            <a:r>
              <a:rPr lang="ja-JP" altLang="es-MX" sz="1200" b="1" kern="1200" dirty="0">
                <a:solidFill>
                  <a:schemeClr val="tx1"/>
                </a:solidFill>
                <a:effectLst/>
                <a:latin typeface="+mn-lt"/>
                <a:ea typeface="+mn-ea"/>
                <a:cs typeface="+mn-cs"/>
              </a:rPr>
              <a:t>スクリプト学習</a:t>
            </a:r>
            <a:r>
              <a:rPr lang="ja-JP" altLang="es-MX" sz="1200" kern="1200" dirty="0">
                <a:solidFill>
                  <a:schemeClr val="tx1"/>
                </a:solidFill>
                <a:effectLst/>
                <a:latin typeface="+mn-lt"/>
                <a:ea typeface="+mn-ea"/>
                <a:cs typeface="+mn-cs"/>
              </a:rPr>
              <a:t> に利用されます。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この選択を効率的に行うために、</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アルゴリズムは </a:t>
            </a:r>
            <a:r>
              <a:rPr lang="es-MX" sz="1200" b="1" kern="1200" dirty="0" err="1">
                <a:solidFill>
                  <a:schemeClr val="tx1"/>
                </a:solidFill>
                <a:effectLst/>
                <a:latin typeface="+mn-lt"/>
                <a:ea typeface="+mn-ea"/>
                <a:cs typeface="+mn-cs"/>
              </a:rPr>
              <a:t>Greedy</a:t>
            </a:r>
            <a:r>
              <a:rPr lang="ja-JP" altLang="es-MX" sz="1200" kern="1200" dirty="0">
                <a:solidFill>
                  <a:schemeClr val="tx1"/>
                </a:solidFill>
                <a:effectLst/>
                <a:latin typeface="+mn-lt"/>
                <a:ea typeface="+mn-ea"/>
                <a:cs typeface="+mn-cs"/>
              </a:rPr>
              <a:t>を採用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さいよう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各ステップで、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「その時点で最も効果</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の高いチャンク」、</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つまり、</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新しいキーワードを多く含み、</a:t>
            </a:r>
            <a:endParaRPr lang="es-MX" sz="1200" kern="1200" dirty="0">
              <a:solidFill>
                <a:schemeClr val="tx1"/>
              </a:solidFill>
              <a:effectLst/>
              <a:latin typeface="+mn-lt"/>
              <a:ea typeface="+mn-ea"/>
              <a:cs typeface="+mn-cs"/>
            </a:endParaRPr>
          </a:p>
          <a:p>
            <a:pPr lvl="0"/>
            <a:r>
              <a:rPr lang="ja-JP" altLang="es-MX" sz="1200" kern="1200" dirty="0">
                <a:solidFill>
                  <a:schemeClr val="tx1"/>
                </a:solidFill>
                <a:effectLst/>
                <a:latin typeface="+mn-lt"/>
                <a:ea typeface="+mn-ea"/>
                <a:cs typeface="+mn-cs"/>
              </a:rPr>
              <a:t>エントロピーが高いチャンク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を選択します。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全体の最適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さいてき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解</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を一度に探すのではなく、</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段階的に被覆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と情報の質を高めていくことで、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計算コストを抑</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おさ</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えつつ高い性能を実現します。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このようにして</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FastRAG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構造の被覆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ひふく</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 </a:t>
            </a:r>
            <a:r>
              <a:rPr lang="ja-JP" altLang="es-MX" sz="1200" b="1" kern="1200" dirty="0">
                <a:solidFill>
                  <a:schemeClr val="tx1"/>
                </a:solidFill>
                <a:effectLst/>
                <a:latin typeface="+mn-lt"/>
                <a:ea typeface="+mn-ea"/>
                <a:cs typeface="+mn-cs"/>
              </a:rPr>
              <a:t>情報の質</a:t>
            </a:r>
            <a:r>
              <a:rPr lang="ja-JP" altLang="es-MX" sz="1200" kern="1200" dirty="0">
                <a:solidFill>
                  <a:schemeClr val="tx1"/>
                </a:solidFill>
                <a:effectLst/>
                <a:latin typeface="+mn-lt"/>
                <a:ea typeface="+mn-ea"/>
                <a:cs typeface="+mn-cs"/>
              </a:rPr>
              <a:t> を両立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りょうりつ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大規模データに対しても効率的に機能します。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23</a:t>
            </a:fld>
            <a:endParaRPr lang="es-MX"/>
          </a:p>
        </p:txBody>
      </p:sp>
    </p:spTree>
    <p:extLst>
      <p:ext uri="{BB962C8B-B14F-4D97-AF65-F5344CB8AC3E}">
        <p14:creationId xmlns:p14="http://schemas.microsoft.com/office/powerpoint/2010/main" val="2677960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ここからは、アルゴリズムの </a:t>
            </a:r>
            <a:r>
              <a:rPr lang="ja-JP" altLang="es-MX" sz="1200" b="1" kern="1200" dirty="0">
                <a:solidFill>
                  <a:schemeClr val="tx1"/>
                </a:solidFill>
                <a:effectLst/>
                <a:latin typeface="+mn-lt"/>
                <a:ea typeface="+mn-ea"/>
                <a:cs typeface="+mn-cs"/>
              </a:rPr>
              <a:t>入力と初期状態</a:t>
            </a:r>
            <a:r>
              <a:rPr lang="ja-JP" altLang="es-MX" sz="1200" kern="1200" dirty="0">
                <a:solidFill>
                  <a:schemeClr val="tx1"/>
                </a:solidFill>
                <a:effectLst/>
                <a:latin typeface="+mn-lt"/>
                <a:ea typeface="+mn-ea"/>
                <a:cs typeface="+mn-cs"/>
              </a:rPr>
              <a:t> について簡単に整理します。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このアルゴリズムの入力は、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chunks</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keywords</a:t>
            </a:r>
            <a:r>
              <a:rPr lang="ja-JP" altLang="es-MX" sz="1200" b="1" kern="1200" dirty="0">
                <a:solidFill>
                  <a:schemeClr val="tx1"/>
                </a:solidFill>
                <a:effectLst/>
                <a:latin typeface="+mn-lt"/>
                <a:ea typeface="+mn-ea"/>
                <a:cs typeface="+mn-cs"/>
              </a:rPr>
              <a:t>、</a:t>
            </a:r>
            <a:r>
              <a:rPr lang="es-MX" sz="1200" b="1" kern="1200" dirty="0" err="1">
                <a:solidFill>
                  <a:schemeClr val="tx1"/>
                </a:solidFill>
                <a:effectLst/>
                <a:latin typeface="+mn-lt"/>
                <a:ea typeface="+mn-ea"/>
                <a:cs typeface="+mn-cs"/>
              </a:rPr>
              <a:t>threshold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の</a:t>
            </a:r>
            <a:r>
              <a:rPr lang="es-MX" sz="1200" kern="1200" dirty="0">
                <a:solidFill>
                  <a:schemeClr val="tx1"/>
                </a:solidFill>
                <a:effectLst/>
                <a:latin typeface="+mn-lt"/>
                <a:ea typeface="+mn-ea"/>
                <a:cs typeface="+mn-cs"/>
              </a:rPr>
              <a:t>3</a:t>
            </a:r>
            <a:r>
              <a:rPr lang="ja-JP" altLang="es-MX" sz="1200" kern="1200" dirty="0">
                <a:solidFill>
                  <a:schemeClr val="tx1"/>
                </a:solidFill>
                <a:effectLst/>
                <a:latin typeface="+mn-lt"/>
                <a:ea typeface="+mn-ea"/>
                <a:cs typeface="+mn-cs"/>
              </a:rPr>
              <a:t>つです。</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chunks</a:t>
            </a:r>
            <a:r>
              <a:rPr lang="ja-JP" altLang="es-MX" sz="1200" kern="1200" dirty="0">
                <a:solidFill>
                  <a:schemeClr val="tx1"/>
                </a:solidFill>
                <a:effectLst/>
                <a:latin typeface="+mn-lt"/>
                <a:ea typeface="+mn-ea"/>
                <a:cs typeface="+mn-cs"/>
              </a:rPr>
              <a:t>、キーワード化、</a:t>
            </a:r>
            <a:r>
              <a:rPr lang="es-MX" sz="1200" kern="1200" dirty="0">
                <a:solidFill>
                  <a:schemeClr val="tx1"/>
                </a:solidFill>
                <a:effectLst/>
                <a:latin typeface="+mn-lt"/>
                <a:ea typeface="+mn-ea"/>
                <a:cs typeface="+mn-cs"/>
              </a:rPr>
              <a:t>TF-IDF</a:t>
            </a:r>
            <a:r>
              <a:rPr lang="ja-JP" altLang="es-MX" sz="1200" kern="1200" dirty="0">
                <a:solidFill>
                  <a:schemeClr val="tx1"/>
                </a:solidFill>
                <a:effectLst/>
                <a:latin typeface="+mn-lt"/>
                <a:ea typeface="+mn-ea"/>
                <a:cs typeface="+mn-cs"/>
              </a:rPr>
              <a:t>、エントロピーについては、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すでに前のスライドで説明しました。</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ここで新しく定義されるのが、</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n_chunks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 </a:t>
            </a:r>
            <a:r>
              <a:rPr lang="es-MX" sz="1200" b="1" kern="1200" dirty="0" err="1">
                <a:solidFill>
                  <a:schemeClr val="tx1"/>
                </a:solidFill>
                <a:effectLst/>
                <a:latin typeface="+mn-lt"/>
                <a:ea typeface="+mn-ea"/>
                <a:cs typeface="+mn-cs"/>
              </a:rPr>
              <a:t>n_terms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これらは</a:t>
            </a:r>
            <a:r>
              <a:rPr lang="es-MX" sz="1200" kern="1200" dirty="0">
                <a:solidFill>
                  <a:schemeClr val="tx1"/>
                </a:solidFill>
                <a:effectLst/>
                <a:latin typeface="+mn-lt"/>
                <a:ea typeface="+mn-ea"/>
                <a:cs typeface="+mn-cs"/>
              </a:rPr>
              <a:t> TF-IDF </a:t>
            </a:r>
            <a:r>
              <a:rPr lang="ja-JP" altLang="es-MX" sz="1200" kern="1200" dirty="0">
                <a:solidFill>
                  <a:schemeClr val="tx1"/>
                </a:solidFill>
                <a:effectLst/>
                <a:latin typeface="+mn-lt"/>
                <a:ea typeface="+mn-ea"/>
                <a:cs typeface="+mn-cs"/>
              </a:rPr>
              <a:t>行列から得られ、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それぞれチャンクの総数</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そうすう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キーワード（語彙）の総数を表します。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後の処理では、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どれだけキーワード空間が被覆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されたかを判断するために使われます。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また、アルゴリズム開始</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かいし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時</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には、</a:t>
            </a:r>
            <a:br>
              <a:rPr lang="es-MX" sz="1200" kern="1200" dirty="0">
                <a:solidFill>
                  <a:schemeClr val="tx1"/>
                </a:solidFill>
                <a:effectLst/>
                <a:latin typeface="+mn-lt"/>
                <a:ea typeface="+mn-ea"/>
                <a:cs typeface="+mn-cs"/>
              </a:rPr>
            </a:br>
            <a:r>
              <a:rPr lang="es-MX" sz="1200" b="1" kern="1200" dirty="0" err="1">
                <a:solidFill>
                  <a:schemeClr val="tx1"/>
                </a:solidFill>
                <a:effectLst/>
                <a:latin typeface="+mn-lt"/>
                <a:ea typeface="+mn-ea"/>
                <a:cs typeface="+mn-cs"/>
              </a:rPr>
              <a:t>selected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 </a:t>
            </a:r>
            <a:r>
              <a:rPr lang="es-MX" sz="1200" b="1" kern="1200" dirty="0" err="1">
                <a:solidFill>
                  <a:schemeClr val="tx1"/>
                </a:solidFill>
                <a:effectLst/>
                <a:latin typeface="+mn-lt"/>
                <a:ea typeface="+mn-ea"/>
                <a:cs typeface="+mn-cs"/>
              </a:rPr>
              <a:t>covered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という</a:t>
            </a:r>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つの集合を</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くう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集合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しゅうごう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として初期化します。</a:t>
            </a:r>
            <a:endParaRPr lang="es-MX" sz="1200" kern="1200" dirty="0">
              <a:solidFill>
                <a:schemeClr val="tx1"/>
              </a:solidFill>
              <a:effectLst/>
              <a:latin typeface="+mn-lt"/>
              <a:ea typeface="+mn-ea"/>
              <a:cs typeface="+mn-cs"/>
            </a:endParaRPr>
          </a:p>
          <a:p>
            <a:r>
              <a:rPr lang="es-MX" sz="1200" kern="1200" dirty="0" err="1">
                <a:solidFill>
                  <a:schemeClr val="tx1"/>
                </a:solidFill>
                <a:effectLst/>
                <a:latin typeface="+mn-lt"/>
                <a:ea typeface="+mn-ea"/>
                <a:cs typeface="+mn-cs"/>
              </a:rPr>
              <a:t>selected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これまでに選ばれたチャンクの集合で、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最終的に</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に入力されるものです。</a:t>
            </a:r>
            <a:endParaRPr lang="es-MX" sz="1200" kern="1200" dirty="0">
              <a:solidFill>
                <a:schemeClr val="tx1"/>
              </a:solidFill>
              <a:effectLst/>
              <a:latin typeface="+mn-lt"/>
              <a:ea typeface="+mn-ea"/>
              <a:cs typeface="+mn-cs"/>
            </a:endParaRPr>
          </a:p>
          <a:p>
            <a:r>
              <a:rPr lang="es-MX" sz="1200" kern="1200" dirty="0" err="1">
                <a:solidFill>
                  <a:schemeClr val="tx1"/>
                </a:solidFill>
                <a:effectLst/>
                <a:latin typeface="+mn-lt"/>
                <a:ea typeface="+mn-ea"/>
                <a:cs typeface="+mn-cs"/>
              </a:rPr>
              <a:t>covered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すでに被覆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されたキーワードの集合で、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構造的な情報がどこまで集まったかを管理します。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a:t>
            </a:r>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つの集合を更新しながら、</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アルゴリズムは代表的なチャンクを段階的に選択していきます。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636ADAD4-FFEE-44FE-A51F-559B513FE96F}" type="slidenum">
              <a:rPr lang="es-MX" smtClean="0"/>
              <a:t>24</a:t>
            </a:fld>
            <a:endParaRPr lang="es-MX"/>
          </a:p>
        </p:txBody>
      </p:sp>
    </p:spTree>
    <p:extLst>
      <p:ext uri="{BB962C8B-B14F-4D97-AF65-F5344CB8AC3E}">
        <p14:creationId xmlns:p14="http://schemas.microsoft.com/office/powerpoint/2010/main" val="21887306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この行は、アルゴリズムの停止</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ていし</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条件</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じょうけん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を定義しています。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されたキーワードの割合が</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threshold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に達</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たっ</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するまで、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ループは継続</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けいぞく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つまり、構造的な語彙空間が十分にカバーされた時点で、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処理が自動的に終了します。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これにより、データ全体を無駄に処理することなく、</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必要な情報だけを効率的に選択できます。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25</a:t>
            </a:fld>
            <a:endParaRPr lang="es-MX"/>
          </a:p>
        </p:txBody>
      </p:sp>
    </p:spTree>
    <p:extLst>
      <p:ext uri="{BB962C8B-B14F-4D97-AF65-F5344CB8AC3E}">
        <p14:creationId xmlns:p14="http://schemas.microsoft.com/office/powerpoint/2010/main" val="2987310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dirty="0"/>
              <a:t>各イテレーションの最初に、</a:t>
            </a:r>
            <a:r>
              <a:rPr lang="es-MX" altLang="ja-JP" i="1" dirty="0" err="1"/>
              <a:t>gains</a:t>
            </a:r>
            <a:r>
              <a:rPr lang="ja-JP" altLang="es-MX" dirty="0"/>
              <a:t> という空集合を初期化します。</a:t>
            </a:r>
          </a:p>
          <a:p>
            <a:r>
              <a:rPr lang="ja-JP" altLang="es-MX" dirty="0"/>
              <a:t>この集合は、</a:t>
            </a:r>
            <a:br>
              <a:rPr lang="ja-JP" altLang="es-MX" dirty="0"/>
            </a:br>
            <a:r>
              <a:rPr lang="ja-JP" altLang="es-MX" dirty="0"/>
              <a:t>各チャンクがどれだけ有用かを一時的に保存するためのものです。</a:t>
            </a:r>
            <a:br>
              <a:rPr lang="ja-JP" altLang="es-MX" dirty="0"/>
            </a:br>
            <a:r>
              <a:rPr lang="ja-JP" altLang="es-MX" dirty="0"/>
              <a:t>同じ基準でチャンク同士を比較できるようにする役割を持っています。</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26</a:t>
            </a:fld>
            <a:endParaRPr lang="es-MX"/>
          </a:p>
        </p:txBody>
      </p:sp>
    </p:spTree>
    <p:extLst>
      <p:ext uri="{BB962C8B-B14F-4D97-AF65-F5344CB8AC3E}">
        <p14:creationId xmlns:p14="http://schemas.microsoft.com/office/powerpoint/2010/main" val="24585137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この行は、データセット内のすべてのチャンクを</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順番に評価するループを表しています。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各チャンクが、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「次に選ばれる候補」として一つずつ検討</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けんとう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27</a:t>
            </a:fld>
            <a:endParaRPr lang="es-MX"/>
          </a:p>
        </p:txBody>
      </p:sp>
    </p:spTree>
    <p:extLst>
      <p:ext uri="{BB962C8B-B14F-4D97-AF65-F5344CB8AC3E}">
        <p14:creationId xmlns:p14="http://schemas.microsoft.com/office/powerpoint/2010/main" val="7418041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dirty="0"/>
              <a:t>ここでは、そのチャンクがすでに選択済みかどうかを確認します。</a:t>
            </a:r>
          </a:p>
          <a:p>
            <a:r>
              <a:rPr lang="ja-JP" altLang="es-MX" dirty="0"/>
              <a:t>すでに </a:t>
            </a:r>
            <a:r>
              <a:rPr lang="es-MX" altLang="ja-JP" dirty="0" err="1"/>
              <a:t>selected</a:t>
            </a:r>
            <a:r>
              <a:rPr lang="es-MX" altLang="ja-JP" dirty="0"/>
              <a:t> </a:t>
            </a:r>
            <a:r>
              <a:rPr lang="ja-JP" altLang="es-MX" dirty="0"/>
              <a:t>に含まれている場合は処理を行いません。</a:t>
            </a:r>
            <a:br>
              <a:rPr lang="ja-JP" altLang="es-MX" dirty="0"/>
            </a:br>
            <a:r>
              <a:rPr lang="ja-JP" altLang="es-MX" dirty="0"/>
              <a:t>これにより、同じチャンクを何度も選ぶことを防ぎ、</a:t>
            </a:r>
            <a:br>
              <a:rPr lang="ja-JP" altLang="es-MX" dirty="0"/>
            </a:br>
            <a:r>
              <a:rPr lang="ja-JP" altLang="es-MX" dirty="0"/>
              <a:t>選択が常に新しい情報を追加するようになります。</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28</a:t>
            </a:fld>
            <a:endParaRPr lang="es-MX"/>
          </a:p>
        </p:txBody>
      </p:sp>
    </p:spTree>
    <p:extLst>
      <p:ext uri="{BB962C8B-B14F-4D97-AF65-F5344CB8AC3E}">
        <p14:creationId xmlns:p14="http://schemas.microsoft.com/office/powerpoint/2010/main" val="32465379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この行では、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そのチャンクが新たに提供できるキーワードを抽出します。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すでに</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covered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に含まれている語を除外</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じょがい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まだ被覆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されていない語だけを取り出します。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これが、そのチャンクの構造的な貢献度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こうけんど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を表します。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29</a:t>
            </a:fld>
            <a:endParaRPr lang="es-MX"/>
          </a:p>
        </p:txBody>
      </p:sp>
    </p:spTree>
    <p:extLst>
      <p:ext uri="{BB962C8B-B14F-4D97-AF65-F5344CB8AC3E}">
        <p14:creationId xmlns:p14="http://schemas.microsoft.com/office/powerpoint/2010/main" val="40574397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ここで、そのチャンクの </a:t>
            </a:r>
            <a:r>
              <a:rPr lang="ja-JP" altLang="es-MX" sz="1200" b="1" kern="1200" dirty="0">
                <a:solidFill>
                  <a:schemeClr val="tx1"/>
                </a:solidFill>
                <a:effectLst/>
                <a:latin typeface="+mn-lt"/>
                <a:ea typeface="+mn-ea"/>
                <a:cs typeface="+mn-cs"/>
              </a:rPr>
              <a:t>ゲイン</a:t>
            </a:r>
            <a:r>
              <a:rPr lang="ja-JP" altLang="es-MX" sz="1200" kern="1200" dirty="0">
                <a:solidFill>
                  <a:schemeClr val="tx1"/>
                </a:solidFill>
                <a:effectLst/>
                <a:latin typeface="+mn-lt"/>
                <a:ea typeface="+mn-ea"/>
                <a:cs typeface="+mn-cs"/>
              </a:rPr>
              <a:t> を計算します。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ゲインは、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新しく被覆できるキーワード数と、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そのチャンクのエントロピーの積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せき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として定義されます。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これにより、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単に語が多いだけでなく、</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情報的に質の高いチャンクが優先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ゆうせん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30</a:t>
            </a:fld>
            <a:endParaRPr lang="es-MX"/>
          </a:p>
        </p:txBody>
      </p:sp>
    </p:spTree>
    <p:extLst>
      <p:ext uri="{BB962C8B-B14F-4D97-AF65-F5344CB8AC3E}">
        <p14:creationId xmlns:p14="http://schemas.microsoft.com/office/powerpoint/2010/main" val="13401246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dirty="0"/>
              <a:t>最後に、計算されたゲインとチャンク番号を</a:t>
            </a:r>
            <a:br>
              <a:rPr lang="ja-JP" altLang="es-MX" dirty="0"/>
            </a:br>
            <a:r>
              <a:rPr lang="ja-JP" altLang="es-MX" dirty="0"/>
              <a:t>ペアとして </a:t>
            </a:r>
            <a:r>
              <a:rPr lang="es-MX" altLang="ja-JP" dirty="0" err="1"/>
              <a:t>gains</a:t>
            </a:r>
            <a:r>
              <a:rPr lang="es-MX" altLang="ja-JP" dirty="0"/>
              <a:t> </a:t>
            </a:r>
            <a:r>
              <a:rPr lang="ja-JP" altLang="es-MX" dirty="0"/>
              <a:t>に追加します。</a:t>
            </a:r>
          </a:p>
          <a:p>
            <a:r>
              <a:rPr lang="ja-JP" altLang="es-MX" dirty="0"/>
              <a:t>これにより、</a:t>
            </a:r>
            <a:br>
              <a:rPr lang="ja-JP" altLang="es-MX" dirty="0"/>
            </a:br>
            <a:r>
              <a:rPr lang="ja-JP" altLang="es-MX" dirty="0"/>
              <a:t>すべての候補チャンクを比較し、</a:t>
            </a:r>
            <a:br>
              <a:rPr lang="ja-JP" altLang="es-MX" dirty="0"/>
            </a:br>
            <a:r>
              <a:rPr lang="ja-JP" altLang="es-MX" dirty="0"/>
              <a:t>最も有用なものを選択できるようになります。</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31</a:t>
            </a:fld>
            <a:endParaRPr lang="es-MX"/>
          </a:p>
        </p:txBody>
      </p:sp>
    </p:spTree>
    <p:extLst>
      <p:ext uri="{BB962C8B-B14F-4D97-AF65-F5344CB8AC3E}">
        <p14:creationId xmlns:p14="http://schemas.microsoft.com/office/powerpoint/2010/main" val="40756595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C4A19-F1E0-9834-EB8C-047BA1383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E5FDD-81F8-046F-B129-AB7C54755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1C86F-D4D0-87BA-BB84-EE70607AA66B}"/>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この条件は、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まだ新しい情報を追加できるチャンクが存在するかどうかを確認します。</a:t>
            </a:r>
            <a:endParaRPr lang="es-MX" sz="1200" kern="1200" dirty="0">
              <a:solidFill>
                <a:schemeClr val="tx1"/>
              </a:solidFill>
              <a:effectLst/>
              <a:latin typeface="+mn-lt"/>
              <a:ea typeface="+mn-ea"/>
              <a:cs typeface="+mn-cs"/>
            </a:endParaRPr>
          </a:p>
          <a:p>
            <a:r>
              <a:rPr lang="es-MX" sz="1200" i="1" kern="1200" dirty="0" err="1">
                <a:solidFill>
                  <a:schemeClr val="tx1"/>
                </a:solidFill>
                <a:effectLst/>
                <a:latin typeface="+mn-lt"/>
                <a:ea typeface="+mn-ea"/>
                <a:cs typeface="+mn-cs"/>
              </a:rPr>
              <a:t>gains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が空</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くう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でなければ、</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少なくとも</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つのチャンクが新しいキーワードを提供できることを意味します。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その場合、アルゴリズムは処理を続行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ぞっこう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もし </a:t>
            </a:r>
            <a:r>
              <a:rPr lang="es-MX" sz="1200" i="1" kern="1200" dirty="0" err="1">
                <a:solidFill>
                  <a:schemeClr val="tx1"/>
                </a:solidFill>
                <a:effectLst/>
                <a:latin typeface="+mn-lt"/>
                <a:ea typeface="+mn-ea"/>
                <a:cs typeface="+mn-cs"/>
              </a:rPr>
              <a:t>gains</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が空であれば、</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これ以上被覆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ひふく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を拡張</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かくちょう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できないことを意味します。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49D7DD84-1E2B-2C9E-5169-5E36A343673E}"/>
              </a:ext>
            </a:extLst>
          </p:cNvPr>
          <p:cNvSpPr>
            <a:spLocks noGrp="1"/>
          </p:cNvSpPr>
          <p:nvPr>
            <p:ph type="sldNum" sz="quarter" idx="5"/>
          </p:nvPr>
        </p:nvSpPr>
        <p:spPr/>
        <p:txBody>
          <a:bodyPr/>
          <a:lstStyle/>
          <a:p>
            <a:fld id="{636ADAD4-FFEE-44FE-A51F-559B513FE96F}" type="slidenum">
              <a:rPr lang="es-MX" smtClean="0"/>
              <a:t>32</a:t>
            </a:fld>
            <a:endParaRPr lang="es-MX"/>
          </a:p>
        </p:txBody>
      </p:sp>
    </p:spTree>
    <p:extLst>
      <p:ext uri="{BB962C8B-B14F-4D97-AF65-F5344CB8AC3E}">
        <p14:creationId xmlns:p14="http://schemas.microsoft.com/office/powerpoint/2010/main" val="41681867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6AF17-69B4-028D-940D-B3073B945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9F486-E6FF-F8FC-0025-34C851303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712E1-681D-D663-A3E0-59A7ED2FBF0A}"/>
              </a:ext>
            </a:extLst>
          </p:cNvPr>
          <p:cNvSpPr>
            <a:spLocks noGrp="1"/>
          </p:cNvSpPr>
          <p:nvPr>
            <p:ph type="body" idx="1"/>
          </p:nvPr>
        </p:nvSpPr>
        <p:spPr/>
        <p:txBody>
          <a:bodyPr/>
          <a:lstStyle/>
          <a:p>
            <a:r>
              <a:rPr lang="ja-JP" altLang="es-MX" dirty="0"/>
              <a:t>ここでは、</a:t>
            </a:r>
            <a:br>
              <a:rPr lang="ja-JP" altLang="es-MX" dirty="0"/>
            </a:br>
            <a:r>
              <a:rPr lang="es-MX" altLang="ja-JP" i="1" dirty="0" err="1"/>
              <a:t>gains</a:t>
            </a:r>
            <a:r>
              <a:rPr lang="ja-JP" altLang="es-MX" dirty="0"/>
              <a:t> の中から </a:t>
            </a:r>
            <a:r>
              <a:rPr lang="ja-JP" altLang="es-MX" b="1" dirty="0"/>
              <a:t>最大のゲイン</a:t>
            </a:r>
            <a:r>
              <a:rPr lang="ja-JP" altLang="es-MX" dirty="0"/>
              <a:t> を持つチャンクを選択します。</a:t>
            </a:r>
          </a:p>
          <a:p>
            <a:r>
              <a:rPr lang="ja-JP" altLang="es-MX" dirty="0"/>
              <a:t>このチャンクは、</a:t>
            </a:r>
            <a:br>
              <a:rPr lang="ja-JP" altLang="es-MX" dirty="0"/>
            </a:br>
            <a:r>
              <a:rPr lang="ja-JP" altLang="es-MX" dirty="0"/>
              <a:t>多くの新しいキーワードを含み、</a:t>
            </a:r>
            <a:br>
              <a:rPr lang="ja-JP" altLang="es-MX" dirty="0"/>
            </a:br>
            <a:r>
              <a:rPr lang="ja-JP" altLang="es-MX" dirty="0"/>
              <a:t>かつエントロピーが高いものです。</a:t>
            </a:r>
          </a:p>
          <a:p>
            <a:r>
              <a:rPr lang="ja-JP" altLang="es-MX" dirty="0"/>
              <a:t>つまり、現時点で最も効率よく</a:t>
            </a:r>
            <a:br>
              <a:rPr lang="ja-JP" altLang="es-MX" dirty="0"/>
            </a:br>
            <a:r>
              <a:rPr lang="ja-JP" altLang="es-MX" dirty="0"/>
              <a:t>構造情報を追加できるチャンクが選ばれます。</a:t>
            </a:r>
          </a:p>
          <a:p>
            <a:endParaRPr lang="es-MX" dirty="0"/>
          </a:p>
        </p:txBody>
      </p:sp>
      <p:sp>
        <p:nvSpPr>
          <p:cNvPr id="4" name="Slide Number Placeholder 3">
            <a:extLst>
              <a:ext uri="{FF2B5EF4-FFF2-40B4-BE49-F238E27FC236}">
                <a16:creationId xmlns:a16="http://schemas.microsoft.com/office/drawing/2014/main" id="{A041089D-C782-678B-DE8D-D2B8444A98AF}"/>
              </a:ext>
            </a:extLst>
          </p:cNvPr>
          <p:cNvSpPr>
            <a:spLocks noGrp="1"/>
          </p:cNvSpPr>
          <p:nvPr>
            <p:ph type="sldNum" sz="quarter" idx="5"/>
          </p:nvPr>
        </p:nvSpPr>
        <p:spPr/>
        <p:txBody>
          <a:bodyPr/>
          <a:lstStyle/>
          <a:p>
            <a:fld id="{636ADAD4-FFEE-44FE-A51F-559B513FE96F}" type="slidenum">
              <a:rPr lang="es-MX" smtClean="0"/>
              <a:t>33</a:t>
            </a:fld>
            <a:endParaRPr lang="es-MX"/>
          </a:p>
        </p:txBody>
      </p:sp>
    </p:spTree>
    <p:extLst>
      <p:ext uri="{BB962C8B-B14F-4D97-AF65-F5344CB8AC3E}">
        <p14:creationId xmlns:p14="http://schemas.microsoft.com/office/powerpoint/2010/main" val="22498516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7826-3B4A-6CDC-9259-70A9887DF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99805-0793-B227-9721-139AEEDEC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45A7A-ACB8-2FD9-2EF1-06BB3524E2C0}"/>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選ばれたチャンクは、</a:t>
            </a:r>
            <a:br>
              <a:rPr lang="es-MX" sz="1200" kern="1200" dirty="0">
                <a:solidFill>
                  <a:schemeClr val="tx1"/>
                </a:solidFill>
                <a:effectLst/>
                <a:latin typeface="+mn-lt"/>
                <a:ea typeface="+mn-ea"/>
                <a:cs typeface="+mn-cs"/>
              </a:rPr>
            </a:br>
            <a:r>
              <a:rPr lang="es-MX" sz="1200" i="1" kern="1200" dirty="0" err="1">
                <a:solidFill>
                  <a:schemeClr val="tx1"/>
                </a:solidFill>
                <a:effectLst/>
                <a:latin typeface="+mn-lt"/>
                <a:ea typeface="+mn-ea"/>
                <a:cs typeface="+mn-cs"/>
              </a:rPr>
              <a:t>selected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集合に追加されます。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この集合が最終的に、</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に入力される代表的なチャンク集合となります。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アルゴリズムが進むにつれて、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情報密度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みつど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の高い要約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ようやく</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が形成</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けいせい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されていきます。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F1A9D6E3-DF10-C1D1-64C2-6F9ED4603CB7}"/>
              </a:ext>
            </a:extLst>
          </p:cNvPr>
          <p:cNvSpPr>
            <a:spLocks noGrp="1"/>
          </p:cNvSpPr>
          <p:nvPr>
            <p:ph type="sldNum" sz="quarter" idx="5"/>
          </p:nvPr>
        </p:nvSpPr>
        <p:spPr/>
        <p:txBody>
          <a:bodyPr/>
          <a:lstStyle/>
          <a:p>
            <a:fld id="{636ADAD4-FFEE-44FE-A51F-559B513FE96F}" type="slidenum">
              <a:rPr lang="es-MX" smtClean="0"/>
              <a:t>34</a:t>
            </a:fld>
            <a:endParaRPr lang="es-MX"/>
          </a:p>
        </p:txBody>
      </p:sp>
    </p:spTree>
    <p:extLst>
      <p:ext uri="{BB962C8B-B14F-4D97-AF65-F5344CB8AC3E}">
        <p14:creationId xmlns:p14="http://schemas.microsoft.com/office/powerpoint/2010/main" val="18295788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B0797-1506-8636-9D16-D4E0C3CE2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9B9B0-DA55-FE3D-6680-275E1604E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FD4CA-824E-A4FE-C7B3-12784501F678}"/>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次に、</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選択されたチャンクが持つすべてのキーワードを</a:t>
            </a:r>
            <a:br>
              <a:rPr lang="es-MX" sz="1200" kern="1200" dirty="0">
                <a:solidFill>
                  <a:schemeClr val="tx1"/>
                </a:solidFill>
                <a:effectLst/>
                <a:latin typeface="+mn-lt"/>
                <a:ea typeface="+mn-ea"/>
                <a:cs typeface="+mn-cs"/>
              </a:rPr>
            </a:br>
            <a:r>
              <a:rPr lang="es-MX" sz="1200" i="1" kern="1200" dirty="0" err="1">
                <a:solidFill>
                  <a:schemeClr val="tx1"/>
                </a:solidFill>
                <a:effectLst/>
                <a:latin typeface="+mn-lt"/>
                <a:ea typeface="+mn-ea"/>
                <a:cs typeface="+mn-cs"/>
              </a:rPr>
              <a:t>covered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に追加します。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これにより被覆率が更新され、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次のイテレーションでは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「すでに説明された構造」として扱われます。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この仕組みによって、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冗長</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じょうちょう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な選択が防</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ふせ</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がれ、新しい構造が優先</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ゆうせん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3D02DC01-640C-9141-2FD6-44CD1F6BE294}"/>
              </a:ext>
            </a:extLst>
          </p:cNvPr>
          <p:cNvSpPr>
            <a:spLocks noGrp="1"/>
          </p:cNvSpPr>
          <p:nvPr>
            <p:ph type="sldNum" sz="quarter" idx="5"/>
          </p:nvPr>
        </p:nvSpPr>
        <p:spPr/>
        <p:txBody>
          <a:bodyPr/>
          <a:lstStyle/>
          <a:p>
            <a:fld id="{636ADAD4-FFEE-44FE-A51F-559B513FE96F}" type="slidenum">
              <a:rPr lang="es-MX" smtClean="0"/>
              <a:t>35</a:t>
            </a:fld>
            <a:endParaRPr lang="es-MX"/>
          </a:p>
        </p:txBody>
      </p:sp>
    </p:spTree>
    <p:extLst>
      <p:ext uri="{BB962C8B-B14F-4D97-AF65-F5344CB8AC3E}">
        <p14:creationId xmlns:p14="http://schemas.microsoft.com/office/powerpoint/2010/main" val="2759356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4D661-0B18-B63F-216B-AF87D981E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702C7-9FE1-C3AD-7EB0-464A5EECF4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1AE85-3E32-1CF2-C190-630DEAE385BF}"/>
              </a:ext>
            </a:extLst>
          </p:cNvPr>
          <p:cNvSpPr>
            <a:spLocks noGrp="1"/>
          </p:cNvSpPr>
          <p:nvPr>
            <p:ph type="body" idx="1"/>
          </p:nvPr>
        </p:nvSpPr>
        <p:spPr/>
        <p:txBody>
          <a:bodyPr/>
          <a:lstStyle/>
          <a:p>
            <a:r>
              <a:rPr lang="ja-JP" altLang="es-MX" sz="1200" kern="1200" dirty="0">
                <a:solidFill>
                  <a:schemeClr val="tx1"/>
                </a:solidFill>
                <a:effectLst/>
                <a:latin typeface="+mn-lt"/>
                <a:ea typeface="+mn-ea"/>
                <a:cs typeface="+mn-cs"/>
              </a:rPr>
              <a:t>最後に、</a:t>
            </a:r>
            <a:br>
              <a:rPr lang="es-MX" sz="1200" kern="1200" dirty="0">
                <a:solidFill>
                  <a:schemeClr val="tx1"/>
                </a:solidFill>
                <a:effectLst/>
                <a:latin typeface="+mn-lt"/>
                <a:ea typeface="+mn-ea"/>
                <a:cs typeface="+mn-cs"/>
              </a:rPr>
            </a:br>
            <a:r>
              <a:rPr lang="es-MX" sz="1200" i="1" kern="1200" dirty="0" err="1">
                <a:solidFill>
                  <a:schemeClr val="tx1"/>
                </a:solidFill>
                <a:effectLst/>
                <a:latin typeface="+mn-lt"/>
                <a:ea typeface="+mn-ea"/>
                <a:cs typeface="+mn-cs"/>
              </a:rPr>
              <a:t>selected</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に対応する元のチャンクを出力します。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この出力は、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データ全体を代表する少数かつ高情報密度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みつど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のサンプル集合です。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これらのみが</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に入力され、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スキーマ学習とスクリプト学習に使用されます。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この仕組みにより、</a:t>
            </a:r>
            <a:br>
              <a:rPr lang="es-MX" sz="1200" kern="1200" dirty="0">
                <a:solidFill>
                  <a:schemeClr val="tx1"/>
                </a:solidFill>
                <a:effectLst/>
                <a:latin typeface="+mn-lt"/>
                <a:ea typeface="+mn-ea"/>
                <a:cs typeface="+mn-cs"/>
              </a:rPr>
            </a:br>
            <a:r>
              <a:rPr lang="es-MX" sz="1200" kern="1200" dirty="0" err="1">
                <a:solidFill>
                  <a:schemeClr val="tx1"/>
                </a:solidFill>
                <a:effectLst/>
                <a:latin typeface="+mn-lt"/>
                <a:ea typeface="+mn-ea"/>
                <a:cs typeface="+mn-cs"/>
              </a:rPr>
              <a:t>FastRAG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コストを最小化しつつ、</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構造的な網羅性</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もうらせい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を維</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a:extLst>
              <a:ext uri="{FF2B5EF4-FFF2-40B4-BE49-F238E27FC236}">
                <a16:creationId xmlns:a16="http://schemas.microsoft.com/office/drawing/2014/main" id="{6737FA4B-6487-3013-004F-6E07B70B1458}"/>
              </a:ext>
            </a:extLst>
          </p:cNvPr>
          <p:cNvSpPr>
            <a:spLocks noGrp="1"/>
          </p:cNvSpPr>
          <p:nvPr>
            <p:ph type="sldNum" sz="quarter" idx="5"/>
          </p:nvPr>
        </p:nvSpPr>
        <p:spPr/>
        <p:txBody>
          <a:bodyPr/>
          <a:lstStyle/>
          <a:p>
            <a:fld id="{636ADAD4-FFEE-44FE-A51F-559B513FE96F}" type="slidenum">
              <a:rPr lang="es-MX" smtClean="0"/>
              <a:t>36</a:t>
            </a:fld>
            <a:endParaRPr lang="es-MX"/>
          </a:p>
        </p:txBody>
      </p:sp>
    </p:spTree>
    <p:extLst>
      <p:ext uri="{BB962C8B-B14F-4D97-AF65-F5344CB8AC3E}">
        <p14:creationId xmlns:p14="http://schemas.microsoft.com/office/powerpoint/2010/main" val="31824026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次に説明するのが、</a:t>
            </a:r>
            <a:r>
              <a:rPr lang="es-MX" sz="1200" b="1" kern="1200" dirty="0" err="1">
                <a:solidFill>
                  <a:schemeClr val="tx1"/>
                </a:solidFill>
                <a:effectLst/>
                <a:latin typeface="+mn-lt"/>
                <a:ea typeface="+mn-ea"/>
                <a:cs typeface="+mn-cs"/>
              </a:rPr>
              <a:t>Schema</a:t>
            </a:r>
            <a:r>
              <a:rPr lang="es-MX" sz="1200" b="1" kern="1200" dirty="0">
                <a:solidFill>
                  <a:schemeClr val="tx1"/>
                </a:solidFill>
                <a:effectLst/>
                <a:latin typeface="+mn-lt"/>
                <a:ea typeface="+mn-ea"/>
                <a:cs typeface="+mn-cs"/>
              </a:rPr>
              <a:t> </a:t>
            </a:r>
            <a:r>
              <a:rPr lang="es-MX" sz="1200" b="1" kern="1200" dirty="0" err="1">
                <a:solidFill>
                  <a:schemeClr val="tx1"/>
                </a:solidFill>
                <a:effectLst/>
                <a:latin typeface="+mn-lt"/>
                <a:ea typeface="+mn-ea"/>
                <a:cs typeface="+mn-cs"/>
              </a:rPr>
              <a:t>Learning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endParaRPr lang="es-MX" sz="1200" kern="1200" dirty="0">
              <a:solidFill>
                <a:schemeClr val="tx1"/>
              </a:solidFill>
              <a:effectLst/>
              <a:latin typeface="+mn-lt"/>
              <a:ea typeface="+mn-ea"/>
              <a:cs typeface="+mn-cs"/>
            </a:endParaRPr>
          </a:p>
          <a:p>
            <a:endParaRPr lang="es-MX" altLang="ja-JP"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スキーマ学習は反復的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はんぷくてき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なプロセスで行われます。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まず代表的なチャンクを</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つ与</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あた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え、</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に初期の</a:t>
            </a:r>
            <a:r>
              <a:rPr lang="es-MX" sz="1200" kern="1200" dirty="0">
                <a:solidFill>
                  <a:schemeClr val="tx1"/>
                </a:solidFill>
                <a:effectLst/>
                <a:latin typeface="+mn-lt"/>
                <a:ea typeface="+mn-ea"/>
                <a:cs typeface="+mn-cs"/>
              </a:rPr>
              <a:t> JSON </a:t>
            </a:r>
            <a:r>
              <a:rPr lang="es-MX" sz="1200" kern="1200" dirty="0" err="1">
                <a:solidFill>
                  <a:schemeClr val="tx1"/>
                </a:solidFill>
                <a:effectLst/>
                <a:latin typeface="+mn-lt"/>
                <a:ea typeface="+mn-ea"/>
                <a:cs typeface="+mn-cs"/>
              </a:rPr>
              <a:t>Schema</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を生成させます。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次に新しいチャンクを追加し、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既存のスキーマを更新するように指示します。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このとき、以前のスキーマは保持</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ほじ</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新しい構造要素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ようそ</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だけが追加されます。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そのため、スキーマは時間とともに単調に成長し、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徐々に完全な形になります。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各更新後には、生成されたスキーマが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正しい</a:t>
            </a:r>
            <a:r>
              <a:rPr lang="es-MX" sz="1200" kern="1200" dirty="0">
                <a:solidFill>
                  <a:schemeClr val="tx1"/>
                </a:solidFill>
                <a:effectLst/>
                <a:latin typeface="+mn-lt"/>
                <a:ea typeface="+mn-ea"/>
                <a:cs typeface="+mn-cs"/>
              </a:rPr>
              <a:t> JSON </a:t>
            </a:r>
            <a:r>
              <a:rPr lang="ja-JP" altLang="es-MX" sz="1200" kern="1200" dirty="0">
                <a:solidFill>
                  <a:schemeClr val="tx1"/>
                </a:solidFill>
                <a:effectLst/>
                <a:latin typeface="+mn-lt"/>
                <a:ea typeface="+mn-ea"/>
                <a:cs typeface="+mn-cs"/>
              </a:rPr>
              <a:t>として検証</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けんしょう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もしエラーがあれば、そのエラーメッセージが</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にフィードバックされ、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修正が行われます。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この検証</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けんしょう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と修正</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しゅうせい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のループを繰り返し、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最終的に安定したスキーマが得られます。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最終的な出力は、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フィールド名、データ型、階層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かいそう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構造</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こうぞう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必須・任意フィールドを含む </a:t>
            </a:r>
            <a:r>
              <a:rPr lang="ja-JP" altLang="es-MX" sz="1200" b="1" kern="1200" dirty="0">
                <a:solidFill>
                  <a:schemeClr val="tx1"/>
                </a:solidFill>
                <a:effectLst/>
                <a:latin typeface="+mn-lt"/>
                <a:ea typeface="+mn-ea"/>
                <a:cs typeface="+mn-cs"/>
              </a:rPr>
              <a:t>安定した</a:t>
            </a:r>
            <a:r>
              <a:rPr lang="es-MX" sz="1200" b="1" kern="1200" dirty="0">
                <a:solidFill>
                  <a:schemeClr val="tx1"/>
                </a:solidFill>
                <a:effectLst/>
                <a:latin typeface="+mn-lt"/>
                <a:ea typeface="+mn-ea"/>
                <a:cs typeface="+mn-cs"/>
              </a:rPr>
              <a:t> JSON </a:t>
            </a:r>
            <a:r>
              <a:rPr lang="es-MX" sz="1200" b="1" kern="1200" dirty="0" err="1">
                <a:solidFill>
                  <a:schemeClr val="tx1"/>
                </a:solidFill>
                <a:effectLst/>
                <a:latin typeface="+mn-lt"/>
                <a:ea typeface="+mn-ea"/>
                <a:cs typeface="+mn-cs"/>
              </a:rPr>
              <a:t>Schema</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実際のデータ値は含まれません。</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err="1">
                <a:solidFill>
                  <a:schemeClr val="tx1"/>
                </a:solidFill>
                <a:effectLst/>
                <a:latin typeface="+mn-lt"/>
                <a:ea typeface="+mn-ea"/>
                <a:cs typeface="+mn-cs"/>
              </a:rPr>
              <a:t>Algorithm</a:t>
            </a:r>
            <a:r>
              <a:rPr lang="es-MX" sz="1200" kern="1200" dirty="0">
                <a:solidFill>
                  <a:schemeClr val="tx1"/>
                </a:solidFill>
                <a:effectLst/>
                <a:latin typeface="+mn-lt"/>
                <a:ea typeface="+mn-ea"/>
                <a:cs typeface="+mn-cs"/>
              </a:rPr>
              <a:t> 1 </a:t>
            </a:r>
            <a:r>
              <a:rPr lang="ja-JP" altLang="es-MX" sz="1200" kern="1200" dirty="0">
                <a:solidFill>
                  <a:schemeClr val="tx1"/>
                </a:solidFill>
                <a:effectLst/>
                <a:latin typeface="+mn-lt"/>
                <a:ea typeface="+mn-ea"/>
                <a:cs typeface="+mn-cs"/>
              </a:rPr>
              <a:t>によって選ばれた</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少数の代表的なチャンクだけを使うことで、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ノイズが少なく、精度</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せいど</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の高いスキーマ推定が可能になります。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38</a:t>
            </a:fld>
            <a:endParaRPr lang="es-MX"/>
          </a:p>
        </p:txBody>
      </p:sp>
    </p:spTree>
    <p:extLst>
      <p:ext uri="{BB962C8B-B14F-4D97-AF65-F5344CB8AC3E}">
        <p14:creationId xmlns:p14="http://schemas.microsoft.com/office/powerpoint/2010/main" val="17288810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s-MX" sz="1200" kern="1200" dirty="0">
                <a:solidFill>
                  <a:schemeClr val="tx1"/>
                </a:solidFill>
                <a:effectLst/>
                <a:latin typeface="+mn-lt"/>
                <a:ea typeface="+mn-ea"/>
                <a:cs typeface="+mn-cs"/>
              </a:rPr>
              <a:t>スキーマが学習された後、</a:t>
            </a:r>
            <a:r>
              <a:rPr lang="es-MX" sz="1200" kern="1200" dirty="0" err="1">
                <a:solidFill>
                  <a:schemeClr val="tx1"/>
                </a:solidFill>
                <a:effectLst/>
                <a:latin typeface="+mn-lt"/>
                <a:ea typeface="+mn-ea"/>
                <a:cs typeface="+mn-cs"/>
              </a:rPr>
              <a:t>FastRAG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は </a:t>
            </a:r>
            <a:r>
              <a:rPr lang="es-MX" sz="1200" b="1" kern="1200" dirty="0">
                <a:solidFill>
                  <a:schemeClr val="tx1"/>
                </a:solidFill>
                <a:effectLst/>
                <a:latin typeface="+mn-lt"/>
                <a:ea typeface="+mn-ea"/>
                <a:cs typeface="+mn-cs"/>
              </a:rPr>
              <a:t>Script </a:t>
            </a:r>
            <a:r>
              <a:rPr lang="es-MX" sz="1200" b="1" kern="1200" dirty="0" err="1">
                <a:solidFill>
                  <a:schemeClr val="tx1"/>
                </a:solidFill>
                <a:effectLst/>
                <a:latin typeface="+mn-lt"/>
                <a:ea typeface="+mn-ea"/>
                <a:cs typeface="+mn-cs"/>
              </a:rPr>
              <a:t>Learning</a:t>
            </a:r>
            <a:r>
              <a:rPr lang="es-MX" sz="120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に進みます。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スクリプト学習の目的は、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生のデータセットを読み込み、</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学習したスキーマに従</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したが</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った構造化</a:t>
            </a:r>
            <a:r>
              <a:rPr lang="es-MX" sz="1200" kern="1200" dirty="0">
                <a:solidFill>
                  <a:schemeClr val="tx1"/>
                </a:solidFill>
                <a:effectLst/>
                <a:latin typeface="+mn-lt"/>
                <a:ea typeface="+mn-ea"/>
                <a:cs typeface="+mn-cs"/>
              </a:rPr>
              <a:t> JSON </a:t>
            </a:r>
            <a:r>
              <a:rPr lang="ja-JP" altLang="es-MX" sz="1200" kern="1200" dirty="0">
                <a:solidFill>
                  <a:schemeClr val="tx1"/>
                </a:solidFill>
                <a:effectLst/>
                <a:latin typeface="+mn-lt"/>
                <a:ea typeface="+mn-ea"/>
                <a:cs typeface="+mn-cs"/>
              </a:rPr>
              <a:t>に変換する</a:t>
            </a:r>
            <a:br>
              <a:rPr lang="es-MX" sz="1200" kern="1200" dirty="0">
                <a:solidFill>
                  <a:schemeClr val="tx1"/>
                </a:solidFill>
                <a:effectLst/>
                <a:latin typeface="+mn-lt"/>
                <a:ea typeface="+mn-ea"/>
                <a:cs typeface="+mn-cs"/>
              </a:rPr>
            </a:br>
            <a:r>
              <a:rPr lang="ja-JP" altLang="es-MX" sz="1200" b="1" kern="1200" dirty="0">
                <a:solidFill>
                  <a:schemeClr val="tx1"/>
                </a:solidFill>
                <a:effectLst/>
                <a:latin typeface="+mn-lt"/>
                <a:ea typeface="+mn-ea"/>
                <a:cs typeface="+mn-cs"/>
              </a:rPr>
              <a:t>実行可能なコード</a:t>
            </a:r>
            <a:r>
              <a:rPr lang="ja-JP" altLang="es-MX" sz="1200" kern="1200" dirty="0">
                <a:solidFill>
                  <a:schemeClr val="tx1"/>
                </a:solidFill>
                <a:effectLst/>
                <a:latin typeface="+mn-lt"/>
                <a:ea typeface="+mn-ea"/>
                <a:cs typeface="+mn-cs"/>
              </a:rPr>
              <a:t> を生成することです。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スクリプト学習の入力は</a:t>
            </a:r>
            <a:r>
              <a:rPr lang="es-MX" sz="1200" kern="1200" dirty="0">
                <a:solidFill>
                  <a:schemeClr val="tx1"/>
                </a:solidFill>
                <a:effectLst/>
                <a:latin typeface="+mn-lt"/>
                <a:ea typeface="+mn-ea"/>
                <a:cs typeface="+mn-cs"/>
              </a:rPr>
              <a:t>2</a:t>
            </a:r>
            <a:r>
              <a:rPr lang="ja-JP" altLang="es-MX" sz="1200" kern="1200" dirty="0">
                <a:solidFill>
                  <a:schemeClr val="tx1"/>
                </a:solidFill>
                <a:effectLst/>
                <a:latin typeface="+mn-lt"/>
                <a:ea typeface="+mn-ea"/>
                <a:cs typeface="+mn-cs"/>
              </a:rPr>
              <a:t>つです。</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つはスキーマ学習で得られた</a:t>
            </a:r>
            <a:r>
              <a:rPr lang="es-MX" sz="1200" kern="1200" dirty="0">
                <a:solidFill>
                  <a:schemeClr val="tx1"/>
                </a:solidFill>
                <a:effectLst/>
                <a:latin typeface="+mn-lt"/>
                <a:ea typeface="+mn-ea"/>
                <a:cs typeface="+mn-cs"/>
              </a:rPr>
              <a:t> JSON </a:t>
            </a:r>
            <a:r>
              <a:rPr lang="es-MX" sz="1200" kern="1200" dirty="0" err="1">
                <a:solidFill>
                  <a:schemeClr val="tx1"/>
                </a:solidFill>
                <a:effectLst/>
                <a:latin typeface="+mn-lt"/>
                <a:ea typeface="+mn-ea"/>
                <a:cs typeface="+mn-cs"/>
              </a:rPr>
              <a:t>Schema</a:t>
            </a:r>
            <a:r>
              <a:rPr lang="ja-JP" altLang="es-MX" sz="1200" kern="1200" dirty="0">
                <a:solidFill>
                  <a:schemeClr val="tx1"/>
                </a:solidFill>
                <a:effectLst/>
                <a:latin typeface="+mn-lt"/>
                <a:ea typeface="+mn-ea"/>
                <a:cs typeface="+mn-cs"/>
              </a:rPr>
              <a:t>、</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もう</a:t>
            </a:r>
            <a:r>
              <a:rPr lang="es-MX" sz="1200" kern="1200" dirty="0">
                <a:solidFill>
                  <a:schemeClr val="tx1"/>
                </a:solidFill>
                <a:effectLst/>
                <a:latin typeface="+mn-lt"/>
                <a:ea typeface="+mn-ea"/>
                <a:cs typeface="+mn-cs"/>
              </a:rPr>
              <a:t>1</a:t>
            </a:r>
            <a:r>
              <a:rPr lang="ja-JP" altLang="es-MX" sz="1200" kern="1200" dirty="0">
                <a:solidFill>
                  <a:schemeClr val="tx1"/>
                </a:solidFill>
                <a:effectLst/>
                <a:latin typeface="+mn-lt"/>
                <a:ea typeface="+mn-ea"/>
                <a:cs typeface="+mn-cs"/>
              </a:rPr>
              <a:t>つは</a:t>
            </a:r>
            <a:r>
              <a:rPr lang="es-MX" sz="1200" kern="1200" dirty="0">
                <a:solidFill>
                  <a:schemeClr val="tx1"/>
                </a:solidFill>
                <a:effectLst/>
                <a:latin typeface="+mn-lt"/>
                <a:ea typeface="+mn-ea"/>
                <a:cs typeface="+mn-cs"/>
              </a:rPr>
              <a:t> </a:t>
            </a:r>
            <a:r>
              <a:rPr lang="es-MX" sz="1200" kern="1200" dirty="0" err="1">
                <a:solidFill>
                  <a:schemeClr val="tx1"/>
                </a:solidFill>
                <a:effectLst/>
                <a:latin typeface="+mn-lt"/>
                <a:ea typeface="+mn-ea"/>
                <a:cs typeface="+mn-cs"/>
              </a:rPr>
              <a:t>Algorithm</a:t>
            </a:r>
            <a:r>
              <a:rPr lang="es-MX" sz="1200" kern="1200" dirty="0">
                <a:solidFill>
                  <a:schemeClr val="tx1"/>
                </a:solidFill>
                <a:effectLst/>
                <a:latin typeface="+mn-lt"/>
                <a:ea typeface="+mn-ea"/>
                <a:cs typeface="+mn-cs"/>
              </a:rPr>
              <a:t> 1 </a:t>
            </a:r>
            <a:r>
              <a:rPr lang="ja-JP" altLang="es-MX" sz="1200" kern="1200" dirty="0">
                <a:solidFill>
                  <a:schemeClr val="tx1"/>
                </a:solidFill>
                <a:effectLst/>
                <a:latin typeface="+mn-lt"/>
                <a:ea typeface="+mn-ea"/>
                <a:cs typeface="+mn-cs"/>
              </a:rPr>
              <a:t>によって選ばれた代表的なチャンクです。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プロセスは再び</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ふたたび</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反復的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はんぷくてき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に行われます。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最初にスキーマとチャンクを与え、</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にパース用の関数（通常は</a:t>
            </a:r>
            <a:r>
              <a:rPr lang="es-MX" sz="1200" kern="1200" dirty="0">
                <a:solidFill>
                  <a:schemeClr val="tx1"/>
                </a:solidFill>
                <a:effectLst/>
                <a:latin typeface="+mn-lt"/>
                <a:ea typeface="+mn-ea"/>
                <a:cs typeface="+mn-cs"/>
              </a:rPr>
              <a:t> Python</a:t>
            </a:r>
            <a:r>
              <a:rPr lang="ja-JP" altLang="es-MX" sz="1200" kern="1200" dirty="0">
                <a:solidFill>
                  <a:schemeClr val="tx1"/>
                </a:solidFill>
                <a:effectLst/>
                <a:latin typeface="+mn-lt"/>
                <a:ea typeface="+mn-ea"/>
                <a:cs typeface="+mn-cs"/>
              </a:rPr>
              <a:t>）を生成させます。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新しいチャンクが追加されると、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既存のコードを更新するように指示されます。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このときスキーマは固定され、</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コードのみが改善されていきます。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この繰り返しにより、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コードは次第に汎用性</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はんようせい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と頑健性</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がんけんせい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を持つようになります。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スキーマ学習と異なり、</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ここではコードが </a:t>
            </a:r>
            <a:r>
              <a:rPr lang="ja-JP" altLang="es-MX" sz="1200" b="1" kern="1200" dirty="0">
                <a:solidFill>
                  <a:schemeClr val="tx1"/>
                </a:solidFill>
                <a:effectLst/>
                <a:latin typeface="+mn-lt"/>
                <a:ea typeface="+mn-ea"/>
                <a:cs typeface="+mn-cs"/>
              </a:rPr>
              <a:t>実際に実行</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じっこう</a:t>
            </a:r>
            <a:r>
              <a:rPr lang="es-MX" sz="1200" b="1" kern="1200" dirty="0">
                <a:solidFill>
                  <a:schemeClr val="tx1"/>
                </a:solidFill>
                <a:effectLst/>
                <a:latin typeface="+mn-lt"/>
                <a:ea typeface="+mn-ea"/>
                <a:cs typeface="+mn-cs"/>
              </a:rPr>
              <a:t>)</a:t>
            </a:r>
            <a:r>
              <a:rPr lang="ja-JP" altLang="es-MX" sz="1200" b="0" kern="1200" dirty="0">
                <a:solidFill>
                  <a:schemeClr val="tx1"/>
                </a:solidFill>
                <a:effectLst/>
                <a:latin typeface="+mn-lt"/>
                <a:ea typeface="+mn-ea"/>
                <a:cs typeface="+mn-cs"/>
              </a:rPr>
              <a:t> </a:t>
            </a:r>
            <a:r>
              <a:rPr lang="ja-JP" altLang="es-MX" sz="1200" kern="1200" dirty="0">
                <a:solidFill>
                  <a:schemeClr val="tx1"/>
                </a:solidFill>
                <a:effectLst/>
                <a:latin typeface="+mn-lt"/>
                <a:ea typeface="+mn-ea"/>
                <a:cs typeface="+mn-cs"/>
              </a:rPr>
              <a:t>されます。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実行時エラーやスキーマ不一致</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ふいっち</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が発生すると、</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それらがフィードバックとして</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に返されます。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はその情報をもとにコードを修正し、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正しく動作</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どうさ</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するまでループが続きます。</a:t>
            </a:r>
            <a:endParaRPr lang="es-MX" sz="1200" kern="1200" dirty="0">
              <a:solidFill>
                <a:schemeClr val="tx1"/>
              </a:solidFill>
              <a:effectLst/>
              <a:latin typeface="+mn-lt"/>
              <a:ea typeface="+mn-ea"/>
              <a:cs typeface="+mn-cs"/>
            </a:endParaRPr>
          </a:p>
          <a:p>
            <a:r>
              <a:rPr lang="ja-JP" altLang="es-MX" sz="1200" kern="1200" dirty="0">
                <a:solidFill>
                  <a:schemeClr val="tx1"/>
                </a:solidFill>
                <a:effectLst/>
                <a:latin typeface="+mn-lt"/>
                <a:ea typeface="+mn-ea"/>
                <a:cs typeface="+mn-cs"/>
              </a:rPr>
              <a:t>最終的に得られるのは、</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安定したパース関数です。</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この関数は決定論的</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けっていろんてき</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に動作し、</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実行時に</a:t>
            </a:r>
            <a:r>
              <a:rPr lang="es-MX" sz="1200" kern="1200" dirty="0">
                <a:solidFill>
                  <a:schemeClr val="tx1"/>
                </a:solidFill>
                <a:effectLst/>
                <a:latin typeface="+mn-lt"/>
                <a:ea typeface="+mn-ea"/>
                <a:cs typeface="+mn-cs"/>
              </a:rPr>
              <a:t> LLM </a:t>
            </a:r>
            <a:r>
              <a:rPr lang="ja-JP" altLang="es-MX" sz="1200" kern="1200" dirty="0">
                <a:solidFill>
                  <a:schemeClr val="tx1"/>
                </a:solidFill>
                <a:effectLst/>
                <a:latin typeface="+mn-lt"/>
                <a:ea typeface="+mn-ea"/>
                <a:cs typeface="+mn-cs"/>
              </a:rPr>
              <a:t>を必要とせず、</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高速にデータを処理できます。</a:t>
            </a: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r>
              <a:rPr lang="ja-JP" altLang="es-MX" sz="1200" kern="1200" dirty="0">
                <a:solidFill>
                  <a:schemeClr val="tx1"/>
                </a:solidFill>
                <a:effectLst/>
                <a:latin typeface="+mn-lt"/>
                <a:ea typeface="+mn-ea"/>
                <a:cs typeface="+mn-cs"/>
              </a:rPr>
              <a:t>実</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じつ</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運用</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うんよう</a:t>
            </a:r>
            <a:r>
              <a:rPr lang="es-MX" sz="1200" kern="1200" dirty="0">
                <a:solidFill>
                  <a:schemeClr val="tx1"/>
                </a:solidFill>
                <a:effectLst/>
                <a:latin typeface="+mn-lt"/>
                <a:ea typeface="+mn-ea"/>
                <a:cs typeface="+mn-cs"/>
              </a:rPr>
              <a:t>)</a:t>
            </a:r>
            <a:r>
              <a:rPr lang="ja-JP" altLang="es-MX" sz="1200" kern="1200" dirty="0">
                <a:solidFill>
                  <a:schemeClr val="tx1"/>
                </a:solidFill>
                <a:effectLst/>
                <a:latin typeface="+mn-lt"/>
                <a:ea typeface="+mn-ea"/>
                <a:cs typeface="+mn-cs"/>
              </a:rPr>
              <a:t>では、この</a:t>
            </a:r>
            <a:r>
              <a:rPr lang="es-MX" altLang="ja-JP" sz="1200" kern="1200" dirty="0">
                <a:solidFill>
                  <a:schemeClr val="tx1"/>
                </a:solidFill>
                <a:effectLst/>
                <a:latin typeface="+mn-lt"/>
                <a:ea typeface="+mn-ea"/>
                <a:cs typeface="+mn-cs"/>
              </a:rPr>
              <a:t>script</a:t>
            </a:r>
            <a:r>
              <a:rPr lang="ja-JP" altLang="es-MX" sz="1200" kern="1200" dirty="0">
                <a:solidFill>
                  <a:schemeClr val="tx1"/>
                </a:solidFill>
                <a:effectLst/>
                <a:latin typeface="+mn-lt"/>
                <a:ea typeface="+mn-ea"/>
                <a:cs typeface="+mn-cs"/>
              </a:rPr>
              <a:t>を使って</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データセット全体を処理します。</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LLM </a:t>
            </a:r>
            <a:r>
              <a:rPr lang="ja-JP" altLang="es-MX" sz="1200" kern="1200" dirty="0">
                <a:solidFill>
                  <a:schemeClr val="tx1"/>
                </a:solidFill>
                <a:effectLst/>
                <a:latin typeface="+mn-lt"/>
                <a:ea typeface="+mn-ea"/>
                <a:cs typeface="+mn-cs"/>
              </a:rPr>
              <a:t>呼び出しは不要で、</a:t>
            </a:r>
            <a:br>
              <a:rPr lang="es-MX" sz="1200" kern="1200" dirty="0">
                <a:solidFill>
                  <a:schemeClr val="tx1"/>
                </a:solidFill>
                <a:effectLst/>
                <a:latin typeface="+mn-lt"/>
                <a:ea typeface="+mn-ea"/>
                <a:cs typeface="+mn-cs"/>
              </a:rPr>
            </a:br>
            <a:r>
              <a:rPr lang="ja-JP" altLang="es-MX" sz="1200" kern="1200" dirty="0">
                <a:solidFill>
                  <a:schemeClr val="tx1"/>
                </a:solidFill>
                <a:effectLst/>
                <a:latin typeface="+mn-lt"/>
                <a:ea typeface="+mn-ea"/>
                <a:cs typeface="+mn-cs"/>
              </a:rPr>
              <a:t>コストがかからず、再現性も保証されます。</a:t>
            </a:r>
            <a:endParaRPr lang="es-MX" sz="1200" kern="1200" dirty="0">
              <a:solidFill>
                <a:schemeClr val="tx1"/>
              </a:solidFill>
              <a:effectLst/>
              <a:latin typeface="+mn-lt"/>
              <a:ea typeface="+mn-ea"/>
              <a:cs typeface="+mn-cs"/>
            </a:endParaRPr>
          </a:p>
          <a:p>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a:t>
            </a:r>
          </a:p>
          <a:p>
            <a:endParaRPr lang="es-MX" dirty="0"/>
          </a:p>
        </p:txBody>
      </p:sp>
      <p:sp>
        <p:nvSpPr>
          <p:cNvPr id="4" name="Slide Number Placeholder 3"/>
          <p:cNvSpPr>
            <a:spLocks noGrp="1"/>
          </p:cNvSpPr>
          <p:nvPr>
            <p:ph type="sldNum" sz="quarter" idx="5"/>
          </p:nvPr>
        </p:nvSpPr>
        <p:spPr/>
        <p:txBody>
          <a:bodyPr/>
          <a:lstStyle/>
          <a:p>
            <a:fld id="{636ADAD4-FFEE-44FE-A51F-559B513FE96F}" type="slidenum">
              <a:rPr lang="es-MX" smtClean="0"/>
              <a:t>39</a:t>
            </a:fld>
            <a:endParaRPr lang="es-MX"/>
          </a:p>
        </p:txBody>
      </p:sp>
    </p:spTree>
    <p:extLst>
      <p:ext uri="{BB962C8B-B14F-4D97-AF65-F5344CB8AC3E}">
        <p14:creationId xmlns:p14="http://schemas.microsoft.com/office/powerpoint/2010/main" val="358150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32A7C-7BF0-E315-AF8D-CB470B7B7B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a:extLst>
              <a:ext uri="{FF2B5EF4-FFF2-40B4-BE49-F238E27FC236}">
                <a16:creationId xmlns:a16="http://schemas.microsoft.com/office/drawing/2014/main" id="{7D9B80E2-80D4-DE8D-65F9-CD557A1B29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a:extLst>
              <a:ext uri="{FF2B5EF4-FFF2-40B4-BE49-F238E27FC236}">
                <a16:creationId xmlns:a16="http://schemas.microsoft.com/office/drawing/2014/main" id="{590F60F6-9A79-13CE-74EB-3C1096AD1561}"/>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5" name="Footer Placeholder 4">
            <a:extLst>
              <a:ext uri="{FF2B5EF4-FFF2-40B4-BE49-F238E27FC236}">
                <a16:creationId xmlns:a16="http://schemas.microsoft.com/office/drawing/2014/main" id="{A4CB9359-AE0E-281F-3AB8-32A2ACC68F5B}"/>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91769AF-AE42-729A-2549-DA62F517C79C}"/>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4011411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C7C24-B66A-B9B6-530B-467929F762EE}"/>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03A655C4-1BFE-811C-5B40-40BCC4A850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B49C42E4-3AAB-4084-2AF6-8942C5C7F078}"/>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5" name="Footer Placeholder 4">
            <a:extLst>
              <a:ext uri="{FF2B5EF4-FFF2-40B4-BE49-F238E27FC236}">
                <a16:creationId xmlns:a16="http://schemas.microsoft.com/office/drawing/2014/main" id="{D6C3E644-A9FF-0DE6-8841-7A752D0C31E6}"/>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9C4ADF06-F175-C3C3-C884-37FD95DE4BDF}"/>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1841005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F71EE-37D2-EAAA-4DE4-46FAAE9002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a:extLst>
              <a:ext uri="{FF2B5EF4-FFF2-40B4-BE49-F238E27FC236}">
                <a16:creationId xmlns:a16="http://schemas.microsoft.com/office/drawing/2014/main" id="{52BE2D0B-EE9A-2429-3CBE-0833725780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CED564-72A4-D287-3385-F8849A314BD8}"/>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5" name="Footer Placeholder 4">
            <a:extLst>
              <a:ext uri="{FF2B5EF4-FFF2-40B4-BE49-F238E27FC236}">
                <a16:creationId xmlns:a16="http://schemas.microsoft.com/office/drawing/2014/main" id="{F11727B2-1710-502D-6314-201F082EFB38}"/>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D6619EC4-D1C0-4C89-2E88-97F7E19715E8}"/>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1213912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BEC66-5569-5E50-1C33-D29B07ACE6BE}"/>
              </a:ext>
            </a:extLst>
          </p:cNvPr>
          <p:cNvSpPr>
            <a:spLocks noGrp="1"/>
          </p:cNvSpPr>
          <p:nvPr>
            <p:ph type="title"/>
          </p:nvPr>
        </p:nvSpPr>
        <p:spPr/>
        <p:txBody>
          <a:bodyPr/>
          <a:lstStyle/>
          <a:p>
            <a:r>
              <a:rPr lang="en-US"/>
              <a:t>Click to edit Master title style</a:t>
            </a:r>
            <a:endParaRPr lang="es-MX"/>
          </a:p>
        </p:txBody>
      </p:sp>
      <p:sp>
        <p:nvSpPr>
          <p:cNvPr id="3" name="Content Placeholder 2">
            <a:extLst>
              <a:ext uri="{FF2B5EF4-FFF2-40B4-BE49-F238E27FC236}">
                <a16:creationId xmlns:a16="http://schemas.microsoft.com/office/drawing/2014/main" id="{D3B45EBF-1FF5-998F-C44D-D9CC3E300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a:extLst>
              <a:ext uri="{FF2B5EF4-FFF2-40B4-BE49-F238E27FC236}">
                <a16:creationId xmlns:a16="http://schemas.microsoft.com/office/drawing/2014/main" id="{2EC57BD2-7DC7-BCA2-0460-41392CE4D0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a:extLst>
              <a:ext uri="{FF2B5EF4-FFF2-40B4-BE49-F238E27FC236}">
                <a16:creationId xmlns:a16="http://schemas.microsoft.com/office/drawing/2014/main" id="{3CB45083-3593-D506-2211-2489E34E9C82}"/>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6" name="Footer Placeholder 5">
            <a:extLst>
              <a:ext uri="{FF2B5EF4-FFF2-40B4-BE49-F238E27FC236}">
                <a16:creationId xmlns:a16="http://schemas.microsoft.com/office/drawing/2014/main" id="{DC632C04-6526-BBE4-126B-87E1557F3230}"/>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D6A762B9-F929-2495-8933-37073185790E}"/>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1286690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EDD4D-E14F-3C3D-D4A6-B2DFF98314D0}"/>
              </a:ext>
            </a:extLst>
          </p:cNvPr>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a:extLst>
              <a:ext uri="{FF2B5EF4-FFF2-40B4-BE49-F238E27FC236}">
                <a16:creationId xmlns:a16="http://schemas.microsoft.com/office/drawing/2014/main" id="{F15282AA-0CD4-FC9E-AD82-7CE27A7F2E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00C515-98C7-324C-A1C6-1685F32C26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a:extLst>
              <a:ext uri="{FF2B5EF4-FFF2-40B4-BE49-F238E27FC236}">
                <a16:creationId xmlns:a16="http://schemas.microsoft.com/office/drawing/2014/main" id="{9E370697-CFD4-7370-412A-F5FC63484F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50A900-111E-095D-0815-07A12B2CAE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a:extLst>
              <a:ext uri="{FF2B5EF4-FFF2-40B4-BE49-F238E27FC236}">
                <a16:creationId xmlns:a16="http://schemas.microsoft.com/office/drawing/2014/main" id="{CD54F540-224D-849D-EC3F-4D21A5983A35}"/>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8" name="Footer Placeholder 7">
            <a:extLst>
              <a:ext uri="{FF2B5EF4-FFF2-40B4-BE49-F238E27FC236}">
                <a16:creationId xmlns:a16="http://schemas.microsoft.com/office/drawing/2014/main" id="{C02574A8-B971-47E3-0ABE-D3C947310E30}"/>
              </a:ext>
            </a:extLst>
          </p:cNvPr>
          <p:cNvSpPr>
            <a:spLocks noGrp="1"/>
          </p:cNvSpPr>
          <p:nvPr>
            <p:ph type="ftr" sz="quarter" idx="11"/>
          </p:nvPr>
        </p:nvSpPr>
        <p:spPr/>
        <p:txBody>
          <a:bodyPr/>
          <a:lstStyle/>
          <a:p>
            <a:endParaRPr lang="es-MX"/>
          </a:p>
        </p:txBody>
      </p:sp>
      <p:sp>
        <p:nvSpPr>
          <p:cNvPr id="9" name="Slide Number Placeholder 8">
            <a:extLst>
              <a:ext uri="{FF2B5EF4-FFF2-40B4-BE49-F238E27FC236}">
                <a16:creationId xmlns:a16="http://schemas.microsoft.com/office/drawing/2014/main" id="{F728BB45-646F-3126-1860-D92D9E6EFA5E}"/>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2071014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4EF5-C41F-D815-C84C-C2BFAE0E4CF0}"/>
              </a:ext>
            </a:extLst>
          </p:cNvPr>
          <p:cNvSpPr>
            <a:spLocks noGrp="1"/>
          </p:cNvSpPr>
          <p:nvPr>
            <p:ph type="title"/>
          </p:nvPr>
        </p:nvSpPr>
        <p:spPr/>
        <p:txBody>
          <a:bodyPr/>
          <a:lstStyle/>
          <a:p>
            <a:r>
              <a:rPr lang="en-US"/>
              <a:t>Click to edit Master title style</a:t>
            </a:r>
            <a:endParaRPr lang="es-MX"/>
          </a:p>
        </p:txBody>
      </p:sp>
      <p:sp>
        <p:nvSpPr>
          <p:cNvPr id="3" name="Date Placeholder 2">
            <a:extLst>
              <a:ext uri="{FF2B5EF4-FFF2-40B4-BE49-F238E27FC236}">
                <a16:creationId xmlns:a16="http://schemas.microsoft.com/office/drawing/2014/main" id="{877B3E90-5D26-CF63-419C-301EEDC804E7}"/>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4" name="Footer Placeholder 3">
            <a:extLst>
              <a:ext uri="{FF2B5EF4-FFF2-40B4-BE49-F238E27FC236}">
                <a16:creationId xmlns:a16="http://schemas.microsoft.com/office/drawing/2014/main" id="{DF6FD55E-E440-1C8B-4CCA-46BB3E6C4FFA}"/>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8066CE13-2032-24E6-8613-0A0A5EBC66F4}"/>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3287614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56ABC7-95AC-9AFE-C4E2-CF252226A86C}"/>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3" name="Footer Placeholder 2">
            <a:extLst>
              <a:ext uri="{FF2B5EF4-FFF2-40B4-BE49-F238E27FC236}">
                <a16:creationId xmlns:a16="http://schemas.microsoft.com/office/drawing/2014/main" id="{95102DA0-6515-2E45-A800-E7F473422B7E}"/>
              </a:ext>
            </a:extLst>
          </p:cNvPr>
          <p:cNvSpPr>
            <a:spLocks noGrp="1"/>
          </p:cNvSpPr>
          <p:nvPr>
            <p:ph type="ftr" sz="quarter" idx="11"/>
          </p:nvPr>
        </p:nvSpPr>
        <p:spPr/>
        <p:txBody>
          <a:bodyPr/>
          <a:lstStyle/>
          <a:p>
            <a:endParaRPr lang="es-MX"/>
          </a:p>
        </p:txBody>
      </p:sp>
      <p:sp>
        <p:nvSpPr>
          <p:cNvPr id="4" name="Slide Number Placeholder 3">
            <a:extLst>
              <a:ext uri="{FF2B5EF4-FFF2-40B4-BE49-F238E27FC236}">
                <a16:creationId xmlns:a16="http://schemas.microsoft.com/office/drawing/2014/main" id="{2BE69E76-78EF-974C-472F-ED0FF2019624}"/>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99473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C37BB-B381-E311-51E2-266E5D7C9F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a:extLst>
              <a:ext uri="{FF2B5EF4-FFF2-40B4-BE49-F238E27FC236}">
                <a16:creationId xmlns:a16="http://schemas.microsoft.com/office/drawing/2014/main" id="{5FF2A0D5-B4E1-01AA-16F4-F8604421ED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a:extLst>
              <a:ext uri="{FF2B5EF4-FFF2-40B4-BE49-F238E27FC236}">
                <a16:creationId xmlns:a16="http://schemas.microsoft.com/office/drawing/2014/main" id="{62A58B5D-632F-8ECA-E775-40536E7CEF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7FD000-C8C8-BF50-1888-43453698361B}"/>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6" name="Footer Placeholder 5">
            <a:extLst>
              <a:ext uri="{FF2B5EF4-FFF2-40B4-BE49-F238E27FC236}">
                <a16:creationId xmlns:a16="http://schemas.microsoft.com/office/drawing/2014/main" id="{E753BC45-76DA-A9CF-1DFF-8CBE1AA3AA75}"/>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BDCE14B1-992D-BFC4-CA52-A33E7147FF53}"/>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209511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A123D-9933-81CC-572F-E70175814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a:extLst>
              <a:ext uri="{FF2B5EF4-FFF2-40B4-BE49-F238E27FC236}">
                <a16:creationId xmlns:a16="http://schemas.microsoft.com/office/drawing/2014/main" id="{19758B5E-E989-7508-C8A4-8A4276E1C8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Text Placeholder 3">
            <a:extLst>
              <a:ext uri="{FF2B5EF4-FFF2-40B4-BE49-F238E27FC236}">
                <a16:creationId xmlns:a16="http://schemas.microsoft.com/office/drawing/2014/main" id="{6177B004-DDD1-6A4F-7CC0-2949AE44B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67BD9B-1488-B259-722F-B298BBEAE192}"/>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6" name="Footer Placeholder 5">
            <a:extLst>
              <a:ext uri="{FF2B5EF4-FFF2-40B4-BE49-F238E27FC236}">
                <a16:creationId xmlns:a16="http://schemas.microsoft.com/office/drawing/2014/main" id="{482E26DD-890E-5969-9A65-736BFEDC8035}"/>
              </a:ext>
            </a:extLst>
          </p:cNvPr>
          <p:cNvSpPr>
            <a:spLocks noGrp="1"/>
          </p:cNvSpPr>
          <p:nvPr>
            <p:ph type="ftr" sz="quarter" idx="11"/>
          </p:nvPr>
        </p:nvSpPr>
        <p:spPr/>
        <p:txBody>
          <a:bodyPr/>
          <a:lstStyle/>
          <a:p>
            <a:endParaRPr lang="es-MX"/>
          </a:p>
        </p:txBody>
      </p:sp>
      <p:sp>
        <p:nvSpPr>
          <p:cNvPr id="7" name="Slide Number Placeholder 6">
            <a:extLst>
              <a:ext uri="{FF2B5EF4-FFF2-40B4-BE49-F238E27FC236}">
                <a16:creationId xmlns:a16="http://schemas.microsoft.com/office/drawing/2014/main" id="{91611EC0-0253-8A76-F06B-B175CED2CDDB}"/>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3714828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E1EEA-42C7-F674-3736-98F685D3D2D6}"/>
              </a:ext>
            </a:extLst>
          </p:cNvPr>
          <p:cNvSpPr>
            <a:spLocks noGrp="1"/>
          </p:cNvSpPr>
          <p:nvPr>
            <p:ph type="title"/>
          </p:nvPr>
        </p:nvSpPr>
        <p:spPr/>
        <p:txBody>
          <a:bodyPr/>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D610BEFA-9790-1D0D-D219-AE8ACBE96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4ADD0933-3D12-1C14-B0E0-A72F87962368}"/>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5" name="Footer Placeholder 4">
            <a:extLst>
              <a:ext uri="{FF2B5EF4-FFF2-40B4-BE49-F238E27FC236}">
                <a16:creationId xmlns:a16="http://schemas.microsoft.com/office/drawing/2014/main" id="{2E038C03-8EC8-873A-8B2C-7FD4AEAC5FC6}"/>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0763479C-9662-9493-F781-CD452E43B162}"/>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2498487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9BF76E-DF44-C00A-50E8-F01DB7904B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a:extLst>
              <a:ext uri="{FF2B5EF4-FFF2-40B4-BE49-F238E27FC236}">
                <a16:creationId xmlns:a16="http://schemas.microsoft.com/office/drawing/2014/main" id="{6BC65B1C-7B15-822B-6A23-613B831853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41F09759-E5A3-4AFD-39B6-DEE5E90EC443}"/>
              </a:ext>
            </a:extLst>
          </p:cNvPr>
          <p:cNvSpPr>
            <a:spLocks noGrp="1"/>
          </p:cNvSpPr>
          <p:nvPr>
            <p:ph type="dt" sz="half" idx="10"/>
          </p:nvPr>
        </p:nvSpPr>
        <p:spPr/>
        <p:txBody>
          <a:bodyPr/>
          <a:lstStyle/>
          <a:p>
            <a:fld id="{B9014AB2-3AC0-4B36-8681-C0FDBF9565E0}" type="datetimeFigureOut">
              <a:rPr lang="es-MX" smtClean="0"/>
              <a:t>09/02/2026</a:t>
            </a:fld>
            <a:endParaRPr lang="es-MX"/>
          </a:p>
        </p:txBody>
      </p:sp>
      <p:sp>
        <p:nvSpPr>
          <p:cNvPr id="5" name="Footer Placeholder 4">
            <a:extLst>
              <a:ext uri="{FF2B5EF4-FFF2-40B4-BE49-F238E27FC236}">
                <a16:creationId xmlns:a16="http://schemas.microsoft.com/office/drawing/2014/main" id="{5BD1A2AC-43FF-B97B-DADB-5C6BCCAEC516}"/>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CA9D0A0-1F9E-F98B-B2EB-79D70F18DE38}"/>
              </a:ext>
            </a:extLst>
          </p:cNvPr>
          <p:cNvSpPr>
            <a:spLocks noGrp="1"/>
          </p:cNvSpPr>
          <p:nvPr>
            <p:ph type="sldNum" sz="quarter" idx="12"/>
          </p:nvPr>
        </p:nvSpPr>
        <p:spPr/>
        <p:txBody>
          <a:bodyPr/>
          <a:lstStyle/>
          <a:p>
            <a:fld id="{6F6FC26B-A483-438B-8A66-CC6167BB545C}" type="slidenum">
              <a:rPr lang="es-MX" smtClean="0"/>
              <a:t>‹#›</a:t>
            </a:fld>
            <a:endParaRPr lang="es-MX"/>
          </a:p>
        </p:txBody>
      </p:sp>
    </p:spTree>
    <p:extLst>
      <p:ext uri="{BB962C8B-B14F-4D97-AF65-F5344CB8AC3E}">
        <p14:creationId xmlns:p14="http://schemas.microsoft.com/office/powerpoint/2010/main" val="129539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6FD950-3CC4-6017-E236-48268F0531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a:extLst>
              <a:ext uri="{FF2B5EF4-FFF2-40B4-BE49-F238E27FC236}">
                <a16:creationId xmlns:a16="http://schemas.microsoft.com/office/drawing/2014/main" id="{E7BC718D-F003-E27C-3A78-153D805734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a:extLst>
              <a:ext uri="{FF2B5EF4-FFF2-40B4-BE49-F238E27FC236}">
                <a16:creationId xmlns:a16="http://schemas.microsoft.com/office/drawing/2014/main" id="{CFD173E7-DD55-8398-2810-131024F58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014AB2-3AC0-4B36-8681-C0FDBF9565E0}" type="datetimeFigureOut">
              <a:rPr lang="es-MX" smtClean="0"/>
              <a:t>09/02/2026</a:t>
            </a:fld>
            <a:endParaRPr lang="es-MX"/>
          </a:p>
        </p:txBody>
      </p:sp>
      <p:sp>
        <p:nvSpPr>
          <p:cNvPr id="5" name="Footer Placeholder 4">
            <a:extLst>
              <a:ext uri="{FF2B5EF4-FFF2-40B4-BE49-F238E27FC236}">
                <a16:creationId xmlns:a16="http://schemas.microsoft.com/office/drawing/2014/main" id="{7E050195-1BFF-B869-85B1-6E362A5755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Slide Number Placeholder 5">
            <a:extLst>
              <a:ext uri="{FF2B5EF4-FFF2-40B4-BE49-F238E27FC236}">
                <a16:creationId xmlns:a16="http://schemas.microsoft.com/office/drawing/2014/main" id="{C864B47A-9E1C-FD9F-3431-83C0F0BC6D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6FC26B-A483-438B-8A66-CC6167BB545C}" type="slidenum">
              <a:rPr lang="es-MX" smtClean="0"/>
              <a:t>‹#›</a:t>
            </a:fld>
            <a:endParaRPr lang="es-MX"/>
          </a:p>
        </p:txBody>
      </p:sp>
    </p:spTree>
    <p:extLst>
      <p:ext uri="{BB962C8B-B14F-4D97-AF65-F5344CB8AC3E}">
        <p14:creationId xmlns:p14="http://schemas.microsoft.com/office/powerpoint/2010/main" val="2766021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4C9A-BFDE-4F8C-D72A-7AE0845336BF}"/>
              </a:ext>
            </a:extLst>
          </p:cNvPr>
          <p:cNvSpPr>
            <a:spLocks noGrp="1"/>
          </p:cNvSpPr>
          <p:nvPr>
            <p:ph type="ctrTitle"/>
          </p:nvPr>
        </p:nvSpPr>
        <p:spPr/>
        <p:txBody>
          <a:bodyPr>
            <a:noAutofit/>
          </a:bodyPr>
          <a:lstStyle/>
          <a:p>
            <a:pPr algn="l"/>
            <a:r>
              <a:rPr lang="en-US" sz="4400" dirty="0" err="1"/>
              <a:t>FastRAG</a:t>
            </a:r>
            <a:r>
              <a:rPr lang="en-US" sz="4400" dirty="0"/>
              <a:t>: Retrieval Augmented Generation for Semi-structured Data</a:t>
            </a:r>
            <a:br>
              <a:rPr lang="en-US" sz="4400" dirty="0"/>
            </a:br>
            <a:r>
              <a:rPr lang="en-US" sz="3600" i="1" dirty="0"/>
              <a:t>Algorithm explanation </a:t>
            </a:r>
            <a:endParaRPr lang="es-MX" sz="4400" i="1" dirty="0"/>
          </a:p>
        </p:txBody>
      </p:sp>
      <p:sp>
        <p:nvSpPr>
          <p:cNvPr id="3" name="Subtitle 2">
            <a:extLst>
              <a:ext uri="{FF2B5EF4-FFF2-40B4-BE49-F238E27FC236}">
                <a16:creationId xmlns:a16="http://schemas.microsoft.com/office/drawing/2014/main" id="{2F29E391-AEFE-9D0B-7133-5DD4D27D4D32}"/>
              </a:ext>
            </a:extLst>
          </p:cNvPr>
          <p:cNvSpPr>
            <a:spLocks noGrp="1"/>
          </p:cNvSpPr>
          <p:nvPr>
            <p:ph type="subTitle" idx="1"/>
          </p:nvPr>
        </p:nvSpPr>
        <p:spPr>
          <a:xfrm>
            <a:off x="1524000" y="3757680"/>
            <a:ext cx="9144000" cy="1655762"/>
          </a:xfrm>
        </p:spPr>
        <p:txBody>
          <a:bodyPr>
            <a:normAutofit lnSpcReduction="10000"/>
          </a:bodyPr>
          <a:lstStyle/>
          <a:p>
            <a:pPr algn="l"/>
            <a:r>
              <a:rPr lang="ja-JP" altLang="es-MX" dirty="0"/>
              <a:t>情報経営システム工学３年</a:t>
            </a:r>
            <a:endParaRPr lang="es-MX" altLang="ja-JP" dirty="0"/>
          </a:p>
          <a:p>
            <a:pPr algn="l"/>
            <a:r>
              <a:rPr lang="ja-JP" altLang="es-MX" dirty="0"/>
              <a:t>ロペスチャパホセ</a:t>
            </a:r>
            <a:endParaRPr lang="es-MX" altLang="ja-JP" dirty="0"/>
          </a:p>
          <a:p>
            <a:pPr algn="l"/>
            <a:endParaRPr lang="es-MX" dirty="0"/>
          </a:p>
          <a:p>
            <a:pPr algn="r"/>
            <a:r>
              <a:rPr lang="ja-JP" altLang="es-MX" sz="1600" dirty="0"/>
              <a:t>２０２６年０２月０３日</a:t>
            </a:r>
            <a:endParaRPr lang="es-MX" sz="1600" dirty="0"/>
          </a:p>
        </p:txBody>
      </p:sp>
    </p:spTree>
    <p:extLst>
      <p:ext uri="{BB962C8B-B14F-4D97-AF65-F5344CB8AC3E}">
        <p14:creationId xmlns:p14="http://schemas.microsoft.com/office/powerpoint/2010/main" val="2758397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F80EB-F019-8937-CDE1-38F0755172D6}"/>
              </a:ext>
            </a:extLst>
          </p:cNvPr>
          <p:cNvSpPr>
            <a:spLocks noGrp="1"/>
          </p:cNvSpPr>
          <p:nvPr>
            <p:ph type="title"/>
          </p:nvPr>
        </p:nvSpPr>
        <p:spPr/>
        <p:txBody>
          <a:bodyPr/>
          <a:lstStyle/>
          <a:p>
            <a:r>
              <a:rPr lang="es-MX" dirty="0" err="1"/>
              <a:t>Objective</a:t>
            </a:r>
            <a:endParaRPr lang="es-MX" dirty="0"/>
          </a:p>
        </p:txBody>
      </p:sp>
      <p:sp>
        <p:nvSpPr>
          <p:cNvPr id="4" name="Rectangle 1">
            <a:extLst>
              <a:ext uri="{FF2B5EF4-FFF2-40B4-BE49-F238E27FC236}">
                <a16:creationId xmlns:a16="http://schemas.microsoft.com/office/drawing/2014/main" id="{0CA34DBD-EB92-BFBB-12CC-C4A47EFC8320}"/>
              </a:ext>
            </a:extLst>
          </p:cNvPr>
          <p:cNvSpPr>
            <a:spLocks noGrp="1" noChangeArrowheads="1"/>
          </p:cNvSpPr>
          <p:nvPr>
            <p:ph idx="1"/>
          </p:nvPr>
        </p:nvSpPr>
        <p:spPr bwMode="auto">
          <a:xfrm>
            <a:off x="838200" y="1785303"/>
            <a:ext cx="10363200"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FastRAGは</a:t>
            </a:r>
            <a:r>
              <a:rPr kumimoji="0" lang="es-MX" altLang="es-MX" sz="2400" b="1" i="0" u="none" strike="noStrike" cap="none" normalizeH="0" baseline="0" dirty="0" err="1">
                <a:ln>
                  <a:noFill/>
                </a:ln>
                <a:solidFill>
                  <a:schemeClr val="tx1"/>
                </a:solidFill>
                <a:effectLst/>
                <a:latin typeface="Arial" panose="020B0604020202020204" pitchFamily="34" charset="0"/>
              </a:rPr>
              <a:t>大規模な半構造化テキストデータ</a:t>
            </a:r>
            <a:r>
              <a:rPr kumimoji="0" lang="es-MX" altLang="es-MX" sz="2400" b="0" i="0" u="none" strike="noStrike" cap="none" normalizeH="0" baseline="0" dirty="0" err="1">
                <a:ln>
                  <a:noFill/>
                </a:ln>
                <a:solidFill>
                  <a:schemeClr val="tx1"/>
                </a:solidFill>
                <a:effectLst/>
                <a:latin typeface="Arial" panose="020B0604020202020204" pitchFamily="34" charset="0"/>
              </a:rPr>
              <a:t>を対象とする</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ログ、セキュリティレポート、設定ファイルなど</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1" i="0" u="none" strike="noStrike" cap="none" normalizeH="0" baseline="0" dirty="0" err="1">
                <a:ln>
                  <a:noFill/>
                </a:ln>
                <a:solidFill>
                  <a:schemeClr val="tx1"/>
                </a:solidFill>
                <a:effectLst/>
                <a:latin typeface="Arial" panose="020B0604020202020204" pitchFamily="34" charset="0"/>
              </a:rPr>
              <a:t>課題</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明示的なスキーマが存在しない</a:t>
            </a: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冗長な情報が多い</a:t>
            </a: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すべてをLLMに入力するのは高コスト</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1" i="0" u="none" strike="noStrike" cap="none" normalizeH="0" baseline="0" dirty="0" err="1">
                <a:ln>
                  <a:noFill/>
                </a:ln>
                <a:solidFill>
                  <a:schemeClr val="tx1"/>
                </a:solidFill>
                <a:effectLst/>
                <a:latin typeface="Arial" panose="020B0604020202020204" pitchFamily="34" charset="0"/>
              </a:rPr>
              <a:t>前処理の目的</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データ量の削減</a:t>
            </a: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構造的な多様性の保持</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2196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1FEF-38BA-E2DD-AC96-7ACE18816CCC}"/>
              </a:ext>
            </a:extLst>
          </p:cNvPr>
          <p:cNvSpPr>
            <a:spLocks noGrp="1"/>
          </p:cNvSpPr>
          <p:nvPr>
            <p:ph type="title"/>
          </p:nvPr>
        </p:nvSpPr>
        <p:spPr/>
        <p:txBody>
          <a:bodyPr/>
          <a:lstStyle/>
          <a:p>
            <a:r>
              <a:rPr lang="ja-JP" altLang="es-MX" dirty="0"/>
              <a:t>１．</a:t>
            </a:r>
            <a:r>
              <a:rPr lang="es-MX" altLang="ja-JP" dirty="0" err="1"/>
              <a:t>Preprocessing</a:t>
            </a:r>
            <a:endParaRPr lang="es-MX" dirty="0"/>
          </a:p>
        </p:txBody>
      </p:sp>
      <p:sp>
        <p:nvSpPr>
          <p:cNvPr id="3" name="Text Placeholder 2">
            <a:extLst>
              <a:ext uri="{FF2B5EF4-FFF2-40B4-BE49-F238E27FC236}">
                <a16:creationId xmlns:a16="http://schemas.microsoft.com/office/drawing/2014/main" id="{4D4DA9A4-73D2-872A-4227-6DED39BA54E8}"/>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384825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14761-E797-A394-09CE-CE95DD542B1C}"/>
              </a:ext>
            </a:extLst>
          </p:cNvPr>
          <p:cNvSpPr>
            <a:spLocks noGrp="1"/>
          </p:cNvSpPr>
          <p:nvPr>
            <p:ph type="title"/>
          </p:nvPr>
        </p:nvSpPr>
        <p:spPr/>
        <p:txBody>
          <a:bodyPr/>
          <a:lstStyle/>
          <a:p>
            <a:r>
              <a:rPr lang="es-MX" altLang="ja-JP" dirty="0" err="1"/>
              <a:t>Chunking</a:t>
            </a:r>
            <a:endParaRPr lang="es-MX" dirty="0"/>
          </a:p>
        </p:txBody>
      </p:sp>
      <p:sp>
        <p:nvSpPr>
          <p:cNvPr id="4" name="Rectangle 1">
            <a:extLst>
              <a:ext uri="{FF2B5EF4-FFF2-40B4-BE49-F238E27FC236}">
                <a16:creationId xmlns:a16="http://schemas.microsoft.com/office/drawing/2014/main" id="{BAD47343-63AD-7CC0-F724-8C57104BA394}"/>
              </a:ext>
            </a:extLst>
          </p:cNvPr>
          <p:cNvSpPr>
            <a:spLocks noGrp="1" noChangeArrowheads="1"/>
          </p:cNvSpPr>
          <p:nvPr>
            <p:ph idx="1"/>
          </p:nvPr>
        </p:nvSpPr>
        <p:spPr bwMode="auto">
          <a:xfrm>
            <a:off x="838200" y="1585250"/>
            <a:ext cx="93980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2200" b="0" i="0" u="none" strike="noStrike" cap="none" normalizeH="0" baseline="0" dirty="0" err="1">
                <a:ln>
                  <a:noFill/>
                </a:ln>
                <a:solidFill>
                  <a:schemeClr val="tx1"/>
                </a:solidFill>
                <a:effectLst/>
                <a:latin typeface="Arial" panose="020B0604020202020204" pitchFamily="34" charset="0"/>
              </a:rPr>
              <a:t>データセットは</a:t>
            </a:r>
            <a:r>
              <a:rPr kumimoji="0" lang="es-MX" altLang="es-MX" sz="2200" b="1" i="0" u="none" strike="noStrike" cap="none" normalizeH="0" baseline="0" dirty="0" err="1">
                <a:ln>
                  <a:noFill/>
                </a:ln>
                <a:solidFill>
                  <a:schemeClr val="tx1"/>
                </a:solidFill>
                <a:effectLst/>
                <a:latin typeface="Arial" panose="020B0604020202020204" pitchFamily="34" charset="0"/>
              </a:rPr>
              <a:t>行・チャンク単位</a:t>
            </a:r>
            <a:r>
              <a:rPr kumimoji="0" lang="es-MX" altLang="es-MX" sz="2200" b="0" i="0" u="none" strike="noStrike" cap="none" normalizeH="0" baseline="0" dirty="0" err="1">
                <a:ln>
                  <a:noFill/>
                </a:ln>
                <a:solidFill>
                  <a:schemeClr val="tx1"/>
                </a:solidFill>
                <a:effectLst/>
                <a:latin typeface="Arial" panose="020B0604020202020204" pitchFamily="34" charset="0"/>
              </a:rPr>
              <a:t>に分割される</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200" b="0" i="0" u="none" strike="noStrike" cap="none" normalizeH="0" baseline="0" dirty="0" err="1">
                <a:ln>
                  <a:noFill/>
                </a:ln>
                <a:solidFill>
                  <a:schemeClr val="tx1"/>
                </a:solidFill>
                <a:effectLst/>
                <a:latin typeface="Arial" panose="020B0604020202020204" pitchFamily="34" charset="0"/>
              </a:rPr>
              <a:t>チャンク化の目的</a:t>
            </a:r>
            <a:r>
              <a:rPr kumimoji="0" lang="es-MX" altLang="es-MX" sz="22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sz="2200" b="0" i="0" u="none" strike="noStrike" cap="none" normalizeH="0" baseline="0" dirty="0" err="1">
                <a:ln>
                  <a:noFill/>
                </a:ln>
                <a:solidFill>
                  <a:schemeClr val="tx1"/>
                </a:solidFill>
                <a:effectLst/>
                <a:latin typeface="Arial" panose="020B0604020202020204" pitchFamily="34" charset="0"/>
              </a:rPr>
              <a:t>局所的な構造解析</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sz="2200" b="0" i="0" u="none" strike="noStrike" cap="none" normalizeH="0" baseline="0" dirty="0" err="1">
                <a:ln>
                  <a:noFill/>
                </a:ln>
                <a:solidFill>
                  <a:schemeClr val="tx1"/>
                </a:solidFill>
                <a:effectLst/>
                <a:latin typeface="Arial" panose="020B0604020202020204" pitchFamily="34" charset="0"/>
              </a:rPr>
              <a:t>チャンク単位での統計評価</a:t>
            </a:r>
            <a:endParaRPr lang="es-MX" altLang="es-MX" sz="2200"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kumimoji="0" lang="es-MX" altLang="es-MX" sz="2200" b="0" i="0" u="none" strike="noStrike" cap="none" normalizeH="0" baseline="0" dirty="0" err="1">
                <a:ln>
                  <a:noFill/>
                </a:ln>
                <a:solidFill>
                  <a:schemeClr val="tx1"/>
                </a:solidFill>
                <a:effectLst/>
                <a:latin typeface="Arial" panose="020B0604020202020204" pitchFamily="34" charset="0"/>
              </a:rPr>
              <a:t>各チャンクは</a:t>
            </a:r>
            <a:r>
              <a:rPr kumimoji="0" lang="es-MX" altLang="es-MX" sz="2200" b="1" i="0" u="none" strike="noStrike" cap="none" normalizeH="0" baseline="0" dirty="0" err="1">
                <a:ln>
                  <a:noFill/>
                </a:ln>
                <a:solidFill>
                  <a:schemeClr val="tx1"/>
                </a:solidFill>
                <a:effectLst/>
                <a:latin typeface="Arial" panose="020B0604020202020204" pitchFamily="34" charset="0"/>
              </a:rPr>
              <a:t>キーワードのみ</a:t>
            </a:r>
            <a:r>
              <a:rPr kumimoji="0" lang="es-MX" altLang="es-MX" sz="2200" b="0" i="0" u="none" strike="noStrike" cap="none" normalizeH="0" baseline="0" dirty="0" err="1">
                <a:ln>
                  <a:noFill/>
                </a:ln>
                <a:solidFill>
                  <a:schemeClr val="tx1"/>
                </a:solidFill>
                <a:effectLst/>
                <a:latin typeface="Arial" panose="020B0604020202020204" pitchFamily="34" charset="0"/>
              </a:rPr>
              <a:t>で表現される</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lang="es-MX" altLang="ja-JP" sz="2200" dirty="0">
                <a:latin typeface="Arial" panose="020B0604020202020204" pitchFamily="34" charset="0"/>
              </a:rPr>
              <a:t>	</a:t>
            </a:r>
            <a:r>
              <a:rPr lang="ja-JP" altLang="es-MX" sz="2200" dirty="0">
                <a:latin typeface="Arial" panose="020B0604020202020204" pitchFamily="34" charset="0"/>
              </a:rPr>
              <a:t>➞</a:t>
            </a:r>
            <a:r>
              <a:rPr kumimoji="0" lang="es-MX" altLang="es-MX" sz="2200" b="0" i="0" u="none" strike="noStrike" cap="none" normalizeH="0" baseline="0" dirty="0">
                <a:ln>
                  <a:noFill/>
                </a:ln>
                <a:solidFill>
                  <a:schemeClr val="tx1"/>
                </a:solidFill>
                <a:effectLst/>
                <a:latin typeface="Arial" panose="020B0604020202020204" pitchFamily="34" charset="0"/>
              </a:rPr>
              <a:t>TF-</a:t>
            </a:r>
            <a:r>
              <a:rPr kumimoji="0" lang="es-MX" altLang="es-MX" sz="2200" b="0" i="0" u="none" strike="noStrike" cap="none" normalizeH="0" baseline="0" dirty="0" err="1">
                <a:ln>
                  <a:noFill/>
                </a:ln>
                <a:solidFill>
                  <a:schemeClr val="tx1"/>
                </a:solidFill>
                <a:effectLst/>
                <a:latin typeface="Arial" panose="020B0604020202020204" pitchFamily="34" charset="0"/>
              </a:rPr>
              <a:t>IDFによってベクトル化</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kumimoji="0" lang="es-MX" altLang="es-MX" sz="2200" b="0" i="0" u="none" strike="noStrike" cap="none" normalizeH="0" baseline="0" dirty="0" err="1">
                <a:ln>
                  <a:noFill/>
                </a:ln>
                <a:solidFill>
                  <a:schemeClr val="tx1"/>
                </a:solidFill>
                <a:effectLst/>
                <a:latin typeface="Arial" panose="020B0604020202020204" pitchFamily="34" charset="0"/>
              </a:rPr>
              <a:t>チャンクごとにシャノンエントロピーを計算</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s-MX" altLang="es-MX" sz="2200" dirty="0">
              <a:latin typeface="Arial" panose="020B0604020202020204" pitchFamily="34" charset="0"/>
            </a:endParaRPr>
          </a:p>
          <a:p>
            <a:pPr marL="0" lvl="0" indent="0" eaLnBrk="0" fontAlgn="base" hangingPunct="0">
              <a:lnSpc>
                <a:spcPct val="100000"/>
              </a:lnSpc>
              <a:spcBef>
                <a:spcPct val="0"/>
              </a:spcBef>
              <a:spcAft>
                <a:spcPct val="0"/>
              </a:spcAft>
              <a:buNone/>
            </a:pPr>
            <a:r>
              <a:rPr kumimoji="0" lang="es-MX" altLang="es-MX" sz="2200" b="0" i="0" u="none" strike="noStrike" cap="none" normalizeH="0" baseline="0" dirty="0" err="1">
                <a:ln>
                  <a:noFill/>
                </a:ln>
                <a:solidFill>
                  <a:schemeClr val="tx1"/>
                </a:solidFill>
                <a:effectLst/>
                <a:latin typeface="Arial" panose="020B0604020202020204" pitchFamily="34" charset="0"/>
              </a:rPr>
              <a:t>エントロピーは以下を評価</a:t>
            </a:r>
            <a:r>
              <a:rPr kumimoji="0" lang="es-MX" altLang="es-MX" sz="22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sz="2200" b="0" i="0" u="none" strike="noStrike" cap="none" normalizeH="0" baseline="0" dirty="0" err="1">
                <a:ln>
                  <a:noFill/>
                </a:ln>
                <a:solidFill>
                  <a:schemeClr val="tx1"/>
                </a:solidFill>
                <a:effectLst/>
                <a:latin typeface="Arial" panose="020B0604020202020204" pitchFamily="34" charset="0"/>
              </a:rPr>
              <a:t>情報の多様性</a:t>
            </a:r>
            <a:endParaRPr kumimoji="0" lang="es-MX" altLang="es-MX" sz="22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s-MX" altLang="es-MX" sz="2200" b="0" i="0" u="none" strike="noStrike" cap="none" normalizeH="0" baseline="0" dirty="0" err="1">
                <a:ln>
                  <a:noFill/>
                </a:ln>
                <a:solidFill>
                  <a:schemeClr val="tx1"/>
                </a:solidFill>
                <a:effectLst/>
                <a:latin typeface="Arial" panose="020B0604020202020204" pitchFamily="34" charset="0"/>
              </a:rPr>
              <a:t>構造的な豊かさ</a:t>
            </a:r>
            <a:endParaRPr kumimoji="0" lang="es-MX" altLang="es-MX"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4654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EDEC-F165-5E7F-6DC8-75625FEB84F4}"/>
              </a:ext>
            </a:extLst>
          </p:cNvPr>
          <p:cNvSpPr>
            <a:spLocks noGrp="1"/>
          </p:cNvSpPr>
          <p:nvPr>
            <p:ph type="title"/>
          </p:nvPr>
        </p:nvSpPr>
        <p:spPr/>
        <p:txBody>
          <a:bodyPr/>
          <a:lstStyle/>
          <a:p>
            <a:r>
              <a:rPr lang="es-MX" dirty="0" err="1"/>
              <a:t>Keyword</a:t>
            </a:r>
            <a:r>
              <a:rPr lang="es-MX" dirty="0"/>
              <a:t> </a:t>
            </a:r>
            <a:r>
              <a:rPr lang="es-MX" dirty="0" err="1"/>
              <a:t>Extraction</a:t>
            </a:r>
            <a:endParaRPr lang="es-MX" dirty="0"/>
          </a:p>
        </p:txBody>
      </p:sp>
      <p:sp>
        <p:nvSpPr>
          <p:cNvPr id="4" name="Rectangle 1">
            <a:extLst>
              <a:ext uri="{FF2B5EF4-FFF2-40B4-BE49-F238E27FC236}">
                <a16:creationId xmlns:a16="http://schemas.microsoft.com/office/drawing/2014/main" id="{2CA4928D-39A3-CD97-D0BE-B87CF0C65617}"/>
              </a:ext>
            </a:extLst>
          </p:cNvPr>
          <p:cNvSpPr>
            <a:spLocks noGrp="1" noChangeArrowheads="1"/>
          </p:cNvSpPr>
          <p:nvPr>
            <p:ph idx="1"/>
          </p:nvPr>
        </p:nvSpPr>
        <p:spPr bwMode="auto">
          <a:xfrm>
            <a:off x="838200" y="1905505"/>
            <a:ext cx="858921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ja-JP" sz="2400" b="0" i="0" u="none" strike="noStrike" cap="none" normalizeH="0" baseline="0" dirty="0" err="1">
                <a:ln>
                  <a:noFill/>
                </a:ln>
                <a:solidFill>
                  <a:schemeClr val="tx1"/>
                </a:solidFill>
                <a:effectLst/>
                <a:latin typeface="Arial" panose="020B0604020202020204" pitchFamily="34" charset="0"/>
              </a:rPr>
              <a:t>FastRAG</a:t>
            </a:r>
            <a:r>
              <a:rPr kumimoji="0" lang="ja-JP" altLang="es-MX" sz="2400" b="0" i="0" u="none" strike="noStrike" cap="none" normalizeH="0" baseline="0" dirty="0">
                <a:ln>
                  <a:noFill/>
                </a:ln>
                <a:solidFill>
                  <a:schemeClr val="tx1"/>
                </a:solidFill>
                <a:effectLst/>
                <a:latin typeface="Arial" panose="020B0604020202020204" pitchFamily="34" charset="0"/>
              </a:rPr>
              <a:t>の</a:t>
            </a:r>
            <a:r>
              <a:rPr kumimoji="0" lang="es-MX" altLang="es-MX" sz="2400" b="0" i="0" u="none" strike="noStrike" cap="none" normalizeH="0" baseline="0" dirty="0" err="1">
                <a:ln>
                  <a:noFill/>
                </a:ln>
                <a:solidFill>
                  <a:schemeClr val="tx1"/>
                </a:solidFill>
                <a:effectLst/>
                <a:latin typeface="Arial" panose="020B0604020202020204" pitchFamily="34" charset="0"/>
              </a:rPr>
              <a:t>Algorithmは</a:t>
            </a:r>
            <a:r>
              <a:rPr kumimoji="0" lang="es-MX" altLang="es-MX" sz="2400" b="1" i="0" u="none" strike="noStrike" cap="none" normalizeH="0" baseline="0" dirty="0" err="1">
                <a:ln>
                  <a:noFill/>
                </a:ln>
                <a:solidFill>
                  <a:schemeClr val="tx1"/>
                </a:solidFill>
                <a:effectLst/>
                <a:latin typeface="Arial" panose="020B0604020202020204" pitchFamily="34" charset="0"/>
              </a:rPr>
              <a:t>生テキストではなくキーワード</a:t>
            </a:r>
            <a:r>
              <a:rPr kumimoji="0" lang="es-MX" altLang="es-MX" sz="2400" b="0" i="0" u="none" strike="noStrike" cap="none" normalizeH="0" baseline="0" dirty="0" err="1">
                <a:ln>
                  <a:noFill/>
                </a:ln>
                <a:solidFill>
                  <a:schemeClr val="tx1"/>
                </a:solidFill>
                <a:effectLst/>
                <a:latin typeface="Arial" panose="020B0604020202020204" pitchFamily="34" charset="0"/>
              </a:rPr>
              <a:t>を扱う</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キーワードの役割</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lang="ja-JP" altLang="es-MX" dirty="0"/>
              <a:t>データ形式の違いを示す</a:t>
            </a:r>
            <a:endParaRPr lang="es-MX" altLang="ja-JP" dirty="0"/>
          </a:p>
          <a:p>
            <a:pPr marL="457200" lvl="1" indent="0" eaLnBrk="0" fontAlgn="base" hangingPunct="0">
              <a:lnSpc>
                <a:spcPct val="100000"/>
              </a:lnSpc>
              <a:spcBef>
                <a:spcPct val="0"/>
              </a:spcBef>
              <a:spcAft>
                <a:spcPct val="0"/>
              </a:spcAft>
              <a:buFontTx/>
              <a:buChar char="•"/>
            </a:pPr>
            <a:r>
              <a:rPr lang="ja-JP" altLang="es-MX" dirty="0"/>
              <a:t>スキーマ候補フィールドの手がかり</a:t>
            </a:r>
            <a:endParaRPr lang="es-MX" altLang="ja-JP" dirty="0"/>
          </a:p>
          <a:p>
            <a:pPr marL="457200" lvl="1" indent="0" eaLnBrk="0" fontAlgn="base" hangingPunct="0">
              <a:lnSpc>
                <a:spcPct val="100000"/>
              </a:lnSpc>
              <a:spcBef>
                <a:spcPct val="0"/>
              </a:spcBef>
              <a:spcAft>
                <a:spcPct val="0"/>
              </a:spcAft>
              <a:buFontTx/>
              <a:buChar char="•"/>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目的</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lang="ja-JP" altLang="es-MX" dirty="0"/>
              <a:t>内容ではなく</a:t>
            </a:r>
            <a:r>
              <a:rPr lang="ja-JP" altLang="es-MX" b="1" dirty="0"/>
              <a:t>構造の多様性</a:t>
            </a:r>
            <a:r>
              <a:rPr lang="ja-JP" altLang="es-MX" dirty="0"/>
              <a:t>を捉える</a:t>
            </a: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9448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517B-2D94-88EF-5807-A58DF36CFFCE}"/>
              </a:ext>
            </a:extLst>
          </p:cNvPr>
          <p:cNvSpPr>
            <a:spLocks noGrp="1"/>
          </p:cNvSpPr>
          <p:nvPr>
            <p:ph type="title"/>
          </p:nvPr>
        </p:nvSpPr>
        <p:spPr/>
        <p:txBody>
          <a:bodyPr/>
          <a:lstStyle/>
          <a:p>
            <a:r>
              <a:rPr lang="es-MX" dirty="0"/>
              <a:t>Step 1 — </a:t>
            </a:r>
            <a:r>
              <a:rPr lang="es-MX" dirty="0" err="1"/>
              <a:t>Tokenization</a:t>
            </a:r>
            <a:endParaRPr lang="es-MX" dirty="0"/>
          </a:p>
        </p:txBody>
      </p:sp>
      <p:sp>
        <p:nvSpPr>
          <p:cNvPr id="4" name="Rectangle 1">
            <a:extLst>
              <a:ext uri="{FF2B5EF4-FFF2-40B4-BE49-F238E27FC236}">
                <a16:creationId xmlns:a16="http://schemas.microsoft.com/office/drawing/2014/main" id="{6DAAC1AE-D18A-2BEC-8711-2EBA81A39911}"/>
              </a:ext>
            </a:extLst>
          </p:cNvPr>
          <p:cNvSpPr>
            <a:spLocks noGrp="1" noChangeArrowheads="1"/>
          </p:cNvSpPr>
          <p:nvPr>
            <p:ph idx="1"/>
          </p:nvPr>
        </p:nvSpPr>
        <p:spPr bwMode="auto">
          <a:xfrm>
            <a:off x="838200" y="1522184"/>
            <a:ext cx="9135534" cy="5127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ja-JP" altLang="es-MX" sz="2400" dirty="0"/>
              <a:t>データセットの各行をトークナイズする</a:t>
            </a:r>
            <a:endParaRPr lang="es-MX" altLang="ja-JP" sz="2400" dirty="0"/>
          </a:p>
          <a:p>
            <a:pPr marL="0" indent="0">
              <a:lnSpc>
                <a:spcPct val="150000"/>
              </a:lnSpc>
              <a:buNone/>
            </a:pPr>
            <a:r>
              <a:rPr lang="ja-JP" altLang="es-MX" sz="2400" dirty="0"/>
              <a:t>トークンには以下が含まれる</a:t>
            </a:r>
            <a:r>
              <a:rPr lang="es-MX" altLang="ja-JP" sz="2400" dirty="0"/>
              <a:t>:</a:t>
            </a:r>
          </a:p>
          <a:p>
            <a:pPr lvl="1"/>
            <a:r>
              <a:rPr lang="ja-JP" altLang="es-MX" dirty="0"/>
              <a:t>単語</a:t>
            </a:r>
          </a:p>
          <a:p>
            <a:pPr lvl="1"/>
            <a:r>
              <a:rPr lang="ja-JP" altLang="es-MX" dirty="0"/>
              <a:t>識別子</a:t>
            </a:r>
          </a:p>
          <a:p>
            <a:pPr lvl="1"/>
            <a:r>
              <a:rPr lang="ja-JP" altLang="es-MX" dirty="0"/>
              <a:t>技術用語</a:t>
            </a:r>
            <a:endParaRPr lang="es-MX" altLang="ja-JP" sz="2400" dirty="0"/>
          </a:p>
          <a:p>
            <a:pPr marL="0" indent="0">
              <a:lnSpc>
                <a:spcPct val="150000"/>
              </a:lnSpc>
              <a:buNone/>
            </a:pPr>
            <a:r>
              <a:rPr lang="ja-JP" altLang="es-MX" sz="2400" dirty="0"/>
              <a:t>この段階では</a:t>
            </a:r>
            <a:r>
              <a:rPr lang="es-MX" altLang="ja-JP" sz="2400" dirty="0"/>
              <a:t>:</a:t>
            </a:r>
          </a:p>
          <a:p>
            <a:pPr lvl="1"/>
            <a:r>
              <a:rPr lang="ja-JP" altLang="es-MX" dirty="0"/>
              <a:t>フィルタなし</a:t>
            </a:r>
          </a:p>
          <a:p>
            <a:pPr lvl="1"/>
            <a:r>
              <a:rPr lang="ja-JP" altLang="es-MX" dirty="0"/>
              <a:t>重み付けなし</a:t>
            </a:r>
          </a:p>
          <a:p>
            <a:pPr lvl="1"/>
            <a:r>
              <a:rPr lang="ja-JP" altLang="es-MX" dirty="0"/>
              <a:t>単純な出現記録のみ</a:t>
            </a:r>
            <a:endParaRPr lang="es-MX" altLang="ja-JP" sz="2400" dirty="0"/>
          </a:p>
          <a:p>
            <a:pPr marL="0" indent="0">
              <a:lnSpc>
                <a:spcPct val="150000"/>
              </a:lnSpc>
              <a:buNone/>
            </a:pPr>
            <a:r>
              <a:rPr lang="ja-JP" altLang="es-MX" sz="2400" dirty="0"/>
              <a:t>ここで</a:t>
            </a:r>
            <a:r>
              <a:rPr lang="ja-JP" altLang="es-MX" sz="2400" b="1" dirty="0"/>
              <a:t>全語彙集合</a:t>
            </a:r>
            <a:r>
              <a:rPr lang="ja-JP" altLang="es-MX" sz="2400" dirty="0"/>
              <a:t>が得られる。</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3439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BC02B-611B-2147-B411-1BBE00C037FF}"/>
              </a:ext>
            </a:extLst>
          </p:cNvPr>
          <p:cNvSpPr>
            <a:spLocks noGrp="1"/>
          </p:cNvSpPr>
          <p:nvPr>
            <p:ph type="title"/>
          </p:nvPr>
        </p:nvSpPr>
        <p:spPr/>
        <p:txBody>
          <a:bodyPr/>
          <a:lstStyle/>
          <a:p>
            <a:r>
              <a:rPr lang="en-US" dirty="0"/>
              <a:t>Step 2 — TF-IDF Matrix</a:t>
            </a:r>
            <a:endParaRPr lang="es-MX"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AFCBCB-8DE9-6873-D4A7-CB0094D31868}"/>
                  </a:ext>
                </a:extLst>
              </p:cNvPr>
              <p:cNvSpPr>
                <a:spLocks noGrp="1"/>
              </p:cNvSpPr>
              <p:nvPr>
                <p:ph idx="1"/>
              </p:nvPr>
            </p:nvSpPr>
            <p:spPr>
              <a:xfrm>
                <a:off x="838200" y="1825625"/>
                <a:ext cx="10515600" cy="4667250"/>
              </a:xfrm>
            </p:spPr>
            <p:txBody>
              <a:bodyPr>
                <a:normAutofit fontScale="92500" lnSpcReduction="10000"/>
              </a:bodyPr>
              <a:lstStyle/>
              <a:p>
                <a:pPr marL="0" indent="0">
                  <a:lnSpc>
                    <a:spcPct val="120000"/>
                  </a:lnSpc>
                  <a:buNone/>
                </a:pPr>
                <a:r>
                  <a:rPr lang="es-MX" altLang="ja-JP" sz="2400" dirty="0"/>
                  <a:t>TF-IDF </a:t>
                </a:r>
                <a:r>
                  <a:rPr lang="ja-JP" altLang="es-MX" sz="2400" dirty="0"/>
                  <a:t>は、</a:t>
                </a:r>
                <a:r>
                  <a:rPr lang="ja-JP" altLang="es-MX" sz="2400" b="1" dirty="0"/>
                  <a:t>各キーワードがそのチャンクにとってどれだけ重要か</a:t>
                </a:r>
                <a:r>
                  <a:rPr lang="ja-JP" altLang="es-MX" sz="2400" dirty="0"/>
                  <a:t> を数式として表現する方法です。</a:t>
                </a:r>
                <a:endParaRPr lang="es-MX" altLang="ja-JP" sz="2400" dirty="0"/>
              </a:p>
              <a:p>
                <a:pPr marL="0" indent="0">
                  <a:lnSpc>
                    <a:spcPct val="120000"/>
                  </a:lnSpc>
                  <a:buNone/>
                </a:pPr>
                <a:endParaRPr lang="es-MX" altLang="ja-JP" sz="2400" b="0" dirty="0"/>
              </a:p>
              <a:p>
                <a:pPr marL="0" indent="0">
                  <a:lnSpc>
                    <a:spcPct val="120000"/>
                  </a:lnSpc>
                  <a:buNone/>
                </a:pPr>
                <a:endParaRPr lang="es-MX" altLang="ja-JP" sz="2400" b="0" dirty="0"/>
              </a:p>
              <a:p>
                <a:pPr marL="0" indent="0">
                  <a:lnSpc>
                    <a:spcPct val="120000"/>
                  </a:lnSpc>
                  <a:buNone/>
                </a:pPr>
                <a:endParaRPr lang="es-MX" altLang="ja-JP" sz="2400" dirty="0"/>
              </a:p>
              <a:p>
                <a:pPr marL="0" indent="0">
                  <a:lnSpc>
                    <a:spcPct val="120000"/>
                  </a:lnSpc>
                  <a:buNone/>
                </a:pPr>
                <a14:m>
                  <m:oMathPara xmlns:m="http://schemas.openxmlformats.org/officeDocument/2006/math">
                    <m:oMathParaPr>
                      <m:jc m:val="centerGroup"/>
                    </m:oMathParaPr>
                    <m:oMath xmlns:m="http://schemas.openxmlformats.org/officeDocument/2006/math">
                      <m:r>
                        <m:rPr>
                          <m:nor/>
                        </m:rPr>
                        <a:rPr lang="es-MX" altLang="ja-JP" sz="2400" b="0" smtClean="0"/>
                        <m:t>TF</m:t>
                      </m:r>
                      <m:r>
                        <m:rPr>
                          <m:nor/>
                        </m:rPr>
                        <a:rPr lang="es-MX" altLang="ja-JP" sz="2400" b="0" smtClean="0"/>
                        <m:t>−</m:t>
                      </m:r>
                      <m:r>
                        <m:rPr>
                          <m:nor/>
                        </m:rPr>
                        <a:rPr lang="es-MX" altLang="ja-JP" sz="2400" b="0" smtClean="0"/>
                        <m:t>IDF</m:t>
                      </m:r>
                      <m:r>
                        <a:rPr lang="es-MX" altLang="ja-JP" sz="2400" b="0" i="0" smtClean="0">
                          <a:latin typeface="Cambria Math" panose="02040503050406030204" pitchFamily="18" charset="0"/>
                        </a:rPr>
                        <m:t>(</m:t>
                      </m:r>
                      <m:r>
                        <m:rPr>
                          <m:sty m:val="p"/>
                        </m:rPr>
                        <a:rPr lang="es-MX" altLang="ja-JP" sz="2400" b="0" i="0" smtClean="0">
                          <a:latin typeface="Cambria Math" panose="02040503050406030204" pitchFamily="18" charset="0"/>
                        </a:rPr>
                        <m:t>t</m:t>
                      </m:r>
                      <m:r>
                        <a:rPr lang="es-MX" altLang="ja-JP" sz="2400" b="0" i="0" smtClean="0">
                          <a:latin typeface="Cambria Math" panose="02040503050406030204" pitchFamily="18" charset="0"/>
                        </a:rPr>
                        <m:t>,</m:t>
                      </m:r>
                      <m:r>
                        <m:rPr>
                          <m:sty m:val="p"/>
                        </m:rPr>
                        <a:rPr lang="es-MX" altLang="ja-JP" sz="2400" b="0" i="0" smtClean="0">
                          <a:latin typeface="Cambria Math" panose="02040503050406030204" pitchFamily="18" charset="0"/>
                        </a:rPr>
                        <m:t>c</m:t>
                      </m:r>
                      <m:r>
                        <a:rPr lang="es-MX" altLang="ja-JP" sz="2400" b="0" i="0" smtClean="0">
                          <a:latin typeface="Cambria Math" panose="02040503050406030204" pitchFamily="18" charset="0"/>
                        </a:rPr>
                        <m:t>)=</m:t>
                      </m:r>
                      <m:r>
                        <m:rPr>
                          <m:nor/>
                        </m:rPr>
                        <a:rPr lang="es-MX" altLang="ja-JP" sz="2400" i="1"/>
                        <m:t>TF</m:t>
                      </m:r>
                      <m:r>
                        <a:rPr lang="es-MX" altLang="ja-JP" sz="2400" b="0" i="0" smtClean="0">
                          <a:latin typeface="Cambria Math" panose="02040503050406030204" pitchFamily="18" charset="0"/>
                        </a:rPr>
                        <m:t>(</m:t>
                      </m:r>
                      <m:r>
                        <m:rPr>
                          <m:sty m:val="p"/>
                        </m:rPr>
                        <a:rPr lang="es-MX" altLang="ja-JP" sz="2400" b="0" i="0" smtClean="0">
                          <a:latin typeface="Cambria Math" panose="02040503050406030204" pitchFamily="18" charset="0"/>
                        </a:rPr>
                        <m:t>t</m:t>
                      </m:r>
                      <m:r>
                        <a:rPr lang="es-MX" altLang="ja-JP" sz="2400" b="0" i="0" smtClean="0">
                          <a:latin typeface="Cambria Math" panose="02040503050406030204" pitchFamily="18" charset="0"/>
                        </a:rPr>
                        <m:t>.</m:t>
                      </m:r>
                      <m:r>
                        <m:rPr>
                          <m:sty m:val="p"/>
                        </m:rPr>
                        <a:rPr lang="es-MX" altLang="ja-JP" sz="2400" b="0" i="0" smtClean="0">
                          <a:latin typeface="Cambria Math" panose="02040503050406030204" pitchFamily="18" charset="0"/>
                        </a:rPr>
                        <m:t>c</m:t>
                      </m:r>
                      <m:r>
                        <a:rPr lang="es-MX" altLang="ja-JP" sz="2400" b="0" i="0" smtClean="0">
                          <a:latin typeface="Cambria Math" panose="02040503050406030204" pitchFamily="18" charset="0"/>
                        </a:rPr>
                        <m:t>)×</m:t>
                      </m:r>
                      <m:r>
                        <m:rPr>
                          <m:nor/>
                        </m:rPr>
                        <a:rPr lang="es-MX" altLang="ja-JP" sz="2400" i="1"/>
                        <m:t>IDF</m:t>
                      </m:r>
                      <m:d>
                        <m:dPr>
                          <m:ctrlPr>
                            <a:rPr lang="ja-JP" altLang="es-MX" sz="2400" i="1">
                              <a:latin typeface="Cambria Math" panose="02040503050406030204" pitchFamily="18" charset="0"/>
                            </a:rPr>
                          </m:ctrlPr>
                        </m:dPr>
                        <m:e>
                          <m:r>
                            <a:rPr lang="ja-JP" altLang="es-MX" sz="2400" i="1">
                              <a:latin typeface="Cambria Math" panose="02040503050406030204" pitchFamily="18" charset="0"/>
                            </a:rPr>
                            <m:t>𝑡</m:t>
                          </m:r>
                        </m:e>
                      </m:d>
                    </m:oMath>
                  </m:oMathPara>
                </a14:m>
                <a:endParaRPr lang="es-MX" altLang="ja-JP" sz="2400" dirty="0"/>
              </a:p>
              <a:p>
                <a:pPr marL="0" indent="0">
                  <a:lnSpc>
                    <a:spcPct val="120000"/>
                  </a:lnSpc>
                  <a:buNone/>
                </a:pPr>
                <a:r>
                  <a:rPr lang="ja-JP" altLang="es-MX" sz="1800" dirty="0"/>
                  <a:t>ここで：</a:t>
                </a:r>
              </a:p>
              <a:p>
                <a:pPr>
                  <a:lnSpc>
                    <a:spcPct val="120000"/>
                  </a:lnSpc>
                </a:pPr>
                <a14:m>
                  <m:oMath xmlns:m="http://schemas.openxmlformats.org/officeDocument/2006/math">
                    <m:r>
                      <m:rPr>
                        <m:nor/>
                      </m:rPr>
                      <a:rPr lang="es-MX" altLang="ja-JP" sz="1800" b="0"/>
                      <m:t>TF</m:t>
                    </m:r>
                    <m:r>
                      <m:rPr>
                        <m:nor/>
                      </m:rPr>
                      <a:rPr lang="es-MX" altLang="ja-JP" sz="1800" b="0" i="0" smtClean="0"/>
                      <m:t>(</m:t>
                    </m:r>
                    <m:r>
                      <a:rPr lang="ja-JP" altLang="es-MX" sz="1800" i="1">
                        <a:latin typeface="Cambria Math" panose="02040503050406030204" pitchFamily="18" charset="0"/>
                      </a:rPr>
                      <m:t>𝑡</m:t>
                    </m:r>
                    <m:r>
                      <m:rPr>
                        <m:nor/>
                      </m:rPr>
                      <a:rPr lang="es-MX" altLang="ja-JP" sz="1800" b="0" i="0" smtClean="0"/>
                      <m:t>,</m:t>
                    </m:r>
                    <m:r>
                      <m:rPr>
                        <m:nor/>
                      </m:rPr>
                      <a:rPr lang="es-MX" altLang="ja-JP" sz="1800" b="0" i="0" smtClean="0"/>
                      <m:t>d</m:t>
                    </m:r>
                    <m:r>
                      <m:rPr>
                        <m:nor/>
                      </m:rPr>
                      <a:rPr lang="es-MX" altLang="ja-JP" sz="1800" b="0" i="0" smtClean="0"/>
                      <m:t>)</m:t>
                    </m:r>
                  </m:oMath>
                </a14:m>
                <a:r>
                  <a:rPr lang="ja-JP" altLang="es-MX" sz="1800" dirty="0"/>
                  <a:t>：</a:t>
                </a:r>
                <a:br>
                  <a:rPr lang="ja-JP" altLang="es-MX" sz="1800" dirty="0"/>
                </a:br>
                <a:r>
                  <a:rPr lang="es-MX" altLang="ja-JP" sz="1800" dirty="0"/>
                  <a:t>	</a:t>
                </a:r>
                <a:r>
                  <a:rPr lang="ja-JP" altLang="es-MX" sz="1800" dirty="0"/>
                  <a:t>チャンク </a:t>
                </a:r>
                <a14:m>
                  <m:oMath xmlns:m="http://schemas.openxmlformats.org/officeDocument/2006/math">
                    <m:r>
                      <a:rPr lang="ja-JP" altLang="es-MX" sz="1800" i="1"/>
                      <m:t>𝑐</m:t>
                    </m:r>
                  </m:oMath>
                </a14:m>
                <a:r>
                  <a:rPr lang="ja-JP" altLang="es-MX" sz="1800" dirty="0"/>
                  <a:t>の中で、キーワード </a:t>
                </a:r>
                <a14:m>
                  <m:oMath xmlns:m="http://schemas.openxmlformats.org/officeDocument/2006/math">
                    <m:r>
                      <a:rPr lang="ja-JP" altLang="es-MX" sz="1800" i="1"/>
                      <m:t>𝑡</m:t>
                    </m:r>
                  </m:oMath>
                </a14:m>
                <a:r>
                  <a:rPr lang="ja-JP" altLang="es-MX" sz="1800" dirty="0"/>
                  <a:t>が何回出現したか</a:t>
                </a:r>
              </a:p>
              <a:p>
                <a:pPr>
                  <a:lnSpc>
                    <a:spcPct val="120000"/>
                  </a:lnSpc>
                </a:pPr>
                <a14:m>
                  <m:oMath xmlns:m="http://schemas.openxmlformats.org/officeDocument/2006/math">
                    <m:r>
                      <m:rPr>
                        <m:nor/>
                      </m:rPr>
                      <a:rPr lang="es-MX" altLang="ja-JP" sz="1800" b="0"/>
                      <m:t>IDF</m:t>
                    </m:r>
                    <m:d>
                      <m:dPr>
                        <m:ctrlPr>
                          <a:rPr lang="ja-JP" altLang="es-MX" sz="1800" i="1"/>
                        </m:ctrlPr>
                      </m:dPr>
                      <m:e>
                        <m:r>
                          <a:rPr lang="ja-JP" altLang="es-MX" sz="1800" b="0" i="1"/>
                          <m:t>𝑡</m:t>
                        </m:r>
                      </m:e>
                    </m:d>
                  </m:oMath>
                </a14:m>
                <a:r>
                  <a:rPr lang="ja-JP" altLang="es-MX" sz="1800" dirty="0"/>
                  <a:t>：</a:t>
                </a:r>
                <a:br>
                  <a:rPr lang="ja-JP" altLang="es-MX" sz="1800" dirty="0"/>
                </a:br>
                <a:r>
                  <a:rPr lang="es-MX" altLang="ja-JP" sz="1800" dirty="0"/>
                  <a:t>	</a:t>
                </a:r>
                <a:r>
                  <a:rPr lang="ja-JP" altLang="es-MX" sz="1800" dirty="0"/>
                  <a:t>データセット全体におけるキーワード </a:t>
                </a:r>
                <a14:m>
                  <m:oMath xmlns:m="http://schemas.openxmlformats.org/officeDocument/2006/math">
                    <m:r>
                      <a:rPr lang="ja-JP" altLang="es-MX" sz="2000" i="1"/>
                      <m:t>𝑡</m:t>
                    </m:r>
                  </m:oMath>
                </a14:m>
                <a:r>
                  <a:rPr lang="ja-JP" altLang="es-MX" sz="2000" dirty="0"/>
                  <a:t>の希少性</a:t>
                </a:r>
              </a:p>
              <a:p>
                <a:endParaRPr lang="es-MX" dirty="0"/>
              </a:p>
            </p:txBody>
          </p:sp>
        </mc:Choice>
        <mc:Fallback>
          <p:sp>
            <p:nvSpPr>
              <p:cNvPr id="3" name="Content Placeholder 2">
                <a:extLst>
                  <a:ext uri="{FF2B5EF4-FFF2-40B4-BE49-F238E27FC236}">
                    <a16:creationId xmlns:a16="http://schemas.microsoft.com/office/drawing/2014/main" id="{F1AFCBCB-8DE9-6873-D4A7-CB0094D31868}"/>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3"/>
                <a:stretch>
                  <a:fillRect l="-754" t="-653" b="-10836"/>
                </a:stretch>
              </a:blipFill>
            </p:spPr>
            <p:txBody>
              <a:bodyPr/>
              <a:lstStyle/>
              <a:p>
                <a:r>
                  <a:rPr lang="es-MX">
                    <a:noFill/>
                  </a:rPr>
                  <a:t> </a:t>
                </a:r>
              </a:p>
            </p:txBody>
          </p:sp>
        </mc:Fallback>
      </mc:AlternateContent>
      <p:pic>
        <p:nvPicPr>
          <p:cNvPr id="6146" name="Picture 2" descr="Introduction to Natural Language Processing — TF-IDF | by Kinder Chen |  Medium">
            <a:extLst>
              <a:ext uri="{FF2B5EF4-FFF2-40B4-BE49-F238E27FC236}">
                <a16:creationId xmlns:a16="http://schemas.microsoft.com/office/drawing/2014/main" id="{6F5D7963-545F-2C94-BBE5-92125BEE8B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9214" y="2778550"/>
            <a:ext cx="6548375" cy="1845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647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6AF26-C8EE-491E-A4BE-61305DF53A1B}"/>
              </a:ext>
            </a:extLst>
          </p:cNvPr>
          <p:cNvSpPr>
            <a:spLocks noGrp="1"/>
          </p:cNvSpPr>
          <p:nvPr>
            <p:ph type="title"/>
          </p:nvPr>
        </p:nvSpPr>
        <p:spPr/>
        <p:txBody>
          <a:bodyPr/>
          <a:lstStyle/>
          <a:p>
            <a:r>
              <a:rPr lang="es-MX" altLang="ja-JP" dirty="0"/>
              <a:t>1</a:t>
            </a:r>
            <a:r>
              <a:rPr lang="ja-JP" altLang="es-MX" dirty="0"/>
              <a:t>：キーワードによるトークン化</a:t>
            </a:r>
            <a:endParaRPr lang="es-MX" dirty="0"/>
          </a:p>
        </p:txBody>
      </p:sp>
      <p:sp>
        <p:nvSpPr>
          <p:cNvPr id="3" name="Content Placeholder 2">
            <a:extLst>
              <a:ext uri="{FF2B5EF4-FFF2-40B4-BE49-F238E27FC236}">
                <a16:creationId xmlns:a16="http://schemas.microsoft.com/office/drawing/2014/main" id="{FC50E552-E10A-391A-CB08-4352154E68E3}"/>
              </a:ext>
            </a:extLst>
          </p:cNvPr>
          <p:cNvSpPr>
            <a:spLocks noGrp="1"/>
          </p:cNvSpPr>
          <p:nvPr>
            <p:ph idx="1"/>
          </p:nvPr>
        </p:nvSpPr>
        <p:spPr/>
        <p:txBody>
          <a:bodyPr/>
          <a:lstStyle/>
          <a:p>
            <a:pPr marL="0" indent="0">
              <a:buNone/>
            </a:pPr>
            <a:r>
              <a:rPr lang="es-MX" sz="2400" dirty="0" err="1"/>
              <a:t>Chunk</a:t>
            </a:r>
            <a:r>
              <a:rPr lang="es-MX" sz="2400" dirty="0"/>
              <a:t> A: ERROR </a:t>
            </a:r>
            <a:r>
              <a:rPr lang="es-MX" sz="2400" dirty="0" err="1"/>
              <a:t>user_id</a:t>
            </a:r>
            <a:r>
              <a:rPr lang="es-MX" sz="2400" dirty="0"/>
              <a:t> </a:t>
            </a:r>
            <a:r>
              <a:rPr lang="es-MX" sz="2400" dirty="0" err="1"/>
              <a:t>action</a:t>
            </a:r>
            <a:r>
              <a:rPr lang="es-MX" sz="2400" dirty="0"/>
              <a:t> status</a:t>
            </a:r>
          </a:p>
          <a:p>
            <a:pPr marL="0" indent="0">
              <a:buNone/>
            </a:pPr>
            <a:r>
              <a:rPr lang="es-MX" sz="2400" dirty="0" err="1"/>
              <a:t>Chunk</a:t>
            </a:r>
            <a:r>
              <a:rPr lang="es-MX" sz="2400" dirty="0"/>
              <a:t> B: ERROR </a:t>
            </a:r>
            <a:r>
              <a:rPr lang="es-MX" sz="2400" dirty="0" err="1"/>
              <a:t>user_id</a:t>
            </a:r>
            <a:r>
              <a:rPr lang="es-MX" sz="2400" dirty="0"/>
              <a:t> </a:t>
            </a:r>
            <a:r>
              <a:rPr lang="es-MX" sz="2400" dirty="0" err="1"/>
              <a:t>action</a:t>
            </a:r>
            <a:r>
              <a:rPr lang="es-MX" sz="2400" dirty="0"/>
              <a:t> status  </a:t>
            </a:r>
          </a:p>
          <a:p>
            <a:pPr marL="0" indent="0">
              <a:buNone/>
            </a:pPr>
            <a:r>
              <a:rPr lang="es-MX" sz="2400" dirty="0" err="1"/>
              <a:t>Chunk</a:t>
            </a:r>
            <a:r>
              <a:rPr lang="es-MX" sz="2400" dirty="0"/>
              <a:t> C: INFO </a:t>
            </a:r>
            <a:r>
              <a:rPr lang="es-MX" sz="2400" dirty="0" err="1"/>
              <a:t>service</a:t>
            </a:r>
            <a:r>
              <a:rPr lang="es-MX" sz="2400" dirty="0"/>
              <a:t> </a:t>
            </a:r>
            <a:r>
              <a:rPr lang="es-MX" sz="2400" dirty="0" err="1"/>
              <a:t>amount</a:t>
            </a:r>
            <a:r>
              <a:rPr lang="es-MX" sz="2400" dirty="0"/>
              <a:t> status </a:t>
            </a:r>
          </a:p>
          <a:p>
            <a:pPr marL="0" indent="0">
              <a:buNone/>
            </a:pPr>
            <a:endParaRPr lang="es-MX" sz="2400" dirty="0"/>
          </a:p>
          <a:p>
            <a:pPr marL="0" indent="0">
              <a:buNone/>
            </a:pPr>
            <a:r>
              <a:rPr lang="en-US" sz="2400" dirty="0"/>
              <a:t>Keywords:</a:t>
            </a:r>
            <a:r>
              <a:rPr lang="ja-JP" altLang="es-MX" sz="2400" dirty="0"/>
              <a:t>　　</a:t>
            </a:r>
            <a:r>
              <a:rPr lang="en-US" sz="2400" dirty="0"/>
              <a:t> [ERROR, INFO, </a:t>
            </a:r>
            <a:r>
              <a:rPr lang="en-US" sz="2400" dirty="0" err="1"/>
              <a:t>user_id</a:t>
            </a:r>
            <a:r>
              <a:rPr lang="en-US" sz="2400" dirty="0"/>
              <a:t>, action, status, service, amount]</a:t>
            </a:r>
            <a:endParaRPr lang="es-MX" altLang="ja-JP" sz="2400" b="1" dirty="0"/>
          </a:p>
          <a:p>
            <a:endParaRPr lang="es-MX" dirty="0"/>
          </a:p>
        </p:txBody>
      </p:sp>
      <p:graphicFrame>
        <p:nvGraphicFramePr>
          <p:cNvPr id="6" name="Table 5">
            <a:extLst>
              <a:ext uri="{FF2B5EF4-FFF2-40B4-BE49-F238E27FC236}">
                <a16:creationId xmlns:a16="http://schemas.microsoft.com/office/drawing/2014/main" id="{03FDC375-C62F-AF1F-5AC1-5381FEF6F98C}"/>
              </a:ext>
            </a:extLst>
          </p:cNvPr>
          <p:cNvGraphicFramePr>
            <a:graphicFrameLocks noGrp="1"/>
          </p:cNvGraphicFramePr>
          <p:nvPr>
            <p:extLst>
              <p:ext uri="{D42A27DB-BD31-4B8C-83A1-F6EECF244321}">
                <p14:modId xmlns:p14="http://schemas.microsoft.com/office/powerpoint/2010/main" val="575462612"/>
              </p:ext>
            </p:extLst>
          </p:nvPr>
        </p:nvGraphicFramePr>
        <p:xfrm>
          <a:off x="838200" y="4559731"/>
          <a:ext cx="10515600" cy="14630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384800448"/>
                    </a:ext>
                  </a:extLst>
                </a:gridCol>
                <a:gridCol w="5257800">
                  <a:extLst>
                    <a:ext uri="{9D8B030D-6E8A-4147-A177-3AD203B41FA5}">
                      <a16:colId xmlns:a16="http://schemas.microsoft.com/office/drawing/2014/main" val="44518454"/>
                    </a:ext>
                  </a:extLst>
                </a:gridCol>
              </a:tblGrid>
              <a:tr h="0">
                <a:tc>
                  <a:txBody>
                    <a:bodyPr/>
                    <a:lstStyle/>
                    <a:p>
                      <a:pPr>
                        <a:buNone/>
                      </a:pPr>
                      <a:r>
                        <a:rPr lang="es-MX" dirty="0" err="1"/>
                        <a:t>Chunk</a:t>
                      </a:r>
                      <a:endParaRPr lang="es-MX" dirty="0"/>
                    </a:p>
                  </a:txBody>
                  <a:tcPr anchor="ctr"/>
                </a:tc>
                <a:tc>
                  <a:txBody>
                    <a:bodyPr/>
                    <a:lstStyle/>
                    <a:p>
                      <a:pPr>
                        <a:buNone/>
                      </a:pPr>
                      <a:r>
                        <a:rPr lang="es-MX"/>
                        <a:t>Tokens</a:t>
                      </a:r>
                    </a:p>
                  </a:txBody>
                  <a:tcPr anchor="ctr"/>
                </a:tc>
                <a:extLst>
                  <a:ext uri="{0D108BD9-81ED-4DB2-BD59-A6C34878D82A}">
                    <a16:rowId xmlns:a16="http://schemas.microsoft.com/office/drawing/2014/main" val="1214893872"/>
                  </a:ext>
                </a:extLst>
              </a:tr>
              <a:tr h="0">
                <a:tc>
                  <a:txBody>
                    <a:bodyPr/>
                    <a:lstStyle/>
                    <a:p>
                      <a:pPr>
                        <a:buNone/>
                      </a:pPr>
                      <a:r>
                        <a:rPr lang="es-MX" dirty="0"/>
                        <a:t>A</a:t>
                      </a:r>
                    </a:p>
                  </a:txBody>
                  <a:tcPr anchor="ctr"/>
                </a:tc>
                <a:tc>
                  <a:txBody>
                    <a:bodyPr/>
                    <a:lstStyle/>
                    <a:p>
                      <a:pPr>
                        <a:buNone/>
                      </a:pPr>
                      <a:r>
                        <a:rPr lang="en-US"/>
                        <a:t>ERROR, user_id, action, status</a:t>
                      </a:r>
                    </a:p>
                  </a:txBody>
                  <a:tcPr anchor="ctr"/>
                </a:tc>
                <a:extLst>
                  <a:ext uri="{0D108BD9-81ED-4DB2-BD59-A6C34878D82A}">
                    <a16:rowId xmlns:a16="http://schemas.microsoft.com/office/drawing/2014/main" val="3896163832"/>
                  </a:ext>
                </a:extLst>
              </a:tr>
              <a:tr h="0">
                <a:tc>
                  <a:txBody>
                    <a:bodyPr/>
                    <a:lstStyle/>
                    <a:p>
                      <a:pPr>
                        <a:buNone/>
                      </a:pPr>
                      <a:r>
                        <a:rPr lang="es-MX"/>
                        <a:t>B</a:t>
                      </a:r>
                    </a:p>
                  </a:txBody>
                  <a:tcPr anchor="ctr"/>
                </a:tc>
                <a:tc>
                  <a:txBody>
                    <a:bodyPr/>
                    <a:lstStyle/>
                    <a:p>
                      <a:pPr>
                        <a:buNone/>
                      </a:pPr>
                      <a:r>
                        <a:rPr lang="en-US"/>
                        <a:t>ERROR, user_id, action, status</a:t>
                      </a:r>
                    </a:p>
                  </a:txBody>
                  <a:tcPr anchor="ctr"/>
                </a:tc>
                <a:extLst>
                  <a:ext uri="{0D108BD9-81ED-4DB2-BD59-A6C34878D82A}">
                    <a16:rowId xmlns:a16="http://schemas.microsoft.com/office/drawing/2014/main" val="3805622251"/>
                  </a:ext>
                </a:extLst>
              </a:tr>
              <a:tr h="0">
                <a:tc>
                  <a:txBody>
                    <a:bodyPr/>
                    <a:lstStyle/>
                    <a:p>
                      <a:pPr>
                        <a:buNone/>
                      </a:pPr>
                      <a:r>
                        <a:rPr lang="es-MX" dirty="0"/>
                        <a:t>C</a:t>
                      </a:r>
                    </a:p>
                  </a:txBody>
                  <a:tcPr anchor="ctr"/>
                </a:tc>
                <a:tc>
                  <a:txBody>
                    <a:bodyPr/>
                    <a:lstStyle/>
                    <a:p>
                      <a:pPr>
                        <a:buNone/>
                      </a:pPr>
                      <a:r>
                        <a:rPr lang="es-MX" dirty="0"/>
                        <a:t>INFO, </a:t>
                      </a:r>
                      <a:r>
                        <a:rPr lang="es-MX" dirty="0" err="1"/>
                        <a:t>service</a:t>
                      </a:r>
                      <a:r>
                        <a:rPr lang="es-MX" dirty="0"/>
                        <a:t>, </a:t>
                      </a:r>
                      <a:r>
                        <a:rPr lang="es-MX" dirty="0" err="1"/>
                        <a:t>amount</a:t>
                      </a:r>
                      <a:r>
                        <a:rPr lang="es-MX" dirty="0"/>
                        <a:t>, status</a:t>
                      </a:r>
                    </a:p>
                  </a:txBody>
                  <a:tcPr anchor="ctr"/>
                </a:tc>
                <a:extLst>
                  <a:ext uri="{0D108BD9-81ED-4DB2-BD59-A6C34878D82A}">
                    <a16:rowId xmlns:a16="http://schemas.microsoft.com/office/drawing/2014/main" val="3004138782"/>
                  </a:ext>
                </a:extLst>
              </a:tr>
            </a:tbl>
          </a:graphicData>
        </a:graphic>
      </p:graphicFrame>
    </p:spTree>
    <p:extLst>
      <p:ext uri="{BB962C8B-B14F-4D97-AF65-F5344CB8AC3E}">
        <p14:creationId xmlns:p14="http://schemas.microsoft.com/office/powerpoint/2010/main" val="1453563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8C585-8E77-0755-5963-43760DDC0D4E}"/>
              </a:ext>
            </a:extLst>
          </p:cNvPr>
          <p:cNvSpPr>
            <a:spLocks noGrp="1"/>
          </p:cNvSpPr>
          <p:nvPr>
            <p:ph type="title"/>
          </p:nvPr>
        </p:nvSpPr>
        <p:spPr/>
        <p:txBody>
          <a:bodyPr/>
          <a:lstStyle/>
          <a:p>
            <a:r>
              <a:rPr lang="en-US" dirty="0"/>
              <a:t>2：Term </a:t>
            </a:r>
            <a:r>
              <a:rPr lang="en-US" dirty="0" err="1"/>
              <a:t>Frequency（TF</a:t>
            </a:r>
            <a:r>
              <a:rPr lang="en-US" dirty="0"/>
              <a:t>）</a:t>
            </a:r>
            <a:endParaRPr lang="es-MX" dirty="0"/>
          </a:p>
        </p:txBody>
      </p:sp>
      <p:sp>
        <p:nvSpPr>
          <p:cNvPr id="3" name="Content Placeholder 2">
            <a:extLst>
              <a:ext uri="{FF2B5EF4-FFF2-40B4-BE49-F238E27FC236}">
                <a16:creationId xmlns:a16="http://schemas.microsoft.com/office/drawing/2014/main" id="{F9F89482-8BE4-7D25-6A24-CFE76B5CDBAF}"/>
              </a:ext>
            </a:extLst>
          </p:cNvPr>
          <p:cNvSpPr>
            <a:spLocks noGrp="1"/>
          </p:cNvSpPr>
          <p:nvPr>
            <p:ph idx="1"/>
          </p:nvPr>
        </p:nvSpPr>
        <p:spPr>
          <a:xfrm>
            <a:off x="838200" y="1690687"/>
            <a:ext cx="10515600" cy="5036683"/>
          </a:xfrm>
        </p:spPr>
        <p:txBody>
          <a:bodyPr>
            <a:normAutofit/>
          </a:bodyPr>
          <a:lstStyle/>
          <a:p>
            <a:pPr marL="0" indent="0">
              <a:buNone/>
            </a:pPr>
            <a:r>
              <a:rPr lang="es-MX" altLang="ja-JP" sz="2400" dirty="0"/>
              <a:t>TF </a:t>
            </a:r>
            <a:r>
              <a:rPr lang="ja-JP" altLang="es-MX" sz="2400" dirty="0"/>
              <a:t>は、あるチャンク内で</a:t>
            </a:r>
            <a:br>
              <a:rPr lang="ja-JP" altLang="es-MX" sz="2400" dirty="0"/>
            </a:br>
            <a:r>
              <a:rPr lang="ja-JP" altLang="es-MX" sz="2400" dirty="0"/>
              <a:t>単語が何回出現したかを表す。</a:t>
            </a:r>
            <a:endParaRPr lang="en-US" altLang="ja-JP"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s-MX" altLang="ja-JP" sz="2400" dirty="0"/>
              <a:t>TF </a:t>
            </a:r>
            <a:r>
              <a:rPr lang="ja-JP" altLang="es-MX" sz="2400" dirty="0"/>
              <a:t>は </a:t>
            </a:r>
            <a:r>
              <a:rPr lang="ja-JP" altLang="es-MX" sz="2400" b="1" dirty="0"/>
              <a:t>局所的な重要度</a:t>
            </a:r>
            <a:r>
              <a:rPr lang="ja-JP" altLang="es-MX" sz="2400" dirty="0"/>
              <a:t> を表す。</a:t>
            </a:r>
            <a:endParaRPr lang="es-MX" sz="2400" dirty="0"/>
          </a:p>
          <a:p>
            <a:pPr marL="0" indent="0">
              <a:buNone/>
            </a:pPr>
            <a:endParaRPr lang="es-MX" sz="2400" dirty="0"/>
          </a:p>
        </p:txBody>
      </p:sp>
      <p:graphicFrame>
        <p:nvGraphicFramePr>
          <p:cNvPr id="4" name="Table 3">
            <a:extLst>
              <a:ext uri="{FF2B5EF4-FFF2-40B4-BE49-F238E27FC236}">
                <a16:creationId xmlns:a16="http://schemas.microsoft.com/office/drawing/2014/main" id="{34AC8E02-2D3F-78C7-0717-CB078983EE31}"/>
              </a:ext>
            </a:extLst>
          </p:cNvPr>
          <p:cNvGraphicFramePr>
            <a:graphicFrameLocks noGrp="1"/>
          </p:cNvGraphicFramePr>
          <p:nvPr>
            <p:extLst>
              <p:ext uri="{D42A27DB-BD31-4B8C-83A1-F6EECF244321}">
                <p14:modId xmlns:p14="http://schemas.microsoft.com/office/powerpoint/2010/main" val="2277980553"/>
              </p:ext>
            </p:extLst>
          </p:nvPr>
        </p:nvGraphicFramePr>
        <p:xfrm>
          <a:off x="838200" y="2579915"/>
          <a:ext cx="10515600" cy="292608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447127522"/>
                    </a:ext>
                  </a:extLst>
                </a:gridCol>
                <a:gridCol w="2628900">
                  <a:extLst>
                    <a:ext uri="{9D8B030D-6E8A-4147-A177-3AD203B41FA5}">
                      <a16:colId xmlns:a16="http://schemas.microsoft.com/office/drawing/2014/main" val="49584868"/>
                    </a:ext>
                  </a:extLst>
                </a:gridCol>
                <a:gridCol w="2628900">
                  <a:extLst>
                    <a:ext uri="{9D8B030D-6E8A-4147-A177-3AD203B41FA5}">
                      <a16:colId xmlns:a16="http://schemas.microsoft.com/office/drawing/2014/main" val="255584033"/>
                    </a:ext>
                  </a:extLst>
                </a:gridCol>
                <a:gridCol w="2628900">
                  <a:extLst>
                    <a:ext uri="{9D8B030D-6E8A-4147-A177-3AD203B41FA5}">
                      <a16:colId xmlns:a16="http://schemas.microsoft.com/office/drawing/2014/main" val="1308037281"/>
                    </a:ext>
                  </a:extLst>
                </a:gridCol>
              </a:tblGrid>
              <a:tr h="0">
                <a:tc>
                  <a:txBody>
                    <a:bodyPr/>
                    <a:lstStyle/>
                    <a:p>
                      <a:pPr>
                        <a:buNone/>
                      </a:pPr>
                      <a:r>
                        <a:rPr lang="es-MX" dirty="0" err="1"/>
                        <a:t>Term</a:t>
                      </a:r>
                      <a:endParaRPr lang="es-MX" dirty="0"/>
                    </a:p>
                  </a:txBody>
                  <a:tcPr anchor="ctr"/>
                </a:tc>
                <a:tc>
                  <a:txBody>
                    <a:bodyPr/>
                    <a:lstStyle/>
                    <a:p>
                      <a:pPr>
                        <a:buNone/>
                      </a:pPr>
                      <a:r>
                        <a:rPr lang="es-MX" dirty="0"/>
                        <a:t>TF(A)</a:t>
                      </a:r>
                    </a:p>
                  </a:txBody>
                  <a:tcPr anchor="ctr"/>
                </a:tc>
                <a:tc>
                  <a:txBody>
                    <a:bodyPr/>
                    <a:lstStyle/>
                    <a:p>
                      <a:pPr>
                        <a:buNone/>
                      </a:pPr>
                      <a:r>
                        <a:rPr lang="es-MX" dirty="0"/>
                        <a:t>TF(B)</a:t>
                      </a:r>
                    </a:p>
                  </a:txBody>
                  <a:tcPr anchor="ctr"/>
                </a:tc>
                <a:tc>
                  <a:txBody>
                    <a:bodyPr/>
                    <a:lstStyle/>
                    <a:p>
                      <a:pPr>
                        <a:buNone/>
                      </a:pPr>
                      <a:r>
                        <a:rPr lang="es-MX"/>
                        <a:t>TF(C)</a:t>
                      </a:r>
                    </a:p>
                  </a:txBody>
                  <a:tcPr anchor="ctr"/>
                </a:tc>
                <a:extLst>
                  <a:ext uri="{0D108BD9-81ED-4DB2-BD59-A6C34878D82A}">
                    <a16:rowId xmlns:a16="http://schemas.microsoft.com/office/drawing/2014/main" val="1933435022"/>
                  </a:ext>
                </a:extLst>
              </a:tr>
              <a:tr h="0">
                <a:tc>
                  <a:txBody>
                    <a:bodyPr/>
                    <a:lstStyle/>
                    <a:p>
                      <a:pPr>
                        <a:buNone/>
                      </a:pPr>
                      <a:r>
                        <a:rPr lang="es-MX" dirty="0"/>
                        <a:t>ERROR</a:t>
                      </a:r>
                    </a:p>
                  </a:txBody>
                  <a:tcPr anchor="ctr"/>
                </a:tc>
                <a:tc>
                  <a:txBody>
                    <a:bodyPr/>
                    <a:lstStyle/>
                    <a:p>
                      <a:pPr>
                        <a:buNone/>
                      </a:pPr>
                      <a:r>
                        <a:rPr lang="es-MX" dirty="0"/>
                        <a:t>1</a:t>
                      </a:r>
                    </a:p>
                  </a:txBody>
                  <a:tcPr anchor="ctr"/>
                </a:tc>
                <a:tc>
                  <a:txBody>
                    <a:bodyPr/>
                    <a:lstStyle/>
                    <a:p>
                      <a:pPr>
                        <a:buNone/>
                      </a:pPr>
                      <a:r>
                        <a:rPr lang="es-MX"/>
                        <a:t>1</a:t>
                      </a:r>
                    </a:p>
                  </a:txBody>
                  <a:tcPr anchor="ctr"/>
                </a:tc>
                <a:tc>
                  <a:txBody>
                    <a:bodyPr/>
                    <a:lstStyle/>
                    <a:p>
                      <a:pPr>
                        <a:buNone/>
                      </a:pPr>
                      <a:r>
                        <a:rPr lang="es-MX"/>
                        <a:t>0</a:t>
                      </a:r>
                    </a:p>
                  </a:txBody>
                  <a:tcPr anchor="ctr"/>
                </a:tc>
                <a:extLst>
                  <a:ext uri="{0D108BD9-81ED-4DB2-BD59-A6C34878D82A}">
                    <a16:rowId xmlns:a16="http://schemas.microsoft.com/office/drawing/2014/main" val="3698512976"/>
                  </a:ext>
                </a:extLst>
              </a:tr>
              <a:tr h="0">
                <a:tc>
                  <a:txBody>
                    <a:bodyPr/>
                    <a:lstStyle/>
                    <a:p>
                      <a:pPr>
                        <a:buNone/>
                      </a:pPr>
                      <a:r>
                        <a:rPr lang="es-MX"/>
                        <a:t>INFO</a:t>
                      </a:r>
                    </a:p>
                  </a:txBody>
                  <a:tcPr anchor="ctr"/>
                </a:tc>
                <a:tc>
                  <a:txBody>
                    <a:bodyPr/>
                    <a:lstStyle/>
                    <a:p>
                      <a:pPr>
                        <a:buNone/>
                      </a:pPr>
                      <a:r>
                        <a:rPr lang="es-MX"/>
                        <a:t>0</a:t>
                      </a:r>
                    </a:p>
                  </a:txBody>
                  <a:tcPr anchor="ctr"/>
                </a:tc>
                <a:tc>
                  <a:txBody>
                    <a:bodyPr/>
                    <a:lstStyle/>
                    <a:p>
                      <a:pPr>
                        <a:buNone/>
                      </a:pPr>
                      <a:r>
                        <a:rPr lang="es-MX"/>
                        <a:t>0</a:t>
                      </a:r>
                    </a:p>
                  </a:txBody>
                  <a:tcPr anchor="ctr"/>
                </a:tc>
                <a:tc>
                  <a:txBody>
                    <a:bodyPr/>
                    <a:lstStyle/>
                    <a:p>
                      <a:pPr>
                        <a:buNone/>
                      </a:pPr>
                      <a:r>
                        <a:rPr lang="es-MX"/>
                        <a:t>1</a:t>
                      </a:r>
                    </a:p>
                  </a:txBody>
                  <a:tcPr anchor="ctr"/>
                </a:tc>
                <a:extLst>
                  <a:ext uri="{0D108BD9-81ED-4DB2-BD59-A6C34878D82A}">
                    <a16:rowId xmlns:a16="http://schemas.microsoft.com/office/drawing/2014/main" val="3316805305"/>
                  </a:ext>
                </a:extLst>
              </a:tr>
              <a:tr h="0">
                <a:tc>
                  <a:txBody>
                    <a:bodyPr/>
                    <a:lstStyle/>
                    <a:p>
                      <a:pPr>
                        <a:buNone/>
                      </a:pPr>
                      <a:r>
                        <a:rPr lang="es-MX" dirty="0" err="1"/>
                        <a:t>user_id</a:t>
                      </a:r>
                      <a:endParaRPr lang="es-MX" dirty="0"/>
                    </a:p>
                  </a:txBody>
                  <a:tcPr anchor="ctr"/>
                </a:tc>
                <a:tc>
                  <a:txBody>
                    <a:bodyPr/>
                    <a:lstStyle/>
                    <a:p>
                      <a:pPr>
                        <a:buNone/>
                      </a:pPr>
                      <a:r>
                        <a:rPr lang="es-MX"/>
                        <a:t>1</a:t>
                      </a:r>
                    </a:p>
                  </a:txBody>
                  <a:tcPr anchor="ctr"/>
                </a:tc>
                <a:tc>
                  <a:txBody>
                    <a:bodyPr/>
                    <a:lstStyle/>
                    <a:p>
                      <a:pPr>
                        <a:buNone/>
                      </a:pPr>
                      <a:r>
                        <a:rPr lang="es-MX"/>
                        <a:t>1</a:t>
                      </a:r>
                    </a:p>
                  </a:txBody>
                  <a:tcPr anchor="ctr"/>
                </a:tc>
                <a:tc>
                  <a:txBody>
                    <a:bodyPr/>
                    <a:lstStyle/>
                    <a:p>
                      <a:pPr>
                        <a:buNone/>
                      </a:pPr>
                      <a:r>
                        <a:rPr lang="es-MX"/>
                        <a:t>0</a:t>
                      </a:r>
                    </a:p>
                  </a:txBody>
                  <a:tcPr anchor="ctr"/>
                </a:tc>
                <a:extLst>
                  <a:ext uri="{0D108BD9-81ED-4DB2-BD59-A6C34878D82A}">
                    <a16:rowId xmlns:a16="http://schemas.microsoft.com/office/drawing/2014/main" val="228934457"/>
                  </a:ext>
                </a:extLst>
              </a:tr>
              <a:tr h="0">
                <a:tc>
                  <a:txBody>
                    <a:bodyPr/>
                    <a:lstStyle/>
                    <a:p>
                      <a:pPr>
                        <a:buNone/>
                      </a:pPr>
                      <a:r>
                        <a:rPr lang="es-MX"/>
                        <a:t>action</a:t>
                      </a:r>
                    </a:p>
                  </a:txBody>
                  <a:tcPr anchor="ctr"/>
                </a:tc>
                <a:tc>
                  <a:txBody>
                    <a:bodyPr/>
                    <a:lstStyle/>
                    <a:p>
                      <a:pPr>
                        <a:buNone/>
                      </a:pPr>
                      <a:r>
                        <a:rPr lang="es-MX"/>
                        <a:t>1</a:t>
                      </a:r>
                    </a:p>
                  </a:txBody>
                  <a:tcPr anchor="ctr"/>
                </a:tc>
                <a:tc>
                  <a:txBody>
                    <a:bodyPr/>
                    <a:lstStyle/>
                    <a:p>
                      <a:pPr>
                        <a:buNone/>
                      </a:pPr>
                      <a:r>
                        <a:rPr lang="es-MX"/>
                        <a:t>1</a:t>
                      </a:r>
                    </a:p>
                  </a:txBody>
                  <a:tcPr anchor="ctr"/>
                </a:tc>
                <a:tc>
                  <a:txBody>
                    <a:bodyPr/>
                    <a:lstStyle/>
                    <a:p>
                      <a:pPr>
                        <a:buNone/>
                      </a:pPr>
                      <a:r>
                        <a:rPr lang="es-MX"/>
                        <a:t>0</a:t>
                      </a:r>
                    </a:p>
                  </a:txBody>
                  <a:tcPr anchor="ctr"/>
                </a:tc>
                <a:extLst>
                  <a:ext uri="{0D108BD9-81ED-4DB2-BD59-A6C34878D82A}">
                    <a16:rowId xmlns:a16="http://schemas.microsoft.com/office/drawing/2014/main" val="178683149"/>
                  </a:ext>
                </a:extLst>
              </a:tr>
              <a:tr h="0">
                <a:tc>
                  <a:txBody>
                    <a:bodyPr/>
                    <a:lstStyle/>
                    <a:p>
                      <a:pPr>
                        <a:buNone/>
                      </a:pPr>
                      <a:r>
                        <a:rPr lang="es-MX"/>
                        <a:t>status</a:t>
                      </a:r>
                    </a:p>
                  </a:txBody>
                  <a:tcPr anchor="ctr"/>
                </a:tc>
                <a:tc>
                  <a:txBody>
                    <a:bodyPr/>
                    <a:lstStyle/>
                    <a:p>
                      <a:pPr>
                        <a:buNone/>
                      </a:pPr>
                      <a:r>
                        <a:rPr lang="es-MX"/>
                        <a:t>1</a:t>
                      </a:r>
                    </a:p>
                  </a:txBody>
                  <a:tcPr anchor="ctr"/>
                </a:tc>
                <a:tc>
                  <a:txBody>
                    <a:bodyPr/>
                    <a:lstStyle/>
                    <a:p>
                      <a:pPr>
                        <a:buNone/>
                      </a:pPr>
                      <a:r>
                        <a:rPr lang="es-MX"/>
                        <a:t>1</a:t>
                      </a:r>
                    </a:p>
                  </a:txBody>
                  <a:tcPr anchor="ctr"/>
                </a:tc>
                <a:tc>
                  <a:txBody>
                    <a:bodyPr/>
                    <a:lstStyle/>
                    <a:p>
                      <a:pPr>
                        <a:buNone/>
                      </a:pPr>
                      <a:r>
                        <a:rPr lang="es-MX"/>
                        <a:t>1</a:t>
                      </a:r>
                    </a:p>
                  </a:txBody>
                  <a:tcPr anchor="ctr"/>
                </a:tc>
                <a:extLst>
                  <a:ext uri="{0D108BD9-81ED-4DB2-BD59-A6C34878D82A}">
                    <a16:rowId xmlns:a16="http://schemas.microsoft.com/office/drawing/2014/main" val="249136547"/>
                  </a:ext>
                </a:extLst>
              </a:tr>
              <a:tr h="0">
                <a:tc>
                  <a:txBody>
                    <a:bodyPr/>
                    <a:lstStyle/>
                    <a:p>
                      <a:pPr>
                        <a:buNone/>
                      </a:pPr>
                      <a:r>
                        <a:rPr lang="es-MX"/>
                        <a:t>service</a:t>
                      </a:r>
                    </a:p>
                  </a:txBody>
                  <a:tcPr anchor="ctr"/>
                </a:tc>
                <a:tc>
                  <a:txBody>
                    <a:bodyPr/>
                    <a:lstStyle/>
                    <a:p>
                      <a:pPr>
                        <a:buNone/>
                      </a:pPr>
                      <a:r>
                        <a:rPr lang="es-MX"/>
                        <a:t>0</a:t>
                      </a:r>
                    </a:p>
                  </a:txBody>
                  <a:tcPr anchor="ctr"/>
                </a:tc>
                <a:tc>
                  <a:txBody>
                    <a:bodyPr/>
                    <a:lstStyle/>
                    <a:p>
                      <a:pPr>
                        <a:buNone/>
                      </a:pPr>
                      <a:r>
                        <a:rPr lang="es-MX"/>
                        <a:t>0</a:t>
                      </a:r>
                    </a:p>
                  </a:txBody>
                  <a:tcPr anchor="ctr"/>
                </a:tc>
                <a:tc>
                  <a:txBody>
                    <a:bodyPr/>
                    <a:lstStyle/>
                    <a:p>
                      <a:pPr>
                        <a:buNone/>
                      </a:pPr>
                      <a:r>
                        <a:rPr lang="es-MX"/>
                        <a:t>1</a:t>
                      </a:r>
                    </a:p>
                  </a:txBody>
                  <a:tcPr anchor="ctr"/>
                </a:tc>
                <a:extLst>
                  <a:ext uri="{0D108BD9-81ED-4DB2-BD59-A6C34878D82A}">
                    <a16:rowId xmlns:a16="http://schemas.microsoft.com/office/drawing/2014/main" val="954775428"/>
                  </a:ext>
                </a:extLst>
              </a:tr>
              <a:tr h="0">
                <a:tc>
                  <a:txBody>
                    <a:bodyPr/>
                    <a:lstStyle/>
                    <a:p>
                      <a:pPr>
                        <a:buNone/>
                      </a:pPr>
                      <a:r>
                        <a:rPr lang="es-MX"/>
                        <a:t>amount</a:t>
                      </a:r>
                    </a:p>
                  </a:txBody>
                  <a:tcPr anchor="ctr"/>
                </a:tc>
                <a:tc>
                  <a:txBody>
                    <a:bodyPr/>
                    <a:lstStyle/>
                    <a:p>
                      <a:pPr>
                        <a:buNone/>
                      </a:pPr>
                      <a:r>
                        <a:rPr lang="es-MX"/>
                        <a:t>0</a:t>
                      </a:r>
                    </a:p>
                  </a:txBody>
                  <a:tcPr anchor="ctr"/>
                </a:tc>
                <a:tc>
                  <a:txBody>
                    <a:bodyPr/>
                    <a:lstStyle/>
                    <a:p>
                      <a:pPr>
                        <a:buNone/>
                      </a:pPr>
                      <a:r>
                        <a:rPr lang="es-MX" dirty="0"/>
                        <a:t>0</a:t>
                      </a:r>
                    </a:p>
                  </a:txBody>
                  <a:tcPr anchor="ctr"/>
                </a:tc>
                <a:tc>
                  <a:txBody>
                    <a:bodyPr/>
                    <a:lstStyle/>
                    <a:p>
                      <a:pPr>
                        <a:buNone/>
                      </a:pPr>
                      <a:r>
                        <a:rPr lang="es-MX" dirty="0"/>
                        <a:t>1</a:t>
                      </a:r>
                    </a:p>
                  </a:txBody>
                  <a:tcPr anchor="ctr"/>
                </a:tc>
                <a:extLst>
                  <a:ext uri="{0D108BD9-81ED-4DB2-BD59-A6C34878D82A}">
                    <a16:rowId xmlns:a16="http://schemas.microsoft.com/office/drawing/2014/main" val="177313499"/>
                  </a:ext>
                </a:extLst>
              </a:tr>
            </a:tbl>
          </a:graphicData>
        </a:graphic>
      </p:graphicFrame>
    </p:spTree>
    <p:extLst>
      <p:ext uri="{BB962C8B-B14F-4D97-AF65-F5344CB8AC3E}">
        <p14:creationId xmlns:p14="http://schemas.microsoft.com/office/powerpoint/2010/main" val="153976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81D63-665B-91C1-D354-8E123607D802}"/>
              </a:ext>
            </a:extLst>
          </p:cNvPr>
          <p:cNvSpPr>
            <a:spLocks noGrp="1"/>
          </p:cNvSpPr>
          <p:nvPr>
            <p:ph type="title"/>
          </p:nvPr>
        </p:nvSpPr>
        <p:spPr/>
        <p:txBody>
          <a:bodyPr/>
          <a:lstStyle/>
          <a:p>
            <a:r>
              <a:rPr lang="en-US" dirty="0"/>
              <a:t>3：Document </a:t>
            </a:r>
            <a:r>
              <a:rPr lang="en-US" dirty="0" err="1"/>
              <a:t>Frequency（DF</a:t>
            </a:r>
            <a:r>
              <a:rPr lang="en-US" dirty="0"/>
              <a:t>）</a:t>
            </a:r>
            <a:endParaRPr lang="es-MX" dirty="0"/>
          </a:p>
        </p:txBody>
      </p:sp>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DD849D29-8B07-D9CD-CB06-70E9C7855792}"/>
                  </a:ext>
                </a:extLst>
              </p:cNvPr>
              <p:cNvSpPr>
                <a:spLocks noGrp="1"/>
              </p:cNvSpPr>
              <p:nvPr>
                <p:ph idx="1"/>
              </p:nvPr>
            </p:nvSpPr>
            <p:spPr/>
            <p:txBody>
              <a:bodyPr/>
              <a:lstStyle/>
              <a:p>
                <a:pPr marL="0" indent="0">
                  <a:buNone/>
                </a:pPr>
                <a:r>
                  <a:rPr lang="ja-JP" altLang="es-MX" sz="2400" dirty="0"/>
                  <a:t>全チャンク数：</a:t>
                </a:r>
              </a:p>
              <a:p>
                <a:pPr marL="0" indent="0">
                  <a:buNone/>
                </a:pPr>
                <a14:m>
                  <m:oMathPara xmlns:m="http://schemas.openxmlformats.org/officeDocument/2006/math">
                    <m:oMathParaPr>
                      <m:jc m:val="centerGroup"/>
                    </m:oMathParaPr>
                    <m:oMath xmlns:m="http://schemas.openxmlformats.org/officeDocument/2006/math">
                      <m:r>
                        <a:rPr lang="ja-JP" altLang="es-MX" sz="2400" i="1"/>
                        <m:t>𝑁</m:t>
                      </m:r>
                      <m:r>
                        <a:rPr lang="es-MX" altLang="ja-JP" sz="2400"/>
                        <m:t>=3</m:t>
                      </m:r>
                    </m:oMath>
                  </m:oMathPara>
                </a14:m>
                <a:endParaRPr lang="ja-JP" altLang="es-MX" sz="2400" dirty="0"/>
              </a:p>
              <a:p>
                <a:pPr marL="0" indent="0">
                  <a:buNone/>
                </a:pPr>
                <a:r>
                  <a:rPr lang="es-MX" altLang="ja-JP" sz="2400" b="1" dirty="0"/>
                  <a:t>DF</a:t>
                </a:r>
                <a:r>
                  <a:rPr lang="ja-JP" altLang="es-MX" sz="2400" b="1" dirty="0"/>
                  <a:t>（文書頻度）</a:t>
                </a:r>
                <a:r>
                  <a:rPr lang="ja-JP" altLang="es-MX" sz="2400" dirty="0"/>
                  <a:t>：その語を含むチャンク数</a:t>
                </a:r>
              </a:p>
              <a:p>
                <a:endParaRPr lang="es-MX" dirty="0"/>
              </a:p>
            </p:txBody>
          </p:sp>
        </mc:Choice>
        <mc:Fallback>
          <p:sp>
            <p:nvSpPr>
              <p:cNvPr id="8" name="Content Placeholder 7">
                <a:extLst>
                  <a:ext uri="{FF2B5EF4-FFF2-40B4-BE49-F238E27FC236}">
                    <a16:creationId xmlns:a16="http://schemas.microsoft.com/office/drawing/2014/main" id="{DD849D29-8B07-D9CD-CB06-70E9C7855792}"/>
                  </a:ext>
                </a:extLst>
              </p:cNvPr>
              <p:cNvSpPr>
                <a:spLocks noGrp="1" noRot="1" noChangeAspect="1" noMove="1" noResize="1" noEditPoints="1" noAdjustHandles="1" noChangeArrowheads="1" noChangeShapeType="1" noTextEdit="1"/>
              </p:cNvSpPr>
              <p:nvPr>
                <p:ph idx="1"/>
              </p:nvPr>
            </p:nvSpPr>
            <p:spPr>
              <a:blipFill>
                <a:blip r:embed="rId3"/>
                <a:stretch>
                  <a:fillRect l="-928" t="-2101"/>
                </a:stretch>
              </a:blipFill>
            </p:spPr>
            <p:txBody>
              <a:bodyPr/>
              <a:lstStyle/>
              <a:p>
                <a:r>
                  <a:rPr lang="es-MX">
                    <a:noFill/>
                  </a:rPr>
                  <a:t> </a:t>
                </a:r>
              </a:p>
            </p:txBody>
          </p:sp>
        </mc:Fallback>
      </mc:AlternateContent>
      <p:graphicFrame>
        <p:nvGraphicFramePr>
          <p:cNvPr id="9" name="Table 8">
            <a:extLst>
              <a:ext uri="{FF2B5EF4-FFF2-40B4-BE49-F238E27FC236}">
                <a16:creationId xmlns:a16="http://schemas.microsoft.com/office/drawing/2014/main" id="{88C08FE1-17D4-3F27-5862-1CBA38F1B898}"/>
              </a:ext>
            </a:extLst>
          </p:cNvPr>
          <p:cNvGraphicFramePr>
            <a:graphicFrameLocks noGrp="1"/>
          </p:cNvGraphicFramePr>
          <p:nvPr>
            <p:extLst>
              <p:ext uri="{D42A27DB-BD31-4B8C-83A1-F6EECF244321}">
                <p14:modId xmlns:p14="http://schemas.microsoft.com/office/powerpoint/2010/main" val="2534746904"/>
              </p:ext>
            </p:extLst>
          </p:nvPr>
        </p:nvGraphicFramePr>
        <p:xfrm>
          <a:off x="838200" y="3385820"/>
          <a:ext cx="10515600" cy="29260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868418705"/>
                    </a:ext>
                  </a:extLst>
                </a:gridCol>
                <a:gridCol w="5257800">
                  <a:extLst>
                    <a:ext uri="{9D8B030D-6E8A-4147-A177-3AD203B41FA5}">
                      <a16:colId xmlns:a16="http://schemas.microsoft.com/office/drawing/2014/main" val="1747644717"/>
                    </a:ext>
                  </a:extLst>
                </a:gridCol>
              </a:tblGrid>
              <a:tr h="0">
                <a:tc>
                  <a:txBody>
                    <a:bodyPr/>
                    <a:lstStyle/>
                    <a:p>
                      <a:pPr>
                        <a:buNone/>
                      </a:pPr>
                      <a:r>
                        <a:rPr lang="es-MX"/>
                        <a:t>Term</a:t>
                      </a:r>
                    </a:p>
                  </a:txBody>
                  <a:tcPr anchor="ctr"/>
                </a:tc>
                <a:tc>
                  <a:txBody>
                    <a:bodyPr/>
                    <a:lstStyle/>
                    <a:p>
                      <a:pPr>
                        <a:buNone/>
                      </a:pPr>
                      <a:r>
                        <a:rPr lang="es-MX"/>
                        <a:t>DF</a:t>
                      </a:r>
                    </a:p>
                  </a:txBody>
                  <a:tcPr anchor="ctr"/>
                </a:tc>
                <a:extLst>
                  <a:ext uri="{0D108BD9-81ED-4DB2-BD59-A6C34878D82A}">
                    <a16:rowId xmlns:a16="http://schemas.microsoft.com/office/drawing/2014/main" val="216248668"/>
                  </a:ext>
                </a:extLst>
              </a:tr>
              <a:tr h="0">
                <a:tc>
                  <a:txBody>
                    <a:bodyPr/>
                    <a:lstStyle/>
                    <a:p>
                      <a:pPr>
                        <a:buNone/>
                      </a:pPr>
                      <a:r>
                        <a:rPr lang="es-MX"/>
                        <a:t>ERROR</a:t>
                      </a:r>
                    </a:p>
                  </a:txBody>
                  <a:tcPr anchor="ctr"/>
                </a:tc>
                <a:tc>
                  <a:txBody>
                    <a:bodyPr/>
                    <a:lstStyle/>
                    <a:p>
                      <a:pPr>
                        <a:buNone/>
                      </a:pPr>
                      <a:r>
                        <a:rPr lang="es-MX"/>
                        <a:t>2</a:t>
                      </a:r>
                    </a:p>
                  </a:txBody>
                  <a:tcPr anchor="ctr"/>
                </a:tc>
                <a:extLst>
                  <a:ext uri="{0D108BD9-81ED-4DB2-BD59-A6C34878D82A}">
                    <a16:rowId xmlns:a16="http://schemas.microsoft.com/office/drawing/2014/main" val="457130734"/>
                  </a:ext>
                </a:extLst>
              </a:tr>
              <a:tr h="0">
                <a:tc>
                  <a:txBody>
                    <a:bodyPr/>
                    <a:lstStyle/>
                    <a:p>
                      <a:pPr>
                        <a:buNone/>
                      </a:pPr>
                      <a:r>
                        <a:rPr lang="es-MX"/>
                        <a:t>INFO</a:t>
                      </a:r>
                    </a:p>
                  </a:txBody>
                  <a:tcPr anchor="ctr"/>
                </a:tc>
                <a:tc>
                  <a:txBody>
                    <a:bodyPr/>
                    <a:lstStyle/>
                    <a:p>
                      <a:pPr>
                        <a:buNone/>
                      </a:pPr>
                      <a:r>
                        <a:rPr lang="es-MX"/>
                        <a:t>1</a:t>
                      </a:r>
                    </a:p>
                  </a:txBody>
                  <a:tcPr anchor="ctr"/>
                </a:tc>
                <a:extLst>
                  <a:ext uri="{0D108BD9-81ED-4DB2-BD59-A6C34878D82A}">
                    <a16:rowId xmlns:a16="http://schemas.microsoft.com/office/drawing/2014/main" val="3390911023"/>
                  </a:ext>
                </a:extLst>
              </a:tr>
              <a:tr h="0">
                <a:tc>
                  <a:txBody>
                    <a:bodyPr/>
                    <a:lstStyle/>
                    <a:p>
                      <a:pPr>
                        <a:buNone/>
                      </a:pPr>
                      <a:r>
                        <a:rPr lang="es-MX"/>
                        <a:t>user_id</a:t>
                      </a:r>
                    </a:p>
                  </a:txBody>
                  <a:tcPr anchor="ctr"/>
                </a:tc>
                <a:tc>
                  <a:txBody>
                    <a:bodyPr/>
                    <a:lstStyle/>
                    <a:p>
                      <a:pPr>
                        <a:buNone/>
                      </a:pPr>
                      <a:r>
                        <a:rPr lang="es-MX"/>
                        <a:t>2</a:t>
                      </a:r>
                    </a:p>
                  </a:txBody>
                  <a:tcPr anchor="ctr"/>
                </a:tc>
                <a:extLst>
                  <a:ext uri="{0D108BD9-81ED-4DB2-BD59-A6C34878D82A}">
                    <a16:rowId xmlns:a16="http://schemas.microsoft.com/office/drawing/2014/main" val="2450695528"/>
                  </a:ext>
                </a:extLst>
              </a:tr>
              <a:tr h="0">
                <a:tc>
                  <a:txBody>
                    <a:bodyPr/>
                    <a:lstStyle/>
                    <a:p>
                      <a:pPr>
                        <a:buNone/>
                      </a:pPr>
                      <a:r>
                        <a:rPr lang="es-MX"/>
                        <a:t>action</a:t>
                      </a:r>
                    </a:p>
                  </a:txBody>
                  <a:tcPr anchor="ctr"/>
                </a:tc>
                <a:tc>
                  <a:txBody>
                    <a:bodyPr/>
                    <a:lstStyle/>
                    <a:p>
                      <a:pPr>
                        <a:buNone/>
                      </a:pPr>
                      <a:r>
                        <a:rPr lang="es-MX"/>
                        <a:t>2</a:t>
                      </a:r>
                    </a:p>
                  </a:txBody>
                  <a:tcPr anchor="ctr"/>
                </a:tc>
                <a:extLst>
                  <a:ext uri="{0D108BD9-81ED-4DB2-BD59-A6C34878D82A}">
                    <a16:rowId xmlns:a16="http://schemas.microsoft.com/office/drawing/2014/main" val="3865788267"/>
                  </a:ext>
                </a:extLst>
              </a:tr>
              <a:tr h="0">
                <a:tc>
                  <a:txBody>
                    <a:bodyPr/>
                    <a:lstStyle/>
                    <a:p>
                      <a:pPr>
                        <a:buNone/>
                      </a:pPr>
                      <a:r>
                        <a:rPr lang="es-MX" dirty="0"/>
                        <a:t>status</a:t>
                      </a:r>
                    </a:p>
                  </a:txBody>
                  <a:tcPr anchor="ctr"/>
                </a:tc>
                <a:tc>
                  <a:txBody>
                    <a:bodyPr/>
                    <a:lstStyle/>
                    <a:p>
                      <a:pPr>
                        <a:buNone/>
                      </a:pPr>
                      <a:r>
                        <a:rPr lang="es-MX"/>
                        <a:t>3</a:t>
                      </a:r>
                    </a:p>
                  </a:txBody>
                  <a:tcPr anchor="ctr"/>
                </a:tc>
                <a:extLst>
                  <a:ext uri="{0D108BD9-81ED-4DB2-BD59-A6C34878D82A}">
                    <a16:rowId xmlns:a16="http://schemas.microsoft.com/office/drawing/2014/main" val="3529644245"/>
                  </a:ext>
                </a:extLst>
              </a:tr>
              <a:tr h="0">
                <a:tc>
                  <a:txBody>
                    <a:bodyPr/>
                    <a:lstStyle/>
                    <a:p>
                      <a:pPr>
                        <a:buNone/>
                      </a:pPr>
                      <a:r>
                        <a:rPr lang="es-MX"/>
                        <a:t>service</a:t>
                      </a:r>
                    </a:p>
                  </a:txBody>
                  <a:tcPr anchor="ctr"/>
                </a:tc>
                <a:tc>
                  <a:txBody>
                    <a:bodyPr/>
                    <a:lstStyle/>
                    <a:p>
                      <a:pPr>
                        <a:buNone/>
                      </a:pPr>
                      <a:r>
                        <a:rPr lang="es-MX"/>
                        <a:t>1</a:t>
                      </a:r>
                    </a:p>
                  </a:txBody>
                  <a:tcPr anchor="ctr"/>
                </a:tc>
                <a:extLst>
                  <a:ext uri="{0D108BD9-81ED-4DB2-BD59-A6C34878D82A}">
                    <a16:rowId xmlns:a16="http://schemas.microsoft.com/office/drawing/2014/main" val="106438694"/>
                  </a:ext>
                </a:extLst>
              </a:tr>
              <a:tr h="0">
                <a:tc>
                  <a:txBody>
                    <a:bodyPr/>
                    <a:lstStyle/>
                    <a:p>
                      <a:pPr>
                        <a:buNone/>
                      </a:pPr>
                      <a:r>
                        <a:rPr lang="es-MX"/>
                        <a:t>amount</a:t>
                      </a:r>
                    </a:p>
                  </a:txBody>
                  <a:tcPr anchor="ctr"/>
                </a:tc>
                <a:tc>
                  <a:txBody>
                    <a:bodyPr/>
                    <a:lstStyle/>
                    <a:p>
                      <a:pPr>
                        <a:buNone/>
                      </a:pPr>
                      <a:r>
                        <a:rPr lang="es-MX" dirty="0"/>
                        <a:t>1</a:t>
                      </a:r>
                    </a:p>
                  </a:txBody>
                  <a:tcPr anchor="ctr"/>
                </a:tc>
                <a:extLst>
                  <a:ext uri="{0D108BD9-81ED-4DB2-BD59-A6C34878D82A}">
                    <a16:rowId xmlns:a16="http://schemas.microsoft.com/office/drawing/2014/main" val="258820193"/>
                  </a:ext>
                </a:extLst>
              </a:tr>
            </a:tbl>
          </a:graphicData>
        </a:graphic>
      </p:graphicFrame>
    </p:spTree>
    <p:extLst>
      <p:ext uri="{BB962C8B-B14F-4D97-AF65-F5344CB8AC3E}">
        <p14:creationId xmlns:p14="http://schemas.microsoft.com/office/powerpoint/2010/main" val="1821146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28DF2-0742-8A13-4C34-C59142BD26C9}"/>
              </a:ext>
            </a:extLst>
          </p:cNvPr>
          <p:cNvSpPr>
            <a:spLocks noGrp="1"/>
          </p:cNvSpPr>
          <p:nvPr>
            <p:ph type="title"/>
          </p:nvPr>
        </p:nvSpPr>
        <p:spPr/>
        <p:txBody>
          <a:bodyPr/>
          <a:lstStyle/>
          <a:p>
            <a:r>
              <a:rPr lang="es-MX" dirty="0"/>
              <a:t>4</a:t>
            </a:r>
            <a:r>
              <a:rPr lang="ja-JP" altLang="es-MX" dirty="0"/>
              <a:t>：</a:t>
            </a:r>
            <a:r>
              <a:rPr lang="es-MX" dirty="0"/>
              <a:t>Inverse </a:t>
            </a:r>
            <a:r>
              <a:rPr lang="es-MX" dirty="0" err="1"/>
              <a:t>Document</a:t>
            </a:r>
            <a:r>
              <a:rPr lang="es-MX" dirty="0"/>
              <a:t> </a:t>
            </a:r>
            <a:r>
              <a:rPr lang="es-MX" dirty="0" err="1"/>
              <a:t>Frequency（IDF</a:t>
            </a:r>
            <a:r>
              <a:rPr lang="es-MX" dirty="0"/>
              <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A72F76C-1CAA-6FF0-6F29-B8929DF2E4B6}"/>
                  </a:ext>
                </a:extLst>
              </p:cNvPr>
              <p:cNvSpPr>
                <a:spLocks noGrp="1"/>
              </p:cNvSpPr>
              <p:nvPr>
                <p:ph idx="1"/>
              </p:nvPr>
            </p:nvSpPr>
            <p:spPr/>
            <p:txBody>
              <a:bodyPr/>
              <a:lstStyle/>
              <a:p>
                <a:pPr marL="0" indent="0">
                  <a:buNone/>
                </a:pPr>
                <a:r>
                  <a:rPr lang="es-MX" dirty="0"/>
                  <a:t>IDF </a:t>
                </a:r>
                <a:r>
                  <a:rPr lang="ja-JP" altLang="es-MX" dirty="0"/>
                  <a:t>は、</a:t>
                </a:r>
                <a:br>
                  <a:rPr lang="ja-JP" altLang="es-MX" dirty="0"/>
                </a:br>
                <a:r>
                  <a:rPr lang="ja-JP" altLang="es-MX" b="1" dirty="0"/>
                  <a:t>どこにでも</a:t>
                </a:r>
                <a:r>
                  <a:rPr lang="zh-CN" altLang="es-MX" b="1" dirty="0"/>
                  <a:t>現</a:t>
                </a:r>
                <a:r>
                  <a:rPr lang="ja-JP" altLang="es-MX" b="1" dirty="0"/>
                  <a:t>れる</a:t>
                </a:r>
                <a:r>
                  <a:rPr lang="zh-CN" altLang="es-MX" b="1" dirty="0"/>
                  <a:t>語</a:t>
                </a:r>
                <a:r>
                  <a:rPr lang="ja-JP" altLang="es-MX" b="1" dirty="0"/>
                  <a:t>を</a:t>
                </a:r>
                <a:r>
                  <a:rPr lang="zh-CN" altLang="es-MX" b="1" dirty="0"/>
                  <a:t>弱</a:t>
                </a:r>
                <a:r>
                  <a:rPr lang="ja-JP" altLang="es-MX" b="1" dirty="0"/>
                  <a:t>める</a:t>
                </a:r>
                <a:r>
                  <a:rPr lang="zh-CN" altLang="es-MX" b="1" dirty="0"/>
                  <a:t>指標</a:t>
                </a:r>
                <a:r>
                  <a:rPr lang="zh-CN" altLang="es-MX" dirty="0"/>
                  <a:t>。</a:t>
                </a:r>
              </a:p>
              <a:p>
                <a:pPr marL="0" indent="0">
                  <a:buNone/>
                </a:pPr>
                <a14:m>
                  <m:oMathPara xmlns:m="http://schemas.openxmlformats.org/officeDocument/2006/math">
                    <m:oMathParaPr>
                      <m:jc m:val="center"/>
                    </m:oMathParaPr>
                    <m:oMath xmlns:m="http://schemas.openxmlformats.org/officeDocument/2006/math">
                      <m:r>
                        <m:rPr>
                          <m:nor/>
                        </m:rPr>
                        <a:rPr lang="es-MX" b="0"/>
                        <m:t>IDF</m:t>
                      </m:r>
                      <m:d>
                        <m:dPr>
                          <m:ctrlPr>
                            <a:rPr lang="ar-AE" i="1"/>
                          </m:ctrlPr>
                        </m:dPr>
                        <m:e>
                          <m:r>
                            <a:rPr lang="ar-AE" b="0" i="1"/>
                            <m:t>𝑡</m:t>
                          </m:r>
                        </m:e>
                      </m:d>
                      <m:r>
                        <a:rPr lang="ar-AE"/>
                        <m:t>=</m:t>
                      </m:r>
                      <m:func>
                        <m:funcPr>
                          <m:ctrlPr>
                            <a:rPr lang="ar-AE" i="1"/>
                          </m:ctrlPr>
                        </m:funcPr>
                        <m:fName>
                          <m:r>
                            <m:rPr>
                              <m:sty m:val="p"/>
                            </m:rPr>
                            <a:rPr lang="es-MX"/>
                            <m:t>log</m:t>
                          </m:r>
                        </m:fName>
                        <m:e>
                          <m:d>
                            <m:dPr>
                              <m:ctrlPr>
                                <a:rPr lang="ar-AE" i="1"/>
                              </m:ctrlPr>
                            </m:dPr>
                            <m:e>
                              <m:f>
                                <m:fPr>
                                  <m:ctrlPr>
                                    <a:rPr lang="ar-AE" i="1"/>
                                  </m:ctrlPr>
                                </m:fPr>
                                <m:num>
                                  <m:r>
                                    <a:rPr lang="ar-AE" i="1"/>
                                    <m:t>𝑁</m:t>
                                  </m:r>
                                </m:num>
                                <m:den>
                                  <m:r>
                                    <a:rPr lang="ar-AE" i="1"/>
                                    <m:t>𝐷𝐹</m:t>
                                  </m:r>
                                  <m:d>
                                    <m:dPr>
                                      <m:ctrlPr>
                                        <a:rPr lang="ar-AE" i="1"/>
                                      </m:ctrlPr>
                                    </m:dPr>
                                    <m:e>
                                      <m:r>
                                        <a:rPr lang="ar-AE" i="1"/>
                                        <m:t>𝑡</m:t>
                                      </m:r>
                                    </m:e>
                                  </m:d>
                                </m:den>
                              </m:f>
                            </m:e>
                          </m:d>
                        </m:e>
                      </m:func>
                    </m:oMath>
                  </m:oMathPara>
                </a14:m>
                <a:endParaRPr lang="ar-AE" b="0" dirty="0"/>
              </a:p>
              <a:p>
                <a:endParaRPr lang="es-MX" dirty="0"/>
              </a:p>
            </p:txBody>
          </p:sp>
        </mc:Choice>
        <mc:Fallback>
          <p:sp>
            <p:nvSpPr>
              <p:cNvPr id="3" name="Content Placeholder 2">
                <a:extLst>
                  <a:ext uri="{FF2B5EF4-FFF2-40B4-BE49-F238E27FC236}">
                    <a16:creationId xmlns:a16="http://schemas.microsoft.com/office/drawing/2014/main" id="{3A72F76C-1CAA-6FF0-6F29-B8929DF2E4B6}"/>
                  </a:ext>
                </a:extLst>
              </p:cNvPr>
              <p:cNvSpPr>
                <a:spLocks noGrp="1" noRot="1" noChangeAspect="1" noMove="1" noResize="1" noEditPoints="1" noAdjustHandles="1" noChangeArrowheads="1" noChangeShapeType="1" noTextEdit="1"/>
              </p:cNvSpPr>
              <p:nvPr>
                <p:ph idx="1"/>
              </p:nvPr>
            </p:nvSpPr>
            <p:spPr>
              <a:blipFill>
                <a:blip r:embed="rId3"/>
                <a:stretch>
                  <a:fillRect l="-1217" t="-2801"/>
                </a:stretch>
              </a:blipFill>
            </p:spPr>
            <p:txBody>
              <a:bodyPr/>
              <a:lstStyle/>
              <a:p>
                <a:r>
                  <a:rPr lang="es-MX">
                    <a:noFill/>
                  </a:rPr>
                  <a:t> </a:t>
                </a:r>
              </a:p>
            </p:txBody>
          </p:sp>
        </mc:Fallback>
      </mc:AlternateContent>
      <p:graphicFrame>
        <p:nvGraphicFramePr>
          <p:cNvPr id="4" name="Table 3">
            <a:extLst>
              <a:ext uri="{FF2B5EF4-FFF2-40B4-BE49-F238E27FC236}">
                <a16:creationId xmlns:a16="http://schemas.microsoft.com/office/drawing/2014/main" id="{AD59F628-440D-58B7-18E1-42438709BB25}"/>
              </a:ext>
            </a:extLst>
          </p:cNvPr>
          <p:cNvGraphicFramePr>
            <a:graphicFrameLocks noGrp="1"/>
          </p:cNvGraphicFramePr>
          <p:nvPr>
            <p:extLst>
              <p:ext uri="{D42A27DB-BD31-4B8C-83A1-F6EECF244321}">
                <p14:modId xmlns:p14="http://schemas.microsoft.com/office/powerpoint/2010/main" val="2563530421"/>
              </p:ext>
            </p:extLst>
          </p:nvPr>
        </p:nvGraphicFramePr>
        <p:xfrm>
          <a:off x="838200" y="3762897"/>
          <a:ext cx="10515600" cy="29260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369196247"/>
                    </a:ext>
                  </a:extLst>
                </a:gridCol>
                <a:gridCol w="5257800">
                  <a:extLst>
                    <a:ext uri="{9D8B030D-6E8A-4147-A177-3AD203B41FA5}">
                      <a16:colId xmlns:a16="http://schemas.microsoft.com/office/drawing/2014/main" val="4270434708"/>
                    </a:ext>
                  </a:extLst>
                </a:gridCol>
              </a:tblGrid>
              <a:tr h="0">
                <a:tc>
                  <a:txBody>
                    <a:bodyPr/>
                    <a:lstStyle/>
                    <a:p>
                      <a:pPr>
                        <a:buNone/>
                      </a:pPr>
                      <a:r>
                        <a:rPr lang="es-MX"/>
                        <a:t>Term</a:t>
                      </a:r>
                    </a:p>
                  </a:txBody>
                  <a:tcPr anchor="ctr"/>
                </a:tc>
                <a:tc>
                  <a:txBody>
                    <a:bodyPr/>
                    <a:lstStyle/>
                    <a:p>
                      <a:pPr>
                        <a:buNone/>
                      </a:pPr>
                      <a:r>
                        <a:rPr lang="es-MX"/>
                        <a:t>IDF</a:t>
                      </a:r>
                    </a:p>
                  </a:txBody>
                  <a:tcPr anchor="ctr"/>
                </a:tc>
                <a:extLst>
                  <a:ext uri="{0D108BD9-81ED-4DB2-BD59-A6C34878D82A}">
                    <a16:rowId xmlns:a16="http://schemas.microsoft.com/office/drawing/2014/main" val="2186661796"/>
                  </a:ext>
                </a:extLst>
              </a:tr>
              <a:tr h="0">
                <a:tc>
                  <a:txBody>
                    <a:bodyPr/>
                    <a:lstStyle/>
                    <a:p>
                      <a:pPr>
                        <a:buNone/>
                      </a:pPr>
                      <a:r>
                        <a:rPr lang="es-MX"/>
                        <a:t>ERROR</a:t>
                      </a:r>
                    </a:p>
                  </a:txBody>
                  <a:tcPr anchor="ctr"/>
                </a:tc>
                <a:tc>
                  <a:txBody>
                    <a:bodyPr/>
                    <a:lstStyle/>
                    <a:p>
                      <a:pPr>
                        <a:buNone/>
                      </a:pPr>
                      <a:r>
                        <a:rPr lang="es-MX"/>
                        <a:t>log(3/2) ≈ 0.18</a:t>
                      </a:r>
                    </a:p>
                  </a:txBody>
                  <a:tcPr anchor="ctr"/>
                </a:tc>
                <a:extLst>
                  <a:ext uri="{0D108BD9-81ED-4DB2-BD59-A6C34878D82A}">
                    <a16:rowId xmlns:a16="http://schemas.microsoft.com/office/drawing/2014/main" val="1696511369"/>
                  </a:ext>
                </a:extLst>
              </a:tr>
              <a:tr h="0">
                <a:tc>
                  <a:txBody>
                    <a:bodyPr/>
                    <a:lstStyle/>
                    <a:p>
                      <a:pPr>
                        <a:buNone/>
                      </a:pPr>
                      <a:r>
                        <a:rPr lang="es-MX"/>
                        <a:t>INFO</a:t>
                      </a:r>
                    </a:p>
                  </a:txBody>
                  <a:tcPr anchor="ctr"/>
                </a:tc>
                <a:tc>
                  <a:txBody>
                    <a:bodyPr/>
                    <a:lstStyle/>
                    <a:p>
                      <a:pPr>
                        <a:buNone/>
                      </a:pPr>
                      <a:r>
                        <a:rPr lang="es-MX" dirty="0"/>
                        <a:t>log(3/1) ≈ 1.10</a:t>
                      </a:r>
                    </a:p>
                  </a:txBody>
                  <a:tcPr anchor="ctr"/>
                </a:tc>
                <a:extLst>
                  <a:ext uri="{0D108BD9-81ED-4DB2-BD59-A6C34878D82A}">
                    <a16:rowId xmlns:a16="http://schemas.microsoft.com/office/drawing/2014/main" val="3887777156"/>
                  </a:ext>
                </a:extLst>
              </a:tr>
              <a:tr h="0">
                <a:tc>
                  <a:txBody>
                    <a:bodyPr/>
                    <a:lstStyle/>
                    <a:p>
                      <a:pPr>
                        <a:buNone/>
                      </a:pPr>
                      <a:r>
                        <a:rPr lang="es-MX"/>
                        <a:t>user_id</a:t>
                      </a:r>
                    </a:p>
                  </a:txBody>
                  <a:tcPr anchor="ctr"/>
                </a:tc>
                <a:tc>
                  <a:txBody>
                    <a:bodyPr/>
                    <a:lstStyle/>
                    <a:p>
                      <a:pPr>
                        <a:buNone/>
                      </a:pPr>
                      <a:r>
                        <a:rPr lang="es-MX"/>
                        <a:t>0.18</a:t>
                      </a:r>
                    </a:p>
                  </a:txBody>
                  <a:tcPr anchor="ctr"/>
                </a:tc>
                <a:extLst>
                  <a:ext uri="{0D108BD9-81ED-4DB2-BD59-A6C34878D82A}">
                    <a16:rowId xmlns:a16="http://schemas.microsoft.com/office/drawing/2014/main" val="2146743463"/>
                  </a:ext>
                </a:extLst>
              </a:tr>
              <a:tr h="0">
                <a:tc>
                  <a:txBody>
                    <a:bodyPr/>
                    <a:lstStyle/>
                    <a:p>
                      <a:pPr>
                        <a:buNone/>
                      </a:pPr>
                      <a:r>
                        <a:rPr lang="es-MX"/>
                        <a:t>action</a:t>
                      </a:r>
                    </a:p>
                  </a:txBody>
                  <a:tcPr anchor="ctr"/>
                </a:tc>
                <a:tc>
                  <a:txBody>
                    <a:bodyPr/>
                    <a:lstStyle/>
                    <a:p>
                      <a:pPr>
                        <a:buNone/>
                      </a:pPr>
                      <a:r>
                        <a:rPr lang="es-MX"/>
                        <a:t>0.18</a:t>
                      </a:r>
                    </a:p>
                  </a:txBody>
                  <a:tcPr anchor="ctr"/>
                </a:tc>
                <a:extLst>
                  <a:ext uri="{0D108BD9-81ED-4DB2-BD59-A6C34878D82A}">
                    <a16:rowId xmlns:a16="http://schemas.microsoft.com/office/drawing/2014/main" val="3833763235"/>
                  </a:ext>
                </a:extLst>
              </a:tr>
              <a:tr h="0">
                <a:tc>
                  <a:txBody>
                    <a:bodyPr/>
                    <a:lstStyle/>
                    <a:p>
                      <a:pPr>
                        <a:buNone/>
                      </a:pPr>
                      <a:r>
                        <a:rPr lang="es-MX"/>
                        <a:t>status</a:t>
                      </a:r>
                    </a:p>
                  </a:txBody>
                  <a:tcPr anchor="ctr"/>
                </a:tc>
                <a:tc>
                  <a:txBody>
                    <a:bodyPr/>
                    <a:lstStyle/>
                    <a:p>
                      <a:pPr>
                        <a:buNone/>
                      </a:pPr>
                      <a:r>
                        <a:rPr lang="es-MX"/>
                        <a:t>log(3/3) = 0</a:t>
                      </a:r>
                    </a:p>
                  </a:txBody>
                  <a:tcPr anchor="ctr"/>
                </a:tc>
                <a:extLst>
                  <a:ext uri="{0D108BD9-81ED-4DB2-BD59-A6C34878D82A}">
                    <a16:rowId xmlns:a16="http://schemas.microsoft.com/office/drawing/2014/main" val="1206384961"/>
                  </a:ext>
                </a:extLst>
              </a:tr>
              <a:tr h="0">
                <a:tc>
                  <a:txBody>
                    <a:bodyPr/>
                    <a:lstStyle/>
                    <a:p>
                      <a:pPr>
                        <a:buNone/>
                      </a:pPr>
                      <a:r>
                        <a:rPr lang="es-MX"/>
                        <a:t>service</a:t>
                      </a:r>
                    </a:p>
                  </a:txBody>
                  <a:tcPr anchor="ctr"/>
                </a:tc>
                <a:tc>
                  <a:txBody>
                    <a:bodyPr/>
                    <a:lstStyle/>
                    <a:p>
                      <a:pPr>
                        <a:buNone/>
                      </a:pPr>
                      <a:r>
                        <a:rPr lang="es-MX"/>
                        <a:t>1.10</a:t>
                      </a:r>
                    </a:p>
                  </a:txBody>
                  <a:tcPr anchor="ctr"/>
                </a:tc>
                <a:extLst>
                  <a:ext uri="{0D108BD9-81ED-4DB2-BD59-A6C34878D82A}">
                    <a16:rowId xmlns:a16="http://schemas.microsoft.com/office/drawing/2014/main" val="124498024"/>
                  </a:ext>
                </a:extLst>
              </a:tr>
              <a:tr h="0">
                <a:tc>
                  <a:txBody>
                    <a:bodyPr/>
                    <a:lstStyle/>
                    <a:p>
                      <a:pPr>
                        <a:buNone/>
                      </a:pPr>
                      <a:r>
                        <a:rPr lang="es-MX"/>
                        <a:t>amount</a:t>
                      </a:r>
                    </a:p>
                  </a:txBody>
                  <a:tcPr anchor="ctr"/>
                </a:tc>
                <a:tc>
                  <a:txBody>
                    <a:bodyPr/>
                    <a:lstStyle/>
                    <a:p>
                      <a:pPr>
                        <a:buNone/>
                      </a:pPr>
                      <a:r>
                        <a:rPr lang="es-MX" dirty="0"/>
                        <a:t>1.10</a:t>
                      </a:r>
                    </a:p>
                  </a:txBody>
                  <a:tcPr anchor="ctr"/>
                </a:tc>
                <a:extLst>
                  <a:ext uri="{0D108BD9-81ED-4DB2-BD59-A6C34878D82A}">
                    <a16:rowId xmlns:a16="http://schemas.microsoft.com/office/drawing/2014/main" val="2394257875"/>
                  </a:ext>
                </a:extLst>
              </a:tr>
            </a:tbl>
          </a:graphicData>
        </a:graphic>
      </p:graphicFrame>
    </p:spTree>
    <p:extLst>
      <p:ext uri="{BB962C8B-B14F-4D97-AF65-F5344CB8AC3E}">
        <p14:creationId xmlns:p14="http://schemas.microsoft.com/office/powerpoint/2010/main" val="2175724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66F79-9C57-AF90-6785-5CC5EF1AB5BB}"/>
              </a:ext>
            </a:extLst>
          </p:cNvPr>
          <p:cNvSpPr>
            <a:spLocks noGrp="1"/>
          </p:cNvSpPr>
          <p:nvPr>
            <p:ph type="title"/>
          </p:nvPr>
        </p:nvSpPr>
        <p:spPr/>
        <p:txBody>
          <a:bodyPr/>
          <a:lstStyle/>
          <a:p>
            <a:r>
              <a:rPr lang="ja-JP" altLang="es-MX" dirty="0"/>
              <a:t>５：</a:t>
            </a:r>
            <a:r>
              <a:rPr lang="es-MX" dirty="0"/>
              <a:t>TF × IDF（TF-IDF）</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377074B-4558-A8B2-FF08-6F7654B760A9}"/>
                  </a:ext>
                </a:extLst>
              </p:cNvPr>
              <p:cNvSpPr>
                <a:spLocks noGrp="1"/>
              </p:cNvSpPr>
              <p:nvPr>
                <p:ph idx="1"/>
              </p:nvPr>
            </p:nvSpPr>
            <p:spPr>
              <a:xfrm>
                <a:off x="838200" y="1551008"/>
                <a:ext cx="10515600" cy="5081286"/>
              </a:xfrm>
            </p:spPr>
            <p:txBody>
              <a:bodyPr>
                <a:normAutofit fontScale="47500" lnSpcReduction="20000"/>
              </a:bodyPr>
              <a:lstStyle/>
              <a:p>
                <a:pPr marL="0" indent="0">
                  <a:buNone/>
                </a:pPr>
                <a:r>
                  <a:rPr lang="es-MX" altLang="ja-JP" sz="4400" dirty="0"/>
                  <a:t>TF-IDF </a:t>
                </a:r>
                <a:r>
                  <a:rPr lang="ja-JP" altLang="es-MX" sz="4400" dirty="0"/>
                  <a:t>は以下を組み合わせる：</a:t>
                </a:r>
              </a:p>
              <a:p>
                <a:pPr lvl="1"/>
                <a:r>
                  <a:rPr lang="es-MX" altLang="ja-JP" sz="4400" dirty="0"/>
                  <a:t>TF</a:t>
                </a:r>
                <a:r>
                  <a:rPr lang="ja-JP" altLang="es-MX" sz="4400" dirty="0"/>
                  <a:t>：チャンク内での重要度</a:t>
                </a:r>
              </a:p>
              <a:p>
                <a:pPr lvl="1"/>
                <a:r>
                  <a:rPr lang="es-MX" altLang="ja-JP" sz="4400" dirty="0"/>
                  <a:t>IDF</a:t>
                </a:r>
                <a:r>
                  <a:rPr lang="ja-JP" altLang="es-MX" sz="4400" dirty="0"/>
                  <a:t>：全体での希少性</a:t>
                </a:r>
              </a:p>
              <a:p>
                <a:pPr marL="0" indent="0">
                  <a:buNone/>
                </a:pPr>
                <a:endParaRPr lang="en-US" sz="4400" dirty="0"/>
              </a:p>
              <a:p>
                <a:pPr marL="0" indent="0">
                  <a:buNone/>
                </a:pPr>
                <a:r>
                  <a:rPr lang="en-US" sz="4400" dirty="0"/>
                  <a:t>Keywords:</a:t>
                </a:r>
                <a:r>
                  <a:rPr lang="ja-JP" altLang="es-MX" sz="4400" dirty="0"/>
                  <a:t>　　</a:t>
                </a:r>
                <a:r>
                  <a:rPr lang="en-US" sz="4400" dirty="0"/>
                  <a:t> [ERROR, INFO, </a:t>
                </a:r>
                <a:r>
                  <a:rPr lang="en-US" sz="4400" dirty="0" err="1"/>
                  <a:t>user_id</a:t>
                </a:r>
                <a:r>
                  <a:rPr lang="en-US" sz="4400" dirty="0"/>
                  <a:t>, action, status, service, amount]</a:t>
                </a:r>
                <a:endParaRPr lang="es-MX" altLang="ja-JP" sz="4400" b="1" dirty="0"/>
              </a:p>
              <a:p>
                <a:pPr>
                  <a:lnSpc>
                    <a:spcPct val="170000"/>
                  </a:lnSpc>
                </a:pPr>
                <a:r>
                  <a:rPr lang="es-MX" sz="4400" b="1" dirty="0" err="1"/>
                  <a:t>Chunk</a:t>
                </a:r>
                <a:r>
                  <a:rPr lang="es-MX" sz="4400" b="1" dirty="0"/>
                  <a:t> A </a:t>
                </a:r>
                <a:r>
                  <a:rPr lang="ja-JP" altLang="es-MX" sz="4400" b="1" dirty="0"/>
                  <a:t>➞　</a:t>
                </a:r>
                <a14:m>
                  <m:oMath xmlns:m="http://schemas.openxmlformats.org/officeDocument/2006/math">
                    <m:r>
                      <m:rPr>
                        <m:nor/>
                      </m:rPr>
                      <a:rPr lang="es-MX" sz="4400"/>
                      <m:t>(</m:t>
                    </m:r>
                    <m:r>
                      <m:rPr>
                        <m:nor/>
                      </m:rPr>
                      <a:rPr lang="es-MX" sz="4400"/>
                      <m:t>0.18</m:t>
                    </m:r>
                    <m:r>
                      <m:rPr>
                        <m:nor/>
                      </m:rPr>
                      <a:rPr lang="es-MX" sz="4400"/>
                      <m:t>,</m:t>
                    </m:r>
                    <m:r>
                      <m:rPr>
                        <m:nor/>
                      </m:rPr>
                      <a:rPr lang="en-US" sz="4400" b="0" i="0" smtClean="0"/>
                      <m:t> </m:t>
                    </m:r>
                    <m:r>
                      <m:rPr>
                        <m:nor/>
                      </m:rPr>
                      <a:rPr lang="es-MX" sz="4400"/>
                      <m:t>0</m:t>
                    </m:r>
                    <m:r>
                      <m:rPr>
                        <m:nor/>
                      </m:rPr>
                      <a:rPr lang="es-MX" sz="4400"/>
                      <m:t>,</m:t>
                    </m:r>
                    <m:r>
                      <m:rPr>
                        <m:nor/>
                      </m:rPr>
                      <a:rPr lang="en-US" sz="4400" b="0" i="0" smtClean="0"/>
                      <m:t> </m:t>
                    </m:r>
                    <m:r>
                      <m:rPr>
                        <m:nor/>
                      </m:rPr>
                      <a:rPr lang="es-MX" sz="4400"/>
                      <m:t>0.18</m:t>
                    </m:r>
                    <m:r>
                      <m:rPr>
                        <m:nor/>
                      </m:rPr>
                      <a:rPr lang="es-MX" sz="4400"/>
                      <m:t>,</m:t>
                    </m:r>
                    <m:r>
                      <m:rPr>
                        <m:nor/>
                      </m:rPr>
                      <a:rPr lang="en-US" sz="4400" b="0" i="0" smtClean="0"/>
                      <m:t> </m:t>
                    </m:r>
                    <m:r>
                      <m:rPr>
                        <m:nor/>
                      </m:rPr>
                      <a:rPr lang="es-MX" sz="4400"/>
                      <m:t>0.18</m:t>
                    </m:r>
                    <m:r>
                      <m:rPr>
                        <m:nor/>
                      </m:rPr>
                      <a:rPr lang="es-MX" sz="4400"/>
                      <m:t>,</m:t>
                    </m:r>
                    <m:r>
                      <m:rPr>
                        <m:nor/>
                      </m:rPr>
                      <a:rPr lang="en-US" sz="4400" b="0" i="0" smtClean="0"/>
                      <m:t> </m:t>
                    </m:r>
                    <m:r>
                      <m:rPr>
                        <m:nor/>
                      </m:rPr>
                      <a:rPr lang="es-MX" sz="4400"/>
                      <m:t>0</m:t>
                    </m:r>
                    <m:r>
                      <m:rPr>
                        <m:nor/>
                      </m:rPr>
                      <a:rPr lang="es-MX" sz="4400"/>
                      <m:t>,</m:t>
                    </m:r>
                    <m:r>
                      <m:rPr>
                        <m:nor/>
                      </m:rPr>
                      <a:rPr lang="en-US" sz="4400" b="0" i="0" smtClean="0"/>
                      <m:t> </m:t>
                    </m:r>
                    <m:r>
                      <m:rPr>
                        <m:nor/>
                      </m:rPr>
                      <a:rPr lang="es-MX" sz="4400"/>
                      <m:t>0</m:t>
                    </m:r>
                    <m:r>
                      <m:rPr>
                        <m:nor/>
                      </m:rPr>
                      <a:rPr lang="es-MX" sz="4400"/>
                      <m:t>,</m:t>
                    </m:r>
                    <m:r>
                      <m:rPr>
                        <m:nor/>
                      </m:rPr>
                      <a:rPr lang="en-US" sz="4400" b="0" i="0" smtClean="0"/>
                      <m:t> </m:t>
                    </m:r>
                    <m:r>
                      <m:rPr>
                        <m:nor/>
                      </m:rPr>
                      <a:rPr lang="es-MX" sz="4400"/>
                      <m:t>0</m:t>
                    </m:r>
                    <m:r>
                      <m:rPr>
                        <m:nor/>
                      </m:rPr>
                      <a:rPr lang="es-MX" sz="4400"/>
                      <m:t>)</m:t>
                    </m:r>
                  </m:oMath>
                </a14:m>
                <a:endParaRPr lang="ar-AE" sz="4400" b="0" dirty="0"/>
              </a:p>
              <a:p>
                <a:pPr>
                  <a:lnSpc>
                    <a:spcPct val="170000"/>
                  </a:lnSpc>
                </a:pPr>
                <a:r>
                  <a:rPr lang="es-MX" sz="4400" b="1" dirty="0" err="1"/>
                  <a:t>Chunk</a:t>
                </a:r>
                <a:r>
                  <a:rPr lang="es-MX" sz="4400" b="1" dirty="0"/>
                  <a:t> B </a:t>
                </a:r>
                <a14:m>
                  <m:oMath xmlns:m="http://schemas.openxmlformats.org/officeDocument/2006/math">
                    <m:r>
                      <a:rPr lang="ja-JP" altLang="es-MX" sz="4400" b="1" i="1" dirty="0">
                        <a:latin typeface="Cambria Math" panose="02040503050406030204" pitchFamily="18" charset="0"/>
                      </a:rPr>
                      <m:t>➞</m:t>
                    </m:r>
                    <m:r>
                      <a:rPr lang="ja-JP" altLang="es-MX" sz="4400" b="1" i="1" dirty="0" smtClean="0">
                        <a:latin typeface="Cambria Math" panose="02040503050406030204" pitchFamily="18" charset="0"/>
                      </a:rPr>
                      <m:t>　</m:t>
                    </m:r>
                    <m:r>
                      <m:rPr>
                        <m:nor/>
                      </m:rPr>
                      <a:rPr lang="es-MX" sz="4400"/>
                      <m:t>(</m:t>
                    </m:r>
                    <m:r>
                      <m:rPr>
                        <m:nor/>
                      </m:rPr>
                      <a:rPr lang="es-MX" sz="4400"/>
                      <m:t>0.18</m:t>
                    </m:r>
                    <m:r>
                      <m:rPr>
                        <m:nor/>
                      </m:rPr>
                      <a:rPr lang="es-MX" sz="4400"/>
                      <m:t>,</m:t>
                    </m:r>
                    <m:r>
                      <m:rPr>
                        <m:nor/>
                      </m:rPr>
                      <a:rPr lang="en-US" sz="4400"/>
                      <m:t> </m:t>
                    </m:r>
                    <m:r>
                      <m:rPr>
                        <m:nor/>
                      </m:rPr>
                      <a:rPr lang="es-MX" sz="4400"/>
                      <m:t>0</m:t>
                    </m:r>
                    <m:r>
                      <m:rPr>
                        <m:nor/>
                      </m:rPr>
                      <a:rPr lang="es-MX" sz="4400"/>
                      <m:t>,</m:t>
                    </m:r>
                    <m:r>
                      <m:rPr>
                        <m:nor/>
                      </m:rPr>
                      <a:rPr lang="en-US" sz="4400"/>
                      <m:t> </m:t>
                    </m:r>
                    <m:r>
                      <m:rPr>
                        <m:nor/>
                      </m:rPr>
                      <a:rPr lang="es-MX" sz="4400"/>
                      <m:t>0.18</m:t>
                    </m:r>
                    <m:r>
                      <m:rPr>
                        <m:nor/>
                      </m:rPr>
                      <a:rPr lang="es-MX" sz="4400"/>
                      <m:t>,</m:t>
                    </m:r>
                    <m:r>
                      <m:rPr>
                        <m:nor/>
                      </m:rPr>
                      <a:rPr lang="en-US" sz="4400"/>
                      <m:t> </m:t>
                    </m:r>
                    <m:r>
                      <m:rPr>
                        <m:nor/>
                      </m:rPr>
                      <a:rPr lang="es-MX" sz="4400"/>
                      <m:t>0.18</m:t>
                    </m:r>
                    <m:r>
                      <m:rPr>
                        <m:nor/>
                      </m:rPr>
                      <a:rPr lang="es-MX" sz="4400"/>
                      <m:t>,</m:t>
                    </m:r>
                    <m:r>
                      <m:rPr>
                        <m:nor/>
                      </m:rPr>
                      <a:rPr lang="en-US" sz="4400"/>
                      <m:t> </m:t>
                    </m:r>
                    <m:r>
                      <m:rPr>
                        <m:nor/>
                      </m:rPr>
                      <a:rPr lang="es-MX" sz="4400"/>
                      <m:t>0</m:t>
                    </m:r>
                    <m:r>
                      <m:rPr>
                        <m:nor/>
                      </m:rPr>
                      <a:rPr lang="es-MX" sz="4400"/>
                      <m:t>,</m:t>
                    </m:r>
                    <m:r>
                      <m:rPr>
                        <m:nor/>
                      </m:rPr>
                      <a:rPr lang="en-US" sz="4400"/>
                      <m:t> </m:t>
                    </m:r>
                    <m:r>
                      <m:rPr>
                        <m:nor/>
                      </m:rPr>
                      <a:rPr lang="es-MX" sz="4400"/>
                      <m:t>0</m:t>
                    </m:r>
                    <m:r>
                      <m:rPr>
                        <m:nor/>
                      </m:rPr>
                      <a:rPr lang="es-MX" sz="4400"/>
                      <m:t>,</m:t>
                    </m:r>
                    <m:r>
                      <m:rPr>
                        <m:nor/>
                      </m:rPr>
                      <a:rPr lang="en-US" sz="4400"/>
                      <m:t> </m:t>
                    </m:r>
                    <m:r>
                      <m:rPr>
                        <m:nor/>
                      </m:rPr>
                      <a:rPr lang="es-MX" sz="4400"/>
                      <m:t>0</m:t>
                    </m:r>
                    <m:r>
                      <m:rPr>
                        <m:nor/>
                      </m:rPr>
                      <a:rPr lang="es-MX" sz="4400"/>
                      <m:t>)</m:t>
                    </m:r>
                  </m:oMath>
                </a14:m>
                <a:endParaRPr lang="ar-AE" sz="4400" b="0" dirty="0"/>
              </a:p>
              <a:p>
                <a:pPr>
                  <a:lnSpc>
                    <a:spcPct val="170000"/>
                  </a:lnSpc>
                </a:pPr>
                <a:r>
                  <a:rPr lang="es-MX" sz="4400" b="1" dirty="0" err="1"/>
                  <a:t>Chunk</a:t>
                </a:r>
                <a:r>
                  <a:rPr lang="es-MX" sz="4400" b="1" dirty="0"/>
                  <a:t> C </a:t>
                </a:r>
                <a:r>
                  <a:rPr lang="ja-JP" altLang="es-MX" sz="4400" b="1" dirty="0"/>
                  <a:t>➞　</a:t>
                </a:r>
                <a14:m>
                  <m:oMath xmlns:m="http://schemas.openxmlformats.org/officeDocument/2006/math">
                    <m:r>
                      <m:rPr>
                        <m:nor/>
                      </m:rPr>
                      <a:rPr lang="es-MX" sz="4400"/>
                      <m:t>(</m:t>
                    </m:r>
                    <m:r>
                      <m:rPr>
                        <m:nor/>
                      </m:rPr>
                      <a:rPr lang="es-MX" sz="4400"/>
                      <m:t>0</m:t>
                    </m:r>
                    <m:r>
                      <m:rPr>
                        <m:nor/>
                      </m:rPr>
                      <a:rPr lang="es-MX" sz="4400"/>
                      <m:t>,</m:t>
                    </m:r>
                    <m:r>
                      <m:rPr>
                        <m:nor/>
                      </m:rPr>
                      <a:rPr lang="en-US" sz="4400"/>
                      <m:t> </m:t>
                    </m:r>
                    <m:r>
                      <m:rPr>
                        <m:nor/>
                      </m:rPr>
                      <a:rPr lang="es-MX" sz="4400" b="0" i="0" smtClean="0"/>
                      <m:t>1.</m:t>
                    </m:r>
                    <m:r>
                      <m:rPr>
                        <m:nor/>
                      </m:rPr>
                      <a:rPr lang="es-MX" sz="4400" b="0" i="0" smtClean="0"/>
                      <m:t>10</m:t>
                    </m:r>
                    <m:r>
                      <m:rPr>
                        <m:nor/>
                      </m:rPr>
                      <a:rPr lang="es-MX" sz="4400"/>
                      <m:t>,</m:t>
                    </m:r>
                    <m:r>
                      <m:rPr>
                        <m:nor/>
                      </m:rPr>
                      <a:rPr lang="en-US" sz="4400"/>
                      <m:t> </m:t>
                    </m:r>
                    <m:r>
                      <m:rPr>
                        <m:nor/>
                      </m:rPr>
                      <a:rPr lang="es-MX" sz="4400"/>
                      <m:t>0</m:t>
                    </m:r>
                    <m:r>
                      <m:rPr>
                        <m:nor/>
                      </m:rPr>
                      <a:rPr lang="es-MX" sz="4400"/>
                      <m:t>,</m:t>
                    </m:r>
                    <m:r>
                      <m:rPr>
                        <m:nor/>
                      </m:rPr>
                      <a:rPr lang="en-US" sz="4400"/>
                      <m:t> </m:t>
                    </m:r>
                    <m:r>
                      <m:rPr>
                        <m:nor/>
                      </m:rPr>
                      <a:rPr lang="es-MX" sz="4400"/>
                      <m:t>0</m:t>
                    </m:r>
                    <m:r>
                      <m:rPr>
                        <m:nor/>
                      </m:rPr>
                      <a:rPr lang="es-MX" sz="4400"/>
                      <m:t>,</m:t>
                    </m:r>
                    <m:r>
                      <m:rPr>
                        <m:nor/>
                      </m:rPr>
                      <a:rPr lang="en-US" sz="4400"/>
                      <m:t> </m:t>
                    </m:r>
                    <m:r>
                      <m:rPr>
                        <m:nor/>
                      </m:rPr>
                      <a:rPr lang="es-MX" sz="4400"/>
                      <m:t>0</m:t>
                    </m:r>
                    <m:r>
                      <m:rPr>
                        <m:nor/>
                      </m:rPr>
                      <a:rPr lang="es-MX" sz="4400"/>
                      <m:t>,</m:t>
                    </m:r>
                    <m:r>
                      <m:rPr>
                        <m:nor/>
                      </m:rPr>
                      <a:rPr lang="en-US" sz="4400"/>
                      <m:t> </m:t>
                    </m:r>
                    <m:r>
                      <m:rPr>
                        <m:nor/>
                      </m:rPr>
                      <a:rPr lang="es-MX" sz="4400" b="0" i="0" smtClean="0"/>
                      <m:t>1.</m:t>
                    </m:r>
                    <m:r>
                      <m:rPr>
                        <m:nor/>
                      </m:rPr>
                      <a:rPr lang="es-MX" sz="4400" b="0" i="0" smtClean="0"/>
                      <m:t>10</m:t>
                    </m:r>
                    <m:r>
                      <m:rPr>
                        <m:nor/>
                      </m:rPr>
                      <a:rPr lang="es-MX" sz="4400"/>
                      <m:t>,</m:t>
                    </m:r>
                    <m:r>
                      <m:rPr>
                        <m:nor/>
                      </m:rPr>
                      <a:rPr lang="en-US" sz="4400"/>
                      <m:t> </m:t>
                    </m:r>
                    <m:r>
                      <m:rPr>
                        <m:nor/>
                      </m:rPr>
                      <a:rPr lang="es-MX" sz="4400" b="0" i="0" smtClean="0"/>
                      <m:t>1.</m:t>
                    </m:r>
                    <m:r>
                      <m:rPr>
                        <m:nor/>
                      </m:rPr>
                      <a:rPr lang="es-MX" sz="4400" b="0" i="0" smtClean="0"/>
                      <m:t>10</m:t>
                    </m:r>
                    <m:r>
                      <m:rPr>
                        <m:nor/>
                      </m:rPr>
                      <a:rPr lang="es-MX" sz="4400"/>
                      <m:t>)</m:t>
                    </m:r>
                  </m:oMath>
                </a14:m>
                <a:endParaRPr lang="es-MX" sz="4400" b="1" dirty="0"/>
              </a:p>
              <a:p>
                <a:endParaRPr lang="ja-JP" altLang="es-MX" sz="4400" b="0" dirty="0"/>
              </a:p>
              <a:p>
                <a:r>
                  <a:rPr lang="ja-JP" altLang="es-MX" sz="4400" dirty="0"/>
                  <a:t>結果：</a:t>
                </a:r>
              </a:p>
              <a:p>
                <a:pPr lvl="1"/>
                <a:r>
                  <a:rPr lang="ja-JP" altLang="es-MX" sz="4400" dirty="0"/>
                  <a:t>構造的に意味のある語が強調される</a:t>
                </a:r>
              </a:p>
              <a:p>
                <a:pPr lvl="1"/>
                <a:r>
                  <a:rPr lang="ja-JP" altLang="es-MX" sz="4400" dirty="0"/>
                  <a:t>冗長な語は影響を持たない</a:t>
                </a:r>
              </a:p>
              <a:p>
                <a:endParaRPr lang="es-MX" dirty="0"/>
              </a:p>
            </p:txBody>
          </p:sp>
        </mc:Choice>
        <mc:Fallback>
          <p:sp>
            <p:nvSpPr>
              <p:cNvPr id="3" name="Content Placeholder 2">
                <a:extLst>
                  <a:ext uri="{FF2B5EF4-FFF2-40B4-BE49-F238E27FC236}">
                    <a16:creationId xmlns:a16="http://schemas.microsoft.com/office/drawing/2014/main" id="{0377074B-4558-A8B2-FF08-6F7654B760A9}"/>
                  </a:ext>
                </a:extLst>
              </p:cNvPr>
              <p:cNvSpPr>
                <a:spLocks noGrp="1" noRot="1" noChangeAspect="1" noMove="1" noResize="1" noEditPoints="1" noAdjustHandles="1" noChangeArrowheads="1" noChangeShapeType="1" noTextEdit="1"/>
              </p:cNvSpPr>
              <p:nvPr>
                <p:ph idx="1"/>
              </p:nvPr>
            </p:nvSpPr>
            <p:spPr>
              <a:xfrm>
                <a:off x="838200" y="1551008"/>
                <a:ext cx="10515600" cy="5081286"/>
              </a:xfrm>
              <a:blipFill>
                <a:blip r:embed="rId3"/>
                <a:stretch>
                  <a:fillRect l="-696" t="-2518"/>
                </a:stretch>
              </a:blipFill>
            </p:spPr>
            <p:txBody>
              <a:bodyPr/>
              <a:lstStyle/>
              <a:p>
                <a:r>
                  <a:rPr lang="es-MX">
                    <a:noFill/>
                  </a:rPr>
                  <a:t> </a:t>
                </a:r>
              </a:p>
            </p:txBody>
          </p:sp>
        </mc:Fallback>
      </mc:AlternateContent>
    </p:spTree>
    <p:extLst>
      <p:ext uri="{BB962C8B-B14F-4D97-AF65-F5344CB8AC3E}">
        <p14:creationId xmlns:p14="http://schemas.microsoft.com/office/powerpoint/2010/main" val="3869304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7E92D-D781-95FC-59B5-26449064AE32}"/>
              </a:ext>
            </a:extLst>
          </p:cNvPr>
          <p:cNvSpPr>
            <a:spLocks noGrp="1"/>
          </p:cNvSpPr>
          <p:nvPr>
            <p:ph type="title"/>
          </p:nvPr>
        </p:nvSpPr>
        <p:spPr/>
        <p:txBody>
          <a:bodyPr/>
          <a:lstStyle/>
          <a:p>
            <a:r>
              <a:rPr lang="ja-JP" altLang="es-MX" dirty="0"/>
              <a:t>６：ベクトルの</a:t>
            </a:r>
            <a:r>
              <a:rPr lang="zh-CN" altLang="es-MX" dirty="0"/>
              <a:t>正規化（</a:t>
            </a:r>
            <a:r>
              <a:rPr lang="es-MX" dirty="0" err="1"/>
              <a:t>Normalization</a:t>
            </a:r>
            <a:r>
              <a:rPr lang="es-MX" dirty="0"/>
              <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8D6CAD9-CA47-4BBC-BA07-10E69A758F18}"/>
                  </a:ext>
                </a:extLst>
              </p:cNvPr>
              <p:cNvSpPr>
                <a:spLocks noGrp="1"/>
              </p:cNvSpPr>
              <p:nvPr>
                <p:ph idx="1"/>
              </p:nvPr>
            </p:nvSpPr>
            <p:spPr>
              <a:xfrm>
                <a:off x="838200" y="1825625"/>
                <a:ext cx="10515600" cy="4667250"/>
              </a:xfrm>
            </p:spPr>
            <p:txBody>
              <a:bodyPr>
                <a:normAutofit fontScale="92500" lnSpcReduction="20000"/>
              </a:bodyPr>
              <a:lstStyle/>
              <a:p>
                <a:pPr marL="0" indent="0">
                  <a:lnSpc>
                    <a:spcPct val="120000"/>
                  </a:lnSpc>
                  <a:buNone/>
                </a:pPr>
                <a:r>
                  <a:rPr lang="ja-JP" altLang="es-MX" dirty="0"/>
                  <a:t>チャンクによって：</a:t>
                </a:r>
              </a:p>
              <a:p>
                <a:pPr lvl="1">
                  <a:lnSpc>
                    <a:spcPct val="120000"/>
                  </a:lnSpc>
                </a:pPr>
                <a:r>
                  <a:rPr lang="ja-JP" altLang="es-MX" dirty="0"/>
                  <a:t>長さ、</a:t>
                </a:r>
              </a:p>
              <a:p>
                <a:pPr lvl="1">
                  <a:lnSpc>
                    <a:spcPct val="120000"/>
                  </a:lnSpc>
                </a:pPr>
                <a:r>
                  <a:rPr lang="ja-JP" altLang="es-MX" dirty="0"/>
                  <a:t>キーワード数が異なる。</a:t>
                </a:r>
              </a:p>
              <a:p>
                <a:pPr>
                  <a:lnSpc>
                    <a:spcPct val="120000"/>
                  </a:lnSpc>
                </a:pPr>
                <a:endParaRPr lang="es-MX" altLang="ja-JP" dirty="0"/>
              </a:p>
              <a:p>
                <a:pPr marL="0" indent="0">
                  <a:lnSpc>
                    <a:spcPct val="120000"/>
                  </a:lnSpc>
                  <a:buNone/>
                </a:pPr>
                <a:r>
                  <a:rPr lang="ja-JP" altLang="es-MX" dirty="0"/>
                  <a:t>公平に比較するため、ベクトルを正規化する。</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ja-JP" altLang="es-MX"/>
                          </m:ctrlPr>
                        </m:sSubPr>
                        <m:e>
                          <m:acc>
                            <m:accPr>
                              <m:chr m:val="⃗"/>
                              <m:ctrlPr>
                                <a:rPr lang="ja-JP" altLang="es-MX"/>
                              </m:ctrlPr>
                            </m:accPr>
                            <m:e>
                              <m:r>
                                <a:rPr lang="ja-JP" altLang="es-MX" i="1"/>
                                <m:t>𝑣</m:t>
                              </m:r>
                            </m:e>
                          </m:acc>
                        </m:e>
                        <m:sub>
                          <m:r>
                            <a:rPr lang="ja-JP" altLang="es-MX" i="1"/>
                            <m:t>𝑛𝑜𝑟𝑚</m:t>
                          </m:r>
                        </m:sub>
                      </m:sSub>
                      <m:r>
                        <a:rPr lang="es-MX" altLang="ja-JP"/>
                        <m:t>=</m:t>
                      </m:r>
                      <m:f>
                        <m:fPr>
                          <m:ctrlPr>
                            <a:rPr lang="ja-JP" altLang="es-MX" i="1"/>
                          </m:ctrlPr>
                        </m:fPr>
                        <m:num>
                          <m:acc>
                            <m:accPr>
                              <m:chr m:val="⃗"/>
                              <m:ctrlPr>
                                <a:rPr lang="ja-JP" altLang="es-MX" i="1"/>
                              </m:ctrlPr>
                            </m:accPr>
                            <m:e>
                              <m:r>
                                <a:rPr lang="ja-JP" altLang="es-MX" i="1"/>
                                <m:t>𝑣</m:t>
                              </m:r>
                            </m:e>
                          </m:acc>
                        </m:num>
                        <m:den>
                          <m:r>
                            <a:rPr lang="ja-JP" altLang="es-MX"/>
                            <m:t>∥</m:t>
                          </m:r>
                          <m:acc>
                            <m:accPr>
                              <m:chr m:val="⃗"/>
                              <m:ctrlPr>
                                <a:rPr lang="ja-JP" altLang="es-MX" i="1"/>
                              </m:ctrlPr>
                            </m:accPr>
                            <m:e>
                              <m:r>
                                <a:rPr lang="ja-JP" altLang="es-MX" i="1"/>
                                <m:t>𝑣</m:t>
                              </m:r>
                            </m:e>
                          </m:acc>
                          <m:r>
                            <a:rPr lang="ja-JP" altLang="es-MX"/>
                            <m:t>∥</m:t>
                          </m:r>
                        </m:den>
                      </m:f>
                    </m:oMath>
                  </m:oMathPara>
                </a14:m>
                <a:endParaRPr lang="ja-JP" altLang="es-MX" dirty="0"/>
              </a:p>
              <a:p>
                <a:pPr marL="0" indent="0">
                  <a:lnSpc>
                    <a:spcPct val="120000"/>
                  </a:lnSpc>
                  <a:buNone/>
                </a:pPr>
                <a:r>
                  <a:rPr lang="ja-JP" altLang="es-MX" b="1" dirty="0"/>
                  <a:t>効果：</a:t>
                </a:r>
              </a:p>
              <a:p>
                <a:pPr lvl="1">
                  <a:lnSpc>
                    <a:spcPct val="120000"/>
                  </a:lnSpc>
                </a:pPr>
                <a:r>
                  <a:rPr lang="ja-JP" altLang="es-MX" dirty="0"/>
                  <a:t>大きさの違いを除去</a:t>
                </a:r>
              </a:p>
              <a:p>
                <a:pPr lvl="1">
                  <a:lnSpc>
                    <a:spcPct val="120000"/>
                  </a:lnSpc>
                </a:pPr>
                <a:r>
                  <a:rPr lang="ja-JP" altLang="es-MX" dirty="0"/>
                  <a:t>方向のみを比較</a:t>
                </a:r>
              </a:p>
            </p:txBody>
          </p:sp>
        </mc:Choice>
        <mc:Fallback>
          <p:sp>
            <p:nvSpPr>
              <p:cNvPr id="3" name="Content Placeholder 2">
                <a:extLst>
                  <a:ext uri="{FF2B5EF4-FFF2-40B4-BE49-F238E27FC236}">
                    <a16:creationId xmlns:a16="http://schemas.microsoft.com/office/drawing/2014/main" id="{38D6CAD9-CA47-4BBC-BA07-10E69A758F18}"/>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3"/>
                <a:stretch>
                  <a:fillRect l="-1043" t="-1436" b="-1828"/>
                </a:stretch>
              </a:blipFill>
            </p:spPr>
            <p:txBody>
              <a:bodyPr/>
              <a:lstStyle/>
              <a:p>
                <a:r>
                  <a:rPr lang="es-MX">
                    <a:noFill/>
                  </a:rPr>
                  <a:t> </a:t>
                </a:r>
              </a:p>
            </p:txBody>
          </p:sp>
        </mc:Fallback>
      </mc:AlternateContent>
    </p:spTree>
    <p:extLst>
      <p:ext uri="{BB962C8B-B14F-4D97-AF65-F5344CB8AC3E}">
        <p14:creationId xmlns:p14="http://schemas.microsoft.com/office/powerpoint/2010/main" val="1865299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E65C1-A5E9-1A62-9DE5-424683852172}"/>
              </a:ext>
            </a:extLst>
          </p:cNvPr>
          <p:cNvSpPr>
            <a:spLocks noGrp="1"/>
          </p:cNvSpPr>
          <p:nvPr>
            <p:ph type="title"/>
          </p:nvPr>
        </p:nvSpPr>
        <p:spPr/>
        <p:txBody>
          <a:bodyPr/>
          <a:lstStyle/>
          <a:p>
            <a:r>
              <a:rPr lang="en-US" dirty="0"/>
              <a:t>Step 3 — Clustering Lines with TF-IDF</a:t>
            </a:r>
            <a:endParaRPr lang="es-MX" dirty="0"/>
          </a:p>
        </p:txBody>
      </p:sp>
      <p:sp>
        <p:nvSpPr>
          <p:cNvPr id="4" name="Rectangle 1">
            <a:extLst>
              <a:ext uri="{FF2B5EF4-FFF2-40B4-BE49-F238E27FC236}">
                <a16:creationId xmlns:a16="http://schemas.microsoft.com/office/drawing/2014/main" id="{E877A984-C14C-7BD7-0583-2C8446DEDF7D}"/>
              </a:ext>
            </a:extLst>
          </p:cNvPr>
          <p:cNvSpPr>
            <a:spLocks noGrp="1" noChangeArrowheads="1"/>
          </p:cNvSpPr>
          <p:nvPr>
            <p:ph idx="1"/>
          </p:nvPr>
        </p:nvSpPr>
        <p:spPr bwMode="auto">
          <a:xfrm>
            <a:off x="838200" y="1690688"/>
            <a:ext cx="597952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各行を</a:t>
            </a:r>
            <a:r>
              <a:rPr kumimoji="0" lang="es-MX" altLang="es-MX" sz="2400" b="1" i="0" u="none" strike="noStrike" cap="none" normalizeH="0" baseline="0" dirty="0" err="1">
                <a:ln>
                  <a:noFill/>
                </a:ln>
                <a:solidFill>
                  <a:schemeClr val="tx1"/>
                </a:solidFill>
                <a:effectLst/>
                <a:latin typeface="Arial" panose="020B0604020202020204" pitchFamily="34" charset="0"/>
              </a:rPr>
              <a:t>TF-IDFベクトル</a:t>
            </a:r>
            <a:r>
              <a:rPr kumimoji="0" lang="es-MX" altLang="es-MX" sz="2400" b="0" i="0" u="none" strike="noStrike" cap="none" normalizeH="0" baseline="0" dirty="0" err="1">
                <a:ln>
                  <a:noFill/>
                </a:ln>
                <a:solidFill>
                  <a:schemeClr val="tx1"/>
                </a:solidFill>
                <a:effectLst/>
                <a:latin typeface="Arial" panose="020B0604020202020204" pitchFamily="34" charset="0"/>
              </a:rPr>
              <a:t>として表現</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1" i="0" u="none" strike="noStrike" cap="none" normalizeH="0" baseline="0" dirty="0">
                <a:ln>
                  <a:noFill/>
                </a:ln>
                <a:solidFill>
                  <a:schemeClr val="tx1"/>
                </a:solidFill>
                <a:effectLst/>
                <a:latin typeface="Arial" panose="020B0604020202020204" pitchFamily="34" charset="0"/>
              </a:rPr>
              <a:t>K-</a:t>
            </a:r>
            <a:r>
              <a:rPr kumimoji="0" lang="es-MX" altLang="es-MX" sz="2400" b="1" i="0" u="none" strike="noStrike" cap="none" normalizeH="0" baseline="0" dirty="0" err="1">
                <a:ln>
                  <a:noFill/>
                </a:ln>
                <a:solidFill>
                  <a:schemeClr val="tx1"/>
                </a:solidFill>
                <a:effectLst/>
                <a:latin typeface="Arial" panose="020B0604020202020204" pitchFamily="34" charset="0"/>
              </a:rPr>
              <a:t>meansクラスタリング</a:t>
            </a:r>
            <a:r>
              <a:rPr kumimoji="0" lang="es-MX" altLang="es-MX" sz="2400" b="0" i="0" u="none" strike="noStrike" cap="none" normalizeH="0" baseline="0" dirty="0" err="1">
                <a:ln>
                  <a:noFill/>
                </a:ln>
                <a:solidFill>
                  <a:schemeClr val="tx1"/>
                </a:solidFill>
                <a:effectLst/>
                <a:latin typeface="Arial" panose="020B0604020202020204" pitchFamily="34" charset="0"/>
              </a:rPr>
              <a:t>を適用</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直感的な意味</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構造が似た行が同じクラスタに集まる</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s-MX" altLang="es-MX" sz="2400" b="0" i="0" u="none" strike="noStrike" cap="none" normalizeH="0" baseline="0" dirty="0" err="1">
                <a:ln>
                  <a:noFill/>
                </a:ln>
                <a:solidFill>
                  <a:schemeClr val="tx1"/>
                </a:solidFill>
                <a:effectLst/>
                <a:latin typeface="Arial" panose="020B0604020202020204" pitchFamily="34" charset="0"/>
              </a:rPr>
              <a:t>各クラスタは</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s-MX" altLang="es-MX" b="0" i="0" u="none" strike="noStrike" cap="none" normalizeH="0" baseline="0" dirty="0" err="1">
                <a:ln>
                  <a:noFill/>
                </a:ln>
                <a:solidFill>
                  <a:schemeClr val="tx1"/>
                </a:solidFill>
                <a:effectLst/>
                <a:latin typeface="Arial" panose="020B0604020202020204" pitchFamily="34" charset="0"/>
              </a:rPr>
              <a:t>繰り返し現れる構造パターンを表す</a:t>
            </a: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6950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39289C0D-07FB-42B4-6D1A-6ED0CB3AF426}"/>
                  </a:ext>
                </a:extLst>
              </p:cNvPr>
              <p:cNvSpPr>
                <a:spLocks noGrp="1"/>
              </p:cNvSpPr>
              <p:nvPr>
                <p:ph type="title"/>
              </p:nvPr>
            </p:nvSpPr>
            <p:spPr/>
            <p:txBody>
              <a:bodyPr/>
              <a:lstStyle/>
              <a:p>
                <a:r>
                  <a:rPr lang="ja-JP" altLang="es-MX" dirty="0"/>
                  <a:t>１：クラスタ数 </a:t>
                </a:r>
                <a14:m>
                  <m:oMath xmlns:m="http://schemas.openxmlformats.org/officeDocument/2006/math">
                    <m:r>
                      <a:rPr lang="ja-JP" altLang="es-MX" i="1"/>
                      <m:t>𝐾</m:t>
                    </m:r>
                  </m:oMath>
                </a14:m>
                <a:r>
                  <a:rPr lang="ja-JP" altLang="es-MX" dirty="0"/>
                  <a:t>の決定</a:t>
                </a:r>
                <a:endParaRPr lang="es-MX" dirty="0"/>
              </a:p>
            </p:txBody>
          </p:sp>
        </mc:Choice>
        <mc:Fallback>
          <p:sp>
            <p:nvSpPr>
              <p:cNvPr id="2" name="Title 1">
                <a:extLst>
                  <a:ext uri="{FF2B5EF4-FFF2-40B4-BE49-F238E27FC236}">
                    <a16:creationId xmlns:a16="http://schemas.microsoft.com/office/drawing/2014/main" id="{39289C0D-07FB-42B4-6D1A-6ED0CB3AF426}"/>
                  </a:ext>
                </a:extLst>
              </p:cNvPr>
              <p:cNvSpPr>
                <a:spLocks noGrp="1" noRot="1" noChangeAspect="1" noMove="1" noResize="1" noEditPoints="1" noAdjustHandles="1" noChangeArrowheads="1" noChangeShapeType="1" noTextEdit="1"/>
              </p:cNvSpPr>
              <p:nvPr>
                <p:ph type="title"/>
              </p:nvPr>
            </p:nvSpPr>
            <p:spPr>
              <a:blipFill>
                <a:blip r:embed="rId3"/>
                <a:stretch>
                  <a:fillRect l="-2377"/>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231215F-F063-8780-8C72-5C4BD5A0CA52}"/>
                  </a:ext>
                </a:extLst>
              </p:cNvPr>
              <p:cNvSpPr>
                <a:spLocks noGrp="1"/>
              </p:cNvSpPr>
              <p:nvPr>
                <p:ph idx="1"/>
              </p:nvPr>
            </p:nvSpPr>
            <p:spPr>
              <a:xfrm>
                <a:off x="838200" y="1892983"/>
                <a:ext cx="10515600" cy="4965017"/>
              </a:xfrm>
            </p:spPr>
            <p:txBody>
              <a:bodyPr>
                <a:normAutofit/>
              </a:bodyPr>
              <a:lstStyle/>
              <a:p>
                <a:r>
                  <a:rPr lang="es-MX" altLang="ja-JP" sz="2400" dirty="0"/>
                  <a:t>K-</a:t>
                </a:r>
                <a:r>
                  <a:rPr lang="es-MX" altLang="ja-JP" sz="2400" dirty="0" err="1"/>
                  <a:t>means</a:t>
                </a:r>
                <a:r>
                  <a:rPr lang="es-MX" altLang="ja-JP" sz="2400" dirty="0"/>
                  <a:t> </a:t>
                </a:r>
                <a:r>
                  <a:rPr lang="ja-JP" altLang="es-MX" sz="2400" dirty="0"/>
                  <a:t>では</a:t>
                </a:r>
                <a:r>
                  <a:rPr lang="ja-JP" altLang="es-MX" sz="2400" b="1" dirty="0"/>
                  <a:t>クラスタ数 </a:t>
                </a:r>
                <a14:m>
                  <m:oMath xmlns:m="http://schemas.openxmlformats.org/officeDocument/2006/math">
                    <m:r>
                      <a:rPr lang="ja-JP" altLang="es-MX" sz="2400" i="1"/>
                      <m:t>𝐾</m:t>
                    </m:r>
                  </m:oMath>
                </a14:m>
                <a:r>
                  <a:rPr lang="ja-JP" altLang="es-MX" sz="2400" dirty="0"/>
                  <a:t>を事前に決定する必要がある。</a:t>
                </a:r>
                <a:endParaRPr lang="es-MX" altLang="ja-JP" sz="2400" dirty="0"/>
              </a:p>
              <a:p>
                <a:endParaRPr lang="ja-JP" altLang="es-MX" sz="2400" dirty="0"/>
              </a:p>
              <a:p>
                <a:r>
                  <a:rPr lang="ja-JP" altLang="es-MX" sz="2400" dirty="0"/>
                  <a:t>この </a:t>
                </a:r>
                <a14:m>
                  <m:oMath xmlns:m="http://schemas.openxmlformats.org/officeDocument/2006/math">
                    <m:r>
                      <a:rPr lang="ja-JP" altLang="es-MX" sz="2400" i="1"/>
                      <m:t>𝐾</m:t>
                    </m:r>
                  </m:oMath>
                </a14:m>
                <a:r>
                  <a:rPr lang="ja-JP" altLang="es-MX" sz="2400" dirty="0"/>
                  <a:t>は意味的なトピックではなく、</a:t>
                </a:r>
                <a:r>
                  <a:rPr lang="ja-JP" altLang="es-MX" sz="2400" b="1" dirty="0"/>
                  <a:t>構造的なパターン数</a:t>
                </a:r>
                <a:r>
                  <a:rPr lang="ja-JP" altLang="es-MX" sz="2400" dirty="0"/>
                  <a:t> を表す。</a:t>
                </a:r>
              </a:p>
              <a:p>
                <a:pPr lvl="1"/>
                <a:r>
                  <a:rPr lang="es-MX" altLang="ja-JP" dirty="0"/>
                  <a:t>1</a:t>
                </a:r>
                <a:r>
                  <a:rPr lang="ja-JP" altLang="es-MX" dirty="0"/>
                  <a:t>クラスタ ≈ </a:t>
                </a:r>
                <a:r>
                  <a:rPr lang="es-MX" altLang="ja-JP" dirty="0"/>
                  <a:t>1</a:t>
                </a:r>
                <a:r>
                  <a:rPr lang="ja-JP" altLang="es-MX" dirty="0"/>
                  <a:t>つの繰り返し現れる構造</a:t>
                </a:r>
              </a:p>
              <a:p>
                <a:pPr lvl="1"/>
                <a14:m>
                  <m:oMath xmlns:m="http://schemas.openxmlformats.org/officeDocument/2006/math">
                    <m:r>
                      <a:rPr lang="ja-JP" altLang="es-MX" i="1"/>
                      <m:t>𝐾</m:t>
                    </m:r>
                  </m:oMath>
                </a14:m>
                <a:r>
                  <a:rPr lang="ja-JP" altLang="es-MX" dirty="0"/>
                  <a:t>が大きいほど、より細かい構造差を捉えられる</a:t>
                </a:r>
              </a:p>
              <a:p>
                <a:pPr lvl="1"/>
                <a14:m>
                  <m:oMath xmlns:m="http://schemas.openxmlformats.org/officeDocument/2006/math">
                    <m:r>
                      <a:rPr lang="ja-JP" altLang="es-MX" i="1"/>
                      <m:t>𝐾</m:t>
                    </m:r>
                  </m:oMath>
                </a14:m>
                <a:r>
                  <a:rPr lang="ja-JP" altLang="es-MX" dirty="0"/>
                  <a:t>が小さいほど、大まかな構造を表す</a:t>
                </a:r>
                <a:endParaRPr lang="es-MX" altLang="ja-JP" dirty="0"/>
              </a:p>
              <a:p>
                <a:pPr lvl="1"/>
                <a:endParaRPr lang="ja-JP" altLang="es-MX" dirty="0"/>
              </a:p>
              <a:p>
                <a:r>
                  <a:rPr lang="es-MX" altLang="ja-JP" sz="2400" dirty="0" err="1"/>
                  <a:t>FastRAG</a:t>
                </a:r>
                <a:r>
                  <a:rPr lang="es-MX" altLang="ja-JP" sz="2400" dirty="0"/>
                  <a:t> </a:t>
                </a:r>
                <a:r>
                  <a:rPr lang="ja-JP" altLang="es-MX" sz="2400" dirty="0"/>
                  <a:t>において </a:t>
                </a:r>
                <a14:m>
                  <m:oMath xmlns:m="http://schemas.openxmlformats.org/officeDocument/2006/math">
                    <m:r>
                      <a:rPr lang="ja-JP" altLang="es-MX" sz="2400" i="1"/>
                      <m:t>𝐾</m:t>
                    </m:r>
                  </m:oMath>
                </a14:m>
                <a:r>
                  <a:rPr lang="ja-JP" altLang="es-MX" sz="2400" dirty="0"/>
                  <a:t>は、</a:t>
                </a:r>
                <a:br>
                  <a:rPr lang="ja-JP" altLang="es-MX" sz="2400" dirty="0"/>
                </a:br>
                <a:r>
                  <a:rPr lang="ja-JP" altLang="es-MX" sz="2400" dirty="0"/>
                  <a:t>データセットに含まれる </a:t>
                </a:r>
                <a:r>
                  <a:rPr lang="ja-JP" altLang="es-MX" sz="2400" b="1" dirty="0"/>
                  <a:t>構造テンプレートの数</a:t>
                </a:r>
                <a:r>
                  <a:rPr lang="ja-JP" altLang="es-MX" sz="2400" dirty="0"/>
                  <a:t> を意味する。</a:t>
                </a:r>
              </a:p>
              <a:p>
                <a:pPr marL="0" indent="0">
                  <a:buNone/>
                </a:pPr>
                <a:endParaRPr lang="es-MX" dirty="0"/>
              </a:p>
            </p:txBody>
          </p:sp>
        </mc:Choice>
        <mc:Fallback>
          <p:sp>
            <p:nvSpPr>
              <p:cNvPr id="3" name="Content Placeholder 2">
                <a:extLst>
                  <a:ext uri="{FF2B5EF4-FFF2-40B4-BE49-F238E27FC236}">
                    <a16:creationId xmlns:a16="http://schemas.microsoft.com/office/drawing/2014/main" id="{9231215F-F063-8780-8C72-5C4BD5A0CA52}"/>
                  </a:ext>
                </a:extLst>
              </p:cNvPr>
              <p:cNvSpPr>
                <a:spLocks noGrp="1" noRot="1" noChangeAspect="1" noMove="1" noResize="1" noEditPoints="1" noAdjustHandles="1" noChangeArrowheads="1" noChangeShapeType="1" noTextEdit="1"/>
              </p:cNvSpPr>
              <p:nvPr>
                <p:ph idx="1"/>
              </p:nvPr>
            </p:nvSpPr>
            <p:spPr>
              <a:xfrm>
                <a:off x="838200" y="1892983"/>
                <a:ext cx="10515600" cy="4965017"/>
              </a:xfrm>
              <a:blipFill>
                <a:blip r:embed="rId4"/>
                <a:stretch>
                  <a:fillRect l="-1217" t="-1843"/>
                </a:stretch>
              </a:blipFill>
            </p:spPr>
            <p:txBody>
              <a:bodyPr/>
              <a:lstStyle/>
              <a:p>
                <a:r>
                  <a:rPr lang="es-MX">
                    <a:noFill/>
                  </a:rPr>
                  <a:t> </a:t>
                </a:r>
              </a:p>
            </p:txBody>
          </p:sp>
        </mc:Fallback>
      </mc:AlternateContent>
    </p:spTree>
    <p:extLst>
      <p:ext uri="{BB962C8B-B14F-4D97-AF65-F5344CB8AC3E}">
        <p14:creationId xmlns:p14="http://schemas.microsoft.com/office/powerpoint/2010/main" val="157661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87F54-B1AA-8316-4EC3-10C3A03186C6}"/>
              </a:ext>
            </a:extLst>
          </p:cNvPr>
          <p:cNvSpPr>
            <a:spLocks noGrp="1"/>
          </p:cNvSpPr>
          <p:nvPr>
            <p:ph type="title"/>
          </p:nvPr>
        </p:nvSpPr>
        <p:spPr/>
        <p:txBody>
          <a:bodyPr/>
          <a:lstStyle/>
          <a:p>
            <a:r>
              <a:rPr lang="ja-JP" altLang="es-MX" dirty="0"/>
              <a:t>２：セントロイドの初期化</a:t>
            </a:r>
            <a:endParaRPr lang="es-MX"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1CB980E-593E-3146-7012-B49EBFCC96C8}"/>
                  </a:ext>
                </a:extLst>
              </p:cNvPr>
              <p:cNvSpPr>
                <a:spLocks noGrp="1"/>
              </p:cNvSpPr>
              <p:nvPr>
                <p:ph idx="1"/>
              </p:nvPr>
            </p:nvSpPr>
            <p:spPr/>
            <p:txBody>
              <a:bodyPr>
                <a:normAutofit/>
              </a:bodyPr>
              <a:lstStyle/>
              <a:p>
                <a:r>
                  <a:rPr lang="es-MX" altLang="ja-JP" sz="2400" dirty="0"/>
                  <a:t>K </a:t>
                </a:r>
                <a:r>
                  <a:rPr lang="ja-JP" altLang="es-MX" sz="2400" dirty="0"/>
                  <a:t>が決まると、</a:t>
                </a:r>
                <a:r>
                  <a:rPr lang="es-MX" altLang="ja-JP" sz="2400" dirty="0"/>
                  <a:t>K-</a:t>
                </a:r>
                <a:r>
                  <a:rPr lang="es-MX" altLang="ja-JP" sz="2400" dirty="0" err="1"/>
                  <a:t>means</a:t>
                </a:r>
                <a:r>
                  <a:rPr lang="es-MX" altLang="ja-JP" sz="2400" dirty="0"/>
                  <a:t> </a:t>
                </a:r>
                <a:r>
                  <a:rPr lang="ja-JP" altLang="es-MX" sz="2400" dirty="0"/>
                  <a:t>は</a:t>
                </a:r>
                <a14:m>
                  <m:oMath xmlns:m="http://schemas.openxmlformats.org/officeDocument/2006/math">
                    <m:r>
                      <a:rPr lang="ja-JP" altLang="es-MX" sz="2400" i="1"/>
                      <m:t>𝐾</m:t>
                    </m:r>
                  </m:oMath>
                </a14:m>
                <a:r>
                  <a:rPr lang="ja-JP" altLang="es-MX" sz="2400" dirty="0"/>
                  <a:t>個の </a:t>
                </a:r>
                <a:r>
                  <a:rPr lang="ja-JP" altLang="es-MX" sz="2400" b="1" dirty="0"/>
                  <a:t>セントロイド</a:t>
                </a:r>
                <a:r>
                  <a:rPr lang="ja-JP" altLang="es-MX" sz="2400" dirty="0"/>
                  <a:t> を初期化する。</a:t>
                </a:r>
                <a:endParaRPr lang="es-MX" altLang="ja-JP" sz="2400" dirty="0"/>
              </a:p>
              <a:p>
                <a:endParaRPr lang="ja-JP" altLang="es-MX" sz="2400" dirty="0"/>
              </a:p>
              <a:p>
                <a:r>
                  <a:rPr lang="ja-JP" altLang="es-MX" sz="2400" dirty="0"/>
                  <a:t>セントロイドとは：</a:t>
                </a:r>
              </a:p>
              <a:p>
                <a:pPr lvl="1"/>
                <a:r>
                  <a:rPr lang="ja-JP" altLang="es-MX" dirty="0"/>
                  <a:t>チャンクと同じ </a:t>
                </a:r>
                <a:r>
                  <a:rPr lang="es-MX" altLang="ja-JP" dirty="0"/>
                  <a:t>TF-IDF </a:t>
                </a:r>
                <a:r>
                  <a:rPr lang="ja-JP" altLang="es-MX" dirty="0"/>
                  <a:t>空間上のベクトル</a:t>
                </a:r>
              </a:p>
              <a:p>
                <a:pPr lvl="1"/>
                <a:r>
                  <a:rPr lang="ja-JP" altLang="es-MX" dirty="0"/>
                  <a:t>クラスタを代表する仮想的な点</a:t>
                </a:r>
                <a:endParaRPr lang="es-MX" altLang="ja-JP" dirty="0"/>
              </a:p>
              <a:p>
                <a:pPr lvl="1"/>
                <a:endParaRPr lang="ja-JP" altLang="es-MX" dirty="0"/>
              </a:p>
              <a:p>
                <a:r>
                  <a:rPr lang="ja-JP" altLang="es-MX" sz="2400" dirty="0"/>
                  <a:t>初期段階では：</a:t>
                </a:r>
              </a:p>
              <a:p>
                <a:pPr lvl="1"/>
                <a:r>
                  <a:rPr lang="ja-JP" altLang="es-MX" dirty="0"/>
                  <a:t>ランダム、または簡単なヒューリスティックで選ばれる</a:t>
                </a:r>
              </a:p>
              <a:p>
                <a:pPr lvl="1"/>
                <a:r>
                  <a:rPr lang="ja-JP" altLang="es-MX" dirty="0"/>
                  <a:t>実際のチャンクである必要はない</a:t>
                </a:r>
              </a:p>
              <a:p>
                <a:pPr marL="0" indent="0">
                  <a:lnSpc>
                    <a:spcPct val="120000"/>
                  </a:lnSpc>
                  <a:buNone/>
                </a:pPr>
                <a:endParaRPr lang="es-MX" altLang="ja-JP" dirty="0"/>
              </a:p>
              <a:p>
                <a:endParaRPr lang="es-MX" dirty="0"/>
              </a:p>
            </p:txBody>
          </p:sp>
        </mc:Choice>
        <mc:Fallback>
          <p:sp>
            <p:nvSpPr>
              <p:cNvPr id="3" name="Content Placeholder 2">
                <a:extLst>
                  <a:ext uri="{FF2B5EF4-FFF2-40B4-BE49-F238E27FC236}">
                    <a16:creationId xmlns:a16="http://schemas.microsoft.com/office/drawing/2014/main" id="{91CB980E-593E-3146-7012-B49EBFCC96C8}"/>
                  </a:ext>
                </a:extLst>
              </p:cNvPr>
              <p:cNvSpPr>
                <a:spLocks noGrp="1" noRot="1" noChangeAspect="1" noMove="1" noResize="1" noEditPoints="1" noAdjustHandles="1" noChangeArrowheads="1" noChangeShapeType="1" noTextEdit="1"/>
              </p:cNvSpPr>
              <p:nvPr>
                <p:ph idx="1"/>
              </p:nvPr>
            </p:nvSpPr>
            <p:spPr>
              <a:blipFill>
                <a:blip r:embed="rId3"/>
                <a:stretch>
                  <a:fillRect l="-1217" t="-2101" b="-16667"/>
                </a:stretch>
              </a:blipFill>
            </p:spPr>
            <p:txBody>
              <a:bodyPr/>
              <a:lstStyle/>
              <a:p>
                <a:r>
                  <a:rPr lang="es-MX">
                    <a:noFill/>
                  </a:rPr>
                  <a:t> </a:t>
                </a:r>
              </a:p>
            </p:txBody>
          </p:sp>
        </mc:Fallback>
      </mc:AlternateContent>
    </p:spTree>
    <p:extLst>
      <p:ext uri="{BB962C8B-B14F-4D97-AF65-F5344CB8AC3E}">
        <p14:creationId xmlns:p14="http://schemas.microsoft.com/office/powerpoint/2010/main" val="3642825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97AE-CC59-7880-ADD0-CF01279F85F7}"/>
              </a:ext>
            </a:extLst>
          </p:cNvPr>
          <p:cNvSpPr>
            <a:spLocks noGrp="1"/>
          </p:cNvSpPr>
          <p:nvPr>
            <p:ph type="title"/>
          </p:nvPr>
        </p:nvSpPr>
        <p:spPr/>
        <p:txBody>
          <a:bodyPr/>
          <a:lstStyle/>
          <a:p>
            <a:r>
              <a:rPr lang="es-MX" altLang="ja-JP" dirty="0"/>
              <a:t>3</a:t>
            </a:r>
            <a:r>
              <a:rPr lang="ja-JP" altLang="es-MX" dirty="0"/>
              <a:t>：更新ステップ</a:t>
            </a:r>
            <a:endParaRPr lang="es-MX"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EF51FF8-2726-EBB3-FE55-28D20EC50B09}"/>
                  </a:ext>
                </a:extLst>
              </p:cNvPr>
              <p:cNvSpPr>
                <a:spLocks noGrp="1"/>
              </p:cNvSpPr>
              <p:nvPr>
                <p:ph idx="1"/>
              </p:nvPr>
            </p:nvSpPr>
            <p:spPr>
              <a:xfrm>
                <a:off x="838200" y="1825625"/>
                <a:ext cx="10515600" cy="4552026"/>
              </a:xfrm>
            </p:spPr>
            <p:txBody>
              <a:bodyPr>
                <a:normAutofit/>
              </a:bodyPr>
              <a:lstStyle/>
              <a:p>
                <a:pPr marL="0" indent="0">
                  <a:buNone/>
                </a:pPr>
                <a:r>
                  <a:rPr lang="ja-JP" altLang="es-MX" sz="2400" dirty="0"/>
                  <a:t>各クラスタについて：</a:t>
                </a:r>
                <a:endParaRPr lang="es-MX" altLang="ja-JP" sz="2400" dirty="0"/>
              </a:p>
              <a:p>
                <a:pPr lvl="1"/>
                <a:r>
                  <a:rPr lang="ja-JP" altLang="es-MX" dirty="0"/>
                  <a:t>所属するベクトルの平均を計算</a:t>
                </a:r>
              </a:p>
              <a:p>
                <a:pPr marL="0" indent="0">
                  <a:buNone/>
                </a:pPr>
                <a:endParaRPr lang="es-MX" altLang="ja-JP" sz="2400" dirty="0"/>
              </a:p>
              <a:p>
                <a:pPr marL="0" indent="0">
                  <a:buNone/>
                </a:pPr>
                <a14:m>
                  <m:oMathPara xmlns:m="http://schemas.openxmlformats.org/officeDocument/2006/math">
                    <m:oMathParaPr>
                      <m:jc m:val="centerGroup"/>
                    </m:oMathParaPr>
                    <m:oMath xmlns:m="http://schemas.openxmlformats.org/officeDocument/2006/math">
                      <m:sSub>
                        <m:sSubPr>
                          <m:ctrlPr>
                            <a:rPr lang="ja-JP" altLang="es-MX" sz="2400"/>
                          </m:ctrlPr>
                        </m:sSubPr>
                        <m:e>
                          <m:acc>
                            <m:accPr>
                              <m:chr m:val="⃗"/>
                              <m:ctrlPr>
                                <a:rPr lang="ja-JP" altLang="es-MX" sz="2400" smtClean="0"/>
                              </m:ctrlPr>
                            </m:accPr>
                            <m:e>
                              <m:r>
                                <a:rPr lang="ja-JP" altLang="es-MX" sz="2400" i="1"/>
                                <m:t>𝜇</m:t>
                              </m:r>
                            </m:e>
                          </m:acc>
                        </m:e>
                        <m:sub>
                          <m:r>
                            <a:rPr lang="ja-JP" altLang="es-MX" sz="2400" i="1"/>
                            <m:t>𝑘</m:t>
                          </m:r>
                        </m:sub>
                      </m:sSub>
                      <m:r>
                        <a:rPr lang="es-MX" altLang="ja-JP" sz="2400"/>
                        <m:t>=</m:t>
                      </m:r>
                      <m:f>
                        <m:fPr>
                          <m:ctrlPr>
                            <a:rPr lang="ja-JP" altLang="es-MX" sz="2400" i="1"/>
                          </m:ctrlPr>
                        </m:fPr>
                        <m:num>
                          <m:r>
                            <a:rPr lang="es-MX" altLang="ja-JP" sz="2400"/>
                            <m:t>1</m:t>
                          </m:r>
                        </m:num>
                        <m:den>
                          <m:r>
                            <a:rPr lang="ja-JP" altLang="es-MX" sz="2400"/>
                            <m:t>∣</m:t>
                          </m:r>
                          <m:sSub>
                            <m:sSubPr>
                              <m:ctrlPr>
                                <a:rPr lang="ja-JP" altLang="es-MX" sz="2400" i="1"/>
                              </m:ctrlPr>
                            </m:sSubPr>
                            <m:e>
                              <m:r>
                                <a:rPr lang="ja-JP" altLang="es-MX" sz="2400" i="1"/>
                                <m:t>𝐶</m:t>
                              </m:r>
                            </m:e>
                            <m:sub>
                              <m:r>
                                <a:rPr lang="ja-JP" altLang="es-MX" sz="2400" i="1"/>
                                <m:t>𝑘</m:t>
                              </m:r>
                            </m:sub>
                          </m:sSub>
                          <m:r>
                            <a:rPr lang="ja-JP" altLang="es-MX" sz="2400"/>
                            <m:t>∣</m:t>
                          </m:r>
                        </m:den>
                      </m:f>
                      <m:nary>
                        <m:naryPr>
                          <m:chr m:val="∑"/>
                          <m:grow m:val="on"/>
                          <m:supHide m:val="on"/>
                          <m:ctrlPr>
                            <a:rPr lang="ja-JP" altLang="es-MX" sz="2400" i="1"/>
                          </m:ctrlPr>
                        </m:naryPr>
                        <m:sub>
                          <m:sSub>
                            <m:sSubPr>
                              <m:ctrlPr>
                                <a:rPr lang="ja-JP" altLang="es-MX" sz="2400" i="1"/>
                              </m:ctrlPr>
                            </m:sSubPr>
                            <m:e>
                              <m:acc>
                                <m:accPr>
                                  <m:chr m:val="⃗"/>
                                  <m:ctrlPr>
                                    <a:rPr lang="ja-JP" altLang="es-MX" sz="2400" i="1"/>
                                  </m:ctrlPr>
                                </m:accPr>
                                <m:e>
                                  <m:r>
                                    <a:rPr lang="ja-JP" altLang="es-MX" sz="2400" i="1"/>
                                    <m:t>𝑥</m:t>
                                  </m:r>
                                </m:e>
                              </m:acc>
                            </m:e>
                            <m:sub>
                              <m:r>
                                <a:rPr lang="ja-JP" altLang="es-MX" sz="2400" i="1"/>
                                <m:t>𝑖</m:t>
                              </m:r>
                            </m:sub>
                          </m:sSub>
                          <m:r>
                            <a:rPr lang="ja-JP" altLang="es-MX" sz="2400"/>
                            <m:t>∈</m:t>
                          </m:r>
                          <m:sSub>
                            <m:sSubPr>
                              <m:ctrlPr>
                                <a:rPr lang="ja-JP" altLang="es-MX" sz="2400" i="1"/>
                              </m:ctrlPr>
                            </m:sSubPr>
                            <m:e>
                              <m:r>
                                <a:rPr lang="ja-JP" altLang="es-MX" sz="2400" i="1"/>
                                <m:t>𝐶</m:t>
                              </m:r>
                            </m:e>
                            <m:sub>
                              <m:r>
                                <a:rPr lang="ja-JP" altLang="es-MX" sz="2400" i="1"/>
                                <m:t>𝑘</m:t>
                              </m:r>
                            </m:sub>
                          </m:sSub>
                        </m:sub>
                        <m:sup/>
                        <m:e>
                          <m:sSub>
                            <m:sSubPr>
                              <m:ctrlPr>
                                <a:rPr lang="ja-JP" altLang="es-MX" sz="2400" i="1"/>
                              </m:ctrlPr>
                            </m:sSubPr>
                            <m:e>
                              <m:acc>
                                <m:accPr>
                                  <m:chr m:val="⃗"/>
                                  <m:ctrlPr>
                                    <a:rPr lang="ja-JP" altLang="es-MX" sz="2400" i="1"/>
                                  </m:ctrlPr>
                                </m:accPr>
                                <m:e>
                                  <m:r>
                                    <a:rPr lang="ja-JP" altLang="es-MX" sz="2400" i="1"/>
                                    <m:t>𝑥</m:t>
                                  </m:r>
                                </m:e>
                              </m:acc>
                            </m:e>
                            <m:sub>
                              <m:r>
                                <a:rPr lang="ja-JP" altLang="es-MX" sz="2400" i="1"/>
                                <m:t>𝑖</m:t>
                              </m:r>
                            </m:sub>
                          </m:sSub>
                        </m:e>
                      </m:nary>
                    </m:oMath>
                  </m:oMathPara>
                </a14:m>
                <a:endParaRPr lang="ja-JP" altLang="es-MX" sz="2400" dirty="0"/>
              </a:p>
              <a:p>
                <a:endParaRPr lang="es-MX" altLang="ja-JP" sz="2400" dirty="0"/>
              </a:p>
              <a:p>
                <a:r>
                  <a:rPr lang="ja-JP" altLang="es-MX" sz="2400" dirty="0"/>
                  <a:t>この平均ベクトルが新しいセントロイドになる。</a:t>
                </a:r>
              </a:p>
              <a:p>
                <a:pPr marL="0" indent="0">
                  <a:buNone/>
                </a:pPr>
                <a:endParaRPr lang="es-MX" altLang="ja-JP" sz="2400" dirty="0"/>
              </a:p>
              <a:p>
                <a:pPr marL="0" indent="0">
                  <a:buNone/>
                </a:pPr>
                <a:r>
                  <a:rPr lang="ja-JP" altLang="es-MX" sz="2400" dirty="0"/>
                  <a:t>それで、セントロイドは：</a:t>
                </a:r>
              </a:p>
              <a:p>
                <a:pPr lvl="1"/>
                <a:r>
                  <a:rPr lang="ja-JP" altLang="es-MX" dirty="0"/>
                  <a:t>クラスタの代表的な構造を表す</a:t>
                </a:r>
              </a:p>
              <a:p>
                <a:endParaRPr lang="es-MX" dirty="0"/>
              </a:p>
            </p:txBody>
          </p:sp>
        </mc:Choice>
        <mc:Fallback>
          <p:sp>
            <p:nvSpPr>
              <p:cNvPr id="3" name="Content Placeholder 2">
                <a:extLst>
                  <a:ext uri="{FF2B5EF4-FFF2-40B4-BE49-F238E27FC236}">
                    <a16:creationId xmlns:a16="http://schemas.microsoft.com/office/drawing/2014/main" id="{DEF51FF8-2726-EBB3-FE55-28D20EC50B09}"/>
                  </a:ext>
                </a:extLst>
              </p:cNvPr>
              <p:cNvSpPr>
                <a:spLocks noGrp="1" noRot="1" noChangeAspect="1" noMove="1" noResize="1" noEditPoints="1" noAdjustHandles="1" noChangeArrowheads="1" noChangeShapeType="1" noTextEdit="1"/>
              </p:cNvSpPr>
              <p:nvPr>
                <p:ph idx="1"/>
              </p:nvPr>
            </p:nvSpPr>
            <p:spPr>
              <a:xfrm>
                <a:off x="838200" y="1825625"/>
                <a:ext cx="10515600" cy="4552026"/>
              </a:xfrm>
              <a:blipFill>
                <a:blip r:embed="rId3"/>
                <a:stretch>
                  <a:fillRect l="-928" t="-2008" b="-10174"/>
                </a:stretch>
              </a:blipFill>
            </p:spPr>
            <p:txBody>
              <a:bodyPr/>
              <a:lstStyle/>
              <a:p>
                <a:r>
                  <a:rPr lang="es-MX">
                    <a:noFill/>
                  </a:rPr>
                  <a:t> </a:t>
                </a:r>
              </a:p>
            </p:txBody>
          </p:sp>
        </mc:Fallback>
      </mc:AlternateContent>
    </p:spTree>
    <p:extLst>
      <p:ext uri="{BB962C8B-B14F-4D97-AF65-F5344CB8AC3E}">
        <p14:creationId xmlns:p14="http://schemas.microsoft.com/office/powerpoint/2010/main" val="4033601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DEE49-81DE-9A82-616E-92D6EB89DE65}"/>
              </a:ext>
            </a:extLst>
          </p:cNvPr>
          <p:cNvSpPr>
            <a:spLocks noGrp="1"/>
          </p:cNvSpPr>
          <p:nvPr>
            <p:ph type="title"/>
          </p:nvPr>
        </p:nvSpPr>
        <p:spPr/>
        <p:txBody>
          <a:bodyPr/>
          <a:lstStyle/>
          <a:p>
            <a:r>
              <a:rPr lang="es-MX" altLang="ja-JP" dirty="0"/>
              <a:t>4</a:t>
            </a:r>
            <a:r>
              <a:rPr lang="ja-JP" altLang="es-MX" dirty="0"/>
              <a:t>：</a:t>
            </a:r>
            <a:r>
              <a:rPr lang="es-MX" dirty="0"/>
              <a:t>K-</a:t>
            </a:r>
            <a:r>
              <a:rPr lang="es-MX" dirty="0" err="1"/>
              <a:t>means</a:t>
            </a:r>
            <a:r>
              <a:rPr lang="es-MX" dirty="0"/>
              <a:t> </a:t>
            </a:r>
            <a:r>
              <a:rPr lang="ja-JP" altLang="es-MX" dirty="0"/>
              <a:t>の</a:t>
            </a:r>
            <a:r>
              <a:rPr lang="zh-CN" altLang="es-MX" dirty="0"/>
              <a:t>出力</a:t>
            </a:r>
            <a:endParaRPr lang="es-MX" dirty="0"/>
          </a:p>
        </p:txBody>
      </p:sp>
      <p:sp>
        <p:nvSpPr>
          <p:cNvPr id="3" name="Content Placeholder 2">
            <a:extLst>
              <a:ext uri="{FF2B5EF4-FFF2-40B4-BE49-F238E27FC236}">
                <a16:creationId xmlns:a16="http://schemas.microsoft.com/office/drawing/2014/main" id="{95EFE209-780F-DC3F-01B3-AC69738EE3EB}"/>
              </a:ext>
            </a:extLst>
          </p:cNvPr>
          <p:cNvSpPr>
            <a:spLocks noGrp="1"/>
          </p:cNvSpPr>
          <p:nvPr>
            <p:ph idx="1"/>
          </p:nvPr>
        </p:nvSpPr>
        <p:spPr/>
        <p:txBody>
          <a:bodyPr>
            <a:normAutofit/>
          </a:bodyPr>
          <a:lstStyle/>
          <a:p>
            <a:pPr marL="0" indent="0">
              <a:buNone/>
            </a:pPr>
            <a:r>
              <a:rPr lang="es-MX" altLang="ja-JP" sz="2400" dirty="0"/>
              <a:t>K-</a:t>
            </a:r>
            <a:r>
              <a:rPr lang="es-MX" altLang="ja-JP" sz="2400" dirty="0" err="1"/>
              <a:t>means</a:t>
            </a:r>
            <a:r>
              <a:rPr lang="es-MX" altLang="ja-JP" sz="2400" dirty="0"/>
              <a:t> </a:t>
            </a:r>
            <a:r>
              <a:rPr lang="ja-JP" altLang="es-MX" sz="2400" dirty="0"/>
              <a:t>の結果：</a:t>
            </a:r>
          </a:p>
          <a:p>
            <a:pPr lvl="1"/>
            <a:r>
              <a:rPr lang="ja-JP" altLang="es-MX" dirty="0"/>
              <a:t>各チャンクのクラスタ割り当て</a:t>
            </a:r>
          </a:p>
          <a:p>
            <a:pPr lvl="1"/>
            <a:r>
              <a:rPr lang="ja-JP" altLang="es-MX" dirty="0"/>
              <a:t>各クラスタのセントロイド</a:t>
            </a:r>
          </a:p>
          <a:p>
            <a:endParaRPr lang="es-MX" altLang="ja-JP" sz="2400" dirty="0"/>
          </a:p>
          <a:p>
            <a:pPr marL="0" indent="0">
              <a:buNone/>
            </a:pPr>
            <a:r>
              <a:rPr lang="ja-JP" altLang="es-MX" sz="2400" dirty="0"/>
              <a:t>これらは：</a:t>
            </a:r>
          </a:p>
          <a:p>
            <a:pPr lvl="1"/>
            <a:r>
              <a:rPr lang="ja-JP" altLang="es-MX" dirty="0"/>
              <a:t>構造的多様性の把握</a:t>
            </a:r>
          </a:p>
          <a:p>
            <a:pPr lvl="1"/>
            <a:r>
              <a:rPr lang="ja-JP" altLang="es-MX" dirty="0"/>
              <a:t>冗長なチャンクの回避</a:t>
            </a:r>
          </a:p>
          <a:p>
            <a:pPr lvl="1"/>
            <a:r>
              <a:rPr lang="ja-JP" altLang="es-MX" dirty="0"/>
              <a:t>次の選択処理の基盤</a:t>
            </a:r>
          </a:p>
          <a:p>
            <a:pPr marL="0" indent="0">
              <a:buNone/>
            </a:pPr>
            <a:r>
              <a:rPr lang="ja-JP" altLang="es-MX" sz="2400" dirty="0"/>
              <a:t>として使われる。</a:t>
            </a:r>
          </a:p>
          <a:p>
            <a:endParaRPr lang="es-MX" dirty="0"/>
          </a:p>
        </p:txBody>
      </p:sp>
    </p:spTree>
    <p:extLst>
      <p:ext uri="{BB962C8B-B14F-4D97-AF65-F5344CB8AC3E}">
        <p14:creationId xmlns:p14="http://schemas.microsoft.com/office/powerpoint/2010/main" val="1980637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0FC52-78D5-FF76-E638-765A6822CA7D}"/>
              </a:ext>
            </a:extLst>
          </p:cNvPr>
          <p:cNvSpPr>
            <a:spLocks noGrp="1"/>
          </p:cNvSpPr>
          <p:nvPr>
            <p:ph type="title"/>
          </p:nvPr>
        </p:nvSpPr>
        <p:spPr/>
        <p:txBody>
          <a:bodyPr/>
          <a:lstStyle/>
          <a:p>
            <a:r>
              <a:rPr lang="es-MX" dirty="0"/>
              <a:t>Step 4 </a:t>
            </a:r>
            <a:r>
              <a:rPr lang="en-US" dirty="0"/>
              <a:t>— Shannon Entropy</a:t>
            </a:r>
            <a:r>
              <a:rPr lang="es-MX" dirty="0"/>
              <a:t> </a:t>
            </a:r>
          </a:p>
        </p:txBody>
      </p:sp>
      <p:sp>
        <p:nvSpPr>
          <p:cNvPr id="3" name="Content Placeholder 2">
            <a:extLst>
              <a:ext uri="{FF2B5EF4-FFF2-40B4-BE49-F238E27FC236}">
                <a16:creationId xmlns:a16="http://schemas.microsoft.com/office/drawing/2014/main" id="{8EEE2890-D6FF-957A-8CC9-3A19A8F890E6}"/>
              </a:ext>
            </a:extLst>
          </p:cNvPr>
          <p:cNvSpPr>
            <a:spLocks noGrp="1"/>
          </p:cNvSpPr>
          <p:nvPr>
            <p:ph idx="1"/>
          </p:nvPr>
        </p:nvSpPr>
        <p:spPr>
          <a:xfrm>
            <a:off x="838200" y="1690688"/>
            <a:ext cx="10515600" cy="4802187"/>
          </a:xfrm>
        </p:spPr>
        <p:txBody>
          <a:bodyPr>
            <a:normAutofit lnSpcReduction="10000"/>
          </a:bodyPr>
          <a:lstStyle/>
          <a:p>
            <a:pPr marL="0" indent="0">
              <a:buNone/>
            </a:pPr>
            <a:r>
              <a:rPr lang="ja-JP" altLang="es-MX" dirty="0"/>
              <a:t>シャノンエントロピーは、</a:t>
            </a:r>
            <a:br>
              <a:rPr lang="ja-JP" altLang="es-MX" dirty="0"/>
            </a:br>
            <a:r>
              <a:rPr lang="ja-JP" altLang="es-MX" b="1" dirty="0"/>
              <a:t>情報の不確実性や驚きの大きさ</a:t>
            </a:r>
            <a:r>
              <a:rPr lang="ja-JP" altLang="es-MX" dirty="0"/>
              <a:t>を定量的に表す指標である。</a:t>
            </a:r>
          </a:p>
          <a:p>
            <a:pPr marL="0" indent="0">
              <a:buNone/>
            </a:pPr>
            <a:endParaRPr lang="es-MX" altLang="ja-JP" dirty="0"/>
          </a:p>
          <a:p>
            <a:pPr marL="0" indent="0">
              <a:buNone/>
            </a:pPr>
            <a:r>
              <a:rPr lang="es-MX" altLang="ja-JP" dirty="0" err="1"/>
              <a:t>FastRAG</a:t>
            </a:r>
            <a:r>
              <a:rPr lang="es-MX" altLang="ja-JP" dirty="0"/>
              <a:t> </a:t>
            </a:r>
            <a:r>
              <a:rPr lang="ja-JP" altLang="es-MX" dirty="0"/>
              <a:t>においては、</a:t>
            </a:r>
          </a:p>
          <a:p>
            <a:pPr lvl="1"/>
            <a:r>
              <a:rPr lang="ja-JP" altLang="es-MX" dirty="0"/>
              <a:t>システム：</a:t>
            </a:r>
            <a:r>
              <a:rPr lang="es-MX" altLang="ja-JP" dirty="0"/>
              <a:t>1</a:t>
            </a:r>
            <a:r>
              <a:rPr lang="ja-JP" altLang="es-MX" dirty="0"/>
              <a:t>つのチャンク</a:t>
            </a:r>
          </a:p>
          <a:p>
            <a:pPr lvl="1"/>
            <a:r>
              <a:rPr lang="ja-JP" altLang="es-MX" dirty="0"/>
              <a:t>イベント：キーワード</a:t>
            </a:r>
          </a:p>
          <a:p>
            <a:pPr lvl="1"/>
            <a:r>
              <a:rPr lang="ja-JP" altLang="es-MX" dirty="0"/>
              <a:t>エントロピー：キーワード分布の </a:t>
            </a:r>
            <a:r>
              <a:rPr lang="ja-JP" altLang="es-MX" b="1" dirty="0"/>
              <a:t>多様性・情報量</a:t>
            </a:r>
            <a:endParaRPr lang="ja-JP" altLang="es-MX" dirty="0"/>
          </a:p>
          <a:p>
            <a:pPr marL="0" indent="0">
              <a:buNone/>
            </a:pPr>
            <a:r>
              <a:rPr lang="ja-JP" altLang="es-MX" dirty="0"/>
              <a:t>を表す。</a:t>
            </a:r>
          </a:p>
          <a:p>
            <a:pPr marL="0" indent="0">
              <a:buNone/>
            </a:pPr>
            <a:endParaRPr lang="es-MX" altLang="ja-JP" dirty="0"/>
          </a:p>
          <a:p>
            <a:pPr marL="0" indent="0">
              <a:buNone/>
            </a:pPr>
            <a:r>
              <a:rPr lang="ja-JP" altLang="es-MX" dirty="0"/>
              <a:t>エントロピーは意味や重要度ではなく、</a:t>
            </a:r>
            <a:br>
              <a:rPr lang="ja-JP" altLang="es-MX" dirty="0"/>
            </a:br>
            <a:r>
              <a:rPr lang="ja-JP" altLang="es-MX" b="1" dirty="0"/>
              <a:t>どれだけ予測しにくいか</a:t>
            </a:r>
            <a:r>
              <a:rPr lang="ja-JP" altLang="es-MX" dirty="0"/>
              <a:t>を測る。</a:t>
            </a:r>
          </a:p>
          <a:p>
            <a:endParaRPr lang="es-MX" dirty="0"/>
          </a:p>
        </p:txBody>
      </p:sp>
    </p:spTree>
    <p:extLst>
      <p:ext uri="{BB962C8B-B14F-4D97-AF65-F5344CB8AC3E}">
        <p14:creationId xmlns:p14="http://schemas.microsoft.com/office/powerpoint/2010/main" val="222083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F846-6547-28AA-05D4-D6382FE402B6}"/>
              </a:ext>
            </a:extLst>
          </p:cNvPr>
          <p:cNvSpPr>
            <a:spLocks noGrp="1"/>
          </p:cNvSpPr>
          <p:nvPr>
            <p:ph type="title"/>
          </p:nvPr>
        </p:nvSpPr>
        <p:spPr/>
        <p:txBody>
          <a:bodyPr/>
          <a:lstStyle/>
          <a:p>
            <a:r>
              <a:rPr lang="ja-JP" altLang="es-MX" dirty="0"/>
              <a:t>情報量からエントロピーへ</a:t>
            </a:r>
            <a:endParaRPr lang="es-MX"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88FA421-9759-5978-85E8-F2BFB4069E6F}"/>
                  </a:ext>
                </a:extLst>
              </p:cNvPr>
              <p:cNvSpPr>
                <a:spLocks noGrp="1"/>
              </p:cNvSpPr>
              <p:nvPr>
                <p:ph idx="1"/>
              </p:nvPr>
            </p:nvSpPr>
            <p:spPr/>
            <p:txBody>
              <a:bodyPr>
                <a:noAutofit/>
              </a:bodyPr>
              <a:lstStyle/>
              <a:p>
                <a:pPr marL="0" indent="0">
                  <a:buNone/>
                </a:pPr>
                <a:r>
                  <a:rPr lang="ja-JP" altLang="es-MX" dirty="0"/>
                  <a:t>エントロピーは、各イベントの情報量の期待値（平均）である。</a:t>
                </a:r>
                <a:endParaRPr lang="es-MX" altLang="ja-JP" dirty="0"/>
              </a:p>
              <a:p>
                <a:pPr marL="0" indent="0">
                  <a:buNone/>
                </a:pPr>
                <a:endParaRPr lang="es-MX" altLang="ja-JP" i="1" dirty="0"/>
              </a:p>
              <a:p>
                <a:pPr marL="0" indent="0">
                  <a:buNone/>
                </a:pPr>
                <a14:m>
                  <m:oMathPara xmlns:m="http://schemas.openxmlformats.org/officeDocument/2006/math">
                    <m:oMathParaPr>
                      <m:jc m:val="centerGroup"/>
                    </m:oMathParaPr>
                    <m:oMath xmlns:m="http://schemas.openxmlformats.org/officeDocument/2006/math">
                      <m:r>
                        <m:rPr>
                          <m:sty m:val="p"/>
                        </m:rPr>
                        <a:rPr lang="es-MX" altLang="ja-JP" b="0" i="0" smtClean="0">
                          <a:latin typeface="Cambria Math" panose="02040503050406030204" pitchFamily="18" charset="0"/>
                        </a:rPr>
                        <m:t>H</m:t>
                      </m:r>
                      <m:r>
                        <a:rPr lang="es-MX" altLang="ja-JP"/>
                        <m:t>=</m:t>
                      </m:r>
                      <m:nary>
                        <m:naryPr>
                          <m:chr m:val="∑"/>
                          <m:grow m:val="on"/>
                          <m:ctrlPr>
                            <a:rPr lang="ja-JP" altLang="es-MX" i="1"/>
                          </m:ctrlPr>
                        </m:naryPr>
                        <m:sub>
                          <m:r>
                            <a:rPr lang="ja-JP" altLang="es-MX" i="1"/>
                            <m:t>𝑖</m:t>
                          </m:r>
                          <m:r>
                            <a:rPr lang="es-MX" altLang="ja-JP"/>
                            <m:t>=</m:t>
                          </m:r>
                          <m:r>
                            <a:rPr lang="es-MX" altLang="ja-JP"/>
                            <m:t>1</m:t>
                          </m:r>
                        </m:sub>
                        <m:sup>
                          <m:r>
                            <a:rPr lang="ja-JP" altLang="es-MX" i="1"/>
                            <m:t>𝑛</m:t>
                          </m:r>
                        </m:sup>
                        <m:e>
                          <m:sSub>
                            <m:sSubPr>
                              <m:ctrlPr>
                                <a:rPr lang="ja-JP" altLang="es-MX" i="1"/>
                              </m:ctrlPr>
                            </m:sSubPr>
                            <m:e>
                              <m:r>
                                <a:rPr lang="ja-JP" altLang="es-MX" i="1"/>
                                <m:t>𝑝</m:t>
                              </m:r>
                            </m:e>
                            <m:sub>
                              <m:r>
                                <a:rPr lang="ja-JP" altLang="es-MX" i="1"/>
                                <m:t>𝑖</m:t>
                              </m:r>
                            </m:sub>
                          </m:sSub>
                        </m:e>
                      </m:nary>
                      <m:r>
                        <a:rPr lang="ja-JP" altLang="es-MX"/>
                        <m:t>⋅</m:t>
                      </m:r>
                      <m:d>
                        <m:dPr>
                          <m:ctrlPr>
                            <a:rPr lang="ja-JP" altLang="es-MX" i="1"/>
                          </m:ctrlPr>
                        </m:dPr>
                        <m:e>
                          <m:r>
                            <a:rPr lang="ja-JP" altLang="es-MX"/>
                            <m:t>−</m:t>
                          </m:r>
                          <m:sSub>
                            <m:sSubPr>
                              <m:ctrlPr>
                                <a:rPr lang="ja-JP" altLang="es-MX" i="1"/>
                              </m:ctrlPr>
                            </m:sSubPr>
                            <m:e>
                              <m:r>
                                <m:rPr>
                                  <m:sty m:val="p"/>
                                </m:rPr>
                                <a:rPr lang="es-MX" altLang="ja-JP" b="0" i="1" smtClean="0">
                                  <a:latin typeface="Cambria Math" panose="02040503050406030204" pitchFamily="18" charset="0"/>
                                </a:rPr>
                                <m:t>log</m:t>
                              </m:r>
                            </m:e>
                            <m:sub>
                              <m:r>
                                <a:rPr lang="es-MX" altLang="ja-JP"/>
                                <m:t>2</m:t>
                              </m:r>
                            </m:sub>
                          </m:sSub>
                          <m:d>
                            <m:dPr>
                              <m:ctrlPr>
                                <a:rPr lang="ja-JP" altLang="es-MX" i="1"/>
                              </m:ctrlPr>
                            </m:dPr>
                            <m:e>
                              <m:sSub>
                                <m:sSubPr>
                                  <m:ctrlPr>
                                    <a:rPr lang="ja-JP" altLang="es-MX" i="1"/>
                                  </m:ctrlPr>
                                </m:sSubPr>
                                <m:e>
                                  <m:r>
                                    <a:rPr lang="ja-JP" altLang="es-MX" i="1"/>
                                    <m:t>𝑝</m:t>
                                  </m:r>
                                </m:e>
                                <m:sub>
                                  <m:r>
                                    <a:rPr lang="ja-JP" altLang="es-MX" i="1"/>
                                    <m:t>𝑖</m:t>
                                  </m:r>
                                </m:sub>
                              </m:sSub>
                            </m:e>
                          </m:d>
                        </m:e>
                      </m:d>
                    </m:oMath>
                  </m:oMathPara>
                </a14:m>
                <a:endParaRPr lang="es-MX" altLang="ja-JP" dirty="0"/>
              </a:p>
              <a:p>
                <a:pPr marL="0" indent="0">
                  <a:buNone/>
                </a:pPr>
                <a:r>
                  <a:rPr lang="ja-JP" altLang="es-MX" dirty="0"/>
                  <a:t>この式は、</a:t>
                </a:r>
              </a:p>
              <a:p>
                <a:pPr lvl="1"/>
                <a:r>
                  <a:rPr lang="ja-JP" altLang="es-MX" sz="2800" dirty="0"/>
                  <a:t>各イベントの驚き</a:t>
                </a:r>
              </a:p>
              <a:p>
                <a:pPr lvl="1"/>
                <a:r>
                  <a:rPr lang="ja-JP" altLang="es-MX" sz="2800" dirty="0"/>
                  <a:t>その発生頻度</a:t>
                </a:r>
              </a:p>
              <a:p>
                <a:pPr marL="0" indent="0">
                  <a:buNone/>
                </a:pPr>
                <a:r>
                  <a:rPr lang="ja-JP" altLang="es-MX" dirty="0"/>
                  <a:t>の両方を考慮している。</a:t>
                </a:r>
                <a:endParaRPr lang="es-MX" dirty="0"/>
              </a:p>
            </p:txBody>
          </p:sp>
        </mc:Choice>
        <mc:Fallback>
          <p:sp>
            <p:nvSpPr>
              <p:cNvPr id="3" name="Content Placeholder 2">
                <a:extLst>
                  <a:ext uri="{FF2B5EF4-FFF2-40B4-BE49-F238E27FC236}">
                    <a16:creationId xmlns:a16="http://schemas.microsoft.com/office/drawing/2014/main" id="{E88FA421-9759-5978-85E8-F2BFB4069E6F}"/>
                  </a:ext>
                </a:extLst>
              </p:cNvPr>
              <p:cNvSpPr>
                <a:spLocks noGrp="1" noRot="1" noChangeAspect="1" noMove="1" noResize="1" noEditPoints="1" noAdjustHandles="1" noChangeArrowheads="1" noChangeShapeType="1" noTextEdit="1"/>
              </p:cNvSpPr>
              <p:nvPr>
                <p:ph idx="1"/>
              </p:nvPr>
            </p:nvSpPr>
            <p:spPr>
              <a:blipFill>
                <a:blip r:embed="rId3"/>
                <a:stretch>
                  <a:fillRect l="-1217" t="-2801" r="-1391"/>
                </a:stretch>
              </a:blipFill>
            </p:spPr>
            <p:txBody>
              <a:bodyPr/>
              <a:lstStyle/>
              <a:p>
                <a:r>
                  <a:rPr lang="es-MX">
                    <a:noFill/>
                  </a:rPr>
                  <a:t> </a:t>
                </a:r>
              </a:p>
            </p:txBody>
          </p:sp>
        </mc:Fallback>
      </mc:AlternateContent>
    </p:spTree>
    <p:extLst>
      <p:ext uri="{BB962C8B-B14F-4D97-AF65-F5344CB8AC3E}">
        <p14:creationId xmlns:p14="http://schemas.microsoft.com/office/powerpoint/2010/main" val="3439467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A575B-10B7-0BD8-FAB9-F133D0681022}"/>
              </a:ext>
            </a:extLst>
          </p:cNvPr>
          <p:cNvSpPr>
            <a:spLocks noGrp="1"/>
          </p:cNvSpPr>
          <p:nvPr>
            <p:ph type="title"/>
          </p:nvPr>
        </p:nvSpPr>
        <p:spPr/>
        <p:txBody>
          <a:bodyPr/>
          <a:lstStyle/>
          <a:p>
            <a:r>
              <a:rPr lang="en-US" dirty="0"/>
              <a:t>Low Entropy vs High Entropy</a:t>
            </a:r>
            <a:endParaRPr lang="es-MX" dirty="0"/>
          </a:p>
        </p:txBody>
      </p:sp>
      <p:sp>
        <p:nvSpPr>
          <p:cNvPr id="3" name="Content Placeholder 2">
            <a:extLst>
              <a:ext uri="{FF2B5EF4-FFF2-40B4-BE49-F238E27FC236}">
                <a16:creationId xmlns:a16="http://schemas.microsoft.com/office/drawing/2014/main" id="{A0E39C51-72C0-027C-2752-58E2D2A3E8A1}"/>
              </a:ext>
            </a:extLst>
          </p:cNvPr>
          <p:cNvSpPr>
            <a:spLocks noGrp="1"/>
          </p:cNvSpPr>
          <p:nvPr>
            <p:ph idx="1"/>
          </p:nvPr>
        </p:nvSpPr>
        <p:spPr/>
        <p:txBody>
          <a:bodyPr>
            <a:normAutofit lnSpcReduction="10000"/>
          </a:bodyPr>
          <a:lstStyle/>
          <a:p>
            <a:r>
              <a:rPr lang="ja-JP" altLang="es-MX" sz="2400" dirty="0"/>
              <a:t>エントロピーが</a:t>
            </a:r>
            <a:r>
              <a:rPr lang="ja-JP" altLang="es-MX" sz="2400" b="1" dirty="0"/>
              <a:t>低い</a:t>
            </a:r>
            <a:r>
              <a:rPr lang="ja-JP" altLang="es-MX" sz="2400" dirty="0"/>
              <a:t>チャンクは：</a:t>
            </a:r>
          </a:p>
          <a:p>
            <a:pPr lvl="1"/>
            <a:r>
              <a:rPr lang="ja-JP" altLang="es-MX" dirty="0"/>
              <a:t>特定のキーワードが支配的</a:t>
            </a:r>
          </a:p>
          <a:p>
            <a:pPr lvl="1"/>
            <a:r>
              <a:rPr lang="ja-JP" altLang="es-MX" dirty="0"/>
              <a:t>分布が偏っている</a:t>
            </a:r>
          </a:p>
          <a:p>
            <a:pPr lvl="1"/>
            <a:r>
              <a:rPr lang="ja-JP" altLang="es-MX" dirty="0"/>
              <a:t>構造が単調</a:t>
            </a:r>
          </a:p>
          <a:p>
            <a:pPr lvl="1"/>
            <a:r>
              <a:rPr lang="ja-JP" altLang="es-MX" dirty="0"/>
              <a:t>予測しやすい</a:t>
            </a:r>
          </a:p>
          <a:p>
            <a:pPr marL="0" indent="0">
              <a:buNone/>
            </a:pPr>
            <a:endParaRPr lang="es-MX" sz="2400" dirty="0"/>
          </a:p>
          <a:p>
            <a:r>
              <a:rPr lang="ja-JP" altLang="es-MX" sz="2400" dirty="0"/>
              <a:t>エントロピーが</a:t>
            </a:r>
            <a:r>
              <a:rPr lang="ja-JP" altLang="es-MX" sz="2600" b="1" dirty="0"/>
              <a:t>高い</a:t>
            </a:r>
            <a:r>
              <a:rPr lang="ja-JP" altLang="es-MX" sz="2400" dirty="0"/>
              <a:t>チャンクは：</a:t>
            </a:r>
          </a:p>
          <a:p>
            <a:pPr lvl="1"/>
            <a:r>
              <a:rPr lang="ja-JP" altLang="es-MX" dirty="0"/>
              <a:t>多くのキーワードが含まれる</a:t>
            </a:r>
          </a:p>
          <a:p>
            <a:pPr lvl="1"/>
            <a:r>
              <a:rPr lang="ja-JP" altLang="es-MX" dirty="0"/>
              <a:t>分布が比較的均一</a:t>
            </a:r>
          </a:p>
          <a:p>
            <a:pPr lvl="1"/>
            <a:r>
              <a:rPr lang="ja-JP" altLang="es-MX" dirty="0"/>
              <a:t>構造が豊か</a:t>
            </a:r>
          </a:p>
          <a:p>
            <a:pPr lvl="1"/>
            <a:r>
              <a:rPr lang="ja-JP" altLang="es-MX" dirty="0"/>
              <a:t>予測しにくい</a:t>
            </a:r>
          </a:p>
          <a:p>
            <a:pPr marL="0" indent="0">
              <a:buNone/>
            </a:pPr>
            <a:endParaRPr lang="es-MX" dirty="0"/>
          </a:p>
        </p:txBody>
      </p:sp>
    </p:spTree>
    <p:extLst>
      <p:ext uri="{BB962C8B-B14F-4D97-AF65-F5344CB8AC3E}">
        <p14:creationId xmlns:p14="http://schemas.microsoft.com/office/powerpoint/2010/main" val="368375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9C49F-1920-BF47-46D1-10AFC8CD3447}"/>
              </a:ext>
            </a:extLst>
          </p:cNvPr>
          <p:cNvSpPr>
            <a:spLocks noGrp="1"/>
          </p:cNvSpPr>
          <p:nvPr>
            <p:ph type="title"/>
          </p:nvPr>
        </p:nvSpPr>
        <p:spPr/>
        <p:txBody>
          <a:bodyPr/>
          <a:lstStyle/>
          <a:p>
            <a:r>
              <a:rPr lang="ja-JP" altLang="es-MX" dirty="0"/>
              <a:t>２．</a:t>
            </a:r>
            <a:r>
              <a:rPr lang="es-MX" altLang="ja-JP" dirty="0" err="1"/>
              <a:t>Algorithm</a:t>
            </a:r>
            <a:endParaRPr lang="es-MX" dirty="0"/>
          </a:p>
        </p:txBody>
      </p:sp>
      <p:sp>
        <p:nvSpPr>
          <p:cNvPr id="3" name="Text Placeholder 2">
            <a:extLst>
              <a:ext uri="{FF2B5EF4-FFF2-40B4-BE49-F238E27FC236}">
                <a16:creationId xmlns:a16="http://schemas.microsoft.com/office/drawing/2014/main" id="{8B1D3709-6706-FB57-6640-CE47F54EE76C}"/>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3757335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0152D-28E8-F83A-F5DE-0EDCACF24AE4}"/>
              </a:ext>
            </a:extLst>
          </p:cNvPr>
          <p:cNvSpPr>
            <a:spLocks noGrp="1"/>
          </p:cNvSpPr>
          <p:nvPr>
            <p:ph type="title"/>
          </p:nvPr>
        </p:nvSpPr>
        <p:spPr/>
        <p:txBody>
          <a:bodyPr/>
          <a:lstStyle/>
          <a:p>
            <a:r>
              <a:rPr lang="es-MX" dirty="0" err="1"/>
              <a:t>Objective</a:t>
            </a:r>
            <a:r>
              <a:rPr lang="es-MX" dirty="0"/>
              <a:t> </a:t>
            </a:r>
            <a:r>
              <a:rPr lang="es-MX" dirty="0" err="1"/>
              <a:t>of</a:t>
            </a:r>
            <a:r>
              <a:rPr lang="es-MX" dirty="0"/>
              <a:t> </a:t>
            </a:r>
            <a:r>
              <a:rPr lang="es-MX" dirty="0" err="1"/>
              <a:t>the</a:t>
            </a:r>
            <a:r>
              <a:rPr lang="es-MX" dirty="0"/>
              <a:t> </a:t>
            </a:r>
            <a:r>
              <a:rPr lang="es-MX" dirty="0" err="1"/>
              <a:t>algorithm</a:t>
            </a:r>
            <a:r>
              <a:rPr lang="es-MX" dirty="0"/>
              <a:t> </a:t>
            </a:r>
          </a:p>
        </p:txBody>
      </p:sp>
      <p:sp>
        <p:nvSpPr>
          <p:cNvPr id="3" name="Content Placeholder 2">
            <a:extLst>
              <a:ext uri="{FF2B5EF4-FFF2-40B4-BE49-F238E27FC236}">
                <a16:creationId xmlns:a16="http://schemas.microsoft.com/office/drawing/2014/main" id="{8A3D86AA-29E3-B058-BE21-32554174C42A}"/>
              </a:ext>
            </a:extLst>
          </p:cNvPr>
          <p:cNvSpPr>
            <a:spLocks noGrp="1"/>
          </p:cNvSpPr>
          <p:nvPr>
            <p:ph idx="1"/>
          </p:nvPr>
        </p:nvSpPr>
        <p:spPr/>
        <p:txBody>
          <a:bodyPr>
            <a:normAutofit fontScale="85000" lnSpcReduction="20000"/>
          </a:bodyPr>
          <a:lstStyle/>
          <a:p>
            <a:pPr marL="0" indent="0">
              <a:buNone/>
            </a:pPr>
            <a:r>
              <a:rPr lang="es-MX" dirty="0" err="1"/>
              <a:t>大規模な半構造化データから少数のチャンクを選択する</a:t>
            </a:r>
            <a:endParaRPr lang="es-MX" dirty="0"/>
          </a:p>
          <a:p>
            <a:endParaRPr lang="es-MX" dirty="0"/>
          </a:p>
          <a:p>
            <a:pPr marL="0" indent="0">
              <a:buNone/>
            </a:pPr>
            <a:r>
              <a:rPr lang="es-MX" dirty="0" err="1"/>
              <a:t>選択されたチャンクは</a:t>
            </a:r>
            <a:r>
              <a:rPr lang="es-MX" dirty="0"/>
              <a:t>:</a:t>
            </a:r>
          </a:p>
          <a:p>
            <a:pPr marL="285750" indent="-285750"/>
            <a:r>
              <a:rPr lang="es-MX" dirty="0"/>
              <a:t>  </a:t>
            </a:r>
            <a:r>
              <a:rPr lang="es-MX" dirty="0" err="1"/>
              <a:t>できるだけ多くのキーワードを含む</a:t>
            </a:r>
            <a:endParaRPr lang="es-MX" dirty="0"/>
          </a:p>
          <a:p>
            <a:pPr marL="285750" indent="-285750"/>
            <a:r>
              <a:rPr lang="es-MX" dirty="0"/>
              <a:t>   </a:t>
            </a:r>
            <a:r>
              <a:rPr lang="es-MX" dirty="0" err="1"/>
              <a:t>情報量と多様性が高い</a:t>
            </a:r>
            <a:endParaRPr lang="es-MX" dirty="0"/>
          </a:p>
          <a:p>
            <a:endParaRPr lang="es-MX" dirty="0"/>
          </a:p>
          <a:p>
            <a:pPr marL="0" indent="0">
              <a:buNone/>
            </a:pPr>
            <a:r>
              <a:rPr lang="es-MX" dirty="0" err="1"/>
              <a:t>これらのチャンクのみが</a:t>
            </a:r>
            <a:r>
              <a:rPr lang="es-MX" dirty="0"/>
              <a:t>:</a:t>
            </a:r>
          </a:p>
          <a:p>
            <a:pPr marL="285750" indent="-285750"/>
            <a:r>
              <a:rPr lang="es-MX" dirty="0"/>
              <a:t>  </a:t>
            </a:r>
            <a:r>
              <a:rPr lang="es-MX" dirty="0" err="1"/>
              <a:t>LLMに入力され</a:t>
            </a:r>
            <a:endParaRPr lang="es-MX" dirty="0"/>
          </a:p>
          <a:p>
            <a:pPr marL="285750" indent="-285750"/>
            <a:r>
              <a:rPr lang="es-MX" dirty="0"/>
              <a:t>  </a:t>
            </a:r>
            <a:r>
              <a:rPr lang="es-MX" dirty="0" err="1"/>
              <a:t>スキーマ・スクリプト学習に使われる</a:t>
            </a:r>
            <a:endParaRPr lang="es-MX" dirty="0"/>
          </a:p>
          <a:p>
            <a:endParaRPr lang="es-MX" dirty="0"/>
          </a:p>
          <a:p>
            <a:pPr marL="0" indent="0">
              <a:buNone/>
            </a:pPr>
            <a:r>
              <a:rPr lang="es-MX" dirty="0" err="1"/>
              <a:t>このアルゴリズムは</a:t>
            </a:r>
            <a:r>
              <a:rPr lang="es-MX" b="1" dirty="0" err="1"/>
              <a:t>被覆</a:t>
            </a:r>
            <a:r>
              <a:rPr lang="es-MX" dirty="0" err="1"/>
              <a:t>と</a:t>
            </a:r>
            <a:r>
              <a:rPr lang="es-MX" b="1" dirty="0" err="1"/>
              <a:t>情報の質</a:t>
            </a:r>
            <a:r>
              <a:rPr lang="es-MX" dirty="0" err="1"/>
              <a:t>を両立させる</a:t>
            </a:r>
            <a:r>
              <a:rPr lang="es-MX" dirty="0"/>
              <a:t>。</a:t>
            </a:r>
          </a:p>
          <a:p>
            <a:endParaRPr lang="es-MX" dirty="0"/>
          </a:p>
        </p:txBody>
      </p:sp>
    </p:spTree>
    <p:extLst>
      <p:ext uri="{BB962C8B-B14F-4D97-AF65-F5344CB8AC3E}">
        <p14:creationId xmlns:p14="http://schemas.microsoft.com/office/powerpoint/2010/main" val="2849426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1B1295-2555-FD8E-DBE8-B85B941603A3}"/>
              </a:ext>
            </a:extLst>
          </p:cNvPr>
          <p:cNvPicPr>
            <a:picLocks noChangeAspect="1"/>
          </p:cNvPicPr>
          <p:nvPr/>
        </p:nvPicPr>
        <p:blipFill>
          <a:blip r:embed="rId3"/>
          <a:stretch>
            <a:fillRect/>
          </a:stretch>
        </p:blipFill>
        <p:spPr>
          <a:xfrm>
            <a:off x="6473880" y="431773"/>
            <a:ext cx="5456490" cy="5994453"/>
          </a:xfrm>
          <a:prstGeom prst="rect">
            <a:avLst/>
          </a:prstGeom>
        </p:spPr>
      </p:pic>
      <p:sp>
        <p:nvSpPr>
          <p:cNvPr id="10" name="TextBox 9">
            <a:extLst>
              <a:ext uri="{FF2B5EF4-FFF2-40B4-BE49-F238E27FC236}">
                <a16:creationId xmlns:a16="http://schemas.microsoft.com/office/drawing/2014/main" id="{062CDD0C-AEBB-4C81-3800-B55478028798}"/>
              </a:ext>
            </a:extLst>
          </p:cNvPr>
          <p:cNvSpPr txBox="1"/>
          <p:nvPr/>
        </p:nvSpPr>
        <p:spPr>
          <a:xfrm>
            <a:off x="719666" y="1202603"/>
            <a:ext cx="6096000" cy="3570208"/>
          </a:xfrm>
          <a:prstGeom prst="rect">
            <a:avLst/>
          </a:prstGeom>
          <a:noFill/>
        </p:spPr>
        <p:txBody>
          <a:bodyPr wrap="square">
            <a:spAutoFit/>
          </a:bodyPr>
          <a:lstStyle/>
          <a:p>
            <a:r>
              <a:rPr lang="ja-JP" altLang="es-MX" sz="2800" b="1" dirty="0">
                <a:latin typeface="Courier New" panose="02070309020205020404" pitchFamily="49" charset="0"/>
              </a:rPr>
              <a:t>基本的に</a:t>
            </a:r>
            <a:endParaRPr lang="es-MX" altLang="ja-JP" sz="2800" b="1" dirty="0">
              <a:latin typeface="Courier New" panose="02070309020205020404" pitchFamily="49" charset="0"/>
            </a:endParaRPr>
          </a:p>
          <a:p>
            <a:endParaRPr lang="es-MX" altLang="ja-JP" dirty="0">
              <a:latin typeface="Courier New" panose="02070309020205020404" pitchFamily="49" charset="0"/>
            </a:endParaRPr>
          </a:p>
          <a:p>
            <a:r>
              <a:rPr lang="es-MX" altLang="ja-JP" dirty="0" err="1">
                <a:latin typeface="Courier New" panose="02070309020205020404" pitchFamily="49" charset="0"/>
              </a:rPr>
              <a:t>chunks</a:t>
            </a:r>
            <a:r>
              <a:rPr lang="es-MX" altLang="ja-JP" dirty="0"/>
              <a:t>:</a:t>
            </a:r>
          </a:p>
          <a:p>
            <a:pPr marL="742950" lvl="1" indent="-285750">
              <a:buFont typeface="Arial" panose="020B0604020202020204" pitchFamily="34" charset="0"/>
              <a:buChar char="•"/>
            </a:pPr>
            <a:r>
              <a:rPr lang="ja-JP" altLang="es-MX" dirty="0"/>
              <a:t>元のテキストチャンク</a:t>
            </a:r>
          </a:p>
          <a:p>
            <a:endParaRPr lang="es-MX" altLang="ja-JP" dirty="0">
              <a:latin typeface="Courier New" panose="02070309020205020404" pitchFamily="49" charset="0"/>
            </a:endParaRPr>
          </a:p>
          <a:p>
            <a:r>
              <a:rPr lang="es-MX" altLang="ja-JP" dirty="0" err="1">
                <a:latin typeface="Courier New" panose="02070309020205020404" pitchFamily="49" charset="0"/>
              </a:rPr>
              <a:t>keywords</a:t>
            </a:r>
            <a:r>
              <a:rPr lang="es-MX" altLang="ja-JP" dirty="0"/>
              <a:t>:</a:t>
            </a:r>
          </a:p>
          <a:p>
            <a:pPr marL="742950" lvl="1" indent="-285750">
              <a:buFont typeface="Arial" panose="020B0604020202020204" pitchFamily="34" charset="0"/>
              <a:buChar char="•"/>
            </a:pPr>
            <a:r>
              <a:rPr lang="ja-JP" altLang="es-MX" dirty="0"/>
              <a:t>事前に抽出された構造的キーワード</a:t>
            </a:r>
          </a:p>
          <a:p>
            <a:pPr>
              <a:buFont typeface="Arial" panose="020B0604020202020204" pitchFamily="34" charset="0"/>
              <a:buChar char="•"/>
            </a:pPr>
            <a:endParaRPr lang="es-MX" altLang="ja-JP" dirty="0">
              <a:latin typeface="Courier New" panose="02070309020205020404" pitchFamily="49" charset="0"/>
            </a:endParaRPr>
          </a:p>
          <a:p>
            <a:r>
              <a:rPr lang="es-MX" altLang="ja-JP" dirty="0" err="1">
                <a:latin typeface="Courier New" panose="02070309020205020404" pitchFamily="49" charset="0"/>
              </a:rPr>
              <a:t>threshold</a:t>
            </a:r>
            <a:r>
              <a:rPr lang="es-MX" altLang="ja-JP" dirty="0"/>
              <a:t>:</a:t>
            </a:r>
          </a:p>
          <a:p>
            <a:pPr marL="742950" lvl="1" indent="-285750">
              <a:buFont typeface="Arial" panose="020B0604020202020204" pitchFamily="34" charset="0"/>
              <a:buChar char="•"/>
            </a:pPr>
            <a:r>
              <a:rPr lang="ja-JP" altLang="es-MX" dirty="0"/>
              <a:t>キーワード被覆率の目標値</a:t>
            </a:r>
          </a:p>
          <a:p>
            <a:pPr>
              <a:buNone/>
            </a:pPr>
            <a:endParaRPr lang="es-MX" altLang="ja-JP" dirty="0"/>
          </a:p>
          <a:p>
            <a:pPr>
              <a:buNone/>
            </a:pPr>
            <a:r>
              <a:rPr lang="ja-JP" altLang="es-MX" dirty="0"/>
              <a:t>十分な被覆率に達すると処理を終了する。</a:t>
            </a:r>
          </a:p>
        </p:txBody>
      </p:sp>
    </p:spTree>
    <p:extLst>
      <p:ext uri="{BB962C8B-B14F-4D97-AF65-F5344CB8AC3E}">
        <p14:creationId xmlns:p14="http://schemas.microsoft.com/office/powerpoint/2010/main" val="3124916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A051CC-B550-C543-C0EE-64202DDE80D0}"/>
              </a:ext>
            </a:extLst>
          </p:cNvPr>
          <p:cNvSpPr>
            <a:spLocks noGrp="1"/>
          </p:cNvSpPr>
          <p:nvPr>
            <p:ph idx="1"/>
          </p:nvPr>
        </p:nvSpPr>
        <p:spPr>
          <a:xfrm>
            <a:off x="498493" y="2398170"/>
            <a:ext cx="5597507" cy="4459830"/>
          </a:xfrm>
        </p:spPr>
        <p:txBody>
          <a:bodyPr>
            <a:normAutofit/>
          </a:bodyPr>
          <a:lstStyle/>
          <a:p>
            <a:endParaRPr lang="es-MX" altLang="ja-JP" sz="1400" dirty="0"/>
          </a:p>
          <a:p>
            <a:pPr>
              <a:lnSpc>
                <a:spcPct val="110000"/>
              </a:lnSpc>
            </a:pPr>
            <a:r>
              <a:rPr lang="es-MX" altLang="ja-JP" sz="2000" dirty="0"/>
              <a:t>    </a:t>
            </a:r>
            <a:r>
              <a:rPr lang="ja-JP" altLang="es-MX" sz="2000" dirty="0"/>
              <a:t>キーワードの被覆率が </a:t>
            </a:r>
            <a:r>
              <a:rPr lang="es-MX" altLang="ja-JP" sz="2000" dirty="0" err="1"/>
              <a:t>threshold</a:t>
            </a:r>
            <a:r>
              <a:rPr lang="es-MX" altLang="ja-JP" sz="2000" dirty="0"/>
              <a:t> </a:t>
            </a:r>
            <a:r>
              <a:rPr lang="ja-JP" altLang="es-MX" sz="2000" dirty="0"/>
              <a:t>に達するまで処理を繰り返す。</a:t>
            </a:r>
          </a:p>
          <a:p>
            <a:pPr>
              <a:lnSpc>
                <a:spcPct val="110000"/>
              </a:lnSpc>
            </a:pPr>
            <a:r>
              <a:rPr lang="ja-JP" altLang="es-MX" sz="2000" dirty="0"/>
              <a:t>    </a:t>
            </a:r>
            <a:r>
              <a:rPr lang="es-MX" altLang="ja-JP" sz="2000" dirty="0"/>
              <a:t>|</a:t>
            </a:r>
            <a:r>
              <a:rPr lang="es-MX" altLang="ja-JP" sz="2000" dirty="0" err="1"/>
              <a:t>covered</a:t>
            </a:r>
            <a:r>
              <a:rPr lang="es-MX" altLang="ja-JP" sz="2000" dirty="0"/>
              <a:t>| / </a:t>
            </a:r>
            <a:r>
              <a:rPr lang="es-MX" altLang="ja-JP" sz="2000" dirty="0" err="1"/>
              <a:t>n_terms</a:t>
            </a:r>
            <a:r>
              <a:rPr lang="es-MX" altLang="ja-JP" sz="2000" dirty="0"/>
              <a:t> </a:t>
            </a:r>
            <a:r>
              <a:rPr lang="ja-JP" altLang="es-MX" sz="2000" dirty="0"/>
              <a:t>は、全キーワードのうちどれだけが既に表現されているかを示す指標。</a:t>
            </a:r>
          </a:p>
          <a:p>
            <a:pPr>
              <a:lnSpc>
                <a:spcPct val="110000"/>
              </a:lnSpc>
            </a:pPr>
            <a:r>
              <a:rPr lang="ja-JP" altLang="es-MX" sz="2000" dirty="0"/>
              <a:t>    必要十分な構造情報が得られた時点で停止するため、無駄なサンプル選択を避けられる。</a:t>
            </a:r>
            <a:endParaRPr lang="es-MX" altLang="ja-JP" sz="2000" dirty="0"/>
          </a:p>
        </p:txBody>
      </p:sp>
      <p:pic>
        <p:nvPicPr>
          <p:cNvPr id="5" name="Picture 4">
            <a:extLst>
              <a:ext uri="{FF2B5EF4-FFF2-40B4-BE49-F238E27FC236}">
                <a16:creationId xmlns:a16="http://schemas.microsoft.com/office/drawing/2014/main" id="{D37D9A6D-8626-F827-5091-67D7B2D46CB4}"/>
              </a:ext>
            </a:extLst>
          </p:cNvPr>
          <p:cNvPicPr>
            <a:picLocks noChangeAspect="1"/>
          </p:cNvPicPr>
          <p:nvPr/>
        </p:nvPicPr>
        <p:blipFill>
          <a:blip r:embed="rId3"/>
          <a:srcRect t="27868" b="67684"/>
          <a:stretch>
            <a:fillRect/>
          </a:stretch>
        </p:blipFill>
        <p:spPr>
          <a:xfrm>
            <a:off x="1237791" y="2194246"/>
            <a:ext cx="7488273" cy="366010"/>
          </a:xfrm>
          <a:prstGeom prst="rect">
            <a:avLst/>
          </a:prstGeom>
        </p:spPr>
      </p:pic>
      <p:pic>
        <p:nvPicPr>
          <p:cNvPr id="4" name="Picture 3">
            <a:extLst>
              <a:ext uri="{FF2B5EF4-FFF2-40B4-BE49-F238E27FC236}">
                <a16:creationId xmlns:a16="http://schemas.microsoft.com/office/drawing/2014/main" id="{80686745-A301-9C28-C5B1-367DAAE444E3}"/>
              </a:ext>
            </a:extLst>
          </p:cNvPr>
          <p:cNvPicPr>
            <a:picLocks noChangeAspect="1"/>
          </p:cNvPicPr>
          <p:nvPr/>
        </p:nvPicPr>
        <p:blipFill>
          <a:blip r:embed="rId3"/>
          <a:srcRect t="27411" r="6751" b="9181"/>
          <a:stretch>
            <a:fillRect/>
          </a:stretch>
        </p:blipFill>
        <p:spPr>
          <a:xfrm>
            <a:off x="6561632" y="1950042"/>
            <a:ext cx="5630368" cy="4206051"/>
          </a:xfrm>
          <a:prstGeom prst="rect">
            <a:avLst/>
          </a:prstGeom>
        </p:spPr>
      </p:pic>
      <p:sp>
        <p:nvSpPr>
          <p:cNvPr id="9" name="Title 8">
            <a:extLst>
              <a:ext uri="{FF2B5EF4-FFF2-40B4-BE49-F238E27FC236}">
                <a16:creationId xmlns:a16="http://schemas.microsoft.com/office/drawing/2014/main" id="{7A960E5A-FFA4-16B0-4A3A-D582551D4AAA}"/>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10" name="Arrow: Right 9">
            <a:extLst>
              <a:ext uri="{FF2B5EF4-FFF2-40B4-BE49-F238E27FC236}">
                <a16:creationId xmlns:a16="http://schemas.microsoft.com/office/drawing/2014/main" id="{707DE4B3-4276-C0E9-571B-6079F15469C0}"/>
              </a:ext>
            </a:extLst>
          </p:cNvPr>
          <p:cNvSpPr/>
          <p:nvPr/>
        </p:nvSpPr>
        <p:spPr>
          <a:xfrm>
            <a:off x="6301992" y="1950042"/>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Tree>
    <p:extLst>
      <p:ext uri="{BB962C8B-B14F-4D97-AF65-F5344CB8AC3E}">
        <p14:creationId xmlns:p14="http://schemas.microsoft.com/office/powerpoint/2010/main" val="530332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7A441-74DC-776A-E9AA-9E4F9B30712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778D20-A000-A6AD-65FF-7E3BB0C53267}"/>
              </a:ext>
            </a:extLst>
          </p:cNvPr>
          <p:cNvPicPr>
            <a:picLocks noChangeAspect="1"/>
          </p:cNvPicPr>
          <p:nvPr/>
        </p:nvPicPr>
        <p:blipFill>
          <a:blip r:embed="rId3"/>
          <a:srcRect l="-618" t="32369" r="618" b="64054"/>
          <a:stretch>
            <a:fillRect/>
          </a:stretch>
        </p:blipFill>
        <p:spPr>
          <a:xfrm>
            <a:off x="1888543" y="2250994"/>
            <a:ext cx="7488273" cy="294351"/>
          </a:xfrm>
          <a:prstGeom prst="rect">
            <a:avLst/>
          </a:prstGeom>
        </p:spPr>
      </p:pic>
      <p:pic>
        <p:nvPicPr>
          <p:cNvPr id="4" name="Picture 3">
            <a:extLst>
              <a:ext uri="{FF2B5EF4-FFF2-40B4-BE49-F238E27FC236}">
                <a16:creationId xmlns:a16="http://schemas.microsoft.com/office/drawing/2014/main" id="{F887105A-21A1-DF16-A3B0-8CCC734782BC}"/>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9" name="Title 8">
            <a:extLst>
              <a:ext uri="{FF2B5EF4-FFF2-40B4-BE49-F238E27FC236}">
                <a16:creationId xmlns:a16="http://schemas.microsoft.com/office/drawing/2014/main" id="{E53875AA-F13F-F3C4-2663-0C80F1B470C5}"/>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6" name="Rectangle 2">
            <a:extLst>
              <a:ext uri="{FF2B5EF4-FFF2-40B4-BE49-F238E27FC236}">
                <a16:creationId xmlns:a16="http://schemas.microsoft.com/office/drawing/2014/main" id="{B843A967-BD60-884D-DCB5-5B3723D267AA}"/>
              </a:ext>
            </a:extLst>
          </p:cNvPr>
          <p:cNvSpPr>
            <a:spLocks noGrp="1" noChangeArrowheads="1"/>
          </p:cNvSpPr>
          <p:nvPr>
            <p:ph idx="1"/>
          </p:nvPr>
        </p:nvSpPr>
        <p:spPr bwMode="auto">
          <a:xfrm>
            <a:off x="605493" y="2647065"/>
            <a:ext cx="595613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各chunkが「次に選ばれた場合にどれだけ有用か」を保存する集合</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各要素は以下のペア</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1" i="0" u="none" strike="noStrike" cap="none" normalizeH="0" baseline="0" dirty="0" err="1">
                <a:ln>
                  <a:noFill/>
                </a:ln>
                <a:solidFill>
                  <a:schemeClr val="tx1"/>
                </a:solidFill>
                <a:effectLst/>
                <a:latin typeface="Arial" panose="020B0604020202020204" pitchFamily="34" charset="0"/>
              </a:rPr>
              <a:t>gain（貢献度</a:t>
            </a:r>
            <a:r>
              <a:rPr kumimoji="0" lang="es-MX" altLang="es-MX" sz="2000" b="1" i="0" u="none" strike="noStrike" cap="none" normalizeH="0" baseline="0" dirty="0">
                <a:ln>
                  <a:noFill/>
                </a:ln>
                <a:solidFill>
                  <a:schemeClr val="tx1"/>
                </a:solidFill>
                <a:effectLst/>
                <a:latin typeface="Arial" panose="020B0604020202020204" pitchFamily="34" charset="0"/>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1" i="0" u="none" strike="noStrike" cap="none" normalizeH="0" baseline="0" dirty="0" err="1">
                <a:ln>
                  <a:noFill/>
                </a:ln>
                <a:solidFill>
                  <a:schemeClr val="tx1"/>
                </a:solidFill>
                <a:effectLst/>
                <a:latin typeface="Arial" panose="020B0604020202020204" pitchFamily="34" charset="0"/>
              </a:rPr>
              <a:t>chunkのインデックス</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このイテレーション内で、全候補を公平に比較するための準備</a:t>
            </a:r>
            <a:r>
              <a:rPr kumimoji="0" lang="es-MX" altLang="es-MX" sz="2000" b="0" i="0" u="none" strike="noStrike" cap="none" normalizeH="0" baseline="0" dirty="0">
                <a:ln>
                  <a:noFill/>
                </a:ln>
                <a:solidFill>
                  <a:schemeClr val="tx1"/>
                </a:solidFill>
                <a:effectLst/>
                <a:latin typeface="Arial" panose="020B0604020202020204" pitchFamily="34" charset="0"/>
              </a:rPr>
              <a:t>。</a:t>
            </a:r>
          </a:p>
        </p:txBody>
      </p:sp>
      <p:sp>
        <p:nvSpPr>
          <p:cNvPr id="8" name="Arrow: Right 7">
            <a:extLst>
              <a:ext uri="{FF2B5EF4-FFF2-40B4-BE49-F238E27FC236}">
                <a16:creationId xmlns:a16="http://schemas.microsoft.com/office/drawing/2014/main" id="{79F2C07A-646B-7B77-CD15-228D705532BC}"/>
              </a:ext>
            </a:extLst>
          </p:cNvPr>
          <p:cNvSpPr/>
          <p:nvPr/>
        </p:nvSpPr>
        <p:spPr>
          <a:xfrm>
            <a:off x="6561632" y="2215165"/>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Tree>
    <p:extLst>
      <p:ext uri="{BB962C8B-B14F-4D97-AF65-F5344CB8AC3E}">
        <p14:creationId xmlns:p14="http://schemas.microsoft.com/office/powerpoint/2010/main" val="2146653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74253-E34D-846E-AAA0-BDC96855A6A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C646600-CE8F-6BAB-14B4-E87166820D6F}"/>
              </a:ext>
            </a:extLst>
          </p:cNvPr>
          <p:cNvPicPr>
            <a:picLocks noChangeAspect="1"/>
          </p:cNvPicPr>
          <p:nvPr/>
        </p:nvPicPr>
        <p:blipFill>
          <a:blip r:embed="rId3"/>
          <a:srcRect t="35685" b="60738"/>
          <a:stretch>
            <a:fillRect/>
          </a:stretch>
        </p:blipFill>
        <p:spPr>
          <a:xfrm>
            <a:off x="1356107" y="2360875"/>
            <a:ext cx="7488273" cy="294351"/>
          </a:xfrm>
          <a:prstGeom prst="rect">
            <a:avLst/>
          </a:prstGeom>
        </p:spPr>
      </p:pic>
      <p:sp>
        <p:nvSpPr>
          <p:cNvPr id="9" name="Title 8">
            <a:extLst>
              <a:ext uri="{FF2B5EF4-FFF2-40B4-BE49-F238E27FC236}">
                <a16:creationId xmlns:a16="http://schemas.microsoft.com/office/drawing/2014/main" id="{C9A2F7A0-44B1-F836-E447-EAF35156393C}"/>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145C77D4-95E6-0FCF-46EC-C5AEF4EC07E0}"/>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3" name="Content Placeholder 2">
            <a:extLst>
              <a:ext uri="{FF2B5EF4-FFF2-40B4-BE49-F238E27FC236}">
                <a16:creationId xmlns:a16="http://schemas.microsoft.com/office/drawing/2014/main" id="{E028827F-0E03-7C73-9D48-7DE4D2C9D3B2}"/>
              </a:ext>
            </a:extLst>
          </p:cNvPr>
          <p:cNvSpPr>
            <a:spLocks noGrp="1" noChangeArrowheads="1"/>
          </p:cNvSpPr>
          <p:nvPr>
            <p:ph idx="1"/>
          </p:nvPr>
        </p:nvSpPr>
        <p:spPr bwMode="auto">
          <a:xfrm>
            <a:off x="454368" y="2719169"/>
            <a:ext cx="5491162"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データセット内のすべてのchunkを対象に評価を行う</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各chunkに対して</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None/>
            </a:pPr>
            <a:endParaRPr kumimoji="0" lang="es-MX" altLang="es-MX"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None/>
            </a:pPr>
            <a:r>
              <a:rPr kumimoji="0" lang="es-MX" altLang="es-MX" b="0" i="0" u="none" strike="noStrike" cap="none" normalizeH="0" baseline="0" dirty="0">
                <a:ln>
                  <a:noFill/>
                </a:ln>
                <a:solidFill>
                  <a:schemeClr val="tx1"/>
                </a:solidFill>
                <a:effectLst/>
                <a:latin typeface="Arial" panose="020B0604020202020204" pitchFamily="34" charset="0"/>
              </a:rPr>
              <a:t>「</a:t>
            </a:r>
            <a:r>
              <a:rPr kumimoji="0" lang="es-MX" altLang="es-MX" b="0" i="0" u="none" strike="noStrike" cap="none" normalizeH="0" baseline="0" dirty="0" err="1">
                <a:ln>
                  <a:noFill/>
                </a:ln>
                <a:solidFill>
                  <a:schemeClr val="tx1"/>
                </a:solidFill>
                <a:effectLst/>
                <a:latin typeface="Arial" panose="020B0604020202020204" pitchFamily="34" charset="0"/>
              </a:rPr>
              <a:t>今この</a:t>
            </a:r>
            <a:r>
              <a:rPr kumimoji="0" lang="es-MX" altLang="es-MX" sz="2000" b="0" i="0" u="none" strike="noStrike" cap="none" normalizeH="0" baseline="0" dirty="0" err="1">
                <a:ln>
                  <a:noFill/>
                </a:ln>
                <a:solidFill>
                  <a:schemeClr val="tx1"/>
                </a:solidFill>
                <a:effectLst/>
                <a:latin typeface="Arial" panose="020B0604020202020204" pitchFamily="34" charset="0"/>
              </a:rPr>
              <a:t>chunkを選ぶと、どれだけ新しい情報が得られるか</a:t>
            </a:r>
            <a:r>
              <a:rPr kumimoji="0" lang="es-MX" altLang="es-MX" sz="2000" b="0" i="0" u="none" strike="noStrike" cap="none" normalizeH="0" baseline="0" dirty="0">
                <a:ln>
                  <a:noFill/>
                </a:ln>
                <a:solidFill>
                  <a:schemeClr val="tx1"/>
                </a:solidFill>
                <a:effectLst/>
                <a:latin typeface="Arial" panose="020B0604020202020204" pitchFamily="34" charset="0"/>
              </a:rPr>
              <a:t>？」</a:t>
            </a:r>
            <a:r>
              <a:rPr kumimoji="0" lang="es-MX" altLang="es-MX" sz="2000" b="0" i="0" u="none" strike="noStrike" cap="none" normalizeH="0" baseline="0" dirty="0" err="1">
                <a:ln>
                  <a:noFill/>
                </a:ln>
                <a:solidFill>
                  <a:schemeClr val="tx1"/>
                </a:solidFill>
                <a:effectLst/>
                <a:latin typeface="Arial" panose="020B0604020202020204" pitchFamily="34" charset="0"/>
              </a:rPr>
              <a:t>を計算する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3111339B-047C-084F-BE3F-D3CAD0DB6504}"/>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045E3B02-8C40-7641-BCAC-8E067B3475B1}"/>
              </a:ext>
            </a:extLst>
          </p:cNvPr>
          <p:cNvSpPr/>
          <p:nvPr/>
        </p:nvSpPr>
        <p:spPr>
          <a:xfrm>
            <a:off x="6561632"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Tree>
    <p:extLst>
      <p:ext uri="{BB962C8B-B14F-4D97-AF65-F5344CB8AC3E}">
        <p14:creationId xmlns:p14="http://schemas.microsoft.com/office/powerpoint/2010/main" val="1057995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2EFFC-4316-C0C6-2B67-02A3DF090CA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C360E06-FE99-CD46-6F28-556A2A35194A}"/>
              </a:ext>
            </a:extLst>
          </p:cNvPr>
          <p:cNvPicPr>
            <a:picLocks noChangeAspect="1"/>
          </p:cNvPicPr>
          <p:nvPr/>
        </p:nvPicPr>
        <p:blipFill>
          <a:blip r:embed="rId3"/>
          <a:srcRect l="155" t="39061" r="-155" b="57362"/>
          <a:stretch>
            <a:fillRect/>
          </a:stretch>
        </p:blipFill>
        <p:spPr>
          <a:xfrm>
            <a:off x="1147762" y="2363425"/>
            <a:ext cx="7488273" cy="294351"/>
          </a:xfrm>
          <a:prstGeom prst="rect">
            <a:avLst/>
          </a:prstGeom>
        </p:spPr>
      </p:pic>
      <p:sp>
        <p:nvSpPr>
          <p:cNvPr id="9" name="Title 8">
            <a:extLst>
              <a:ext uri="{FF2B5EF4-FFF2-40B4-BE49-F238E27FC236}">
                <a16:creationId xmlns:a16="http://schemas.microsoft.com/office/drawing/2014/main" id="{650845FB-64FE-A44E-7C19-EB1803769833}"/>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C636B9CE-1AA8-1384-55ED-55715ECF39DA}"/>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9942AEF9-4326-7B32-14B1-D9B08A20F621}"/>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0B481E9C-04E8-AEA3-98F4-6A3AE50C72B4}"/>
              </a:ext>
            </a:extLst>
          </p:cNvPr>
          <p:cNvSpPr/>
          <p:nvPr/>
        </p:nvSpPr>
        <p:spPr>
          <a:xfrm>
            <a:off x="6848298" y="2655226"/>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CEFF50AA-BD37-6B49-1297-40EA73C7AC5D}"/>
              </a:ext>
            </a:extLst>
          </p:cNvPr>
          <p:cNvSpPr>
            <a:spLocks noGrp="1" noChangeArrowheads="1"/>
          </p:cNvSpPr>
          <p:nvPr>
            <p:ph idx="1"/>
          </p:nvPr>
        </p:nvSpPr>
        <p:spPr bwMode="auto">
          <a:xfrm>
            <a:off x="454025" y="3088462"/>
            <a:ext cx="5455340"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すでに選ばれているchunkはスキップする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同じchunkを二度選ばないことで</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冗長性を防ぐ</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選択が常に前進することを保証する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2575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C1FDD-5825-DA63-C6F7-485237C5494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04C257E-36E3-D36F-1FDD-024294AAFD20}"/>
              </a:ext>
            </a:extLst>
          </p:cNvPr>
          <p:cNvPicPr>
            <a:picLocks noChangeAspect="1"/>
          </p:cNvPicPr>
          <p:nvPr/>
        </p:nvPicPr>
        <p:blipFill>
          <a:blip r:embed="rId3"/>
          <a:srcRect l="16566" t="43581" r="-619" b="53025"/>
          <a:stretch>
            <a:fillRect/>
          </a:stretch>
        </p:blipFill>
        <p:spPr>
          <a:xfrm>
            <a:off x="581252" y="2627453"/>
            <a:ext cx="6294110" cy="279238"/>
          </a:xfrm>
          <a:prstGeom prst="rect">
            <a:avLst/>
          </a:prstGeom>
        </p:spPr>
      </p:pic>
      <p:sp>
        <p:nvSpPr>
          <p:cNvPr id="9" name="Title 8">
            <a:extLst>
              <a:ext uri="{FF2B5EF4-FFF2-40B4-BE49-F238E27FC236}">
                <a16:creationId xmlns:a16="http://schemas.microsoft.com/office/drawing/2014/main" id="{1F0FE35C-6B79-39EF-3E27-B0240E5F734F}"/>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EEE4927A-B9E3-9C42-8379-DCA3D06A79F9}"/>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CBF96ED1-565A-97ED-676B-19F5DE12330C}"/>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DF53E4B4-F91D-9A7D-7682-44EDF3970A00}"/>
              </a:ext>
            </a:extLst>
          </p:cNvPr>
          <p:cNvSpPr/>
          <p:nvPr/>
        </p:nvSpPr>
        <p:spPr>
          <a:xfrm>
            <a:off x="7149240" y="2906691"/>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68C1D6B7-FB79-DA99-D44D-81526851DAC2}"/>
              </a:ext>
            </a:extLst>
          </p:cNvPr>
          <p:cNvSpPr>
            <a:spLocks noGrp="1" noChangeArrowheads="1"/>
          </p:cNvSpPr>
          <p:nvPr>
            <p:ph idx="1"/>
          </p:nvPr>
        </p:nvSpPr>
        <p:spPr bwMode="auto">
          <a:xfrm>
            <a:off x="454025" y="3226963"/>
            <a:ext cx="642133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ja-JP" altLang="es-MX" sz="2000" dirty="0"/>
              <a:t>現在の</a:t>
            </a:r>
            <a:r>
              <a:rPr lang="es-MX" altLang="ja-JP" sz="2000" dirty="0" err="1"/>
              <a:t>chunk</a:t>
            </a:r>
            <a:r>
              <a:rPr lang="ja-JP" altLang="es-MX" sz="2000" dirty="0"/>
              <a:t>が持つキーワードのうち、まだ </a:t>
            </a:r>
            <a:r>
              <a:rPr lang="es-MX" altLang="ja-JP" sz="2000" dirty="0" err="1"/>
              <a:t>covered</a:t>
            </a:r>
            <a:r>
              <a:rPr lang="ja-JP" altLang="es-MX" sz="2000" dirty="0"/>
              <a:t> に含まれていないものを抽出。</a:t>
            </a:r>
            <a:endParaRPr lang="es-MX" altLang="ja-JP" sz="2000" dirty="0"/>
          </a:p>
          <a:p>
            <a:pPr eaLnBrk="0" fontAlgn="base" hangingPunct="0">
              <a:lnSpc>
                <a:spcPct val="100000"/>
              </a:lnSpc>
              <a:spcBef>
                <a:spcPct val="0"/>
              </a:spcBef>
              <a:spcAft>
                <a:spcPct val="0"/>
              </a:spcAft>
            </a:pPr>
            <a:endParaRPr lang="es-MX" altLang="ja-JP" sz="2000" dirty="0"/>
          </a:p>
          <a:p>
            <a:pPr eaLnBrk="0" fontAlgn="base" hangingPunct="0">
              <a:lnSpc>
                <a:spcPct val="100000"/>
              </a:lnSpc>
              <a:spcBef>
                <a:spcPct val="0"/>
              </a:spcBef>
              <a:spcAft>
                <a:spcPct val="0"/>
              </a:spcAft>
            </a:pPr>
            <a:r>
              <a:rPr lang="ja-JP" altLang="es-MX" sz="2000" dirty="0"/>
              <a:t>これはこの</a:t>
            </a:r>
            <a:r>
              <a:rPr lang="es-MX" altLang="ja-JP" sz="2000" dirty="0" err="1"/>
              <a:t>chunk</a:t>
            </a:r>
            <a:r>
              <a:rPr lang="ja-JP" altLang="es-MX" sz="2000" dirty="0"/>
              <a:t>が提供できる </a:t>
            </a:r>
            <a:r>
              <a:rPr lang="ja-JP" altLang="es-MX" sz="2000" b="1" dirty="0"/>
              <a:t>新しい構造情報量</a:t>
            </a:r>
            <a:r>
              <a:rPr lang="ja-JP" altLang="es-MX" sz="2000" dirty="0"/>
              <a:t> を直接表す。</a:t>
            </a: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7504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7574A-1E3F-2B92-2D63-F07FA213ABA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03737B4-7173-C6CD-644E-E06A6F779134}"/>
              </a:ext>
            </a:extLst>
          </p:cNvPr>
          <p:cNvPicPr>
            <a:picLocks noChangeAspect="1"/>
          </p:cNvPicPr>
          <p:nvPr/>
        </p:nvPicPr>
        <p:blipFill>
          <a:blip r:embed="rId3"/>
          <a:srcRect l="16213" t="46606" r="-266" b="50000"/>
          <a:stretch>
            <a:fillRect/>
          </a:stretch>
        </p:blipFill>
        <p:spPr>
          <a:xfrm>
            <a:off x="1051808" y="2627453"/>
            <a:ext cx="6294110" cy="279238"/>
          </a:xfrm>
          <a:prstGeom prst="rect">
            <a:avLst/>
          </a:prstGeom>
        </p:spPr>
      </p:pic>
      <p:sp>
        <p:nvSpPr>
          <p:cNvPr id="9" name="Title 8">
            <a:extLst>
              <a:ext uri="{FF2B5EF4-FFF2-40B4-BE49-F238E27FC236}">
                <a16:creationId xmlns:a16="http://schemas.microsoft.com/office/drawing/2014/main" id="{0061AC26-D784-5ED1-BD49-41B2F42DA76E}"/>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53D03C07-1399-85BE-B8D3-44FC0D3E0A90}"/>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75907DA5-4B32-5FD3-6D88-74979BCA87B5}"/>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FFDAEE1C-CFB5-8734-FBA8-38A3816FBEEA}"/>
              </a:ext>
            </a:extLst>
          </p:cNvPr>
          <p:cNvSpPr/>
          <p:nvPr/>
        </p:nvSpPr>
        <p:spPr>
          <a:xfrm>
            <a:off x="7149240" y="3227806"/>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0AFD4644-7D48-E35D-2B6C-166279E08335}"/>
              </a:ext>
            </a:extLst>
          </p:cNvPr>
          <p:cNvSpPr>
            <a:spLocks noGrp="1" noChangeArrowheads="1"/>
          </p:cNvSpPr>
          <p:nvPr>
            <p:ph idx="1"/>
          </p:nvPr>
        </p:nvSpPr>
        <p:spPr bwMode="auto">
          <a:xfrm>
            <a:off x="235293" y="3021499"/>
            <a:ext cx="6421337" cy="3162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ja-JP" altLang="es-MX" sz="2000" dirty="0"/>
              <a:t>ゲインは</a:t>
            </a:r>
            <a:r>
              <a:rPr lang="es-MX" altLang="ja-JP" sz="2000" dirty="0"/>
              <a:t>2</a:t>
            </a:r>
            <a:r>
              <a:rPr lang="ja-JP" altLang="es-MX" sz="2000" dirty="0"/>
              <a:t>つの要素の積で定義される：</a:t>
            </a:r>
          </a:p>
          <a:p>
            <a:r>
              <a:rPr lang="es-MX" altLang="ja-JP" sz="2000" b="1" dirty="0"/>
              <a:t>|</a:t>
            </a:r>
            <a:r>
              <a:rPr lang="es-MX" altLang="ja-JP" sz="2000" b="1" dirty="0" err="1"/>
              <a:t>nw_trms</a:t>
            </a:r>
            <a:r>
              <a:rPr lang="es-MX" altLang="ja-JP" sz="2000" b="1" dirty="0"/>
              <a:t>|</a:t>
            </a:r>
            <a:endParaRPr lang="ja-JP" altLang="es-MX" sz="2000" dirty="0"/>
          </a:p>
          <a:p>
            <a:pPr lvl="1"/>
            <a:r>
              <a:rPr lang="ja-JP" altLang="es-MX" sz="2000" dirty="0"/>
              <a:t>新しく被覆できるキーワード数（カバレッジの拡張）</a:t>
            </a:r>
          </a:p>
          <a:p>
            <a:r>
              <a:rPr lang="es-MX" altLang="ja-JP" sz="2000" b="1" dirty="0" err="1"/>
              <a:t>entropies</a:t>
            </a:r>
            <a:r>
              <a:rPr lang="es-MX" altLang="ja-JP" sz="2000" b="1" dirty="0"/>
              <a:t>[i]</a:t>
            </a:r>
            <a:endParaRPr lang="ja-JP" altLang="es-MX" sz="2000" dirty="0"/>
          </a:p>
          <a:p>
            <a:pPr lvl="1"/>
            <a:r>
              <a:rPr lang="es-MX" altLang="ja-JP" sz="2000" dirty="0"/>
              <a:t>TF-IDF</a:t>
            </a:r>
            <a:r>
              <a:rPr lang="ja-JP" altLang="es-MX" sz="2000" dirty="0"/>
              <a:t>分布から計算されたシャノンエントロピー</a:t>
            </a:r>
          </a:p>
          <a:p>
            <a:pPr lvl="1"/>
            <a:r>
              <a:rPr lang="ja-JP" altLang="es-MX" sz="2000" dirty="0"/>
              <a:t>値が高いほど、構造が多様で情報量が多い</a:t>
            </a:r>
            <a:r>
              <a:rPr lang="es-MX" altLang="ja-JP" sz="2000" dirty="0" err="1"/>
              <a:t>chunk</a:t>
            </a:r>
            <a:endParaRPr lang="es-MX" altLang="ja-JP" sz="2000" dirty="0"/>
          </a:p>
          <a:p>
            <a:r>
              <a:rPr lang="ja-JP" altLang="es-MX" sz="2000" dirty="0"/>
              <a:t>多くの新キーワードを含み、かつ情報的に豊かな</a:t>
            </a:r>
            <a:r>
              <a:rPr lang="es-MX" altLang="ja-JP" sz="2000" dirty="0" err="1"/>
              <a:t>chunk</a:t>
            </a:r>
            <a:r>
              <a:rPr lang="ja-JP" altLang="es-MX" sz="2000" dirty="0"/>
              <a:t>が優先される。</a:t>
            </a:r>
          </a:p>
        </p:txBody>
      </p:sp>
    </p:spTree>
    <p:extLst>
      <p:ext uri="{BB962C8B-B14F-4D97-AF65-F5344CB8AC3E}">
        <p14:creationId xmlns:p14="http://schemas.microsoft.com/office/powerpoint/2010/main" val="3301478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B029A-0452-D96B-A0F2-5432BC704E6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BE11F98-5551-A870-CA4D-72B1ACD14518}"/>
              </a:ext>
            </a:extLst>
          </p:cNvPr>
          <p:cNvPicPr>
            <a:picLocks noChangeAspect="1"/>
          </p:cNvPicPr>
          <p:nvPr/>
        </p:nvPicPr>
        <p:blipFill>
          <a:blip r:embed="rId3"/>
          <a:srcRect l="18028" t="49974" r="-2081" b="45755"/>
          <a:stretch>
            <a:fillRect/>
          </a:stretch>
        </p:blipFill>
        <p:spPr>
          <a:xfrm>
            <a:off x="1051808" y="2627453"/>
            <a:ext cx="6294110" cy="351458"/>
          </a:xfrm>
          <a:prstGeom prst="rect">
            <a:avLst/>
          </a:prstGeom>
        </p:spPr>
      </p:pic>
      <p:sp>
        <p:nvSpPr>
          <p:cNvPr id="9" name="Title 8">
            <a:extLst>
              <a:ext uri="{FF2B5EF4-FFF2-40B4-BE49-F238E27FC236}">
                <a16:creationId xmlns:a16="http://schemas.microsoft.com/office/drawing/2014/main" id="{69BD2B7B-C544-8BC4-311A-9A4596057FC0}"/>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9F004899-A7A4-81DC-12C6-AEB82CBB7380}"/>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F201FE6C-E7F9-7898-5E45-8E4D3D9B8BFE}"/>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9840AA7A-A178-0492-8EDB-E336AF0C0EF1}"/>
              </a:ext>
            </a:extLst>
          </p:cNvPr>
          <p:cNvSpPr/>
          <p:nvPr/>
        </p:nvSpPr>
        <p:spPr>
          <a:xfrm>
            <a:off x="7149240" y="3411556"/>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3" name="Content Placeholder 2">
            <a:extLst>
              <a:ext uri="{FF2B5EF4-FFF2-40B4-BE49-F238E27FC236}">
                <a16:creationId xmlns:a16="http://schemas.microsoft.com/office/drawing/2014/main" id="{CE5F93A2-CF99-50D3-2B78-0A692C237D6F}"/>
              </a:ext>
            </a:extLst>
          </p:cNvPr>
          <p:cNvSpPr>
            <a:spLocks noGrp="1" noChangeArrowheads="1"/>
          </p:cNvSpPr>
          <p:nvPr>
            <p:ph idx="1"/>
          </p:nvPr>
        </p:nvSpPr>
        <p:spPr bwMode="auto">
          <a:xfrm>
            <a:off x="523822" y="3227806"/>
            <a:ext cx="6216766"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計算したゲインとchunk番号をセットとして保存</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全chunkの評価後</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ゲイン最大のchunkが次に選択される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0708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CF222-9D94-58AE-2124-49A661CEF95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C06FC19-527C-0BC6-BAFF-BD885F411BC0}"/>
              </a:ext>
            </a:extLst>
          </p:cNvPr>
          <p:cNvPicPr>
            <a:picLocks noChangeAspect="1"/>
          </p:cNvPicPr>
          <p:nvPr/>
        </p:nvPicPr>
        <p:blipFill>
          <a:blip r:embed="rId3"/>
          <a:srcRect l="6435" t="61384" r="9512" b="35357"/>
          <a:stretch>
            <a:fillRect/>
          </a:stretch>
        </p:blipFill>
        <p:spPr>
          <a:xfrm>
            <a:off x="2066569" y="2733506"/>
            <a:ext cx="6294110" cy="268147"/>
          </a:xfrm>
          <a:prstGeom prst="rect">
            <a:avLst/>
          </a:prstGeom>
        </p:spPr>
      </p:pic>
      <p:sp>
        <p:nvSpPr>
          <p:cNvPr id="9" name="Title 8">
            <a:extLst>
              <a:ext uri="{FF2B5EF4-FFF2-40B4-BE49-F238E27FC236}">
                <a16:creationId xmlns:a16="http://schemas.microsoft.com/office/drawing/2014/main" id="{B71F0570-3EDF-1602-7C62-85FFDC3BBC4F}"/>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5F20E7AE-F8C3-7409-84ED-B4EF349D95DF}"/>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8BA157AA-7B79-1C61-22DF-67871030722B}"/>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A4DADE2B-C734-B66B-D726-AAC8A9DAF8D9}"/>
              </a:ext>
            </a:extLst>
          </p:cNvPr>
          <p:cNvSpPr/>
          <p:nvPr/>
        </p:nvSpPr>
        <p:spPr>
          <a:xfrm>
            <a:off x="6652926" y="4123633"/>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8CFA56A3-3C18-C30D-A112-849354E07C50}"/>
              </a:ext>
            </a:extLst>
          </p:cNvPr>
          <p:cNvSpPr>
            <a:spLocks noGrp="1" noChangeArrowheads="1"/>
          </p:cNvSpPr>
          <p:nvPr>
            <p:ph idx="1"/>
          </p:nvPr>
        </p:nvSpPr>
        <p:spPr bwMode="auto">
          <a:xfrm>
            <a:off x="386933" y="3159706"/>
            <a:ext cx="6129052"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a:ln>
                  <a:noFill/>
                </a:ln>
                <a:solidFill>
                  <a:schemeClr val="tx1"/>
                </a:solidFill>
                <a:effectLst/>
                <a:latin typeface="Arial" panose="020B0604020202020204" pitchFamily="34" charset="0"/>
              </a:rPr>
              <a:t>少なくとも1つ以上のchunkが、</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新しいキーワードを提供できる場合に処理を続行する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もし</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Unicode MS"/>
              </a:rPr>
              <a:t>gains</a:t>
            </a:r>
            <a:r>
              <a:rPr kumimoji="0" lang="es-MX" altLang="es-MX" sz="2000" b="0" i="0" u="none" strike="noStrike" cap="none" normalizeH="0" baseline="0" dirty="0">
                <a:ln>
                  <a:noFill/>
                </a:ln>
                <a:solidFill>
                  <a:schemeClr val="tx1"/>
                </a:solidFill>
                <a:effectLst/>
              </a:rPr>
              <a:t> </a:t>
            </a:r>
            <a:r>
              <a:rPr kumimoji="0" lang="es-MX" altLang="es-MX" sz="2000" b="0" i="0" u="none" strike="noStrike" cap="none" normalizeH="0" baseline="0" dirty="0" err="1">
                <a:ln>
                  <a:noFill/>
                </a:ln>
                <a:solidFill>
                  <a:schemeClr val="tx1"/>
                </a:solidFill>
                <a:effectLst/>
              </a:rPr>
              <a:t>が空であれば</a:t>
            </a:r>
            <a:r>
              <a:rPr kumimoji="0" lang="es-MX" altLang="es-MX" sz="2000" b="0" i="0" u="none" strike="noStrike" cap="none" normalizeH="0" baseline="0" dirty="0">
                <a:ln>
                  <a:noFill/>
                </a:ln>
                <a:solidFill>
                  <a:schemeClr val="tx1"/>
                </a:solidFill>
                <a:effectLst/>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これ以上、被覆を拡張できるchunkが存在しないことを意味する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3921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4A4C1-DF60-3508-50DF-E0A9228EBE0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7107A92-884D-7D31-105F-889B0AEB2A87}"/>
              </a:ext>
            </a:extLst>
          </p:cNvPr>
          <p:cNvPicPr>
            <a:picLocks noChangeAspect="1"/>
          </p:cNvPicPr>
          <p:nvPr/>
        </p:nvPicPr>
        <p:blipFill>
          <a:blip r:embed="rId3"/>
          <a:srcRect l="8074" t="65397" r="7874" b="31344"/>
          <a:stretch>
            <a:fillRect/>
          </a:stretch>
        </p:blipFill>
        <p:spPr>
          <a:xfrm>
            <a:off x="838200" y="2710491"/>
            <a:ext cx="6294110" cy="268147"/>
          </a:xfrm>
          <a:prstGeom prst="rect">
            <a:avLst/>
          </a:prstGeom>
        </p:spPr>
      </p:pic>
      <p:sp>
        <p:nvSpPr>
          <p:cNvPr id="9" name="Title 8">
            <a:extLst>
              <a:ext uri="{FF2B5EF4-FFF2-40B4-BE49-F238E27FC236}">
                <a16:creationId xmlns:a16="http://schemas.microsoft.com/office/drawing/2014/main" id="{255027D2-EE3A-4809-2A4B-72660244D7AE}"/>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5BCC4D10-E0D1-1368-BB2F-44546D10AEBB}"/>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25795064-6A5C-582E-C360-07C127A1C8E8}"/>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D6205BD1-9093-088F-A95B-779B0DD22FE2}"/>
              </a:ext>
            </a:extLst>
          </p:cNvPr>
          <p:cNvSpPr/>
          <p:nvPr/>
        </p:nvSpPr>
        <p:spPr>
          <a:xfrm>
            <a:off x="6934335" y="439063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3" name="Content Placeholder 2">
            <a:extLst>
              <a:ext uri="{FF2B5EF4-FFF2-40B4-BE49-F238E27FC236}">
                <a16:creationId xmlns:a16="http://schemas.microsoft.com/office/drawing/2014/main" id="{A4123756-28D6-A40F-8CFD-EDA5A96B4211}"/>
              </a:ext>
            </a:extLst>
          </p:cNvPr>
          <p:cNvSpPr>
            <a:spLocks noGrp="1" noChangeArrowheads="1"/>
          </p:cNvSpPr>
          <p:nvPr>
            <p:ph idx="1"/>
          </p:nvPr>
        </p:nvSpPr>
        <p:spPr bwMode="auto">
          <a:xfrm>
            <a:off x="387350" y="3144610"/>
            <a:ext cx="654698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すべての候補chunkの中から</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1" i="0" u="none" strike="noStrike" cap="none" normalizeH="0" baseline="0" dirty="0" err="1">
                <a:ln>
                  <a:noFill/>
                </a:ln>
                <a:solidFill>
                  <a:schemeClr val="tx1"/>
                </a:solidFill>
                <a:effectLst/>
                <a:latin typeface="Arial" panose="020B0604020202020204" pitchFamily="34" charset="0"/>
              </a:rPr>
              <a:t>最も大きな</a:t>
            </a:r>
            <a:r>
              <a:rPr kumimoji="0" lang="es-MX" altLang="es-MX" sz="2000" b="1" i="0" u="none" strike="noStrike" cap="none" normalizeH="0" baseline="0" dirty="0">
                <a:ln>
                  <a:noFill/>
                </a:ln>
                <a:solidFill>
                  <a:schemeClr val="tx1"/>
                </a:solidFill>
                <a:effectLst/>
                <a:latin typeface="Arial" panose="020B0604020202020204" pitchFamily="34" charset="0"/>
              </a:rPr>
              <a:t> </a:t>
            </a:r>
            <a:r>
              <a:rPr kumimoji="0" lang="es-MX" altLang="es-MX" sz="2000" b="1" i="0" u="none" strike="noStrike" cap="none" normalizeH="0" baseline="0" dirty="0" err="1">
                <a:ln>
                  <a:noFill/>
                </a:ln>
                <a:solidFill>
                  <a:schemeClr val="tx1"/>
                </a:solidFill>
                <a:effectLst/>
                <a:latin typeface="Arial" panose="020B0604020202020204" pitchFamily="34" charset="0"/>
              </a:rPr>
              <a:t>gain</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panose="020B0604020202020204" pitchFamily="34" charset="0"/>
              </a:rPr>
              <a:t>を持つchunkを選択する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これは</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新しいキーワード数が多く</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かつエントロピーが高い</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1" i="0" u="none" strike="noStrike" cap="none" normalizeH="0" baseline="0" dirty="0" err="1">
                <a:ln>
                  <a:noFill/>
                </a:ln>
                <a:solidFill>
                  <a:schemeClr val="tx1"/>
                </a:solidFill>
                <a:effectLst/>
                <a:latin typeface="Arial" panose="020B0604020202020204" pitchFamily="34" charset="0"/>
              </a:rPr>
              <a:t>現時点で最も効率よく構造情報を追加できる</a:t>
            </a:r>
            <a:r>
              <a:rPr kumimoji="0" lang="es-MX" altLang="es-MX" sz="1800" b="1" i="0" u="none" strike="noStrike" cap="none" normalizeH="0" baseline="0" dirty="0" err="1">
                <a:ln>
                  <a:noFill/>
                </a:ln>
                <a:solidFill>
                  <a:schemeClr val="tx1"/>
                </a:solidFill>
                <a:effectLst/>
                <a:latin typeface="Arial" panose="020B0604020202020204" pitchFamily="34" charset="0"/>
              </a:rPr>
              <a:t>chunk</a:t>
            </a:r>
            <a:r>
              <a:rPr kumimoji="0" lang="es-MX" altLang="es-MX"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2861002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3A8C7-0870-3745-6EDD-AD06F726982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2BE1D9A-FC9F-FE87-496E-8FE3E5FC6280}"/>
              </a:ext>
            </a:extLst>
          </p:cNvPr>
          <p:cNvPicPr>
            <a:picLocks noChangeAspect="1"/>
          </p:cNvPicPr>
          <p:nvPr/>
        </p:nvPicPr>
        <p:blipFill>
          <a:blip r:embed="rId3"/>
          <a:srcRect l="8967" t="68165" r="6981" b="28576"/>
          <a:stretch>
            <a:fillRect/>
          </a:stretch>
        </p:blipFill>
        <p:spPr>
          <a:xfrm>
            <a:off x="838200" y="2710491"/>
            <a:ext cx="6294110" cy="268147"/>
          </a:xfrm>
          <a:prstGeom prst="rect">
            <a:avLst/>
          </a:prstGeom>
        </p:spPr>
      </p:pic>
      <p:sp>
        <p:nvSpPr>
          <p:cNvPr id="9" name="Title 8">
            <a:extLst>
              <a:ext uri="{FF2B5EF4-FFF2-40B4-BE49-F238E27FC236}">
                <a16:creationId xmlns:a16="http://schemas.microsoft.com/office/drawing/2014/main" id="{BE2ED374-A123-3A13-5135-C2D57435CD5E}"/>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ACA1284D-2A96-8F9B-223D-C780697868AC}"/>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2CFF9552-B279-E7D9-F406-42DFAC1578E0}"/>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16B49417-4FB5-1D79-270E-FC72671EA281}"/>
              </a:ext>
            </a:extLst>
          </p:cNvPr>
          <p:cNvSpPr/>
          <p:nvPr/>
        </p:nvSpPr>
        <p:spPr>
          <a:xfrm>
            <a:off x="6934335" y="4602512"/>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2" name="Content Placeholder 1">
            <a:extLst>
              <a:ext uri="{FF2B5EF4-FFF2-40B4-BE49-F238E27FC236}">
                <a16:creationId xmlns:a16="http://schemas.microsoft.com/office/drawing/2014/main" id="{8CA5779A-3918-D3D8-033B-5A565C03B382}"/>
              </a:ext>
            </a:extLst>
          </p:cNvPr>
          <p:cNvSpPr>
            <a:spLocks noGrp="1" noChangeArrowheads="1"/>
          </p:cNvSpPr>
          <p:nvPr>
            <p:ph idx="1"/>
          </p:nvPr>
        </p:nvSpPr>
        <p:spPr bwMode="auto">
          <a:xfrm>
            <a:off x="707751" y="3185079"/>
            <a:ext cx="5984331"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選ばれたchunkを</a:t>
            </a:r>
            <a:r>
              <a:rPr kumimoji="0" lang="es-MX" altLang="es-MX" sz="2000" b="0" i="0" u="none" strike="noStrike" cap="none" normalizeH="0" baseline="0" dirty="0">
                <a:ln>
                  <a:noFill/>
                </a:ln>
                <a:solidFill>
                  <a:schemeClr val="tx1"/>
                </a:solidFill>
                <a:effectLst/>
                <a:latin typeface="Arial" panose="020B0604020202020204" pitchFamily="34" charset="0"/>
              </a:rPr>
              <a:t> </a:t>
            </a:r>
            <a:r>
              <a:rPr kumimoji="0" lang="es-MX" altLang="es-MX" sz="2000" b="0" i="0" u="none" strike="noStrike" cap="none" normalizeH="0" baseline="0" dirty="0" err="1">
                <a:ln>
                  <a:noFill/>
                </a:ln>
                <a:solidFill>
                  <a:schemeClr val="tx1"/>
                </a:solidFill>
                <a:effectLst/>
                <a:latin typeface="Arial Unicode MS"/>
              </a:rPr>
              <a:t>selected</a:t>
            </a:r>
            <a:r>
              <a:rPr kumimoji="0" lang="es-MX" altLang="es-MX" sz="2000" b="0" i="0" u="none" strike="noStrike" cap="none" normalizeH="0" baseline="0" dirty="0">
                <a:ln>
                  <a:noFill/>
                </a:ln>
                <a:solidFill>
                  <a:schemeClr val="tx1"/>
                </a:solidFill>
                <a:effectLst/>
              </a:rPr>
              <a:t> </a:t>
            </a:r>
            <a:r>
              <a:rPr kumimoji="0" lang="es-MX" altLang="es-MX" sz="2000" b="0" i="0" u="none" strike="noStrike" cap="none" normalizeH="0" baseline="0" dirty="0" err="1">
                <a:ln>
                  <a:noFill/>
                </a:ln>
                <a:solidFill>
                  <a:schemeClr val="tx1"/>
                </a:solidFill>
                <a:effectLst/>
              </a:rPr>
              <a:t>集合に追加</a:t>
            </a:r>
            <a:r>
              <a:rPr kumimoji="0" lang="es-MX" altLang="es-MX" sz="2000" b="0" i="0" u="none" strike="noStrike" cap="none" normalizeH="0" baseline="0" dirty="0">
                <a:ln>
                  <a:noFill/>
                </a:ln>
                <a:solidFill>
                  <a:schemeClr val="tx1"/>
                </a:solidFill>
                <a:effectLst/>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この集合が最終的に</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LLMに入力される代表サンプル集合になる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73389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061FD-75C3-CDED-4C6F-95FAEFF66E0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2084FD1-BDCD-BFE3-C1A8-3D04F5CA5B59}"/>
              </a:ext>
            </a:extLst>
          </p:cNvPr>
          <p:cNvPicPr>
            <a:picLocks noChangeAspect="1"/>
          </p:cNvPicPr>
          <p:nvPr/>
        </p:nvPicPr>
        <p:blipFill>
          <a:blip r:embed="rId3"/>
          <a:srcRect l="9115" t="72014" r="6833" b="24727"/>
          <a:stretch>
            <a:fillRect/>
          </a:stretch>
        </p:blipFill>
        <p:spPr>
          <a:xfrm>
            <a:off x="838200" y="2197763"/>
            <a:ext cx="6294110" cy="268147"/>
          </a:xfrm>
          <a:prstGeom prst="rect">
            <a:avLst/>
          </a:prstGeom>
        </p:spPr>
      </p:pic>
      <p:sp>
        <p:nvSpPr>
          <p:cNvPr id="9" name="Title 8">
            <a:extLst>
              <a:ext uri="{FF2B5EF4-FFF2-40B4-BE49-F238E27FC236}">
                <a16:creationId xmlns:a16="http://schemas.microsoft.com/office/drawing/2014/main" id="{0ADEE347-ED66-7F56-491C-AB294D8771B7}"/>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1F428DFE-CF2F-C2D9-24DF-BF12F1F76D1E}"/>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2F8C25C1-95F5-D478-6B4C-460E064EC38E}"/>
              </a:ext>
            </a:extLst>
          </p:cNvPr>
          <p:cNvPicPr>
            <a:picLocks noChangeAspect="1"/>
          </p:cNvPicPr>
          <p:nvPr/>
        </p:nvPicPr>
        <p:blipFill>
          <a:blip r:embed="rId3"/>
          <a:srcRect t="27411" r="6751" b="9181"/>
          <a:stretch>
            <a:fillRect/>
          </a:stretch>
        </p:blipFill>
        <p:spPr>
          <a:xfrm>
            <a:off x="6561632" y="1939583"/>
            <a:ext cx="5630368" cy="4206051"/>
          </a:xfrm>
          <a:prstGeom prst="rect">
            <a:avLst/>
          </a:prstGeom>
        </p:spPr>
      </p:pic>
      <p:sp>
        <p:nvSpPr>
          <p:cNvPr id="10" name="Arrow: Right 9">
            <a:extLst>
              <a:ext uri="{FF2B5EF4-FFF2-40B4-BE49-F238E27FC236}">
                <a16:creationId xmlns:a16="http://schemas.microsoft.com/office/drawing/2014/main" id="{90042F92-05B7-F422-B557-08C17378DBEF}"/>
              </a:ext>
            </a:extLst>
          </p:cNvPr>
          <p:cNvSpPr/>
          <p:nvPr/>
        </p:nvSpPr>
        <p:spPr>
          <a:xfrm>
            <a:off x="6935632" y="4830121"/>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3" name="Rectangle 1">
            <a:extLst>
              <a:ext uri="{FF2B5EF4-FFF2-40B4-BE49-F238E27FC236}">
                <a16:creationId xmlns:a16="http://schemas.microsoft.com/office/drawing/2014/main" id="{2E2F8611-8F6A-B7BD-5330-40430D02ED37}"/>
              </a:ext>
            </a:extLst>
          </p:cNvPr>
          <p:cNvSpPr>
            <a:spLocks noGrp="1" noChangeArrowheads="1"/>
          </p:cNvSpPr>
          <p:nvPr>
            <p:ph idx="1"/>
          </p:nvPr>
        </p:nvSpPr>
        <p:spPr bwMode="auto">
          <a:xfrm>
            <a:off x="750616" y="2629663"/>
            <a:ext cx="589860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選択したchunkが持つすべてのキーワードを、</a:t>
            </a:r>
            <a:r>
              <a:rPr kumimoji="0" lang="es-MX" altLang="es-MX" sz="2000" b="0" i="0" u="none" strike="noStrike" cap="none" normalizeH="0" baseline="0" dirty="0" err="1">
                <a:ln>
                  <a:noFill/>
                </a:ln>
                <a:solidFill>
                  <a:schemeClr val="tx1"/>
                </a:solidFill>
                <a:effectLst/>
                <a:latin typeface="Arial Unicode MS"/>
              </a:rPr>
              <a:t>covered</a:t>
            </a:r>
            <a:r>
              <a:rPr kumimoji="0" lang="es-MX" altLang="es-MX" sz="2000" b="0" i="0" u="none" strike="noStrike" cap="none" normalizeH="0" baseline="0" dirty="0">
                <a:ln>
                  <a:noFill/>
                </a:ln>
                <a:solidFill>
                  <a:schemeClr val="tx1"/>
                </a:solidFill>
                <a:effectLst/>
              </a:rPr>
              <a:t> </a:t>
            </a:r>
            <a:r>
              <a:rPr kumimoji="0" lang="es-MX" altLang="es-MX" sz="2000" b="0" i="0" u="none" strike="noStrike" cap="none" normalizeH="0" baseline="0" dirty="0" err="1">
                <a:ln>
                  <a:noFill/>
                </a:ln>
                <a:solidFill>
                  <a:schemeClr val="tx1"/>
                </a:solidFill>
                <a:effectLst/>
              </a:rPr>
              <a:t>に追加する</a:t>
            </a:r>
            <a:r>
              <a:rPr kumimoji="0" lang="es-MX" altLang="es-MX" sz="2000" b="0" i="0" u="none" strike="noStrike" cap="none" normalizeH="0" baseline="0" dirty="0">
                <a:ln>
                  <a:noFill/>
                </a:ln>
                <a:solidFill>
                  <a:schemeClr val="tx1"/>
                </a:solidFill>
                <a:effectLst/>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これにより</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被覆率が更新され</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次のイテレーションでは「すでに説明済みの構造」が除外される</a:t>
            </a:r>
            <a:r>
              <a:rPr kumimoji="0" lang="es-MX" altLang="es-MX"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83111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485D8-0BB2-988C-C489-AD1993908B9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69FFE5F-973B-BEE3-A420-EDBF87A4DA9E}"/>
              </a:ext>
            </a:extLst>
          </p:cNvPr>
          <p:cNvPicPr>
            <a:picLocks noChangeAspect="1"/>
          </p:cNvPicPr>
          <p:nvPr/>
        </p:nvPicPr>
        <p:blipFill>
          <a:blip r:embed="rId3"/>
          <a:srcRect l="1170" t="90446" r="14778" b="6295"/>
          <a:stretch>
            <a:fillRect/>
          </a:stretch>
        </p:blipFill>
        <p:spPr>
          <a:xfrm>
            <a:off x="838200" y="2197763"/>
            <a:ext cx="6294110" cy="268147"/>
          </a:xfrm>
          <a:prstGeom prst="rect">
            <a:avLst/>
          </a:prstGeom>
        </p:spPr>
      </p:pic>
      <p:sp>
        <p:nvSpPr>
          <p:cNvPr id="9" name="Title 8">
            <a:extLst>
              <a:ext uri="{FF2B5EF4-FFF2-40B4-BE49-F238E27FC236}">
                <a16:creationId xmlns:a16="http://schemas.microsoft.com/office/drawing/2014/main" id="{27DF67A0-D5C7-383F-1B5A-056E4BE6BDF1}"/>
              </a:ext>
            </a:extLst>
          </p:cNvPr>
          <p:cNvSpPr>
            <a:spLocks noGrp="1"/>
          </p:cNvSpPr>
          <p:nvPr>
            <p:ph type="title"/>
          </p:nvPr>
        </p:nvSpPr>
        <p:spPr/>
        <p:txBody>
          <a:bodyPr/>
          <a:lstStyle/>
          <a:p>
            <a:r>
              <a:rPr lang="es-MX" dirty="0" err="1"/>
              <a:t>Greedy</a:t>
            </a:r>
            <a:r>
              <a:rPr lang="es-MX" dirty="0"/>
              <a:t> </a:t>
            </a:r>
            <a:r>
              <a:rPr lang="es-MX" dirty="0" err="1"/>
              <a:t>Selection</a:t>
            </a:r>
            <a:r>
              <a:rPr lang="es-MX" dirty="0"/>
              <a:t> </a:t>
            </a:r>
            <a:r>
              <a:rPr lang="es-MX" dirty="0" err="1"/>
              <a:t>Loop</a:t>
            </a:r>
            <a:endParaRPr lang="es-MX" dirty="0"/>
          </a:p>
        </p:txBody>
      </p:sp>
      <p:sp>
        <p:nvSpPr>
          <p:cNvPr id="8" name="Arrow: Right 7">
            <a:extLst>
              <a:ext uri="{FF2B5EF4-FFF2-40B4-BE49-F238E27FC236}">
                <a16:creationId xmlns:a16="http://schemas.microsoft.com/office/drawing/2014/main" id="{DB7C32EB-1659-CC2D-991E-C3760E7AB64C}"/>
              </a:ext>
            </a:extLst>
          </p:cNvPr>
          <p:cNvSpPr/>
          <p:nvPr/>
        </p:nvSpPr>
        <p:spPr>
          <a:xfrm>
            <a:off x="6606626" y="2446658"/>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pic>
        <p:nvPicPr>
          <p:cNvPr id="4" name="Picture 3">
            <a:extLst>
              <a:ext uri="{FF2B5EF4-FFF2-40B4-BE49-F238E27FC236}">
                <a16:creationId xmlns:a16="http://schemas.microsoft.com/office/drawing/2014/main" id="{41F8BBF5-D486-A8B3-5F39-810E7087553E}"/>
              </a:ext>
            </a:extLst>
          </p:cNvPr>
          <p:cNvPicPr>
            <a:picLocks noChangeAspect="1"/>
          </p:cNvPicPr>
          <p:nvPr/>
        </p:nvPicPr>
        <p:blipFill>
          <a:blip r:embed="rId3"/>
          <a:srcRect t="27411" r="6751" b="1300"/>
          <a:stretch>
            <a:fillRect/>
          </a:stretch>
        </p:blipFill>
        <p:spPr>
          <a:xfrm>
            <a:off x="6561632" y="1939583"/>
            <a:ext cx="5630368" cy="4728846"/>
          </a:xfrm>
          <a:prstGeom prst="rect">
            <a:avLst/>
          </a:prstGeom>
        </p:spPr>
      </p:pic>
      <p:sp>
        <p:nvSpPr>
          <p:cNvPr id="10" name="Arrow: Right 9">
            <a:extLst>
              <a:ext uri="{FF2B5EF4-FFF2-40B4-BE49-F238E27FC236}">
                <a16:creationId xmlns:a16="http://schemas.microsoft.com/office/drawing/2014/main" id="{1C1019A6-325D-E1C8-5993-01D8140766FB}"/>
              </a:ext>
            </a:extLst>
          </p:cNvPr>
          <p:cNvSpPr/>
          <p:nvPr/>
        </p:nvSpPr>
        <p:spPr>
          <a:xfrm>
            <a:off x="6275180" y="6042852"/>
            <a:ext cx="393356" cy="36601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accent2"/>
              </a:solidFill>
            </a:endParaRPr>
          </a:p>
        </p:txBody>
      </p:sp>
      <p:sp>
        <p:nvSpPr>
          <p:cNvPr id="5" name="Rectangle 2">
            <a:extLst>
              <a:ext uri="{FF2B5EF4-FFF2-40B4-BE49-F238E27FC236}">
                <a16:creationId xmlns:a16="http://schemas.microsoft.com/office/drawing/2014/main" id="{3EB12CB2-B7F5-4637-1025-8213AA6EBF3B}"/>
              </a:ext>
            </a:extLst>
          </p:cNvPr>
          <p:cNvSpPr>
            <a:spLocks noGrp="1" noChangeArrowheads="1"/>
          </p:cNvSpPr>
          <p:nvPr>
            <p:ph idx="1"/>
          </p:nvPr>
        </p:nvSpPr>
        <p:spPr bwMode="auto">
          <a:xfrm>
            <a:off x="750888" y="3091230"/>
            <a:ext cx="572341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Unicode MS"/>
              </a:rPr>
              <a:t>selected</a:t>
            </a:r>
            <a:r>
              <a:rPr kumimoji="0" lang="es-MX" altLang="es-MX" sz="2000" b="0" i="0" u="none" strike="noStrike" cap="none" normalizeH="0" baseline="0" dirty="0">
                <a:ln>
                  <a:noFill/>
                </a:ln>
                <a:solidFill>
                  <a:schemeClr val="tx1"/>
                </a:solidFill>
                <a:effectLst/>
              </a:rPr>
              <a:t> </a:t>
            </a:r>
            <a:r>
              <a:rPr kumimoji="0" lang="es-MX" altLang="es-MX" sz="2000" b="0" i="0" u="none" strike="noStrike" cap="none" normalizeH="0" baseline="0" dirty="0" err="1">
                <a:ln>
                  <a:noFill/>
                </a:ln>
                <a:solidFill>
                  <a:schemeClr val="tx1"/>
                </a:solidFill>
                <a:effectLst/>
              </a:rPr>
              <a:t>に対応する元のchunkを取り出す</a:t>
            </a:r>
            <a:r>
              <a:rPr kumimoji="0" lang="es-MX" altLang="es-MX" sz="2000" b="0" i="0" u="none" strike="noStrike" cap="none" normalizeH="0" baseline="0" dirty="0">
                <a:ln>
                  <a:noFill/>
                </a:ln>
                <a:solidFill>
                  <a:schemeClr val="tx1"/>
                </a:solidFill>
                <a:effectLst/>
              </a:rPr>
              <a:t>。</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kumimoji="0" lang="es-MX" altLang="es-MX"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この出力は</a:t>
            </a:r>
            <a:r>
              <a:rPr kumimoji="0" lang="es-MX" altLang="es-MX" sz="2000"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データ全体を代表する</a:t>
            </a:r>
            <a:endParaRPr kumimoji="0" lang="es-MX" altLang="es-MX" sz="20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00000"/>
              </a:lnSpc>
              <a:spcBef>
                <a:spcPct val="0"/>
              </a:spcBef>
              <a:spcAft>
                <a:spcPct val="0"/>
              </a:spcAft>
            </a:pPr>
            <a:r>
              <a:rPr kumimoji="0" lang="es-MX" altLang="es-MX" sz="2000" b="0" i="0" u="none" strike="noStrike" cap="none" normalizeH="0" baseline="0" dirty="0" err="1">
                <a:ln>
                  <a:noFill/>
                </a:ln>
                <a:solidFill>
                  <a:schemeClr val="tx1"/>
                </a:solidFill>
                <a:effectLst/>
                <a:latin typeface="Arial" panose="020B0604020202020204" pitchFamily="34" charset="0"/>
              </a:rPr>
              <a:t>少数かつ情報密度の高いサンプル集合</a:t>
            </a: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991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076D-24BD-2072-D677-000BA8044329}"/>
              </a:ext>
            </a:extLst>
          </p:cNvPr>
          <p:cNvSpPr>
            <a:spLocks noGrp="1"/>
          </p:cNvSpPr>
          <p:nvPr>
            <p:ph type="title"/>
          </p:nvPr>
        </p:nvSpPr>
        <p:spPr/>
        <p:txBody>
          <a:bodyPr/>
          <a:lstStyle/>
          <a:p>
            <a:r>
              <a:rPr lang="es-MX" dirty="0"/>
              <a:t>3. Script / </a:t>
            </a:r>
            <a:r>
              <a:rPr lang="es-MX" dirty="0" err="1"/>
              <a:t>Schema</a:t>
            </a:r>
            <a:r>
              <a:rPr lang="es-MX" dirty="0"/>
              <a:t> </a:t>
            </a:r>
            <a:r>
              <a:rPr lang="es-MX" dirty="0" err="1"/>
              <a:t>Learning</a:t>
            </a:r>
            <a:endParaRPr lang="es-MX" dirty="0"/>
          </a:p>
        </p:txBody>
      </p:sp>
      <p:sp>
        <p:nvSpPr>
          <p:cNvPr id="3" name="Text Placeholder 2">
            <a:extLst>
              <a:ext uri="{FF2B5EF4-FFF2-40B4-BE49-F238E27FC236}">
                <a16:creationId xmlns:a16="http://schemas.microsoft.com/office/drawing/2014/main" id="{76303528-F2E2-7D51-F086-6F1A4CBB988A}"/>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210144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05814B-B7C0-85D0-7B0E-70B17ADA9BDD}"/>
              </a:ext>
            </a:extLst>
          </p:cNvPr>
          <p:cNvSpPr>
            <a:spLocks noGrp="1"/>
          </p:cNvSpPr>
          <p:nvPr>
            <p:ph type="title"/>
          </p:nvPr>
        </p:nvSpPr>
        <p:spPr/>
        <p:txBody>
          <a:bodyPr/>
          <a:lstStyle/>
          <a:p>
            <a:r>
              <a:rPr lang="es-MX" dirty="0" err="1"/>
              <a:t>Schema</a:t>
            </a:r>
            <a:r>
              <a:rPr lang="es-MX" dirty="0"/>
              <a:t> </a:t>
            </a:r>
            <a:r>
              <a:rPr lang="es-MX" dirty="0" err="1"/>
              <a:t>learning</a:t>
            </a:r>
            <a:endParaRPr lang="es-MX" dirty="0"/>
          </a:p>
        </p:txBody>
      </p:sp>
      <p:sp>
        <p:nvSpPr>
          <p:cNvPr id="7" name="Content Placeholder 6">
            <a:extLst>
              <a:ext uri="{FF2B5EF4-FFF2-40B4-BE49-F238E27FC236}">
                <a16:creationId xmlns:a16="http://schemas.microsoft.com/office/drawing/2014/main" id="{1D2654E7-D219-0861-FEEF-3DBD7FAA8E7B}"/>
              </a:ext>
            </a:extLst>
          </p:cNvPr>
          <p:cNvSpPr>
            <a:spLocks noGrp="1"/>
          </p:cNvSpPr>
          <p:nvPr>
            <p:ph idx="1"/>
          </p:nvPr>
        </p:nvSpPr>
        <p:spPr>
          <a:xfrm>
            <a:off x="838200" y="1594624"/>
            <a:ext cx="10515600" cy="5263376"/>
          </a:xfrm>
        </p:spPr>
        <p:txBody>
          <a:bodyPr>
            <a:normAutofit fontScale="62500" lnSpcReduction="20000"/>
          </a:bodyPr>
          <a:lstStyle/>
          <a:p>
            <a:pPr marL="0" indent="0">
              <a:buNone/>
            </a:pPr>
            <a:r>
              <a:rPr lang="ja-JP" altLang="es-MX" sz="3200" dirty="0"/>
              <a:t>データセットに含まれる：</a:t>
            </a:r>
          </a:p>
          <a:p>
            <a:pPr lvl="1"/>
            <a:r>
              <a:rPr lang="ja-JP" altLang="es-MX" sz="3200" dirty="0"/>
              <a:t>エンティティ（</a:t>
            </a:r>
            <a:r>
              <a:rPr lang="es-MX" altLang="ja-JP" sz="3200" dirty="0" err="1"/>
              <a:t>Entities</a:t>
            </a:r>
            <a:r>
              <a:rPr lang="ja-JP" altLang="es-MX" sz="3200" dirty="0"/>
              <a:t>）</a:t>
            </a:r>
          </a:p>
          <a:p>
            <a:pPr lvl="1"/>
            <a:r>
              <a:rPr lang="ja-JP" altLang="es-MX" sz="3200" dirty="0"/>
              <a:t>フィールド（</a:t>
            </a:r>
            <a:r>
              <a:rPr lang="es-MX" altLang="ja-JP" sz="3200" dirty="0" err="1"/>
              <a:t>Properties</a:t>
            </a:r>
            <a:r>
              <a:rPr lang="ja-JP" altLang="es-MX" sz="3200" dirty="0"/>
              <a:t>）</a:t>
            </a:r>
          </a:p>
          <a:p>
            <a:pPr lvl="1"/>
            <a:r>
              <a:rPr lang="ja-JP" altLang="es-MX" sz="3200" dirty="0"/>
              <a:t>データ型（</a:t>
            </a:r>
            <a:r>
              <a:rPr lang="es-MX" altLang="ja-JP" sz="3200" dirty="0" err="1"/>
              <a:t>Types</a:t>
            </a:r>
            <a:r>
              <a:rPr lang="ja-JP" altLang="es-MX" sz="3200" dirty="0"/>
              <a:t>）</a:t>
            </a:r>
          </a:p>
          <a:p>
            <a:pPr lvl="1"/>
            <a:r>
              <a:rPr lang="ja-JP" altLang="es-MX" sz="3200" dirty="0"/>
              <a:t>階層構造</a:t>
            </a:r>
          </a:p>
          <a:p>
            <a:pPr marL="0" indent="0">
              <a:buNone/>
            </a:pPr>
            <a:r>
              <a:rPr lang="ja-JP" altLang="es-MX" sz="3200" dirty="0"/>
              <a:t>を </a:t>
            </a:r>
            <a:r>
              <a:rPr lang="es-MX" altLang="ja-JP" sz="3200" b="1" dirty="0"/>
              <a:t>JSON </a:t>
            </a:r>
            <a:r>
              <a:rPr lang="es-MX" altLang="ja-JP" sz="3200" b="1" dirty="0" err="1"/>
              <a:t>Schema</a:t>
            </a:r>
            <a:r>
              <a:rPr lang="es-MX" altLang="ja-JP" sz="3200" b="1" dirty="0"/>
              <a:t> </a:t>
            </a:r>
            <a:r>
              <a:rPr lang="ja-JP" altLang="es-MX" sz="3200" b="1" dirty="0"/>
              <a:t>として明示化</a:t>
            </a:r>
            <a:r>
              <a:rPr lang="ja-JP" altLang="es-MX" sz="3200" dirty="0"/>
              <a:t>すること</a:t>
            </a:r>
          </a:p>
          <a:p>
            <a:pPr marL="0" indent="0">
              <a:buNone/>
            </a:pPr>
            <a:endParaRPr lang="es-MX" altLang="ja-JP" sz="3200" dirty="0"/>
          </a:p>
          <a:p>
            <a:pPr marL="0" indent="0">
              <a:buNone/>
            </a:pPr>
            <a:r>
              <a:rPr lang="ja-JP" altLang="es-MX" sz="3200" b="1" dirty="0"/>
              <a:t>重要：</a:t>
            </a:r>
          </a:p>
          <a:p>
            <a:r>
              <a:rPr lang="ja-JP" altLang="es-MX" sz="3200" dirty="0"/>
              <a:t>実データは抽出しない</a:t>
            </a:r>
            <a:endParaRPr lang="es-MX" altLang="ja-JP" sz="3200" dirty="0"/>
          </a:p>
          <a:p>
            <a:r>
              <a:rPr lang="ja-JP" altLang="es-MX" sz="3200" dirty="0"/>
              <a:t>構造のみを学習する</a:t>
            </a:r>
          </a:p>
          <a:p>
            <a:pPr marL="0" indent="0">
              <a:buNone/>
            </a:pPr>
            <a:endParaRPr lang="es-MX" altLang="ja-JP" sz="3200" dirty="0"/>
          </a:p>
          <a:p>
            <a:pPr marL="0" indent="0">
              <a:buNone/>
            </a:pPr>
            <a:r>
              <a:rPr lang="es-MX" altLang="ja-JP" sz="3200" dirty="0" err="1"/>
              <a:t>FastRAG</a:t>
            </a:r>
            <a:r>
              <a:rPr lang="es-MX" altLang="ja-JP" sz="3200" dirty="0"/>
              <a:t> </a:t>
            </a:r>
            <a:r>
              <a:rPr lang="ja-JP" altLang="es-MX" sz="3200" dirty="0"/>
              <a:t>は </a:t>
            </a:r>
            <a:r>
              <a:rPr lang="es-MX" altLang="ja-JP" sz="3200" dirty="0"/>
              <a:t>LLM </a:t>
            </a:r>
            <a:r>
              <a:rPr lang="ja-JP" altLang="es-MX" sz="3200" dirty="0"/>
              <a:t>に次のようなタスクを与える：</a:t>
            </a:r>
          </a:p>
          <a:p>
            <a:pPr marL="0" indent="0">
              <a:buNone/>
            </a:pPr>
            <a:r>
              <a:rPr lang="es-MX" altLang="ja-JP" sz="3200" dirty="0"/>
              <a:t>	</a:t>
            </a:r>
            <a:r>
              <a:rPr lang="ja-JP" altLang="es-MX" sz="3200" dirty="0"/>
              <a:t>「すべてのデータを抽出せよ」じゃなくて</a:t>
            </a:r>
            <a:br>
              <a:rPr lang="ja-JP" altLang="es-MX" sz="3200" dirty="0"/>
            </a:br>
            <a:r>
              <a:rPr lang="es-MX" altLang="ja-JP" sz="3200" dirty="0"/>
              <a:t>	</a:t>
            </a:r>
            <a:r>
              <a:rPr lang="ja-JP" altLang="es-MX" sz="3200" dirty="0"/>
              <a:t>「このデータはどんな“形”をしているか？」</a:t>
            </a:r>
          </a:p>
          <a:p>
            <a:pPr marL="0" indent="0">
              <a:buNone/>
            </a:pPr>
            <a:endParaRPr lang="es-MX" altLang="ja-JP" sz="3200" dirty="0"/>
          </a:p>
          <a:p>
            <a:pPr marL="0" indent="0">
              <a:buNone/>
            </a:pPr>
            <a:r>
              <a:rPr lang="ja-JP" altLang="es-MX" sz="3200" dirty="0"/>
              <a:t>→ 構造学習（</a:t>
            </a:r>
            <a:r>
              <a:rPr lang="es-MX" altLang="ja-JP" sz="3200" dirty="0" err="1"/>
              <a:t>Structure</a:t>
            </a:r>
            <a:r>
              <a:rPr lang="es-MX" altLang="ja-JP" sz="3200" dirty="0"/>
              <a:t> </a:t>
            </a:r>
            <a:r>
              <a:rPr lang="es-MX" altLang="ja-JP" sz="3200" dirty="0" err="1"/>
              <a:t>Learning</a:t>
            </a:r>
            <a:r>
              <a:rPr lang="ja-JP" altLang="es-MX" sz="3200" dirty="0"/>
              <a:t>）</a:t>
            </a:r>
          </a:p>
          <a:p>
            <a:endParaRPr lang="es-MX" dirty="0"/>
          </a:p>
        </p:txBody>
      </p:sp>
      <p:pic>
        <p:nvPicPr>
          <p:cNvPr id="11" name="Picture 10">
            <a:extLst>
              <a:ext uri="{FF2B5EF4-FFF2-40B4-BE49-F238E27FC236}">
                <a16:creationId xmlns:a16="http://schemas.microsoft.com/office/drawing/2014/main" id="{0B049378-1C22-AF7F-2B3E-6621637386D3}"/>
              </a:ext>
            </a:extLst>
          </p:cNvPr>
          <p:cNvPicPr>
            <a:picLocks noChangeAspect="1"/>
          </p:cNvPicPr>
          <p:nvPr/>
        </p:nvPicPr>
        <p:blipFill>
          <a:blip r:embed="rId3"/>
          <a:stretch>
            <a:fillRect/>
          </a:stretch>
        </p:blipFill>
        <p:spPr>
          <a:xfrm>
            <a:off x="6263269" y="1563823"/>
            <a:ext cx="5840260" cy="3485027"/>
          </a:xfrm>
          <a:prstGeom prst="rect">
            <a:avLst/>
          </a:prstGeom>
        </p:spPr>
      </p:pic>
    </p:spTree>
    <p:extLst>
      <p:ext uri="{BB962C8B-B14F-4D97-AF65-F5344CB8AC3E}">
        <p14:creationId xmlns:p14="http://schemas.microsoft.com/office/powerpoint/2010/main" val="30074064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3F720-276C-9C13-A551-AC1D523599EE}"/>
              </a:ext>
            </a:extLst>
          </p:cNvPr>
          <p:cNvSpPr>
            <a:spLocks noGrp="1"/>
          </p:cNvSpPr>
          <p:nvPr>
            <p:ph type="title"/>
          </p:nvPr>
        </p:nvSpPr>
        <p:spPr/>
        <p:txBody>
          <a:bodyPr/>
          <a:lstStyle/>
          <a:p>
            <a:r>
              <a:rPr lang="es-MX" altLang="ja-JP" dirty="0"/>
              <a:t>Script </a:t>
            </a:r>
            <a:r>
              <a:rPr lang="es-MX" altLang="ja-JP" dirty="0" err="1"/>
              <a:t>Learning</a:t>
            </a:r>
            <a:endParaRPr lang="es-MX" dirty="0"/>
          </a:p>
        </p:txBody>
      </p:sp>
      <p:sp>
        <p:nvSpPr>
          <p:cNvPr id="3" name="Content Placeholder 2">
            <a:extLst>
              <a:ext uri="{FF2B5EF4-FFF2-40B4-BE49-F238E27FC236}">
                <a16:creationId xmlns:a16="http://schemas.microsoft.com/office/drawing/2014/main" id="{6F27A6EC-E914-1D99-63B6-7D69A213E633}"/>
              </a:ext>
            </a:extLst>
          </p:cNvPr>
          <p:cNvSpPr>
            <a:spLocks noGrp="1"/>
          </p:cNvSpPr>
          <p:nvPr>
            <p:ph idx="1"/>
          </p:nvPr>
        </p:nvSpPr>
        <p:spPr/>
        <p:txBody>
          <a:bodyPr/>
          <a:lstStyle/>
          <a:p>
            <a:r>
              <a:rPr lang="ja-JP" altLang="es-MX" sz="2000" dirty="0"/>
              <a:t>学習した </a:t>
            </a:r>
            <a:r>
              <a:rPr lang="es-MX" altLang="ja-JP" sz="2000" dirty="0"/>
              <a:t>JSON </a:t>
            </a:r>
            <a:r>
              <a:rPr lang="es-MX" altLang="ja-JP" sz="2000" dirty="0" err="1"/>
              <a:t>Schema</a:t>
            </a:r>
            <a:r>
              <a:rPr lang="es-MX" altLang="ja-JP" sz="2000" dirty="0"/>
              <a:t> </a:t>
            </a:r>
            <a:r>
              <a:rPr lang="ja-JP" altLang="es-MX" sz="2000" dirty="0"/>
              <a:t>に基づいて：</a:t>
            </a:r>
          </a:p>
          <a:p>
            <a:pPr lvl="1"/>
            <a:r>
              <a:rPr lang="ja-JP" altLang="es-MX" sz="2000" dirty="0"/>
              <a:t>実データを読み取る</a:t>
            </a:r>
          </a:p>
          <a:p>
            <a:pPr lvl="1"/>
            <a:r>
              <a:rPr lang="ja-JP" altLang="es-MX" sz="2000" dirty="0"/>
              <a:t>構造化 </a:t>
            </a:r>
            <a:r>
              <a:rPr lang="es-MX" altLang="ja-JP" sz="2000" dirty="0"/>
              <a:t>JSON </a:t>
            </a:r>
            <a:r>
              <a:rPr lang="ja-JP" altLang="es-MX" sz="2000" dirty="0"/>
              <a:t>に変換する</a:t>
            </a:r>
          </a:p>
          <a:p>
            <a:endParaRPr lang="es-MX" altLang="ja-JP" sz="2000" dirty="0"/>
          </a:p>
          <a:p>
            <a:r>
              <a:rPr lang="ja-JP" altLang="es-MX" sz="2000" dirty="0"/>
              <a:t>実行可能なコード（</a:t>
            </a:r>
            <a:r>
              <a:rPr lang="es-MX" altLang="ja-JP" sz="2000" dirty="0"/>
              <a:t>Python</a:t>
            </a:r>
            <a:r>
              <a:rPr lang="ja-JP" altLang="es-MX" sz="2000" dirty="0"/>
              <a:t>）を生成する</a:t>
            </a:r>
          </a:p>
          <a:p>
            <a:endParaRPr lang="es-MX" altLang="ja-JP" sz="2000" dirty="0"/>
          </a:p>
          <a:p>
            <a:pPr marL="0" indent="0">
              <a:buNone/>
            </a:pPr>
            <a:r>
              <a:rPr lang="ja-JP" altLang="es-MX" sz="2000" dirty="0"/>
              <a:t>比喩：</a:t>
            </a:r>
          </a:p>
          <a:p>
            <a:pPr lvl="1"/>
            <a:r>
              <a:rPr lang="es-MX" altLang="ja-JP" sz="2000" dirty="0" err="1"/>
              <a:t>Schema</a:t>
            </a:r>
            <a:r>
              <a:rPr lang="es-MX" altLang="ja-JP" sz="2000" dirty="0"/>
              <a:t> </a:t>
            </a:r>
            <a:r>
              <a:rPr lang="es-MX" altLang="ja-JP" sz="2000" dirty="0" err="1"/>
              <a:t>Learning</a:t>
            </a:r>
            <a:r>
              <a:rPr lang="es-MX" altLang="ja-JP" sz="2000" dirty="0"/>
              <a:t> = </a:t>
            </a:r>
            <a:r>
              <a:rPr lang="ja-JP" altLang="es-MX" sz="2000" dirty="0"/>
              <a:t>型（モールド）</a:t>
            </a:r>
          </a:p>
          <a:p>
            <a:pPr lvl="1"/>
            <a:r>
              <a:rPr lang="es-MX" altLang="ja-JP" sz="2000" dirty="0"/>
              <a:t>Script </a:t>
            </a:r>
            <a:r>
              <a:rPr lang="es-MX" altLang="ja-JP" sz="2000" dirty="0" err="1"/>
              <a:t>Learning</a:t>
            </a:r>
            <a:r>
              <a:rPr lang="es-MX" altLang="ja-JP" sz="2000" dirty="0"/>
              <a:t> = </a:t>
            </a:r>
            <a:r>
              <a:rPr lang="ja-JP" altLang="es-MX" sz="2000" dirty="0"/>
              <a:t>型に流し込む機械</a:t>
            </a:r>
          </a:p>
          <a:p>
            <a:endParaRPr lang="es-MX" dirty="0"/>
          </a:p>
        </p:txBody>
      </p:sp>
      <p:pic>
        <p:nvPicPr>
          <p:cNvPr id="5" name="Picture 4">
            <a:extLst>
              <a:ext uri="{FF2B5EF4-FFF2-40B4-BE49-F238E27FC236}">
                <a16:creationId xmlns:a16="http://schemas.microsoft.com/office/drawing/2014/main" id="{735AD47A-26AA-8B06-B81E-183261698550}"/>
              </a:ext>
            </a:extLst>
          </p:cNvPr>
          <p:cNvPicPr>
            <a:picLocks noChangeAspect="1"/>
          </p:cNvPicPr>
          <p:nvPr/>
        </p:nvPicPr>
        <p:blipFill>
          <a:blip r:embed="rId3"/>
          <a:stretch>
            <a:fillRect/>
          </a:stretch>
        </p:blipFill>
        <p:spPr>
          <a:xfrm>
            <a:off x="6217756" y="1690688"/>
            <a:ext cx="5795910" cy="3611944"/>
          </a:xfrm>
          <a:prstGeom prst="rect">
            <a:avLst/>
          </a:prstGeom>
        </p:spPr>
      </p:pic>
    </p:spTree>
    <p:extLst>
      <p:ext uri="{BB962C8B-B14F-4D97-AF65-F5344CB8AC3E}">
        <p14:creationId xmlns:p14="http://schemas.microsoft.com/office/powerpoint/2010/main" val="2889751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JAP1">
      <a:majorFont>
        <a:latin typeface="Aptos Display"/>
        <a:ea typeface="Noto Sans JP"/>
        <a:cs typeface=""/>
      </a:majorFont>
      <a:minorFont>
        <a:latin typeface="Aptos"/>
        <a:ea typeface="Noto Sans JP"/>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841</TotalTime>
  <Words>6203</Words>
  <Application>Microsoft Office PowerPoint</Application>
  <PresentationFormat>Widescreen</PresentationFormat>
  <Paragraphs>646</Paragraphs>
  <Slides>39</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 Unicode MS</vt:lpstr>
      <vt:lpstr>Aptos</vt:lpstr>
      <vt:lpstr>Aptos Display</vt:lpstr>
      <vt:lpstr>Arial</vt:lpstr>
      <vt:lpstr>Cambria Math</vt:lpstr>
      <vt:lpstr>Courier New</vt:lpstr>
      <vt:lpstr>Office Theme</vt:lpstr>
      <vt:lpstr>FastRAG: Retrieval Augmented Generation for Semi-structured Data Algorithm explanation </vt:lpstr>
      <vt:lpstr>Objective</vt:lpstr>
      <vt:lpstr>１．Preprocessing</vt:lpstr>
      <vt:lpstr>Chunking</vt:lpstr>
      <vt:lpstr>Keyword Extraction</vt:lpstr>
      <vt:lpstr>Step 1 — Tokenization</vt:lpstr>
      <vt:lpstr>Step 2 — TF-IDF Matrix</vt:lpstr>
      <vt:lpstr>1：キーワードによるトークン化</vt:lpstr>
      <vt:lpstr>2：Term Frequency（TF）</vt:lpstr>
      <vt:lpstr>3：Document Frequency（DF）</vt:lpstr>
      <vt:lpstr>4：Inverse Document Frequency（IDF）</vt:lpstr>
      <vt:lpstr>５：TF × IDF（TF-IDF）</vt:lpstr>
      <vt:lpstr>６：ベクトルの正規化（Normalization）</vt:lpstr>
      <vt:lpstr>Step 3 — Clustering Lines with TF-IDF</vt:lpstr>
      <vt:lpstr>１：クラスタ数 Kの決定</vt:lpstr>
      <vt:lpstr>２：セントロイドの初期化</vt:lpstr>
      <vt:lpstr>3：更新ステップ</vt:lpstr>
      <vt:lpstr>4：K-means の出力</vt:lpstr>
      <vt:lpstr>Step 4 — Shannon Entropy </vt:lpstr>
      <vt:lpstr>情報量からエントロピーへ</vt:lpstr>
      <vt:lpstr>Low Entropy vs High Entropy</vt:lpstr>
      <vt:lpstr>２．Algorithm</vt:lpstr>
      <vt:lpstr>Objective of the algorithm </vt:lpstr>
      <vt:lpstr>PowerPoint Presentation</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Greedy Selection Loop</vt:lpstr>
      <vt:lpstr>3. Script / Schema Learning</vt:lpstr>
      <vt:lpstr>Schema learning</vt:lpstr>
      <vt:lpstr>Script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Lopez Chapa</dc:creator>
  <cp:lastModifiedBy>Jose Lopez Chapa</cp:lastModifiedBy>
  <cp:revision>8</cp:revision>
  <dcterms:created xsi:type="dcterms:W3CDTF">2026-02-02T21:13:54Z</dcterms:created>
  <dcterms:modified xsi:type="dcterms:W3CDTF">2026-02-10T03:25:10Z</dcterms:modified>
</cp:coreProperties>
</file>