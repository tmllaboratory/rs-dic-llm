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74" r:id="rId3"/>
    <p:sldId id="275" r:id="rId4"/>
    <p:sldId id="276" r:id="rId5"/>
    <p:sldId id="277" r:id="rId6"/>
    <p:sldId id="278" r:id="rId7"/>
    <p:sldId id="280" r:id="rId8"/>
    <p:sldId id="281" r:id="rId9"/>
    <p:sldId id="282" r:id="rId10"/>
    <p:sldId id="284" r:id="rId11"/>
    <p:sldId id="285" r:id="rId12"/>
    <p:sldId id="286"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09" autoAdjust="0"/>
  </p:normalViewPr>
  <p:slideViewPr>
    <p:cSldViewPr snapToGrid="0">
      <p:cViewPr>
        <p:scale>
          <a:sx n="100" d="100"/>
          <a:sy n="100" d="100"/>
        </p:scale>
        <p:origin x="876" y="52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C0E4B-5AA1-48EA-9EF0-11793484B15A}" type="datetimeFigureOut">
              <a:rPr lang="es-MX" smtClean="0"/>
              <a:t>19/05/2026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5C6FA-8E8B-4196-B10B-8CD3F35FE8FD}" type="slidenum">
              <a:rPr lang="es-MX" smtClean="0"/>
              <a:t>‹#›</a:t>
            </a:fld>
            <a:endParaRPr lang="es-MX"/>
          </a:p>
        </p:txBody>
      </p:sp>
    </p:spTree>
    <p:extLst>
      <p:ext uri="{BB962C8B-B14F-4D97-AF65-F5344CB8AC3E}">
        <p14:creationId xmlns:p14="http://schemas.microsoft.com/office/powerpoint/2010/main" val="295148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g3d1eafd1ad1_0_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 name="Google Shape;13;g3d1eafd1ad1_0_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g3d1eafd1ad1_0_2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3E66-3299-BDAB-9EB6-55CD0DEE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776A1-06E9-BDB6-AAF9-A299EEF66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E396F-E7F1-1883-164B-B8B45FC86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5AFD7F-9626-9FB4-0B69-26E4F50ABE6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91026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F5FD-6ABB-808C-B842-E66235ED1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E79FC-90B4-1112-90BE-36A9F44CF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D34A5-5D63-7B3F-EB21-5083A9471C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0660E-6275-A152-3BE4-8249E795EA6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41647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48C65-82F0-6DCB-0695-3340AD72A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924F3-4CD9-C27C-9CED-B0F38CB049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C31BF-9A0A-ED0F-9E0C-03845A9CF5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178A1A-E971-31C2-1B5A-36DCDAA65E8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3934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78575-AF7D-B399-67A9-84E2220EC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CC5E5-E8F5-3E32-235A-B389AC5F4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C7D98A-857D-8E15-D735-B4DA65EAF2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AA6A8C-D4B6-576F-0D9E-ECF3BA15B5A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05634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83DDD-49E6-4804-4361-992BE77EB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62342-B4B3-6C46-323C-A1A7BB4998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482D6-EFB7-9AD3-584D-032644DF84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3BB0A4-BC9E-9C8C-365D-3D886901446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64027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a:extLst>
            <a:ext uri="{FF2B5EF4-FFF2-40B4-BE49-F238E27FC236}">
              <a16:creationId xmlns:a16="http://schemas.microsoft.com/office/drawing/2014/main" id="{77C02B2F-F431-7A9A-94DC-D0B6B4101B0A}"/>
            </a:ext>
          </a:extLst>
        </p:cNvPr>
        <p:cNvGrpSpPr/>
        <p:nvPr/>
      </p:nvGrpSpPr>
      <p:grpSpPr>
        <a:xfrm>
          <a:off x="0" y="0"/>
          <a:ext cx="0" cy="0"/>
          <a:chOff x="0" y="0"/>
          <a:chExt cx="0" cy="0"/>
        </a:xfrm>
      </p:grpSpPr>
      <p:sp>
        <p:nvSpPr>
          <p:cNvPr id="12" name="Google Shape;12;g3d1eafd1ad1_0_214:notes">
            <a:extLst>
              <a:ext uri="{FF2B5EF4-FFF2-40B4-BE49-F238E27FC236}">
                <a16:creationId xmlns:a16="http://schemas.microsoft.com/office/drawing/2014/main" id="{ECA70FC7-034A-5475-6C1A-CEB29EFD87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 name="Google Shape;13;g3d1eafd1ad1_0_214:notes">
            <a:extLst>
              <a:ext uri="{FF2B5EF4-FFF2-40B4-BE49-F238E27FC236}">
                <a16:creationId xmlns:a16="http://schemas.microsoft.com/office/drawing/2014/main" id="{32FC6DE0-12B7-CDFB-5E32-23630032031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g3d1eafd1ad1_0_214:notes">
            <a:extLst>
              <a:ext uri="{FF2B5EF4-FFF2-40B4-BE49-F238E27FC236}">
                <a16:creationId xmlns:a16="http://schemas.microsoft.com/office/drawing/2014/main" id="{FD914B56-1567-4329-C5BC-7113912D382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945005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73981-118B-649C-C8C9-0FE1B6D68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478E5-021A-6C20-C648-AFF35B1A1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B5E9D-BC50-DF11-51B3-2524DFD8D3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46F64-C7C4-3A13-BD43-ADDC1B8DB19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96446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9E8BF-9185-E8CA-0C0D-E052EF74C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E425F-8C22-A2E0-2983-52919618E3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E4464-7E30-AC18-2DBE-DA67A6E9D0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59B03-8B69-E9E9-8EA1-E35C1BAF812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39453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2CBFA-055F-AB86-C0CC-7BFC90CBB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B88A0-2F50-978C-68D7-E7DB91A23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3E296-B388-84A1-09A8-9F3C5E40FA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751FF7-01C9-2EF4-BE3A-153D2E51185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09572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9B69E-943A-2BB9-12DF-42AD3AE77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A80EE-CA09-319A-5E62-9706840269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6BAE4-0599-1D2E-55F0-4F44360E5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79C61E-4D68-4CF0-F23F-C02D51C5BE1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72739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E0868-0B67-B139-5CF3-9587DB7A9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D633C-A940-A5A8-0DC0-EF92A358C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8B1BA-9689-AF37-2571-BA31455091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3C2E79-6B4C-C340-672C-B33877AD433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56726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FCAB-8D23-4C9A-EB44-9102783C2F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075EAC51-2A5D-465B-C81C-68F7890ACA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B3B8020C-9374-1C76-0558-70E67926EEA5}"/>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5" name="Footer Placeholder 4">
            <a:extLst>
              <a:ext uri="{FF2B5EF4-FFF2-40B4-BE49-F238E27FC236}">
                <a16:creationId xmlns:a16="http://schemas.microsoft.com/office/drawing/2014/main" id="{5EC73E40-B7FD-8A01-FB7D-3F503B00D2BD}"/>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C037F7BC-EBB1-7171-B398-E6A49343C04A}"/>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1283621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C4AF-2E4A-AAFD-099D-C4C76B5E2A6F}"/>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926DD8A5-2FB6-31C6-1DE8-4732BD9F25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35B3D84B-F41B-EE29-4E64-2B892DAD5772}"/>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5" name="Footer Placeholder 4">
            <a:extLst>
              <a:ext uri="{FF2B5EF4-FFF2-40B4-BE49-F238E27FC236}">
                <a16:creationId xmlns:a16="http://schemas.microsoft.com/office/drawing/2014/main" id="{C950AE4A-C4E1-CE10-0E02-C37DC0883D97}"/>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62034C33-F503-689B-C559-6DEB8B545BEA}"/>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3917639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29AB-9DEA-A273-E02C-A0EBDD9F44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9A4CDD09-1807-73DF-4A7D-A81C56AD1D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5FBB11-5923-1212-CE6F-D454BE7E7651}"/>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5" name="Footer Placeholder 4">
            <a:extLst>
              <a:ext uri="{FF2B5EF4-FFF2-40B4-BE49-F238E27FC236}">
                <a16:creationId xmlns:a16="http://schemas.microsoft.com/office/drawing/2014/main" id="{95F112C1-E90F-4129-A56E-97825B2A671D}"/>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2B0E0D48-97A2-BECE-7986-916FB57D987F}"/>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1779364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F3B5-D8C5-A26D-B652-802B75157324}"/>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2A55D10E-12CC-C93A-58CA-D64CEF617A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DBB2CB20-9E40-AE00-F30C-7D008475B5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2ED6A760-258E-20AB-50C1-AFEB56899050}"/>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6" name="Footer Placeholder 5">
            <a:extLst>
              <a:ext uri="{FF2B5EF4-FFF2-40B4-BE49-F238E27FC236}">
                <a16:creationId xmlns:a16="http://schemas.microsoft.com/office/drawing/2014/main" id="{C18DD001-437F-0E6D-2D84-BA7FEC167981}"/>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74ADAD27-95FA-5D7B-10F3-CCB0285766DD}"/>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3309813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76087-2C1E-11C4-4474-BC3B5C0E4045}"/>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0308B3A4-12D4-A9C1-DC41-7D3FE70E83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D04169-B124-4A33-4320-25FBCCE925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6DF32165-EF7F-0FA5-245C-143D92483C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5E8283-F88B-61FC-8CD9-B17B0B67E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9234C74C-9C62-E42D-4C2A-7E6688C253E3}"/>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8" name="Footer Placeholder 7">
            <a:extLst>
              <a:ext uri="{FF2B5EF4-FFF2-40B4-BE49-F238E27FC236}">
                <a16:creationId xmlns:a16="http://schemas.microsoft.com/office/drawing/2014/main" id="{08B41017-7E59-8B0E-2BFB-F65525803989}"/>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3C272615-919C-A52F-18D5-8646163AE722}"/>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182999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D202-B5A2-1985-C992-FFDC7D0380F2}"/>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75A0A089-741D-B5E3-A33C-83C55CA86264}"/>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4" name="Footer Placeholder 3">
            <a:extLst>
              <a:ext uri="{FF2B5EF4-FFF2-40B4-BE49-F238E27FC236}">
                <a16:creationId xmlns:a16="http://schemas.microsoft.com/office/drawing/2014/main" id="{6FCD43FA-2EAF-82EB-3334-EA626764EFCF}"/>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74C4C76A-9CF7-496D-6F52-C051F6CF76A3}"/>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2558693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6FF7AD-D891-3977-5094-FFC1688AFBDC}"/>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3" name="Footer Placeholder 2">
            <a:extLst>
              <a:ext uri="{FF2B5EF4-FFF2-40B4-BE49-F238E27FC236}">
                <a16:creationId xmlns:a16="http://schemas.microsoft.com/office/drawing/2014/main" id="{0AD8BCA1-8D49-F264-C877-E2DCE862F7D2}"/>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B0C4F4D2-826E-5541-6697-F867812772E4}"/>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3551037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62F31-47E6-638F-7CE1-CE23EB1E8F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A6917A39-9CCA-614E-BC07-7DF11E35EE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F6BC16DB-7474-D955-8AE5-36F3788FF6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03CFE-0175-C1E0-6F01-1B2FCDBAACC7}"/>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6" name="Footer Placeholder 5">
            <a:extLst>
              <a:ext uri="{FF2B5EF4-FFF2-40B4-BE49-F238E27FC236}">
                <a16:creationId xmlns:a16="http://schemas.microsoft.com/office/drawing/2014/main" id="{7DBBFCEC-1358-9D82-8AE9-6571CB083EEE}"/>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D501C19F-F03C-C5ED-79FB-48A047700809}"/>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244493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9DA1E-D2F3-8819-1A51-793107C01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216F4276-352B-0333-14E5-2E62670C8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768CE9D9-D2E9-BBF3-E204-CBBD3BFAB9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46418-5BDF-C123-8827-6E409F01C6B3}"/>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6" name="Footer Placeholder 5">
            <a:extLst>
              <a:ext uri="{FF2B5EF4-FFF2-40B4-BE49-F238E27FC236}">
                <a16:creationId xmlns:a16="http://schemas.microsoft.com/office/drawing/2014/main" id="{C4C7239F-F313-E920-A5E3-264522AAFDBF}"/>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F2AA49EA-B620-DE8D-C3B6-36D10260FE78}"/>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256327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9ACBC-E10E-0BFB-8C31-C7BD8DCC556F}"/>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809D2F63-1D50-7105-5002-90C2E1DD5C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3C1BF73C-49DC-94BC-11A7-9EDFBA1CB485}"/>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5" name="Footer Placeholder 4">
            <a:extLst>
              <a:ext uri="{FF2B5EF4-FFF2-40B4-BE49-F238E27FC236}">
                <a16:creationId xmlns:a16="http://schemas.microsoft.com/office/drawing/2014/main" id="{3081649B-D735-A1EE-1A75-4C1E4629A89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D1CC1086-9803-AC41-F893-5F8C40E4787E}"/>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1641702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0E49BA-4606-726A-115B-C686771A85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A2BD967C-95F0-AB4E-752F-E29B3F9B5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0816FEBF-FA40-3A7F-D6B9-B2948FDC1365}"/>
              </a:ext>
            </a:extLst>
          </p:cNvPr>
          <p:cNvSpPr>
            <a:spLocks noGrp="1"/>
          </p:cNvSpPr>
          <p:nvPr>
            <p:ph type="dt" sz="half" idx="10"/>
          </p:nvPr>
        </p:nvSpPr>
        <p:spPr/>
        <p:txBody>
          <a:bodyPr/>
          <a:lstStyle/>
          <a:p>
            <a:fld id="{9074B464-8266-4842-84D1-08C93C8422F1}" type="datetimeFigureOut">
              <a:rPr lang="es-MX" smtClean="0"/>
              <a:t>19/05/2026</a:t>
            </a:fld>
            <a:endParaRPr lang="es-MX"/>
          </a:p>
        </p:txBody>
      </p:sp>
      <p:sp>
        <p:nvSpPr>
          <p:cNvPr id="5" name="Footer Placeholder 4">
            <a:extLst>
              <a:ext uri="{FF2B5EF4-FFF2-40B4-BE49-F238E27FC236}">
                <a16:creationId xmlns:a16="http://schemas.microsoft.com/office/drawing/2014/main" id="{BB786BB3-1722-CE9D-ED6C-B2AA85E79E8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7B2218EF-CD80-231A-10D6-9FC49EE4763F}"/>
              </a:ext>
            </a:extLst>
          </p:cNvPr>
          <p:cNvSpPr>
            <a:spLocks noGrp="1"/>
          </p:cNvSpPr>
          <p:nvPr>
            <p:ph type="sldNum" sz="quarter" idx="12"/>
          </p:nvPr>
        </p:nvSpPr>
        <p:spPr/>
        <p:txBody>
          <a:bodyPr/>
          <a:lstStyle/>
          <a:p>
            <a:fld id="{156F6D53-7BB4-4E3D-92EE-A2EF623588B2}" type="slidenum">
              <a:rPr lang="es-MX" smtClean="0"/>
              <a:t>‹#›</a:t>
            </a:fld>
            <a:endParaRPr lang="es-MX"/>
          </a:p>
        </p:txBody>
      </p:sp>
    </p:spTree>
    <p:extLst>
      <p:ext uri="{BB962C8B-B14F-4D97-AF65-F5344CB8AC3E}">
        <p14:creationId xmlns:p14="http://schemas.microsoft.com/office/powerpoint/2010/main" val="4235627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142115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BEE2B6-B7FC-B58C-0A92-A0DE212EB5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B0A9EC7D-870E-97B5-A8FC-DB780773EF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07167F7-5A22-CF4B-D6C4-59A8FA008E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74B464-8266-4842-84D1-08C93C8422F1}" type="datetimeFigureOut">
              <a:rPr lang="es-MX" smtClean="0"/>
              <a:t>19/05/2026</a:t>
            </a:fld>
            <a:endParaRPr lang="es-MX"/>
          </a:p>
        </p:txBody>
      </p:sp>
      <p:sp>
        <p:nvSpPr>
          <p:cNvPr id="5" name="Footer Placeholder 4">
            <a:extLst>
              <a:ext uri="{FF2B5EF4-FFF2-40B4-BE49-F238E27FC236}">
                <a16:creationId xmlns:a16="http://schemas.microsoft.com/office/drawing/2014/main" id="{EED723BD-5CC3-9100-2E2A-7D3E006BE3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C3AE6FBB-DB49-88EA-40B3-A5CA289E06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6F6D53-7BB4-4E3D-92EE-A2EF623588B2}" type="slidenum">
              <a:rPr lang="es-MX" smtClean="0"/>
              <a:t>‹#›</a:t>
            </a:fld>
            <a:endParaRPr lang="es-MX"/>
          </a:p>
        </p:txBody>
      </p:sp>
    </p:spTree>
    <p:extLst>
      <p:ext uri="{BB962C8B-B14F-4D97-AF65-F5344CB8AC3E}">
        <p14:creationId xmlns:p14="http://schemas.microsoft.com/office/powerpoint/2010/main" val="2249918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g3d1eafd1ad1_0_214"/>
          <p:cNvSpPr txBox="1"/>
          <p:nvPr/>
        </p:nvSpPr>
        <p:spPr>
          <a:xfrm>
            <a:off x="770200" y="1990484"/>
            <a:ext cx="10275200" cy="861734"/>
          </a:xfrm>
          <a:prstGeom prst="rect">
            <a:avLst/>
          </a:prstGeom>
          <a:noFill/>
          <a:ln>
            <a:noFill/>
          </a:ln>
        </p:spPr>
        <p:txBody>
          <a:bodyPr spcFirstLastPara="1" wrap="square" lIns="121900" tIns="121900" rIns="121900" bIns="121900" anchor="t" anchorCtr="0">
            <a:spAutoFit/>
          </a:bodyPr>
          <a:lstStyle/>
          <a:p>
            <a:r>
              <a:rPr lang="es-MX" sz="4000" i="1" dirty="0" err="1"/>
              <a:t>Semantics</a:t>
            </a:r>
            <a:r>
              <a:rPr lang="es-MX" sz="4000" i="1" dirty="0"/>
              <a:t>: Primes and </a:t>
            </a:r>
            <a:r>
              <a:rPr lang="es-MX" sz="4000" i="1" dirty="0" err="1"/>
              <a:t>Universals</a:t>
            </a:r>
            <a:endParaRPr sz="900" dirty="0"/>
          </a:p>
        </p:txBody>
      </p:sp>
      <p:sp>
        <p:nvSpPr>
          <p:cNvPr id="17" name="Google Shape;17;g3d1eafd1ad1_0_214"/>
          <p:cNvSpPr txBox="1"/>
          <p:nvPr/>
        </p:nvSpPr>
        <p:spPr>
          <a:xfrm>
            <a:off x="795600" y="4746823"/>
            <a:ext cx="10600800" cy="1723508"/>
          </a:xfrm>
          <a:prstGeom prst="rect">
            <a:avLst/>
          </a:prstGeom>
          <a:noFill/>
          <a:ln>
            <a:noFill/>
          </a:ln>
        </p:spPr>
        <p:txBody>
          <a:bodyPr spcFirstLastPara="1" wrap="square" lIns="121900" tIns="121900" rIns="121900" bIns="121900" anchor="t" anchorCtr="0">
            <a:spAutoFit/>
          </a:bodyPr>
          <a:lstStyle/>
          <a:p>
            <a:r>
              <a:rPr lang="en-US" sz="2400" dirty="0" err="1"/>
              <a:t>情報経営システム工学</a:t>
            </a:r>
            <a:r>
              <a:rPr lang="en-US" sz="2400" dirty="0"/>
              <a:t>　4年</a:t>
            </a:r>
            <a:endParaRPr sz="2400" dirty="0"/>
          </a:p>
          <a:p>
            <a:r>
              <a:rPr lang="en-US" sz="2400" dirty="0" err="1"/>
              <a:t>ロペスチャパホセ</a:t>
            </a:r>
            <a:endParaRPr sz="2400" dirty="0"/>
          </a:p>
          <a:p>
            <a:endParaRPr sz="2400" dirty="0"/>
          </a:p>
          <a:p>
            <a:pPr algn="r"/>
            <a:r>
              <a:rPr lang="ja-JP" altLang="es-MX" sz="2400" dirty="0">
                <a:latin typeface="+mj-lt"/>
              </a:rPr>
              <a:t>５</a:t>
            </a:r>
            <a:r>
              <a:rPr lang="en-US" sz="2400" dirty="0">
                <a:latin typeface="+mj-lt"/>
              </a:rPr>
              <a:t>月</a:t>
            </a:r>
            <a:r>
              <a:rPr lang="ja-JP" altLang="es-MX" sz="2400" dirty="0">
                <a:latin typeface="+mj-lt"/>
              </a:rPr>
              <a:t>１９</a:t>
            </a:r>
            <a:r>
              <a:rPr lang="en-US" sz="2400" dirty="0">
                <a:latin typeface="+mj-lt"/>
              </a:rPr>
              <a:t>日</a:t>
            </a:r>
            <a:r>
              <a:rPr lang="ja-JP" altLang="es-MX" sz="2400" dirty="0">
                <a:latin typeface="+mj-lt"/>
              </a:rPr>
              <a:t>２０２６</a:t>
            </a:r>
            <a:r>
              <a:rPr lang="en-US" sz="2400" dirty="0">
                <a:latin typeface="+mj-lt"/>
              </a:rPr>
              <a:t>年</a:t>
            </a:r>
            <a:endParaRPr sz="2400" dirty="0">
              <a:latin typeface="+mj-lt"/>
            </a:endParaRPr>
          </a:p>
        </p:txBody>
      </p:sp>
      <p:sp>
        <p:nvSpPr>
          <p:cNvPr id="3" name="TextBox 2">
            <a:extLst>
              <a:ext uri="{FF2B5EF4-FFF2-40B4-BE49-F238E27FC236}">
                <a16:creationId xmlns:a16="http://schemas.microsoft.com/office/drawing/2014/main" id="{824B59D6-D786-22B6-B8D1-4E6220468F09}"/>
              </a:ext>
            </a:extLst>
          </p:cNvPr>
          <p:cNvSpPr txBox="1"/>
          <p:nvPr/>
        </p:nvSpPr>
        <p:spPr>
          <a:xfrm>
            <a:off x="826462" y="2693289"/>
            <a:ext cx="6094674" cy="369332"/>
          </a:xfrm>
          <a:prstGeom prst="rect">
            <a:avLst/>
          </a:prstGeom>
          <a:noFill/>
        </p:spPr>
        <p:txBody>
          <a:bodyPr wrap="square">
            <a:spAutoFit/>
          </a:bodyPr>
          <a:lstStyle/>
          <a:p>
            <a:r>
              <a:rPr lang="es-MX" dirty="0"/>
              <a:t>Wierzbicka (1996) </a:t>
            </a:r>
          </a:p>
        </p:txBody>
      </p:sp>
      <p:sp>
        <p:nvSpPr>
          <p:cNvPr id="2" name="Google Shape;16;g3d1eafd1ad1_0_214">
            <a:extLst>
              <a:ext uri="{FF2B5EF4-FFF2-40B4-BE49-F238E27FC236}">
                <a16:creationId xmlns:a16="http://schemas.microsoft.com/office/drawing/2014/main" id="{A2628CC0-C543-68CA-C3D6-D961B4C9ADB9}"/>
              </a:ext>
            </a:extLst>
          </p:cNvPr>
          <p:cNvSpPr txBox="1"/>
          <p:nvPr/>
        </p:nvSpPr>
        <p:spPr>
          <a:xfrm>
            <a:off x="798377" y="2979398"/>
            <a:ext cx="10275200" cy="861734"/>
          </a:xfrm>
          <a:prstGeom prst="rect">
            <a:avLst/>
          </a:prstGeom>
          <a:noFill/>
          <a:ln>
            <a:noFill/>
          </a:ln>
        </p:spPr>
        <p:txBody>
          <a:bodyPr spcFirstLastPara="1" wrap="square" lIns="121900" tIns="121900" rIns="121900" bIns="121900" anchor="t" anchorCtr="0">
            <a:spAutoFit/>
          </a:bodyPr>
          <a:lstStyle/>
          <a:p>
            <a:r>
              <a:rPr lang="en-US" sz="4000" i="1" dirty="0"/>
              <a:t>Semantic Primitives, fifty years later</a:t>
            </a:r>
            <a:endParaRPr sz="900" i="1" dirty="0"/>
          </a:p>
        </p:txBody>
      </p:sp>
      <p:sp>
        <p:nvSpPr>
          <p:cNvPr id="4" name="TextBox 3">
            <a:extLst>
              <a:ext uri="{FF2B5EF4-FFF2-40B4-BE49-F238E27FC236}">
                <a16:creationId xmlns:a16="http://schemas.microsoft.com/office/drawing/2014/main" id="{B0F86547-3143-1B3F-4B05-62363DB6FD2F}"/>
              </a:ext>
            </a:extLst>
          </p:cNvPr>
          <p:cNvSpPr txBox="1"/>
          <p:nvPr/>
        </p:nvSpPr>
        <p:spPr>
          <a:xfrm>
            <a:off x="854639" y="3682203"/>
            <a:ext cx="6094674" cy="369332"/>
          </a:xfrm>
          <a:prstGeom prst="rect">
            <a:avLst/>
          </a:prstGeom>
          <a:noFill/>
        </p:spPr>
        <p:txBody>
          <a:bodyPr wrap="square">
            <a:spAutoFit/>
          </a:bodyPr>
          <a:lstStyle/>
          <a:p>
            <a:r>
              <a:rPr lang="es-MX" dirty="0"/>
              <a:t>Wierzbicka (2021)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D596-9EC7-AAA9-15B1-7F1B04195F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B79AC9-7D69-4686-6A2E-CB533F48D0F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C9741DCF-27E1-D570-4F28-59F3621A2EA3}"/>
              </a:ext>
            </a:extLst>
          </p:cNvPr>
          <p:cNvSpPr/>
          <p:nvPr/>
        </p:nvSpPr>
        <p:spPr>
          <a:xfrm>
            <a:off x="365760" y="0"/>
            <a:ext cx="11460480" cy="877824"/>
          </a:xfrm>
          <a:prstGeom prst="rect">
            <a:avLst/>
          </a:prstGeom>
          <a:noFill/>
          <a:ln/>
        </p:spPr>
        <p:txBody>
          <a:bodyPr wrap="square" rtlCol="0" anchor="ctr"/>
          <a:lstStyle/>
          <a:p>
            <a:r>
              <a:rPr lang="es-MX" altLang="ja-JP" sz="2933" b="1" dirty="0" err="1">
                <a:solidFill>
                  <a:srgbClr val="FFFFFF"/>
                </a:solidFill>
                <a:latin typeface="Georgia" pitchFamily="34" charset="0"/>
                <a:ea typeface="Georgia" pitchFamily="34" charset="-122"/>
                <a:cs typeface="Georgia" pitchFamily="34" charset="-120"/>
              </a:rPr>
              <a:t>Background</a:t>
            </a:r>
            <a:endParaRPr lang="en-US" sz="2933" dirty="0"/>
          </a:p>
        </p:txBody>
      </p:sp>
      <p:sp>
        <p:nvSpPr>
          <p:cNvPr id="8" name="TextBox 7">
            <a:extLst>
              <a:ext uri="{FF2B5EF4-FFF2-40B4-BE49-F238E27FC236}">
                <a16:creationId xmlns:a16="http://schemas.microsoft.com/office/drawing/2014/main" id="{0F2AB828-5ED7-486F-C25E-BA9F7F7E2335}"/>
              </a:ext>
            </a:extLst>
          </p:cNvPr>
          <p:cNvSpPr txBox="1"/>
          <p:nvPr/>
        </p:nvSpPr>
        <p:spPr>
          <a:xfrm>
            <a:off x="365759" y="1127717"/>
            <a:ext cx="11292841" cy="5632311"/>
          </a:xfrm>
          <a:prstGeom prst="rect">
            <a:avLst/>
          </a:prstGeom>
          <a:noFill/>
        </p:spPr>
        <p:txBody>
          <a:bodyPr wrap="square">
            <a:spAutoFit/>
          </a:bodyPr>
          <a:lstStyle/>
          <a:p>
            <a:pPr algn="just"/>
            <a:r>
              <a:rPr lang="en-US" dirty="0"/>
              <a:t>For communication across languages and cultures to be meaningful, there has to be some shared ground. When you translate a word from one language to another, you are assuming that the concept the word expresses exists in both languages — that the target language has a way to capture the same meaning. But this assumption breaks down constantly.</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They reflect genuine differences in how languages organize meaning. Using English concepts to describe other languages smuggles cultural assumptions into analysis and presents them as universal when they are not.</a:t>
            </a:r>
          </a:p>
          <a:p>
            <a:pPr algn="just"/>
            <a:endParaRPr lang="en-US" dirty="0"/>
          </a:p>
          <a:p>
            <a:pPr algn="just"/>
            <a:r>
              <a:rPr lang="en-US" dirty="0"/>
              <a:t>The question is then: </a:t>
            </a:r>
            <a:r>
              <a:rPr lang="en-US" dirty="0">
                <a:highlight>
                  <a:srgbClr val="FFFF00"/>
                </a:highlight>
              </a:rPr>
              <a:t>is there any conceptual common ground at all? </a:t>
            </a:r>
            <a:r>
              <a:rPr lang="en-US" dirty="0"/>
              <a:t>Are there concepts that are not English, not European, not culturally specific — but human? Concepts that every language on earth already has a word for, not because of borrowing or cultural contact, but because they reflect something fundamental about human experience and cognition?</a:t>
            </a:r>
          </a:p>
          <a:p>
            <a:pPr algn="just"/>
            <a:endParaRPr lang="en-US" dirty="0"/>
          </a:p>
        </p:txBody>
      </p:sp>
      <p:sp>
        <p:nvSpPr>
          <p:cNvPr id="9" name="Shape 8">
            <a:extLst>
              <a:ext uri="{FF2B5EF4-FFF2-40B4-BE49-F238E27FC236}">
                <a16:creationId xmlns:a16="http://schemas.microsoft.com/office/drawing/2014/main" id="{A878B145-FA5B-6ED1-C17F-ACA5A1BEB3FD}"/>
              </a:ext>
            </a:extLst>
          </p:cNvPr>
          <p:cNvSpPr/>
          <p:nvPr/>
        </p:nvSpPr>
        <p:spPr>
          <a:xfrm>
            <a:off x="365759" y="2439488"/>
            <a:ext cx="11292841" cy="1750423"/>
          </a:xfrm>
          <a:prstGeom prst="rect">
            <a:avLst/>
          </a:prstGeom>
          <a:solidFill>
            <a:srgbClr val="1E1E2E"/>
          </a:solidFill>
          <a:ln w="12700">
            <a:solidFill>
              <a:srgbClr val="333355"/>
            </a:solidFill>
            <a:prstDash val="solid"/>
          </a:ln>
        </p:spPr>
        <p:txBody>
          <a:bodyPr/>
          <a:lstStyle/>
          <a:p>
            <a:r>
              <a:rPr lang="en-US" dirty="0">
                <a:solidFill>
                  <a:srgbClr val="7EC8E3"/>
                </a:solidFill>
                <a:latin typeface="Courier New" pitchFamily="34" charset="0"/>
                <a:ea typeface="Courier New" pitchFamily="34" charset="-122"/>
                <a:cs typeface="Courier New" pitchFamily="34" charset="-120"/>
              </a:rPr>
              <a:t>fair </a:t>
            </a:r>
          </a:p>
          <a:p>
            <a:r>
              <a:rPr lang="en-US" dirty="0">
                <a:solidFill>
                  <a:srgbClr val="7EC8E3"/>
                </a:solidFill>
                <a:latin typeface="Courier New" pitchFamily="34" charset="0"/>
                <a:ea typeface="Courier New" pitchFamily="34" charset="-122"/>
                <a:cs typeface="Courier New" pitchFamily="34" charset="-120"/>
              </a:rPr>
              <a:t>= just + impartial + reasonable + morally acceptable</a:t>
            </a:r>
          </a:p>
          <a:p>
            <a:endParaRPr lang="en-US" dirty="0">
              <a:solidFill>
                <a:srgbClr val="7EC8E3"/>
              </a:solidFill>
              <a:latin typeface="Courier New" pitchFamily="34" charset="0"/>
              <a:ea typeface="Courier New" pitchFamily="34" charset="-122"/>
              <a:cs typeface="Courier New" pitchFamily="34" charset="-120"/>
            </a:endParaRPr>
          </a:p>
          <a:p>
            <a:r>
              <a:rPr lang="en-US" dirty="0" err="1">
                <a:solidFill>
                  <a:schemeClr val="accent6">
                    <a:lumMod val="40000"/>
                    <a:lumOff val="60000"/>
                  </a:schemeClr>
                </a:solidFill>
                <a:latin typeface="Courier New" pitchFamily="34" charset="0"/>
                <a:ea typeface="Courier New" pitchFamily="34" charset="-122"/>
                <a:cs typeface="Courier New" pitchFamily="34" charset="-120"/>
              </a:rPr>
              <a:t>公平</a:t>
            </a:r>
            <a:r>
              <a:rPr lang="en-US" dirty="0">
                <a:solidFill>
                  <a:schemeClr val="accent6">
                    <a:lumMod val="40000"/>
                    <a:lumOff val="60000"/>
                  </a:schemeClr>
                </a:solidFill>
                <a:latin typeface="Courier New" pitchFamily="34" charset="0"/>
                <a:ea typeface="Courier New" pitchFamily="34" charset="-122"/>
                <a:cs typeface="Courier New" pitchFamily="34" charset="-120"/>
              </a:rPr>
              <a:t> </a:t>
            </a:r>
          </a:p>
          <a:p>
            <a:r>
              <a:rPr lang="en-US" dirty="0">
                <a:solidFill>
                  <a:schemeClr val="accent6">
                    <a:lumMod val="40000"/>
                    <a:lumOff val="60000"/>
                  </a:schemeClr>
                </a:solidFill>
                <a:latin typeface="Courier New" pitchFamily="34" charset="0"/>
                <a:ea typeface="Courier New" pitchFamily="34" charset="-122"/>
                <a:cs typeface="Courier New" pitchFamily="34" charset="-120"/>
              </a:rPr>
              <a:t>= equal + balanced (impartial distribution)</a:t>
            </a:r>
          </a:p>
          <a:p>
            <a:r>
              <a:rPr lang="en-US" dirty="0">
                <a:solidFill>
                  <a:schemeClr val="accent6">
                    <a:lumMod val="40000"/>
                    <a:lumOff val="60000"/>
                  </a:schemeClr>
                </a:solidFill>
                <a:latin typeface="Courier New" pitchFamily="34" charset="0"/>
                <a:ea typeface="Courier New" pitchFamily="34" charset="-122"/>
                <a:cs typeface="Courier New" pitchFamily="34" charset="-120"/>
              </a:rPr>
              <a:t>≠ moral acceptability, reasonableness, or social fairness</a:t>
            </a:r>
            <a:endParaRPr lang="en-US" dirty="0">
              <a:solidFill>
                <a:schemeClr val="accent6">
                  <a:lumMod val="40000"/>
                  <a:lumOff val="60000"/>
                </a:schemeClr>
              </a:solidFill>
            </a:endParaRPr>
          </a:p>
          <a:p>
            <a:endParaRPr lang="es-MX" dirty="0"/>
          </a:p>
          <a:p>
            <a:endParaRPr lang="es-MX" dirty="0"/>
          </a:p>
        </p:txBody>
      </p:sp>
    </p:spTree>
    <p:extLst>
      <p:ext uri="{BB962C8B-B14F-4D97-AF65-F5344CB8AC3E}">
        <p14:creationId xmlns:p14="http://schemas.microsoft.com/office/powerpoint/2010/main" val="4272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63190-9AFE-58ED-0D81-1FF0DFAD1B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B7A700-6C3D-88CD-881F-202B14D0ADBC}"/>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2D86C881-DEB6-F036-F6CE-CAA5FD574075}"/>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NSM: Natural </a:t>
            </a:r>
            <a:r>
              <a:rPr lang="es-MX" altLang="ja-JP" sz="2933" b="1" dirty="0" err="1">
                <a:solidFill>
                  <a:srgbClr val="FFFFFF"/>
                </a:solidFill>
                <a:latin typeface="Georgia" pitchFamily="34" charset="0"/>
                <a:ea typeface="Georgia" pitchFamily="34" charset="-122"/>
                <a:cs typeface="Georgia" pitchFamily="34" charset="-120"/>
              </a:rPr>
              <a:t>Semantic</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Metalanguage</a:t>
            </a:r>
            <a:endParaRPr lang="en-US" sz="2933" dirty="0"/>
          </a:p>
        </p:txBody>
      </p:sp>
      <p:sp>
        <p:nvSpPr>
          <p:cNvPr id="8" name="TextBox 7">
            <a:extLst>
              <a:ext uri="{FF2B5EF4-FFF2-40B4-BE49-F238E27FC236}">
                <a16:creationId xmlns:a16="http://schemas.microsoft.com/office/drawing/2014/main" id="{09661581-FABF-7935-631F-F4ADB5463236}"/>
              </a:ext>
            </a:extLst>
          </p:cNvPr>
          <p:cNvSpPr txBox="1"/>
          <p:nvPr/>
        </p:nvSpPr>
        <p:spPr>
          <a:xfrm>
            <a:off x="264160" y="1190973"/>
            <a:ext cx="4485640" cy="5078313"/>
          </a:xfrm>
          <a:prstGeom prst="rect">
            <a:avLst/>
          </a:prstGeom>
          <a:noFill/>
        </p:spPr>
        <p:txBody>
          <a:bodyPr wrap="square">
            <a:spAutoFit/>
          </a:bodyPr>
          <a:lstStyle/>
          <a:p>
            <a:pPr algn="just"/>
            <a:r>
              <a:rPr lang="en-US" dirty="0"/>
              <a:t>In 1972, Anna Wierzbicka proposed the </a:t>
            </a:r>
            <a:r>
              <a:rPr lang="en-US" b="1" dirty="0"/>
              <a:t>Natural Semantic Metalanguage (NSM) </a:t>
            </a:r>
            <a:r>
              <a:rPr lang="en-US" dirty="0"/>
              <a:t>— the idea that all human languages share a minimal set of </a:t>
            </a:r>
            <a:r>
              <a:rPr lang="en-US" b="1" i="1" dirty="0">
                <a:highlight>
                  <a:srgbClr val="FFFF00"/>
                </a:highlight>
              </a:rPr>
              <a:t>semantic primitives</a:t>
            </a:r>
            <a:r>
              <a:rPr lang="en-US" dirty="0"/>
              <a:t>: concepts so fundamental they exist universally and cannot be defined using simpler terms.</a:t>
            </a:r>
          </a:p>
          <a:p>
            <a:endParaRPr lang="en-US" dirty="0"/>
          </a:p>
          <a:p>
            <a:pPr algn="just"/>
            <a:r>
              <a:rPr lang="en-US" dirty="0"/>
              <a:t>To find them, she tested candidate concepts across 30+ languages from 16 language families. A concept qualified only if every language already had a dedicated word for it — not borrowed, not constructed, independently present. Starting from 14 candidates in 1972, the list was revised through decades of cross-linguistic testing until stabilizing at 65 primitives in 2014.</a:t>
            </a:r>
          </a:p>
        </p:txBody>
      </p:sp>
      <p:graphicFrame>
        <p:nvGraphicFramePr>
          <p:cNvPr id="6" name="Table 0">
            <a:extLst>
              <a:ext uri="{FF2B5EF4-FFF2-40B4-BE49-F238E27FC236}">
                <a16:creationId xmlns:a16="http://schemas.microsoft.com/office/drawing/2014/main" id="{CF1A091C-5319-5AEA-998D-5D798D5E674E}"/>
              </a:ext>
            </a:extLst>
          </p:cNvPr>
          <p:cNvGraphicFramePr>
            <a:graphicFrameLocks noGrp="1"/>
          </p:cNvGraphicFramePr>
          <p:nvPr>
            <p:extLst>
              <p:ext uri="{D42A27DB-BD31-4B8C-83A1-F6EECF244321}">
                <p14:modId xmlns:p14="http://schemas.microsoft.com/office/powerpoint/2010/main" val="3866376364"/>
              </p:ext>
            </p:extLst>
          </p:nvPr>
        </p:nvGraphicFramePr>
        <p:xfrm>
          <a:off x="5130800" y="1190973"/>
          <a:ext cx="6797040" cy="5452543"/>
        </p:xfrm>
        <a:graphic>
          <a:graphicData uri="http://schemas.openxmlformats.org/drawingml/2006/table">
            <a:tbl>
              <a:tblPr/>
              <a:tblGrid>
                <a:gridCol w="2046420">
                  <a:extLst>
                    <a:ext uri="{9D8B030D-6E8A-4147-A177-3AD203B41FA5}">
                      <a16:colId xmlns:a16="http://schemas.microsoft.com/office/drawing/2014/main" val="20000"/>
                    </a:ext>
                  </a:extLst>
                </a:gridCol>
                <a:gridCol w="4750620">
                  <a:extLst>
                    <a:ext uri="{9D8B030D-6E8A-4147-A177-3AD203B41FA5}">
                      <a16:colId xmlns:a16="http://schemas.microsoft.com/office/drawing/2014/main" val="20001"/>
                    </a:ext>
                  </a:extLst>
                </a:gridCol>
              </a:tblGrid>
              <a:tr h="431657">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Category</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Primes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Substantives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I, YOU, SOMEONE, SOMETHING, PEOPLE, BODY</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Determiners / Quantifiers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THIS, THE SAME, OTHER, ONE, TWO, MANY, ALL, SOME, MORE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Mental Predicates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THINK, KNOW, WANT, FEEL, SEE, HEAR</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Speech &amp; Words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SAY, WORD, TRUE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Actions / Events / Life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DO, HAPPEN, MOVE, THERE IS, HAVE, LIVE, DIE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Evaluators &amp; Descriptors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GOOD, BAD, BIG, SMALL</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6"/>
                  </a:ext>
                </a:extLst>
              </a:tr>
              <a:tr h="668041">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Time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TIME, BEFORE, AFTER, LONG TIME, SHORT TIME, NOW, FOR SOME TIME, MOMENT</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7"/>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Space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PLACE, BELOW, ABOVE, FAR, NEAR, SIDE, INSIDE, HERE, TOUCHING</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8"/>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Taxonomy / Similarity</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PART OF, KIND OF, LIKE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9"/>
                  </a:ext>
                </a:extLst>
              </a:tr>
              <a:tr h="431657">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Metapredicates &amp; Linkers</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NOT, CAN, VERY, IF, BECAUSE, MAYBE</a:t>
                      </a:r>
                      <a:endParaRPr lang="en-US" sz="15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8695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3DCA-DA01-3A5A-D797-3732B8CECD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C69CFF6-CEFE-3B9E-D7EC-DC4EF181D3A1}"/>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68E8CDC4-9969-23CC-4B7F-35AB714B6994}"/>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NSM: Natural </a:t>
            </a:r>
            <a:r>
              <a:rPr lang="es-MX" altLang="ja-JP" sz="2933" b="1" dirty="0" err="1">
                <a:solidFill>
                  <a:srgbClr val="FFFFFF"/>
                </a:solidFill>
                <a:latin typeface="Georgia" pitchFamily="34" charset="0"/>
                <a:ea typeface="Georgia" pitchFamily="34" charset="-122"/>
                <a:cs typeface="Georgia" pitchFamily="34" charset="-120"/>
              </a:rPr>
              <a:t>Semantic</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Metalanguage</a:t>
            </a:r>
            <a:endParaRPr lang="en-US" sz="2933" dirty="0"/>
          </a:p>
        </p:txBody>
      </p:sp>
      <p:pic>
        <p:nvPicPr>
          <p:cNvPr id="5" name="Picture 4" descr="Resources – nsm-approach.net">
            <a:extLst>
              <a:ext uri="{FF2B5EF4-FFF2-40B4-BE49-F238E27FC236}">
                <a16:creationId xmlns:a16="http://schemas.microsoft.com/office/drawing/2014/main" id="{E9219EBB-53BA-23D0-DFF1-2EA8CEFECD93}"/>
              </a:ext>
            </a:extLst>
          </p:cNvPr>
          <p:cNvPicPr>
            <a:picLocks noChangeAspect="1"/>
          </p:cNvPicPr>
          <p:nvPr/>
        </p:nvPicPr>
        <p:blipFill>
          <a:blip r:embed="rId3"/>
          <a:stretch>
            <a:fillRect/>
          </a:stretch>
        </p:blipFill>
        <p:spPr>
          <a:xfrm>
            <a:off x="2313832" y="1289189"/>
            <a:ext cx="7564335" cy="5103893"/>
          </a:xfrm>
          <a:prstGeom prst="rect">
            <a:avLst/>
          </a:prstGeom>
        </p:spPr>
      </p:pic>
    </p:spTree>
    <p:extLst>
      <p:ext uri="{BB962C8B-B14F-4D97-AF65-F5344CB8AC3E}">
        <p14:creationId xmlns:p14="http://schemas.microsoft.com/office/powerpoint/2010/main" val="158008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381B-B64A-D611-8C33-09F0A4591E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9E594D6-57CE-260E-988D-6BC413D605D4}"/>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B1C32CD4-4B75-CBAD-B910-31639A897771}"/>
              </a:ext>
            </a:extLst>
          </p:cNvPr>
          <p:cNvSpPr/>
          <p:nvPr/>
        </p:nvSpPr>
        <p:spPr>
          <a:xfrm>
            <a:off x="365760" y="0"/>
            <a:ext cx="11460480" cy="877824"/>
          </a:xfrm>
          <a:prstGeom prst="rect">
            <a:avLst/>
          </a:prstGeom>
          <a:noFill/>
          <a:ln/>
        </p:spPr>
        <p:txBody>
          <a:bodyPr wrap="square" rtlCol="0" anchor="ctr"/>
          <a:lstStyle/>
          <a:p>
            <a:r>
              <a:rPr lang="es-MX" sz="2933" b="1" dirty="0">
                <a:solidFill>
                  <a:srgbClr val="FFFFFF"/>
                </a:solidFill>
                <a:latin typeface="Georgia" pitchFamily="34" charset="0"/>
              </a:rPr>
              <a:t>NSM </a:t>
            </a:r>
            <a:r>
              <a:rPr lang="es-MX" sz="2933" b="1" dirty="0" err="1">
                <a:solidFill>
                  <a:srgbClr val="FFFFFF"/>
                </a:solidFill>
                <a:latin typeface="Georgia" pitchFamily="34" charset="0"/>
              </a:rPr>
              <a:t>Definitions</a:t>
            </a:r>
            <a:endParaRPr lang="en-US" sz="2933" dirty="0"/>
          </a:p>
        </p:txBody>
      </p:sp>
      <p:sp>
        <p:nvSpPr>
          <p:cNvPr id="4" name="TextBox 3">
            <a:extLst>
              <a:ext uri="{FF2B5EF4-FFF2-40B4-BE49-F238E27FC236}">
                <a16:creationId xmlns:a16="http://schemas.microsoft.com/office/drawing/2014/main" id="{F7C8E72C-459F-695F-45F2-8AE1516F5BA5}"/>
              </a:ext>
            </a:extLst>
          </p:cNvPr>
          <p:cNvSpPr txBox="1"/>
          <p:nvPr/>
        </p:nvSpPr>
        <p:spPr>
          <a:xfrm>
            <a:off x="365759" y="1127717"/>
            <a:ext cx="11292841" cy="369332"/>
          </a:xfrm>
          <a:prstGeom prst="rect">
            <a:avLst/>
          </a:prstGeom>
          <a:noFill/>
        </p:spPr>
        <p:txBody>
          <a:bodyPr wrap="square">
            <a:spAutoFit/>
          </a:bodyPr>
          <a:lstStyle/>
          <a:p>
            <a:pPr algn="just"/>
            <a:r>
              <a:rPr lang="en-US" dirty="0">
                <a:solidFill>
                  <a:srgbClr val="2C3E50"/>
                </a:solidFill>
                <a:latin typeface="Calibri" pitchFamily="34" charset="0"/>
                <a:ea typeface="Calibri" pitchFamily="34" charset="-122"/>
                <a:cs typeface="Calibri" pitchFamily="34" charset="-120"/>
              </a:rPr>
              <a:t>NSM definitions are written in something that reads like ordinary human language — not symbols, not formulas.</a:t>
            </a:r>
            <a:endParaRPr lang="en-US" dirty="0"/>
          </a:p>
        </p:txBody>
      </p:sp>
      <p:sp>
        <p:nvSpPr>
          <p:cNvPr id="7" name="TextBox 6">
            <a:extLst>
              <a:ext uri="{FF2B5EF4-FFF2-40B4-BE49-F238E27FC236}">
                <a16:creationId xmlns:a16="http://schemas.microsoft.com/office/drawing/2014/main" id="{A8C7952C-99B6-311A-B8CC-19CC8C481073}"/>
              </a:ext>
            </a:extLst>
          </p:cNvPr>
          <p:cNvSpPr txBox="1"/>
          <p:nvPr/>
        </p:nvSpPr>
        <p:spPr>
          <a:xfrm>
            <a:off x="365759" y="1746942"/>
            <a:ext cx="6103256" cy="369332"/>
          </a:xfrm>
          <a:prstGeom prst="rect">
            <a:avLst/>
          </a:prstGeom>
          <a:noFill/>
        </p:spPr>
        <p:txBody>
          <a:bodyPr wrap="square">
            <a:spAutoFit/>
          </a:bodyPr>
          <a:lstStyle/>
          <a:p>
            <a:r>
              <a:rPr lang="en-US" sz="1800" b="1" dirty="0">
                <a:solidFill>
                  <a:srgbClr val="1A2744"/>
                </a:solidFill>
                <a:latin typeface="Calibri" pitchFamily="34" charset="0"/>
                <a:ea typeface="Calibri" pitchFamily="34" charset="-122"/>
                <a:cs typeface="Calibri" pitchFamily="34" charset="-120"/>
              </a:rPr>
              <a:t>The Mini-Grammar / Valency Frames: </a:t>
            </a:r>
            <a:endParaRPr lang="es-MX" dirty="0"/>
          </a:p>
        </p:txBody>
      </p:sp>
      <p:sp>
        <p:nvSpPr>
          <p:cNvPr id="9" name="TextBox 8">
            <a:extLst>
              <a:ext uri="{FF2B5EF4-FFF2-40B4-BE49-F238E27FC236}">
                <a16:creationId xmlns:a16="http://schemas.microsoft.com/office/drawing/2014/main" id="{CAF488A4-A506-4041-7BBE-B8C3C8431D54}"/>
              </a:ext>
            </a:extLst>
          </p:cNvPr>
          <p:cNvSpPr txBox="1"/>
          <p:nvPr/>
        </p:nvSpPr>
        <p:spPr>
          <a:xfrm>
            <a:off x="365759" y="2116274"/>
            <a:ext cx="5494385" cy="1077218"/>
          </a:xfrm>
          <a:prstGeom prst="rect">
            <a:avLst/>
          </a:prstGeom>
          <a:noFill/>
        </p:spPr>
        <p:txBody>
          <a:bodyPr wrap="square">
            <a:spAutoFit/>
          </a:bodyPr>
          <a:lstStyle/>
          <a:p>
            <a:pPr marL="0" indent="0" algn="just">
              <a:buNone/>
            </a:pPr>
            <a:r>
              <a:rPr lang="en-US" sz="1600" dirty="0">
                <a:solidFill>
                  <a:srgbClr val="2C3E50"/>
                </a:solidFill>
                <a:latin typeface="Calibri" pitchFamily="34" charset="0"/>
                <a:ea typeface="Calibri" pitchFamily="34" charset="-122"/>
                <a:cs typeface="Calibri" pitchFamily="34" charset="-120"/>
              </a:rPr>
              <a:t>Each prime has a specific set of grammatical combinations it can appear in. This is what makes NSM a language — not just a vocabulary. Without the mini-grammar, the primes cannot produce definitions.</a:t>
            </a:r>
            <a:endParaRPr lang="en-US" sz="1600" dirty="0"/>
          </a:p>
        </p:txBody>
      </p:sp>
      <p:graphicFrame>
        <p:nvGraphicFramePr>
          <p:cNvPr id="11" name="Table 0">
            <a:extLst>
              <a:ext uri="{FF2B5EF4-FFF2-40B4-BE49-F238E27FC236}">
                <a16:creationId xmlns:a16="http://schemas.microsoft.com/office/drawing/2014/main" id="{F4CDEEDB-D5D5-9F6A-7EE5-BB9E69CCCA9A}"/>
              </a:ext>
            </a:extLst>
          </p:cNvPr>
          <p:cNvGraphicFramePr>
            <a:graphicFrameLocks noGrp="1"/>
          </p:cNvGraphicFramePr>
          <p:nvPr>
            <p:extLst>
              <p:ext uri="{D42A27DB-BD31-4B8C-83A1-F6EECF244321}">
                <p14:modId xmlns:p14="http://schemas.microsoft.com/office/powerpoint/2010/main" val="1207659623"/>
              </p:ext>
            </p:extLst>
          </p:nvPr>
        </p:nvGraphicFramePr>
        <p:xfrm>
          <a:off x="365759" y="3429000"/>
          <a:ext cx="5494385" cy="3023922"/>
        </p:xfrm>
        <a:graphic>
          <a:graphicData uri="http://schemas.openxmlformats.org/drawingml/2006/table">
            <a:tbl>
              <a:tblPr/>
              <a:tblGrid>
                <a:gridCol w="1063428">
                  <a:extLst>
                    <a:ext uri="{9D8B030D-6E8A-4147-A177-3AD203B41FA5}">
                      <a16:colId xmlns:a16="http://schemas.microsoft.com/office/drawing/2014/main" val="20000"/>
                    </a:ext>
                  </a:extLst>
                </a:gridCol>
                <a:gridCol w="4430957">
                  <a:extLst>
                    <a:ext uri="{9D8B030D-6E8A-4147-A177-3AD203B41FA5}">
                      <a16:colId xmlns:a16="http://schemas.microsoft.com/office/drawing/2014/main" val="20001"/>
                    </a:ext>
                  </a:extLst>
                </a:gridCol>
              </a:tblGrid>
              <a:tr h="5715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Prime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Grammatical combinations allowed</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50346">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something good  /  it is good that  /  good for someone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583910">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THINK</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someone thinks something  /  someone thinks about something</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583910">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MOVE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something moves  /  someone moves something  /  move to a place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583910">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WANT</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someone wants something  /  someone wants to do something</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350346">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BECAUSE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this happened because of something  /  X, because Y</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TextBox 12">
            <a:extLst>
              <a:ext uri="{FF2B5EF4-FFF2-40B4-BE49-F238E27FC236}">
                <a16:creationId xmlns:a16="http://schemas.microsoft.com/office/drawing/2014/main" id="{F46C93BB-F301-4D52-6477-3E68D8C70467}"/>
              </a:ext>
            </a:extLst>
          </p:cNvPr>
          <p:cNvSpPr txBox="1"/>
          <p:nvPr/>
        </p:nvSpPr>
        <p:spPr>
          <a:xfrm>
            <a:off x="6331858" y="1746942"/>
            <a:ext cx="6102350" cy="369332"/>
          </a:xfrm>
          <a:prstGeom prst="rect">
            <a:avLst/>
          </a:prstGeom>
          <a:noFill/>
        </p:spPr>
        <p:txBody>
          <a:bodyPr wrap="square">
            <a:spAutoFit/>
          </a:bodyPr>
          <a:lstStyle/>
          <a:p>
            <a:r>
              <a:rPr lang="en-US" sz="1800" b="1" dirty="0" err="1">
                <a:solidFill>
                  <a:srgbClr val="1A2744"/>
                </a:solidFill>
                <a:latin typeface="Calibri" pitchFamily="34" charset="0"/>
                <a:ea typeface="Calibri" pitchFamily="34" charset="-122"/>
                <a:cs typeface="Calibri" pitchFamily="34" charset="-120"/>
              </a:rPr>
              <a:t>Allolexes</a:t>
            </a:r>
            <a:r>
              <a:rPr lang="en-US" sz="1800" b="1" dirty="0">
                <a:solidFill>
                  <a:srgbClr val="1A2744"/>
                </a:solidFill>
                <a:latin typeface="Calibri" pitchFamily="34" charset="0"/>
                <a:ea typeface="Calibri" pitchFamily="34" charset="-122"/>
                <a:cs typeface="Calibri" pitchFamily="34" charset="-120"/>
              </a:rPr>
              <a:t>: </a:t>
            </a:r>
            <a:endParaRPr lang="es-MX" dirty="0"/>
          </a:p>
        </p:txBody>
      </p:sp>
      <p:sp>
        <p:nvSpPr>
          <p:cNvPr id="16" name="TextBox 15">
            <a:extLst>
              <a:ext uri="{FF2B5EF4-FFF2-40B4-BE49-F238E27FC236}">
                <a16:creationId xmlns:a16="http://schemas.microsoft.com/office/drawing/2014/main" id="{C16937EA-A39B-9DF4-5679-D6C4E42F66BB}"/>
              </a:ext>
            </a:extLst>
          </p:cNvPr>
          <p:cNvSpPr txBox="1"/>
          <p:nvPr/>
        </p:nvSpPr>
        <p:spPr>
          <a:xfrm>
            <a:off x="6331855" y="2116274"/>
            <a:ext cx="5494385" cy="1077218"/>
          </a:xfrm>
          <a:prstGeom prst="rect">
            <a:avLst/>
          </a:prstGeom>
          <a:noFill/>
        </p:spPr>
        <p:txBody>
          <a:bodyPr wrap="square">
            <a:spAutoFit/>
          </a:bodyPr>
          <a:lstStyle/>
          <a:p>
            <a:pPr marL="0" indent="0" algn="just">
              <a:buNone/>
            </a:pPr>
            <a:r>
              <a:rPr lang="en-US" sz="1600" dirty="0">
                <a:solidFill>
                  <a:srgbClr val="2C3E50"/>
                </a:solidFill>
                <a:latin typeface="Calibri" pitchFamily="34" charset="0"/>
                <a:ea typeface="Calibri" pitchFamily="34" charset="-122"/>
                <a:cs typeface="Calibri" pitchFamily="34" charset="-120"/>
              </a:rPr>
              <a:t>Each prime can appear in different grammatical forms depending on context — these are called </a:t>
            </a:r>
            <a:r>
              <a:rPr lang="en-US" sz="1600" dirty="0" err="1">
                <a:solidFill>
                  <a:srgbClr val="2C3E50"/>
                </a:solidFill>
                <a:latin typeface="Calibri" pitchFamily="34" charset="0"/>
                <a:ea typeface="Calibri" pitchFamily="34" charset="-122"/>
                <a:cs typeface="Calibri" pitchFamily="34" charset="-120"/>
              </a:rPr>
              <a:t>allolexes</a:t>
            </a:r>
            <a:r>
              <a:rPr lang="en-US" sz="1600" dirty="0">
                <a:solidFill>
                  <a:srgbClr val="2C3E50"/>
                </a:solidFill>
                <a:latin typeface="Calibri" pitchFamily="34" charset="0"/>
                <a:ea typeface="Calibri" pitchFamily="34" charset="-122"/>
                <a:cs typeface="Calibri" pitchFamily="34" charset="-120"/>
              </a:rPr>
              <a:t>. They are not different primes. They are the same primitive concept expressed differently by the grammar of the language.</a:t>
            </a:r>
            <a:endParaRPr lang="en-US" sz="1600" dirty="0"/>
          </a:p>
        </p:txBody>
      </p:sp>
      <p:graphicFrame>
        <p:nvGraphicFramePr>
          <p:cNvPr id="17" name="Table 16">
            <a:extLst>
              <a:ext uri="{FF2B5EF4-FFF2-40B4-BE49-F238E27FC236}">
                <a16:creationId xmlns:a16="http://schemas.microsoft.com/office/drawing/2014/main" id="{02C9747D-65D3-BE4D-7F5D-CBC1A92C7C45}"/>
              </a:ext>
            </a:extLst>
          </p:cNvPr>
          <p:cNvGraphicFramePr>
            <a:graphicFrameLocks noGrp="1"/>
          </p:cNvGraphicFramePr>
          <p:nvPr>
            <p:extLst>
              <p:ext uri="{D42A27DB-BD31-4B8C-83A1-F6EECF244321}">
                <p14:modId xmlns:p14="http://schemas.microsoft.com/office/powerpoint/2010/main" val="2433752310"/>
              </p:ext>
            </p:extLst>
          </p:nvPr>
        </p:nvGraphicFramePr>
        <p:xfrm>
          <a:off x="6331855" y="3429000"/>
          <a:ext cx="5494385" cy="2802770"/>
        </p:xfrm>
        <a:graphic>
          <a:graphicData uri="http://schemas.openxmlformats.org/drawingml/2006/table">
            <a:tbl>
              <a:tblPr/>
              <a:tblGrid>
                <a:gridCol w="1354780">
                  <a:extLst>
                    <a:ext uri="{9D8B030D-6E8A-4147-A177-3AD203B41FA5}">
                      <a16:colId xmlns:a16="http://schemas.microsoft.com/office/drawing/2014/main" val="1045294064"/>
                    </a:ext>
                  </a:extLst>
                </a:gridCol>
                <a:gridCol w="4139605">
                  <a:extLst>
                    <a:ext uri="{9D8B030D-6E8A-4147-A177-3AD203B41FA5}">
                      <a16:colId xmlns:a16="http://schemas.microsoft.com/office/drawing/2014/main" val="1681945169"/>
                    </a:ext>
                  </a:extLst>
                </a:gridCol>
              </a:tblGrid>
              <a:tr h="560554">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Prime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Allolexes (surface forms)</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extLst>
                  <a:ext uri="{0D108BD9-81ED-4DB2-BD59-A6C34878D82A}">
                    <a16:rowId xmlns:a16="http://schemas.microsoft.com/office/drawing/2014/main" val="318560920"/>
                  </a:ext>
                </a:extLst>
              </a:tr>
              <a:tr h="560554">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MOVE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move  /  moving  /  moved  /  movement</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634442651"/>
                  </a:ext>
                </a:extLst>
              </a:tr>
              <a:tr h="560554">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THINK</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think  /  thinking  /  thought  /  thinks</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2574014926"/>
                  </a:ext>
                </a:extLst>
              </a:tr>
              <a:tr h="560554">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good  /  better  /  best  /  well</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179564252"/>
                  </a:ext>
                </a:extLst>
              </a:tr>
              <a:tr h="560554">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SOMEONE</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someone  /  somebody  /  one (person)</a:t>
                      </a:r>
                      <a:endParaRPr lang="en-US" sz="14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49613984"/>
                  </a:ext>
                </a:extLst>
              </a:tr>
            </a:tbl>
          </a:graphicData>
        </a:graphic>
      </p:graphicFrame>
      <p:sp>
        <p:nvSpPr>
          <p:cNvPr id="19" name="TextBox 18">
            <a:extLst>
              <a:ext uri="{FF2B5EF4-FFF2-40B4-BE49-F238E27FC236}">
                <a16:creationId xmlns:a16="http://schemas.microsoft.com/office/drawing/2014/main" id="{70952389-2FE7-3503-44F8-7180089C7DAA}"/>
              </a:ext>
            </a:extLst>
          </p:cNvPr>
          <p:cNvSpPr txBox="1"/>
          <p:nvPr/>
        </p:nvSpPr>
        <p:spPr>
          <a:xfrm>
            <a:off x="365759" y="6581001"/>
            <a:ext cx="7403195" cy="276999"/>
          </a:xfrm>
          <a:prstGeom prst="rect">
            <a:avLst/>
          </a:prstGeom>
          <a:noFill/>
        </p:spPr>
        <p:txBody>
          <a:bodyPr wrap="square">
            <a:spAutoFit/>
          </a:bodyPr>
          <a:lstStyle/>
          <a:p>
            <a:r>
              <a:rPr lang="es-MX" sz="1200" dirty="0"/>
              <a:t>https://en.wikipedia.org/wiki/Natural_semantic_metalanguage</a:t>
            </a:r>
          </a:p>
        </p:txBody>
      </p:sp>
      <p:sp>
        <p:nvSpPr>
          <p:cNvPr id="21" name="TextBox 20">
            <a:extLst>
              <a:ext uri="{FF2B5EF4-FFF2-40B4-BE49-F238E27FC236}">
                <a16:creationId xmlns:a16="http://schemas.microsoft.com/office/drawing/2014/main" id="{569B0EB4-3961-3512-A420-AD2705176267}"/>
              </a:ext>
            </a:extLst>
          </p:cNvPr>
          <p:cNvSpPr txBox="1"/>
          <p:nvPr/>
        </p:nvSpPr>
        <p:spPr>
          <a:xfrm>
            <a:off x="6219146" y="6427113"/>
            <a:ext cx="5607094" cy="430887"/>
          </a:xfrm>
          <a:prstGeom prst="rect">
            <a:avLst/>
          </a:prstGeom>
          <a:noFill/>
        </p:spPr>
        <p:txBody>
          <a:bodyPr wrap="square">
            <a:spAutoFit/>
          </a:bodyPr>
          <a:lstStyle/>
          <a:p>
            <a:r>
              <a:rPr lang="es-MX" sz="1100" dirty="0"/>
              <a:t>https://www.researchgate.net/publication/286033897_1_Natural_Semantic_Metalanguage_The_state_of_the_art</a:t>
            </a:r>
          </a:p>
        </p:txBody>
      </p:sp>
    </p:spTree>
    <p:extLst>
      <p:ext uri="{BB962C8B-B14F-4D97-AF65-F5344CB8AC3E}">
        <p14:creationId xmlns:p14="http://schemas.microsoft.com/office/powerpoint/2010/main" val="2647324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2F6F-28E3-8FD7-2928-683D7A4C50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ABC781-2DA2-1A74-9059-7918F02E268E}"/>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103365A1-E607-6FBC-81E9-2254B1931EE7}"/>
              </a:ext>
            </a:extLst>
          </p:cNvPr>
          <p:cNvSpPr/>
          <p:nvPr/>
        </p:nvSpPr>
        <p:spPr>
          <a:xfrm>
            <a:off x="365760" y="0"/>
            <a:ext cx="11460480" cy="877824"/>
          </a:xfrm>
          <a:prstGeom prst="rect">
            <a:avLst/>
          </a:prstGeom>
          <a:noFill/>
          <a:ln/>
        </p:spPr>
        <p:txBody>
          <a:bodyPr wrap="square" rtlCol="0" anchor="ctr"/>
          <a:lstStyle/>
          <a:p>
            <a:r>
              <a:rPr lang="es-MX" altLang="ja-JP" sz="2933" b="1" dirty="0" err="1">
                <a:solidFill>
                  <a:srgbClr val="FFFFFF"/>
                </a:solidFill>
                <a:latin typeface="Georgia" pitchFamily="34" charset="0"/>
                <a:ea typeface="Georgia" pitchFamily="34" charset="-122"/>
                <a:cs typeface="Georgia" pitchFamily="34" charset="-120"/>
              </a:rPr>
              <a:t>Semantic</a:t>
            </a:r>
            <a:r>
              <a:rPr lang="es-MX" altLang="ja-JP" sz="2933" b="1" dirty="0">
                <a:solidFill>
                  <a:srgbClr val="FFFFFF"/>
                </a:solidFill>
                <a:latin typeface="Georgia" pitchFamily="34" charset="0"/>
                <a:ea typeface="Georgia" pitchFamily="34" charset="-122"/>
                <a:cs typeface="Georgia" pitchFamily="34" charset="-120"/>
              </a:rPr>
              <a:t> Primes – </a:t>
            </a:r>
            <a:r>
              <a:rPr lang="es-MX" altLang="ja-JP" sz="2933" b="1" dirty="0" err="1">
                <a:solidFill>
                  <a:srgbClr val="FFFFFF"/>
                </a:solidFill>
                <a:latin typeface="Georgia" pitchFamily="34" charset="0"/>
                <a:ea typeface="Georgia" pitchFamily="34" charset="-122"/>
                <a:cs typeface="Georgia" pitchFamily="34" charset="-120"/>
              </a:rPr>
              <a:t>Semantic</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Molecules</a:t>
            </a:r>
            <a:endParaRPr lang="en-US" sz="2933" dirty="0"/>
          </a:p>
        </p:txBody>
      </p:sp>
      <p:sp>
        <p:nvSpPr>
          <p:cNvPr id="6" name="TextBox 5">
            <a:extLst>
              <a:ext uri="{FF2B5EF4-FFF2-40B4-BE49-F238E27FC236}">
                <a16:creationId xmlns:a16="http://schemas.microsoft.com/office/drawing/2014/main" id="{0639910C-1393-4597-81BD-2531864A0D88}"/>
              </a:ext>
            </a:extLst>
          </p:cNvPr>
          <p:cNvSpPr txBox="1"/>
          <p:nvPr/>
        </p:nvSpPr>
        <p:spPr>
          <a:xfrm>
            <a:off x="365759" y="1788061"/>
            <a:ext cx="5010151" cy="1323439"/>
          </a:xfrm>
          <a:prstGeom prst="rect">
            <a:avLst/>
          </a:prstGeom>
          <a:noFill/>
        </p:spPr>
        <p:txBody>
          <a:bodyPr wrap="square">
            <a:spAutoFit/>
          </a:bodyPr>
          <a:lstStyle/>
          <a:p>
            <a:pPr algn="just"/>
            <a:r>
              <a:rPr lang="en-US" sz="1600" dirty="0"/>
              <a:t>Semantic primitives are concepts that are universal — they can be translated literally into any known language and retain their meaning — and primitive — they cannot be defined using simpler terms. They are the irreducible foundation of all meaning.</a:t>
            </a:r>
            <a:endParaRPr lang="es-MX" sz="1600" dirty="0"/>
          </a:p>
        </p:txBody>
      </p:sp>
      <p:sp>
        <p:nvSpPr>
          <p:cNvPr id="10" name="TextBox 9">
            <a:extLst>
              <a:ext uri="{FF2B5EF4-FFF2-40B4-BE49-F238E27FC236}">
                <a16:creationId xmlns:a16="http://schemas.microsoft.com/office/drawing/2014/main" id="{E7A3E9AB-B7FE-7954-FF4B-B713BADAD2BF}"/>
              </a:ext>
            </a:extLst>
          </p:cNvPr>
          <p:cNvSpPr txBox="1"/>
          <p:nvPr/>
        </p:nvSpPr>
        <p:spPr>
          <a:xfrm>
            <a:off x="5984874" y="1788061"/>
            <a:ext cx="5841365" cy="1815882"/>
          </a:xfrm>
          <a:prstGeom prst="rect">
            <a:avLst/>
          </a:prstGeom>
          <a:noFill/>
        </p:spPr>
        <p:txBody>
          <a:bodyPr wrap="square">
            <a:spAutoFit/>
          </a:bodyPr>
          <a:lstStyle/>
          <a:p>
            <a:pPr algn="just">
              <a:buNone/>
            </a:pPr>
            <a:r>
              <a:rPr lang="en-US" sz="1600" dirty="0"/>
              <a:t>Semantic molecules are intermediary words used in definitions. While not primitives, they can be defined exclusively using primitives. They are words necessary to build upon in order to define other words.</a:t>
            </a:r>
          </a:p>
          <a:p>
            <a:pPr algn="just">
              <a:buNone/>
            </a:pPr>
            <a:endParaRPr lang="en-US" sz="1600" dirty="0"/>
          </a:p>
          <a:p>
            <a:pPr algn="just">
              <a:buNone/>
            </a:pPr>
            <a:r>
              <a:rPr lang="en-US" sz="1600" dirty="0"/>
              <a:t>Some molecules are universal or near-universal. Others are culture-specific.</a:t>
            </a:r>
          </a:p>
        </p:txBody>
      </p:sp>
      <p:graphicFrame>
        <p:nvGraphicFramePr>
          <p:cNvPr id="18" name="Table 0">
            <a:extLst>
              <a:ext uri="{FF2B5EF4-FFF2-40B4-BE49-F238E27FC236}">
                <a16:creationId xmlns:a16="http://schemas.microsoft.com/office/drawing/2014/main" id="{34941DD9-4E14-8EA1-C908-B46D2C8227A5}"/>
              </a:ext>
            </a:extLst>
          </p:cNvPr>
          <p:cNvGraphicFramePr>
            <a:graphicFrameLocks noGrp="1"/>
          </p:cNvGraphicFramePr>
          <p:nvPr>
            <p:extLst>
              <p:ext uri="{D42A27DB-BD31-4B8C-83A1-F6EECF244321}">
                <p14:modId xmlns:p14="http://schemas.microsoft.com/office/powerpoint/2010/main" val="577137487"/>
              </p:ext>
            </p:extLst>
          </p:nvPr>
        </p:nvGraphicFramePr>
        <p:xfrm>
          <a:off x="5984874" y="3843745"/>
          <a:ext cx="5730240" cy="2080086"/>
        </p:xfrm>
        <a:graphic>
          <a:graphicData uri="http://schemas.openxmlformats.org/drawingml/2006/table">
            <a:tbl>
              <a:tblPr/>
              <a:tblGrid>
                <a:gridCol w="1308100">
                  <a:extLst>
                    <a:ext uri="{9D8B030D-6E8A-4147-A177-3AD203B41FA5}">
                      <a16:colId xmlns:a16="http://schemas.microsoft.com/office/drawing/2014/main" val="20000"/>
                    </a:ext>
                  </a:extLst>
                </a:gridCol>
                <a:gridCol w="4422140">
                  <a:extLst>
                    <a:ext uri="{9D8B030D-6E8A-4147-A177-3AD203B41FA5}">
                      <a16:colId xmlns:a16="http://schemas.microsoft.com/office/drawing/2014/main" val="20001"/>
                    </a:ext>
                  </a:extLst>
                </a:gridCol>
              </a:tblGrid>
              <a:tr h="571500">
                <a:tc>
                  <a:txBody>
                    <a:bodyPr/>
                    <a:lstStyle/>
                    <a:p>
                      <a:pPr>
                        <a:buNone/>
                      </a:pPr>
                      <a:r>
                        <a:rPr lang="es-MX" sz="1600" b="1" dirty="0" err="1">
                          <a:solidFill>
                            <a:schemeClr val="bg1"/>
                          </a:solidFill>
                        </a:rPr>
                        <a:t>Category</a:t>
                      </a:r>
                      <a:endParaRPr lang="es-MX" sz="1600" b="1" dirty="0">
                        <a:solidFill>
                          <a:schemeClr val="bg1"/>
                        </a:solidFill>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tc>
                  <a:txBody>
                    <a:bodyPr/>
                    <a:lstStyle/>
                    <a:p>
                      <a:pPr>
                        <a:buNone/>
                      </a:pPr>
                      <a:r>
                        <a:rPr lang="es-MX" sz="1600" b="1" dirty="0" err="1">
                          <a:solidFill>
                            <a:schemeClr val="bg1"/>
                          </a:solidFill>
                        </a:rPr>
                        <a:t>Examples</a:t>
                      </a:r>
                      <a:endParaRPr lang="es-MX" sz="1600" b="1" dirty="0">
                        <a:solidFill>
                          <a:schemeClr val="bg1"/>
                        </a:solidFill>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50346">
                <a:tc>
                  <a:txBody>
                    <a:bodyPr/>
                    <a:lstStyle/>
                    <a:p>
                      <a:pPr>
                        <a:buNone/>
                      </a:pPr>
                      <a:r>
                        <a:rPr lang="es-MX" sz="1600" dirty="0"/>
                        <a:t>Body </a:t>
                      </a:r>
                      <a:r>
                        <a:rPr lang="es-MX" sz="1600" dirty="0" err="1"/>
                        <a:t>parts</a:t>
                      </a:r>
                      <a:endParaRPr lang="es-MX"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buNone/>
                      </a:pPr>
                      <a:r>
                        <a:rPr lang="en-US" sz="1600" dirty="0"/>
                        <a:t>hands, mouth, eyes, head, ears, nose, face, teeth, fingers</a:t>
                      </a: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50346">
                <a:tc>
                  <a:txBody>
                    <a:bodyPr/>
                    <a:lstStyle/>
                    <a:p>
                      <a:pPr>
                        <a:buNone/>
                      </a:pPr>
                      <a:r>
                        <a:rPr lang="es-MX" sz="1600" dirty="0" err="1"/>
                        <a:t>Physical</a:t>
                      </a:r>
                      <a:endParaRPr lang="es-MX"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buNone/>
                      </a:pPr>
                      <a:r>
                        <a:rPr lang="en-US" sz="1600" dirty="0"/>
                        <a:t>long, round, flat, thin, hard, soft, sharp, heavy</a:t>
                      </a: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350346">
                <a:tc>
                  <a:txBody>
                    <a:bodyPr/>
                    <a:lstStyle/>
                    <a:p>
                      <a:pPr>
                        <a:buNone/>
                      </a:pPr>
                      <a:r>
                        <a:rPr lang="es-MX" sz="1600" dirty="0"/>
                        <a:t>Biosocial</a:t>
                      </a: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buNone/>
                      </a:pPr>
                      <a:r>
                        <a:rPr lang="en-US" sz="1600" dirty="0"/>
                        <a:t>children, men, women, mother, father, wife, husband</a:t>
                      </a: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2760890125"/>
                  </a:ext>
                </a:extLst>
              </a:tr>
            </a:tbl>
          </a:graphicData>
        </a:graphic>
      </p:graphicFrame>
      <p:sp>
        <p:nvSpPr>
          <p:cNvPr id="21" name="Text 7">
            <a:extLst>
              <a:ext uri="{FF2B5EF4-FFF2-40B4-BE49-F238E27FC236}">
                <a16:creationId xmlns:a16="http://schemas.microsoft.com/office/drawing/2014/main" id="{994C9806-A326-24ED-5F40-3256B2E5439B}"/>
              </a:ext>
            </a:extLst>
          </p:cNvPr>
          <p:cNvSpPr/>
          <p:nvPr/>
        </p:nvSpPr>
        <p:spPr>
          <a:xfrm>
            <a:off x="365759" y="1374921"/>
            <a:ext cx="4023360" cy="320040"/>
          </a:xfrm>
          <a:prstGeom prst="rect">
            <a:avLst/>
          </a:prstGeom>
          <a:noFill/>
          <a:ln/>
        </p:spPr>
        <p:txBody>
          <a:bodyPr wrap="square" rtlCol="0" anchor="ctr"/>
          <a:lstStyle/>
          <a:p>
            <a:pPr marL="0" indent="0">
              <a:buNone/>
            </a:pPr>
            <a:r>
              <a:rPr lang="en-US" b="1" dirty="0">
                <a:solidFill>
                  <a:srgbClr val="0A6275"/>
                </a:solidFill>
                <a:latin typeface="Calibri" pitchFamily="34" charset="0"/>
                <a:ea typeface="Calibri" pitchFamily="34" charset="-122"/>
                <a:cs typeface="Calibri" pitchFamily="34" charset="-120"/>
              </a:rPr>
              <a:t>Semantic Primitives</a:t>
            </a:r>
            <a:endParaRPr lang="en-US" dirty="0"/>
          </a:p>
        </p:txBody>
      </p:sp>
      <p:sp>
        <p:nvSpPr>
          <p:cNvPr id="22" name="Text 10">
            <a:extLst>
              <a:ext uri="{FF2B5EF4-FFF2-40B4-BE49-F238E27FC236}">
                <a16:creationId xmlns:a16="http://schemas.microsoft.com/office/drawing/2014/main" id="{8B675FE6-7E6B-5297-BEC8-6A3E40D3FF4C}"/>
              </a:ext>
            </a:extLst>
          </p:cNvPr>
          <p:cNvSpPr/>
          <p:nvPr/>
        </p:nvSpPr>
        <p:spPr>
          <a:xfrm>
            <a:off x="5984874" y="1374921"/>
            <a:ext cx="4023360" cy="320040"/>
          </a:xfrm>
          <a:prstGeom prst="rect">
            <a:avLst/>
          </a:prstGeom>
          <a:noFill/>
          <a:ln/>
        </p:spPr>
        <p:txBody>
          <a:bodyPr wrap="square" rtlCol="0" anchor="ctr"/>
          <a:lstStyle/>
          <a:p>
            <a:pPr marL="0" indent="0">
              <a:buNone/>
            </a:pPr>
            <a:r>
              <a:rPr lang="en-US" b="1" dirty="0">
                <a:solidFill>
                  <a:srgbClr val="0A6275"/>
                </a:solidFill>
                <a:latin typeface="Calibri" pitchFamily="34" charset="0"/>
                <a:ea typeface="Calibri" pitchFamily="34" charset="-122"/>
                <a:cs typeface="Calibri" pitchFamily="34" charset="-120"/>
              </a:rPr>
              <a:t>Semantic Molecules</a:t>
            </a:r>
            <a:endParaRPr lang="en-US" dirty="0"/>
          </a:p>
        </p:txBody>
      </p:sp>
      <p:sp>
        <p:nvSpPr>
          <p:cNvPr id="24" name="TextBox 23">
            <a:extLst>
              <a:ext uri="{FF2B5EF4-FFF2-40B4-BE49-F238E27FC236}">
                <a16:creationId xmlns:a16="http://schemas.microsoft.com/office/drawing/2014/main" id="{C593C7A0-48B4-EFFA-385D-D3E82C1F9748}"/>
              </a:ext>
            </a:extLst>
          </p:cNvPr>
          <p:cNvSpPr txBox="1"/>
          <p:nvPr/>
        </p:nvSpPr>
        <p:spPr>
          <a:xfrm>
            <a:off x="5984874" y="6581001"/>
            <a:ext cx="7403195" cy="276999"/>
          </a:xfrm>
          <a:prstGeom prst="rect">
            <a:avLst/>
          </a:prstGeom>
          <a:noFill/>
        </p:spPr>
        <p:txBody>
          <a:bodyPr wrap="square">
            <a:spAutoFit/>
          </a:bodyPr>
          <a:lstStyle/>
          <a:p>
            <a:r>
              <a:rPr lang="es-MX" sz="1200" dirty="0"/>
              <a:t>https://en.wikipedia.org/wiki/Natural_semantic_metalanguage</a:t>
            </a:r>
          </a:p>
        </p:txBody>
      </p:sp>
      <p:graphicFrame>
        <p:nvGraphicFramePr>
          <p:cNvPr id="25" name="Table 24">
            <a:extLst>
              <a:ext uri="{FF2B5EF4-FFF2-40B4-BE49-F238E27FC236}">
                <a16:creationId xmlns:a16="http://schemas.microsoft.com/office/drawing/2014/main" id="{8B785B9A-2177-9C1F-B4EC-B2A2ABC8B49B}"/>
              </a:ext>
            </a:extLst>
          </p:cNvPr>
          <p:cNvGraphicFramePr>
            <a:graphicFrameLocks noGrp="1"/>
          </p:cNvGraphicFramePr>
          <p:nvPr>
            <p:extLst>
              <p:ext uri="{D42A27DB-BD31-4B8C-83A1-F6EECF244321}">
                <p14:modId xmlns:p14="http://schemas.microsoft.com/office/powerpoint/2010/main" val="1015494069"/>
              </p:ext>
            </p:extLst>
          </p:nvPr>
        </p:nvGraphicFramePr>
        <p:xfrm>
          <a:off x="365759" y="3267194"/>
          <a:ext cx="5010151" cy="2600674"/>
        </p:xfrm>
        <a:graphic>
          <a:graphicData uri="http://schemas.openxmlformats.org/drawingml/2006/table">
            <a:tbl>
              <a:tblPr/>
              <a:tblGrid>
                <a:gridCol w="1508432">
                  <a:extLst>
                    <a:ext uri="{9D8B030D-6E8A-4147-A177-3AD203B41FA5}">
                      <a16:colId xmlns:a16="http://schemas.microsoft.com/office/drawing/2014/main" val="2661330817"/>
                    </a:ext>
                  </a:extLst>
                </a:gridCol>
                <a:gridCol w="3501719">
                  <a:extLst>
                    <a:ext uri="{9D8B030D-6E8A-4147-A177-3AD203B41FA5}">
                      <a16:colId xmlns:a16="http://schemas.microsoft.com/office/drawing/2014/main" val="1187493033"/>
                    </a:ext>
                  </a:extLst>
                </a:gridCol>
              </a:tblGrid>
              <a:tr h="431657">
                <a:tc>
                  <a:txBody>
                    <a:bodyPr/>
                    <a:lstStyle/>
                    <a:p>
                      <a:pPr marL="0" indent="0">
                        <a:buNone/>
                      </a:pPr>
                      <a:r>
                        <a:rPr lang="en-US" sz="1600" b="1" dirty="0">
                          <a:solidFill>
                            <a:srgbClr val="FFFFFF"/>
                          </a:solidFill>
                          <a:latin typeface="Aptos (Body)"/>
                          <a:ea typeface="Calibri" pitchFamily="34" charset="-122"/>
                          <a:cs typeface="Calibri" pitchFamily="34" charset="-120"/>
                        </a:rPr>
                        <a:t>Category</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Aptos (Body)"/>
                          <a:ea typeface="Calibri" pitchFamily="34" charset="-122"/>
                          <a:cs typeface="Calibri" pitchFamily="34" charset="-120"/>
                        </a:rPr>
                        <a:t>Primes</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744"/>
                    </a:solidFill>
                  </a:tcPr>
                </a:tc>
                <a:extLst>
                  <a:ext uri="{0D108BD9-81ED-4DB2-BD59-A6C34878D82A}">
                    <a16:rowId xmlns:a16="http://schemas.microsoft.com/office/drawing/2014/main" val="3020541059"/>
                  </a:ext>
                </a:extLst>
              </a:tr>
              <a:tr h="431657">
                <a:tc>
                  <a:txBody>
                    <a:bodyPr/>
                    <a:lstStyle/>
                    <a:p>
                      <a:pPr marL="0" indent="0">
                        <a:buNone/>
                      </a:pPr>
                      <a:r>
                        <a:rPr lang="en-US" sz="1600" dirty="0">
                          <a:solidFill>
                            <a:srgbClr val="2C3E50"/>
                          </a:solidFill>
                          <a:latin typeface="Aptos (Body)"/>
                          <a:ea typeface="Calibri" pitchFamily="34" charset="-122"/>
                          <a:cs typeface="Calibri" pitchFamily="34" charset="-120"/>
                        </a:rPr>
                        <a:t>Substantives</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600" dirty="0">
                          <a:solidFill>
                            <a:srgbClr val="2C3E50"/>
                          </a:solidFill>
                          <a:latin typeface="Aptos (Body)"/>
                          <a:ea typeface="Calibri" pitchFamily="34" charset="-122"/>
                          <a:cs typeface="Calibri" pitchFamily="34" charset="-120"/>
                        </a:rPr>
                        <a:t>I, YOU, SOMEONE, SOMETHING, PEOPLE, BODY</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308460119"/>
                  </a:ext>
                </a:extLst>
              </a:tr>
              <a:tr h="431657">
                <a:tc>
                  <a:txBody>
                    <a:bodyPr/>
                    <a:lstStyle/>
                    <a:p>
                      <a:pPr marL="0" indent="0">
                        <a:buNone/>
                      </a:pPr>
                      <a:r>
                        <a:rPr lang="en-US" sz="1600" dirty="0">
                          <a:solidFill>
                            <a:srgbClr val="2C3E50"/>
                          </a:solidFill>
                          <a:latin typeface="Aptos (Body)"/>
                          <a:ea typeface="Calibri" pitchFamily="34" charset="-122"/>
                          <a:cs typeface="Calibri" pitchFamily="34" charset="-120"/>
                        </a:rPr>
                        <a:t>Determiners / Quantifiers</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600" dirty="0">
                          <a:solidFill>
                            <a:srgbClr val="2C3E50"/>
                          </a:solidFill>
                          <a:latin typeface="Aptos (Body)"/>
                          <a:ea typeface="Calibri" pitchFamily="34" charset="-122"/>
                          <a:cs typeface="Calibri" pitchFamily="34" charset="-120"/>
                        </a:rPr>
                        <a:t>THIS, THE SAME, OTHER, ONE, TWO, MANY, ALL, SOME, MORE</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2975233151"/>
                  </a:ext>
                </a:extLst>
              </a:tr>
              <a:tr h="431657">
                <a:tc>
                  <a:txBody>
                    <a:bodyPr/>
                    <a:lstStyle/>
                    <a:p>
                      <a:pPr marL="0" indent="0">
                        <a:buNone/>
                      </a:pPr>
                      <a:r>
                        <a:rPr lang="en-US" sz="1600" dirty="0">
                          <a:solidFill>
                            <a:srgbClr val="2C3E50"/>
                          </a:solidFill>
                          <a:latin typeface="Aptos (Body)"/>
                          <a:ea typeface="Calibri" pitchFamily="34" charset="-122"/>
                          <a:cs typeface="Calibri" pitchFamily="34" charset="-120"/>
                        </a:rPr>
                        <a:t>Mental Predicates</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600" dirty="0">
                          <a:solidFill>
                            <a:srgbClr val="2C3E50"/>
                          </a:solidFill>
                          <a:latin typeface="Aptos (Body)"/>
                          <a:ea typeface="Calibri" pitchFamily="34" charset="-122"/>
                          <a:cs typeface="Calibri" pitchFamily="34" charset="-120"/>
                        </a:rPr>
                        <a:t>THINK, KNOW, WANT, FEEL, SEE, HEAR</a:t>
                      </a:r>
                      <a:endParaRPr lang="en-US" sz="1600" dirty="0">
                        <a:latin typeface="Aptos (Body)"/>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587687874"/>
                  </a:ext>
                </a:extLst>
              </a:tr>
              <a:tr h="431657">
                <a:tc>
                  <a:txBody>
                    <a:bodyPr/>
                    <a:lstStyle/>
                    <a:p>
                      <a:pPr marL="0" indent="0">
                        <a:buNone/>
                      </a:pPr>
                      <a:r>
                        <a:rPr lang="en-US" sz="1600" dirty="0">
                          <a:latin typeface="Aptos (Body)"/>
                          <a:ea typeface="Calibri" charset="0"/>
                          <a:cs typeface="Calibri" charset="0"/>
                        </a:rPr>
                        <a:t>…</a:t>
                      </a: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600" dirty="0">
                          <a:latin typeface="Aptos (Body)"/>
                          <a:ea typeface="Calibri" charset="0"/>
                          <a:cs typeface="Calibri" charset="0"/>
                        </a:rPr>
                        <a:t>…</a:t>
                      </a: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80280704"/>
                  </a:ext>
                </a:extLst>
              </a:tr>
            </a:tbl>
          </a:graphicData>
        </a:graphic>
      </p:graphicFrame>
    </p:spTree>
    <p:extLst>
      <p:ext uri="{BB962C8B-B14F-4D97-AF65-F5344CB8AC3E}">
        <p14:creationId xmlns:p14="http://schemas.microsoft.com/office/powerpoint/2010/main" val="1376472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
          <a:extLst>
            <a:ext uri="{FF2B5EF4-FFF2-40B4-BE49-F238E27FC236}">
              <a16:creationId xmlns:a16="http://schemas.microsoft.com/office/drawing/2014/main" id="{7E56BB81-3174-689B-7B7A-398A78882BC2}"/>
            </a:ext>
          </a:extLst>
        </p:cNvPr>
        <p:cNvGrpSpPr/>
        <p:nvPr/>
      </p:nvGrpSpPr>
      <p:grpSpPr>
        <a:xfrm>
          <a:off x="0" y="0"/>
          <a:ext cx="0" cy="0"/>
          <a:chOff x="0" y="0"/>
          <a:chExt cx="0" cy="0"/>
        </a:xfrm>
      </p:grpSpPr>
      <p:sp>
        <p:nvSpPr>
          <p:cNvPr id="17" name="Google Shape;17;g3d1eafd1ad1_0_214">
            <a:extLst>
              <a:ext uri="{FF2B5EF4-FFF2-40B4-BE49-F238E27FC236}">
                <a16:creationId xmlns:a16="http://schemas.microsoft.com/office/drawing/2014/main" id="{F59455AF-A255-F9F6-E40D-C67E7F2434E1}"/>
              </a:ext>
            </a:extLst>
          </p:cNvPr>
          <p:cNvSpPr txBox="1"/>
          <p:nvPr/>
        </p:nvSpPr>
        <p:spPr>
          <a:xfrm>
            <a:off x="795600" y="4746823"/>
            <a:ext cx="10600800" cy="1723508"/>
          </a:xfrm>
          <a:prstGeom prst="rect">
            <a:avLst/>
          </a:prstGeom>
          <a:noFill/>
          <a:ln>
            <a:noFill/>
          </a:ln>
        </p:spPr>
        <p:txBody>
          <a:bodyPr spcFirstLastPara="1" wrap="square" lIns="121900" tIns="121900" rIns="121900" bIns="121900" anchor="t" anchorCtr="0">
            <a:spAutoFit/>
          </a:bodyPr>
          <a:lstStyle/>
          <a:p>
            <a:r>
              <a:rPr lang="en-US" sz="2400" dirty="0" err="1"/>
              <a:t>情報経営システム工学</a:t>
            </a:r>
            <a:r>
              <a:rPr lang="en-US" sz="2400" dirty="0"/>
              <a:t>　4年</a:t>
            </a:r>
            <a:endParaRPr sz="2400" dirty="0"/>
          </a:p>
          <a:p>
            <a:r>
              <a:rPr lang="en-US" sz="2400" dirty="0" err="1"/>
              <a:t>ロペスチャパホセ</a:t>
            </a:r>
            <a:endParaRPr sz="2400" dirty="0"/>
          </a:p>
          <a:p>
            <a:endParaRPr sz="2400" dirty="0"/>
          </a:p>
          <a:p>
            <a:pPr algn="r"/>
            <a:r>
              <a:rPr lang="ja-JP" altLang="es-MX" sz="2400" dirty="0">
                <a:latin typeface="+mj-lt"/>
              </a:rPr>
              <a:t>５</a:t>
            </a:r>
            <a:r>
              <a:rPr lang="en-US" sz="2400" dirty="0">
                <a:latin typeface="+mj-lt"/>
              </a:rPr>
              <a:t>月</a:t>
            </a:r>
            <a:r>
              <a:rPr lang="ja-JP" altLang="es-MX" sz="2400" dirty="0">
                <a:latin typeface="+mj-lt"/>
              </a:rPr>
              <a:t>１９</a:t>
            </a:r>
            <a:r>
              <a:rPr lang="en-US" sz="2400" dirty="0">
                <a:latin typeface="+mj-lt"/>
              </a:rPr>
              <a:t>日</a:t>
            </a:r>
            <a:r>
              <a:rPr lang="ja-JP" altLang="es-MX" sz="2400" dirty="0">
                <a:latin typeface="+mj-lt"/>
              </a:rPr>
              <a:t>２０２６</a:t>
            </a:r>
            <a:r>
              <a:rPr lang="en-US" sz="2400" dirty="0">
                <a:latin typeface="+mj-lt"/>
              </a:rPr>
              <a:t>年</a:t>
            </a:r>
            <a:endParaRPr sz="2400" dirty="0">
              <a:latin typeface="+mj-lt"/>
            </a:endParaRPr>
          </a:p>
        </p:txBody>
      </p:sp>
      <p:sp>
        <p:nvSpPr>
          <p:cNvPr id="5" name="Google Shape;16;g3d1eafd1ad1_0_214">
            <a:extLst>
              <a:ext uri="{FF2B5EF4-FFF2-40B4-BE49-F238E27FC236}">
                <a16:creationId xmlns:a16="http://schemas.microsoft.com/office/drawing/2014/main" id="{65773E33-326A-C342-C6FE-B22B2B943073}"/>
              </a:ext>
            </a:extLst>
          </p:cNvPr>
          <p:cNvSpPr txBox="1"/>
          <p:nvPr/>
        </p:nvSpPr>
        <p:spPr>
          <a:xfrm>
            <a:off x="739338" y="2111177"/>
            <a:ext cx="11396400" cy="830956"/>
          </a:xfrm>
          <a:prstGeom prst="rect">
            <a:avLst/>
          </a:prstGeom>
          <a:noFill/>
          <a:ln>
            <a:noFill/>
          </a:ln>
        </p:spPr>
        <p:txBody>
          <a:bodyPr spcFirstLastPara="1" wrap="square" lIns="121900" tIns="121900" rIns="121900" bIns="121900" anchor="t" anchorCtr="0">
            <a:spAutoFit/>
          </a:bodyPr>
          <a:lstStyle/>
          <a:p>
            <a:r>
              <a:rPr lang="en-US" sz="3800" i="1" dirty="0"/>
              <a:t>NSM+LDOCE: A Non-Circular Dictionary of English</a:t>
            </a:r>
            <a:endParaRPr sz="3800" i="1" dirty="0"/>
          </a:p>
        </p:txBody>
      </p:sp>
      <p:sp>
        <p:nvSpPr>
          <p:cNvPr id="6" name="TextBox 5">
            <a:extLst>
              <a:ext uri="{FF2B5EF4-FFF2-40B4-BE49-F238E27FC236}">
                <a16:creationId xmlns:a16="http://schemas.microsoft.com/office/drawing/2014/main" id="{4EAED638-A6DD-E14F-4C45-133D95EA80FC}"/>
              </a:ext>
            </a:extLst>
          </p:cNvPr>
          <p:cNvSpPr txBox="1"/>
          <p:nvPr/>
        </p:nvSpPr>
        <p:spPr>
          <a:xfrm>
            <a:off x="795600" y="2813982"/>
            <a:ext cx="6094674" cy="369332"/>
          </a:xfrm>
          <a:prstGeom prst="rect">
            <a:avLst/>
          </a:prstGeom>
          <a:noFill/>
        </p:spPr>
        <p:txBody>
          <a:bodyPr wrap="square">
            <a:spAutoFit/>
          </a:bodyPr>
          <a:lstStyle/>
          <a:p>
            <a:r>
              <a:rPr lang="es-MX" dirty="0"/>
              <a:t>Goddard (2011)</a:t>
            </a:r>
          </a:p>
        </p:txBody>
      </p:sp>
    </p:spTree>
    <p:extLst>
      <p:ext uri="{BB962C8B-B14F-4D97-AF65-F5344CB8AC3E}">
        <p14:creationId xmlns:p14="http://schemas.microsoft.com/office/powerpoint/2010/main" val="124642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E7BC6-0706-C159-D39D-C67F7EFFF80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7AFCA3-0314-6909-B5A9-19E687425953}"/>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CAD0D4FC-62D3-DF8E-0EC8-61418D58B431}"/>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The Circular </a:t>
            </a:r>
            <a:r>
              <a:rPr lang="es-MX" altLang="ja-JP" sz="2933" b="1" dirty="0" err="1">
                <a:solidFill>
                  <a:srgbClr val="FFFFFF"/>
                </a:solidFill>
                <a:latin typeface="Georgia" pitchFamily="34" charset="0"/>
                <a:ea typeface="Georgia" pitchFamily="34" charset="-122"/>
                <a:cs typeface="Georgia" pitchFamily="34" charset="-120"/>
              </a:rPr>
              <a:t>Definition</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Problem</a:t>
            </a:r>
            <a:endParaRPr lang="en-US" sz="2933" dirty="0"/>
          </a:p>
        </p:txBody>
      </p:sp>
      <p:sp>
        <p:nvSpPr>
          <p:cNvPr id="4" name="Text 7">
            <a:extLst>
              <a:ext uri="{FF2B5EF4-FFF2-40B4-BE49-F238E27FC236}">
                <a16:creationId xmlns:a16="http://schemas.microsoft.com/office/drawing/2014/main" id="{5B152805-78FA-3C54-E531-00AFE6BDB1F6}"/>
              </a:ext>
            </a:extLst>
          </p:cNvPr>
          <p:cNvSpPr/>
          <p:nvPr/>
        </p:nvSpPr>
        <p:spPr>
          <a:xfrm>
            <a:off x="365760" y="1675130"/>
            <a:ext cx="11338560" cy="4505960"/>
          </a:xfrm>
          <a:prstGeom prst="rect">
            <a:avLst/>
          </a:prstGeom>
          <a:noFill/>
          <a:ln/>
        </p:spPr>
        <p:txBody>
          <a:bodyPr wrap="square" rtlCol="0" anchor="ctr"/>
          <a:lstStyle/>
          <a:p>
            <a:pPr algn="just"/>
            <a:r>
              <a:rPr lang="en-US" dirty="0"/>
              <a:t>In a typical dictionary, more than 25% of all definitions use words whose definitions ultimately refer back to the word being defined. This means that for at least one in four words you look up, following the chain of definitions will eventually loop back to the word you started with — leaving you no closer to understanding its meaning. </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For a reader who already knows most words this is rarely a problem, since they can fill the gap from prior knowledge and existing vocabulary. But for a beginning learner with a small vocabulary, every unknown word in a definition must itself be looked up, and those definitions contain further unknown words that must also be looked up. </a:t>
            </a:r>
          </a:p>
          <a:p>
            <a:pPr algn="just"/>
            <a:endParaRPr lang="en-US" dirty="0"/>
          </a:p>
          <a:p>
            <a:pPr algn="just"/>
            <a:r>
              <a:rPr lang="en-US" dirty="0"/>
              <a:t>Those definitions circle back on themselves, trapping the reader inside a closed system. The dictionary ends up assuming the very knowledge it is supposed to provide, making it least useful precisely for the people who need it most.</a:t>
            </a:r>
          </a:p>
        </p:txBody>
      </p:sp>
      <p:sp>
        <p:nvSpPr>
          <p:cNvPr id="5" name="Shape 8">
            <a:extLst>
              <a:ext uri="{FF2B5EF4-FFF2-40B4-BE49-F238E27FC236}">
                <a16:creationId xmlns:a16="http://schemas.microsoft.com/office/drawing/2014/main" id="{C91CAA0E-A6A9-B169-9C45-8EE33D732C8D}"/>
              </a:ext>
            </a:extLst>
          </p:cNvPr>
          <p:cNvSpPr/>
          <p:nvPr/>
        </p:nvSpPr>
        <p:spPr>
          <a:xfrm>
            <a:off x="396240" y="2382520"/>
            <a:ext cx="11399520" cy="1668780"/>
          </a:xfrm>
          <a:prstGeom prst="rect">
            <a:avLst/>
          </a:prstGeom>
          <a:solidFill>
            <a:srgbClr val="1E1E2E"/>
          </a:solidFill>
          <a:ln w="12700">
            <a:solidFill>
              <a:srgbClr val="333355"/>
            </a:solidFill>
            <a:prstDash val="solid"/>
          </a:ln>
        </p:spPr>
        <p:txBody>
          <a:bodyPr/>
          <a:lstStyle/>
          <a:p>
            <a:r>
              <a:rPr lang="en-US" dirty="0">
                <a:solidFill>
                  <a:srgbClr val="7EC8E3"/>
                </a:solidFill>
                <a:latin typeface="Courier New" pitchFamily="34" charset="0"/>
                <a:ea typeface="Courier New" pitchFamily="34" charset="-122"/>
                <a:cs typeface="Courier New" pitchFamily="34" charset="-120"/>
              </a:rPr>
              <a:t>illness   =  sickness of body or mind</a:t>
            </a:r>
            <a:endParaRPr lang="en-US" dirty="0"/>
          </a:p>
          <a:p>
            <a:r>
              <a:rPr lang="en-US" dirty="0">
                <a:solidFill>
                  <a:srgbClr val="C9E8C9"/>
                </a:solidFill>
                <a:latin typeface="Courier New" pitchFamily="34" charset="0"/>
                <a:ea typeface="Courier New" pitchFamily="34" charset="-122"/>
                <a:cs typeface="Courier New" pitchFamily="34" charset="-120"/>
              </a:rPr>
              <a:t>sickness  =  the condition of being sick; illness; disease</a:t>
            </a:r>
          </a:p>
          <a:p>
            <a:r>
              <a:rPr lang="en-US" dirty="0">
                <a:solidFill>
                  <a:srgbClr val="C9E8C9"/>
                </a:solidFill>
                <a:latin typeface="Courier New" pitchFamily="34" charset="0"/>
                <a:ea typeface="Courier New" pitchFamily="34" charset="-122"/>
                <a:cs typeface="Courier New" pitchFamily="34" charset="-120"/>
              </a:rPr>
              <a:t>sick      =  suffering from a physical illness; mentally ill</a:t>
            </a:r>
            <a:endParaRPr lang="en-US" dirty="0"/>
          </a:p>
          <a:p>
            <a:endParaRPr lang="en-US" dirty="0"/>
          </a:p>
          <a:p>
            <a:r>
              <a:rPr lang="en-US" dirty="0">
                <a:solidFill>
                  <a:srgbClr val="C9E8C9"/>
                </a:solidFill>
                <a:latin typeface="Courier New" pitchFamily="34" charset="0"/>
                <a:ea typeface="Courier New" pitchFamily="34" charset="-122"/>
                <a:cs typeface="Courier New" pitchFamily="34" charset="-120"/>
              </a:rPr>
              <a:t>→  illness → sickness → sick → illness   [LOOP]</a:t>
            </a:r>
            <a:endParaRPr lang="en-US" dirty="0"/>
          </a:p>
          <a:p>
            <a:endParaRPr lang="es-MX" dirty="0"/>
          </a:p>
        </p:txBody>
      </p:sp>
    </p:spTree>
    <p:extLst>
      <p:ext uri="{BB962C8B-B14F-4D97-AF65-F5344CB8AC3E}">
        <p14:creationId xmlns:p14="http://schemas.microsoft.com/office/powerpoint/2010/main" val="3615223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20E9-9E47-B908-5AFC-56C90F2EBD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ED1AA9-0FAF-EBFC-640D-505A02A89C5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dirty="0"/>
          </a:p>
        </p:txBody>
      </p:sp>
      <p:sp>
        <p:nvSpPr>
          <p:cNvPr id="3" name="Text 1">
            <a:extLst>
              <a:ext uri="{FF2B5EF4-FFF2-40B4-BE49-F238E27FC236}">
                <a16:creationId xmlns:a16="http://schemas.microsoft.com/office/drawing/2014/main" id="{8CE39F3B-D8AF-225A-2723-468E2B1FB53D}"/>
              </a:ext>
            </a:extLst>
          </p:cNvPr>
          <p:cNvSpPr/>
          <p:nvPr/>
        </p:nvSpPr>
        <p:spPr>
          <a:xfrm>
            <a:off x="365760" y="0"/>
            <a:ext cx="11460480" cy="877824"/>
          </a:xfrm>
          <a:prstGeom prst="rect">
            <a:avLst/>
          </a:prstGeom>
          <a:noFill/>
          <a:ln/>
        </p:spPr>
        <p:txBody>
          <a:bodyPr wrap="square" rtlCol="0" anchor="ctr"/>
          <a:lstStyle/>
          <a:p>
            <a:r>
              <a:rPr lang="es-MX" altLang="ja-JP" sz="2933" b="1" dirty="0">
                <a:solidFill>
                  <a:srgbClr val="FFFFFF"/>
                </a:solidFill>
                <a:latin typeface="Georgia" pitchFamily="34" charset="0"/>
                <a:ea typeface="Georgia" pitchFamily="34" charset="-122"/>
                <a:cs typeface="Georgia" pitchFamily="34" charset="-120"/>
              </a:rPr>
              <a:t>How NSM </a:t>
            </a:r>
            <a:r>
              <a:rPr lang="es-MX" altLang="ja-JP" sz="2933" b="1" dirty="0" err="1">
                <a:solidFill>
                  <a:srgbClr val="FFFFFF"/>
                </a:solidFill>
                <a:latin typeface="Georgia" pitchFamily="34" charset="0"/>
                <a:ea typeface="Georgia" pitchFamily="34" charset="-122"/>
                <a:cs typeface="Georgia" pitchFamily="34" charset="-120"/>
              </a:rPr>
              <a:t>could</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solve</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the</a:t>
            </a:r>
            <a:r>
              <a:rPr lang="es-MX" altLang="ja-JP" sz="2933" b="1" dirty="0">
                <a:solidFill>
                  <a:srgbClr val="FFFFFF"/>
                </a:solidFill>
                <a:latin typeface="Georgia" pitchFamily="34" charset="0"/>
                <a:ea typeface="Georgia" pitchFamily="34" charset="-122"/>
                <a:cs typeface="Georgia" pitchFamily="34" charset="-120"/>
              </a:rPr>
              <a:t> Circular </a:t>
            </a:r>
            <a:r>
              <a:rPr lang="es-MX" altLang="ja-JP" sz="2933" b="1" dirty="0" err="1">
                <a:solidFill>
                  <a:srgbClr val="FFFFFF"/>
                </a:solidFill>
                <a:latin typeface="Georgia" pitchFamily="34" charset="0"/>
                <a:ea typeface="Georgia" pitchFamily="34" charset="-122"/>
                <a:cs typeface="Georgia" pitchFamily="34" charset="-120"/>
              </a:rPr>
              <a:t>Definition</a:t>
            </a:r>
            <a:r>
              <a:rPr lang="es-MX" altLang="ja-JP" sz="2933" b="1" dirty="0">
                <a:solidFill>
                  <a:srgbClr val="FFFFFF"/>
                </a:solidFill>
                <a:latin typeface="Georgia" pitchFamily="34" charset="0"/>
                <a:ea typeface="Georgia" pitchFamily="34" charset="-122"/>
                <a:cs typeface="Georgia" pitchFamily="34" charset="-120"/>
              </a:rPr>
              <a:t> </a:t>
            </a:r>
            <a:r>
              <a:rPr lang="es-MX" altLang="ja-JP" sz="2933" b="1" dirty="0" err="1">
                <a:solidFill>
                  <a:srgbClr val="FFFFFF"/>
                </a:solidFill>
                <a:latin typeface="Georgia" pitchFamily="34" charset="0"/>
                <a:ea typeface="Georgia" pitchFamily="34" charset="-122"/>
                <a:cs typeface="Georgia" pitchFamily="34" charset="-120"/>
              </a:rPr>
              <a:t>Problem</a:t>
            </a:r>
            <a:endParaRPr lang="en-US" sz="2933" dirty="0"/>
          </a:p>
        </p:txBody>
      </p:sp>
      <p:sp>
        <p:nvSpPr>
          <p:cNvPr id="4" name="Text 7">
            <a:extLst>
              <a:ext uri="{FF2B5EF4-FFF2-40B4-BE49-F238E27FC236}">
                <a16:creationId xmlns:a16="http://schemas.microsoft.com/office/drawing/2014/main" id="{35A8268C-378C-432F-7F3D-611371BECF45}"/>
              </a:ext>
            </a:extLst>
          </p:cNvPr>
          <p:cNvSpPr/>
          <p:nvPr/>
        </p:nvSpPr>
        <p:spPr>
          <a:xfrm>
            <a:off x="365760" y="1005967"/>
            <a:ext cx="11338560" cy="4149090"/>
          </a:xfrm>
          <a:prstGeom prst="rect">
            <a:avLst/>
          </a:prstGeom>
          <a:noFill/>
          <a:ln/>
        </p:spPr>
        <p:txBody>
          <a:bodyPr wrap="square" rtlCol="0" anchor="ctr"/>
          <a:lstStyle/>
          <a:p>
            <a:r>
              <a:rPr lang="en-US" sz="1700" dirty="0"/>
              <a:t>The Longman Dictionary of Contemporary English (LDOCE) attempted to reduce circularity through a controlled defining vocabulary — a fixed set of around 2,000 high-frequency words used to write every definition across the entire dictionary. </a:t>
            </a:r>
          </a:p>
          <a:p>
            <a:endParaRPr lang="en-US" sz="1700" dirty="0"/>
          </a:p>
          <a:p>
            <a:r>
              <a:rPr lang="en-US" sz="1700" dirty="0"/>
              <a:t>If a reader knows those 2,000 words, the remaining 78,000 entries can be understood without hitting a circular loop.</a:t>
            </a:r>
          </a:p>
          <a:p>
            <a:endParaRPr lang="en-US" sz="1700" dirty="0"/>
          </a:p>
          <a:p>
            <a:r>
              <a:rPr lang="en-US" sz="1700" b="1" dirty="0"/>
              <a:t>The gap: 		</a:t>
            </a:r>
            <a:r>
              <a:rPr lang="en-US" sz="1700" dirty="0"/>
              <a:t>The 2,000 core words themselves still need definitions — and those definitions loop back on each 			other. The core vocabulary is internally circular.</a:t>
            </a:r>
          </a:p>
          <a:p>
            <a:endParaRPr lang="en-US" sz="1700" dirty="0"/>
          </a:p>
          <a:p>
            <a:r>
              <a:rPr lang="en-US" sz="1700" b="1" dirty="0"/>
              <a:t>The solution: 	</a:t>
            </a:r>
            <a:r>
              <a:rPr lang="en-US" sz="1700" dirty="0"/>
              <a:t>Instead of rearranging the 2,000 core words, Bullock replaces the bottom of the dictionary entirely. 			All 2,000 core words are redefined using only NSM primitives. Since primitives carry no definitions 			themselves, the chain stops there.</a:t>
            </a:r>
          </a:p>
          <a:p>
            <a:endParaRPr lang="en-US" sz="1700" dirty="0"/>
          </a:p>
          <a:p>
            <a:r>
              <a:rPr lang="en-US" sz="1700" b="1" dirty="0"/>
              <a:t>The result:	</a:t>
            </a:r>
            <a:r>
              <a:rPr lang="en-US" sz="1700" dirty="0"/>
              <a:t>64 primitives → define 2,000 core words → define 78,000 entries</a:t>
            </a:r>
          </a:p>
          <a:p>
            <a:endParaRPr lang="en-US" sz="1700" dirty="0"/>
          </a:p>
          <a:p>
            <a:endParaRPr lang="en-US" sz="1700" dirty="0"/>
          </a:p>
        </p:txBody>
      </p:sp>
      <p:sp>
        <p:nvSpPr>
          <p:cNvPr id="12" name="Text 8">
            <a:extLst>
              <a:ext uri="{FF2B5EF4-FFF2-40B4-BE49-F238E27FC236}">
                <a16:creationId xmlns:a16="http://schemas.microsoft.com/office/drawing/2014/main" id="{E487CF96-0EE3-8531-2EA0-7D2C312BB8EC}"/>
              </a:ext>
            </a:extLst>
          </p:cNvPr>
          <p:cNvSpPr/>
          <p:nvPr/>
        </p:nvSpPr>
        <p:spPr>
          <a:xfrm>
            <a:off x="487680" y="4983480"/>
            <a:ext cx="4023360" cy="274320"/>
          </a:xfrm>
          <a:prstGeom prst="rect">
            <a:avLst/>
          </a:prstGeom>
          <a:noFill/>
          <a:ln/>
        </p:spPr>
        <p:txBody>
          <a:bodyPr wrap="square" rtlCol="0" anchor="ctr"/>
          <a:lstStyle/>
          <a:p>
            <a:pPr marL="0" indent="0">
              <a:buNone/>
            </a:pPr>
            <a:r>
              <a:rPr lang="en-US" b="1" dirty="0">
                <a:solidFill>
                  <a:srgbClr val="C0392B"/>
                </a:solidFill>
                <a:latin typeface="Calibri" pitchFamily="34" charset="0"/>
                <a:ea typeface="Calibri" pitchFamily="34" charset="-122"/>
                <a:cs typeface="Calibri" pitchFamily="34" charset="-120"/>
              </a:rPr>
              <a:t>BEFORE — LDOCE</a:t>
            </a:r>
            <a:endParaRPr lang="en-US" dirty="0"/>
          </a:p>
        </p:txBody>
      </p:sp>
      <p:sp>
        <p:nvSpPr>
          <p:cNvPr id="13" name="Shape 9">
            <a:extLst>
              <a:ext uri="{FF2B5EF4-FFF2-40B4-BE49-F238E27FC236}">
                <a16:creationId xmlns:a16="http://schemas.microsoft.com/office/drawing/2014/main" id="{4CC17AEE-686B-B27C-0FAC-2754C9A6A3AA}"/>
              </a:ext>
            </a:extLst>
          </p:cNvPr>
          <p:cNvSpPr/>
          <p:nvPr/>
        </p:nvSpPr>
        <p:spPr>
          <a:xfrm>
            <a:off x="487679" y="5285232"/>
            <a:ext cx="5196841" cy="1460500"/>
          </a:xfrm>
          <a:prstGeom prst="rect">
            <a:avLst/>
          </a:prstGeom>
          <a:solidFill>
            <a:srgbClr val="1E1E2E"/>
          </a:solidFill>
          <a:ln w="12700">
            <a:solidFill>
              <a:srgbClr val="333355"/>
            </a:solidFill>
            <a:prstDash val="solid"/>
          </a:ln>
        </p:spPr>
        <p:txBody>
          <a:bodyPr/>
          <a:lstStyle/>
          <a:p>
            <a:r>
              <a:rPr lang="en-US" sz="1600" dirty="0" err="1">
                <a:solidFill>
                  <a:srgbClr val="7EC8E3"/>
                </a:solidFill>
                <a:latin typeface="Courier New" pitchFamily="34" charset="0"/>
                <a:ea typeface="Courier New" pitchFamily="34" charset="-122"/>
                <a:cs typeface="Courier New" pitchFamily="34" charset="-120"/>
              </a:rPr>
              <a:t>colour</a:t>
            </a:r>
            <a:r>
              <a:rPr lang="en-US" sz="1600" dirty="0">
                <a:solidFill>
                  <a:srgbClr val="7EC8E3"/>
                </a:solidFill>
                <a:latin typeface="Courier New" pitchFamily="34" charset="0"/>
                <a:ea typeface="Courier New" pitchFamily="34" charset="-122"/>
                <a:cs typeface="Courier New" pitchFamily="34" charset="-120"/>
              </a:rPr>
              <a:t> → a shade, hue, tone</a:t>
            </a:r>
            <a:endParaRPr lang="en-US" sz="1600" dirty="0"/>
          </a:p>
          <a:p>
            <a:r>
              <a:rPr lang="en-US" sz="1600" dirty="0">
                <a:solidFill>
                  <a:srgbClr val="C9E8C9"/>
                </a:solidFill>
                <a:latin typeface="Courier New" pitchFamily="34" charset="0"/>
                <a:ea typeface="Courier New" pitchFamily="34" charset="-122"/>
                <a:cs typeface="Courier New" pitchFamily="34" charset="-120"/>
              </a:rPr>
              <a:t>shade  → a </a:t>
            </a:r>
            <a:r>
              <a:rPr lang="en-US" sz="1600" dirty="0" err="1">
                <a:solidFill>
                  <a:srgbClr val="C9E8C9"/>
                </a:solidFill>
                <a:latin typeface="Courier New" pitchFamily="34" charset="0"/>
                <a:ea typeface="Courier New" pitchFamily="34" charset="-122"/>
                <a:cs typeface="Courier New" pitchFamily="34" charset="-120"/>
              </a:rPr>
              <a:t>colour</a:t>
            </a:r>
            <a:r>
              <a:rPr lang="en-US" sz="1600" dirty="0">
                <a:solidFill>
                  <a:srgbClr val="C9E8C9"/>
                </a:solidFill>
                <a:latin typeface="Courier New" pitchFamily="34" charset="0"/>
                <a:ea typeface="Courier New" pitchFamily="34" charset="-122"/>
                <a:cs typeface="Courier New" pitchFamily="34" charset="-120"/>
              </a:rPr>
              <a:t> or tone</a:t>
            </a:r>
            <a:endParaRPr lang="en-US" sz="1600" dirty="0"/>
          </a:p>
          <a:p>
            <a:r>
              <a:rPr lang="en-US" sz="1600" dirty="0">
                <a:solidFill>
                  <a:srgbClr val="C9E8C9"/>
                </a:solidFill>
                <a:latin typeface="Courier New" pitchFamily="34" charset="0"/>
                <a:ea typeface="Courier New" pitchFamily="34" charset="-122"/>
                <a:cs typeface="Courier New" pitchFamily="34" charset="-120"/>
              </a:rPr>
              <a:t>hue    → a shade of </a:t>
            </a:r>
            <a:r>
              <a:rPr lang="en-US" sz="1600" dirty="0" err="1">
                <a:solidFill>
                  <a:srgbClr val="C9E8C9"/>
                </a:solidFill>
                <a:latin typeface="Courier New" pitchFamily="34" charset="0"/>
                <a:ea typeface="Courier New" pitchFamily="34" charset="-122"/>
                <a:cs typeface="Courier New" pitchFamily="34" charset="-120"/>
              </a:rPr>
              <a:t>colour</a:t>
            </a:r>
            <a:endParaRPr lang="en-US" sz="1600" dirty="0"/>
          </a:p>
          <a:p>
            <a:endParaRPr lang="en-US" sz="1600" dirty="0">
              <a:solidFill>
                <a:srgbClr val="C9E8C9"/>
              </a:solidFill>
              <a:latin typeface="Courier New" pitchFamily="34" charset="0"/>
              <a:ea typeface="Courier New" pitchFamily="34" charset="-122"/>
              <a:cs typeface="Courier New" pitchFamily="34" charset="-120"/>
            </a:endParaRPr>
          </a:p>
          <a:p>
            <a:r>
              <a:rPr lang="en-US" sz="1600" dirty="0">
                <a:solidFill>
                  <a:srgbClr val="C9E8C9"/>
                </a:solidFill>
                <a:latin typeface="Courier New" pitchFamily="34" charset="0"/>
                <a:ea typeface="Courier New" pitchFamily="34" charset="-122"/>
                <a:cs typeface="Courier New" pitchFamily="34" charset="-120"/>
              </a:rPr>
              <a:t>→ LOOP</a:t>
            </a:r>
            <a:endParaRPr lang="en-US" sz="1600" dirty="0"/>
          </a:p>
        </p:txBody>
      </p:sp>
      <p:sp>
        <p:nvSpPr>
          <p:cNvPr id="14" name="Text 11">
            <a:extLst>
              <a:ext uri="{FF2B5EF4-FFF2-40B4-BE49-F238E27FC236}">
                <a16:creationId xmlns:a16="http://schemas.microsoft.com/office/drawing/2014/main" id="{3F4D83FE-EB8A-1CC5-181C-8057E423A3AE}"/>
              </a:ext>
            </a:extLst>
          </p:cNvPr>
          <p:cNvSpPr/>
          <p:nvPr/>
        </p:nvSpPr>
        <p:spPr>
          <a:xfrm>
            <a:off x="6512559" y="4990592"/>
            <a:ext cx="4023360" cy="274320"/>
          </a:xfrm>
          <a:prstGeom prst="rect">
            <a:avLst/>
          </a:prstGeom>
          <a:noFill/>
          <a:ln/>
        </p:spPr>
        <p:txBody>
          <a:bodyPr wrap="square" rtlCol="0" anchor="ctr"/>
          <a:lstStyle/>
          <a:p>
            <a:pPr marL="0" indent="0">
              <a:buNone/>
            </a:pPr>
            <a:r>
              <a:rPr lang="en-US" b="1" dirty="0">
                <a:solidFill>
                  <a:srgbClr val="1D7A4A"/>
                </a:solidFill>
                <a:latin typeface="Calibri" pitchFamily="34" charset="0"/>
                <a:ea typeface="Calibri" pitchFamily="34" charset="-122"/>
                <a:cs typeface="Calibri" pitchFamily="34" charset="-120"/>
              </a:rPr>
              <a:t>AFTER — NSM-LDOCE</a:t>
            </a:r>
            <a:endParaRPr lang="en-US" dirty="0"/>
          </a:p>
        </p:txBody>
      </p:sp>
      <p:sp>
        <p:nvSpPr>
          <p:cNvPr id="15" name="Shape 12">
            <a:extLst>
              <a:ext uri="{FF2B5EF4-FFF2-40B4-BE49-F238E27FC236}">
                <a16:creationId xmlns:a16="http://schemas.microsoft.com/office/drawing/2014/main" id="{9FDF207E-930E-EB47-6738-31D531862F30}"/>
              </a:ext>
            </a:extLst>
          </p:cNvPr>
          <p:cNvSpPr/>
          <p:nvPr/>
        </p:nvSpPr>
        <p:spPr>
          <a:xfrm>
            <a:off x="6512559" y="5285232"/>
            <a:ext cx="5313680" cy="1460500"/>
          </a:xfrm>
          <a:prstGeom prst="rect">
            <a:avLst/>
          </a:prstGeom>
          <a:solidFill>
            <a:srgbClr val="1E1E2E"/>
          </a:solidFill>
          <a:ln w="12700">
            <a:solidFill>
              <a:srgbClr val="333355"/>
            </a:solidFill>
            <a:prstDash val="solid"/>
          </a:ln>
        </p:spPr>
        <p:txBody>
          <a:bodyPr/>
          <a:lstStyle/>
          <a:p>
            <a:r>
              <a:rPr lang="en-US" sz="1600" dirty="0" err="1">
                <a:solidFill>
                  <a:srgbClr val="7EC8E3"/>
                </a:solidFill>
                <a:latin typeface="Courier New" pitchFamily="34" charset="0"/>
                <a:ea typeface="Courier New" pitchFamily="34" charset="-122"/>
                <a:cs typeface="Courier New" pitchFamily="34" charset="-120"/>
              </a:rPr>
              <a:t>colour</a:t>
            </a:r>
            <a:r>
              <a:rPr lang="en-US" sz="1600" dirty="0">
                <a:solidFill>
                  <a:srgbClr val="7EC8E3"/>
                </a:solidFill>
                <a:latin typeface="Courier New" pitchFamily="34" charset="0"/>
                <a:ea typeface="Courier New" pitchFamily="34" charset="-122"/>
                <a:cs typeface="Courier New" pitchFamily="34" charset="-120"/>
              </a:rPr>
              <a:t> → something people SEE</a:t>
            </a:r>
            <a:endParaRPr lang="en-US" sz="1600" dirty="0"/>
          </a:p>
          <a:p>
            <a:r>
              <a:rPr lang="en-US" sz="1600" dirty="0">
                <a:solidFill>
                  <a:srgbClr val="C9E8C9"/>
                </a:solidFill>
                <a:latin typeface="Courier New" pitchFamily="34" charset="0"/>
                <a:ea typeface="Courier New" pitchFamily="34" charset="-122"/>
                <a:cs typeface="Courier New" pitchFamily="34" charset="-120"/>
              </a:rPr>
              <a:t>         that makes one THING</a:t>
            </a:r>
            <a:endParaRPr lang="en-US" sz="1600" dirty="0"/>
          </a:p>
          <a:p>
            <a:r>
              <a:rPr lang="en-US" sz="1600" dirty="0">
                <a:solidFill>
                  <a:srgbClr val="C9E8C9"/>
                </a:solidFill>
                <a:latin typeface="Courier New" pitchFamily="34" charset="0"/>
                <a:ea typeface="Courier New" pitchFamily="34" charset="-122"/>
                <a:cs typeface="Courier New" pitchFamily="34" charset="-120"/>
              </a:rPr>
              <a:t>         look DIFFERENT from</a:t>
            </a:r>
            <a:endParaRPr lang="en-US" sz="1600" dirty="0"/>
          </a:p>
          <a:p>
            <a:r>
              <a:rPr lang="en-US" sz="1600" dirty="0">
                <a:solidFill>
                  <a:srgbClr val="C9E8C9"/>
                </a:solidFill>
                <a:latin typeface="Courier New" pitchFamily="34" charset="0"/>
                <a:ea typeface="Courier New" pitchFamily="34" charset="-122"/>
                <a:cs typeface="Courier New" pitchFamily="34" charset="-120"/>
              </a:rPr>
              <a:t>         another THING  </a:t>
            </a:r>
            <a:endParaRPr lang="en-US" sz="1600" dirty="0"/>
          </a:p>
        </p:txBody>
      </p:sp>
      <p:cxnSp>
        <p:nvCxnSpPr>
          <p:cNvPr id="17" name="Straight Connector 16">
            <a:extLst>
              <a:ext uri="{FF2B5EF4-FFF2-40B4-BE49-F238E27FC236}">
                <a16:creationId xmlns:a16="http://schemas.microsoft.com/office/drawing/2014/main" id="{BEB68758-8F4F-BDA2-4D96-6EDABFF40094}"/>
              </a:ext>
            </a:extLst>
          </p:cNvPr>
          <p:cNvCxnSpPr>
            <a:cxnSpLocks/>
          </p:cNvCxnSpPr>
          <p:nvPr/>
        </p:nvCxnSpPr>
        <p:spPr>
          <a:xfrm>
            <a:off x="365760" y="4813300"/>
            <a:ext cx="11460480"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3F4084E-17FB-9BE3-DEFA-7718E824D010}"/>
              </a:ext>
            </a:extLst>
          </p:cNvPr>
          <p:cNvSpPr txBox="1"/>
          <p:nvPr/>
        </p:nvSpPr>
        <p:spPr>
          <a:xfrm>
            <a:off x="8423673" y="4240381"/>
            <a:ext cx="2361088" cy="507831"/>
          </a:xfrm>
          <a:prstGeom prst="rect">
            <a:avLst/>
          </a:prstGeom>
          <a:noFill/>
        </p:spPr>
        <p:txBody>
          <a:bodyPr wrap="square">
            <a:spAutoFit/>
          </a:bodyPr>
          <a:lstStyle/>
          <a:p>
            <a:pPr algn="just">
              <a:buNone/>
            </a:pPr>
            <a:r>
              <a:rPr lang="en-US" sz="900" b="1" i="1" dirty="0">
                <a:solidFill>
                  <a:srgbClr val="FF0000"/>
                </a:solidFill>
              </a:rPr>
              <a:t>Note: </a:t>
            </a:r>
            <a:r>
              <a:rPr lang="en-US" sz="900" i="1" dirty="0"/>
              <a:t>Bullock (2011) uses 64 primitives (61 NSM + 3 tentative). The current official list, finalized in 2014, contains 65.</a:t>
            </a:r>
            <a:endParaRPr lang="en-US" sz="900" dirty="0"/>
          </a:p>
        </p:txBody>
      </p:sp>
    </p:spTree>
    <p:extLst>
      <p:ext uri="{BB962C8B-B14F-4D97-AF65-F5344CB8AC3E}">
        <p14:creationId xmlns:p14="http://schemas.microsoft.com/office/powerpoint/2010/main" val="2040204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270AC-4391-9814-EB93-764DE3F2D2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ADBD10-0643-BE52-E43F-3034E9D53DCD}"/>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dirty="0"/>
          </a:p>
        </p:txBody>
      </p:sp>
      <p:sp>
        <p:nvSpPr>
          <p:cNvPr id="3" name="Text 1">
            <a:extLst>
              <a:ext uri="{FF2B5EF4-FFF2-40B4-BE49-F238E27FC236}">
                <a16:creationId xmlns:a16="http://schemas.microsoft.com/office/drawing/2014/main" id="{E0CC1897-E89B-02D5-7A05-17A127E8B670}"/>
              </a:ext>
            </a:extLst>
          </p:cNvPr>
          <p:cNvSpPr/>
          <p:nvPr/>
        </p:nvSpPr>
        <p:spPr>
          <a:xfrm>
            <a:off x="365760" y="0"/>
            <a:ext cx="11460480" cy="877824"/>
          </a:xfrm>
          <a:prstGeom prst="rect">
            <a:avLst/>
          </a:prstGeom>
          <a:noFill/>
          <a:ln/>
        </p:spPr>
        <p:txBody>
          <a:bodyPr wrap="square" rtlCol="0" anchor="ctr"/>
          <a:lstStyle/>
          <a:p>
            <a:r>
              <a:rPr lang="en-US" altLang="ja-JP" sz="2933" b="1" dirty="0">
                <a:solidFill>
                  <a:srgbClr val="FFFFFF"/>
                </a:solidFill>
                <a:latin typeface="Georgia" pitchFamily="34" charset="0"/>
                <a:ea typeface="Georgia" pitchFamily="34" charset="-122"/>
                <a:cs typeface="Georgia" pitchFamily="34" charset="-120"/>
              </a:rPr>
              <a:t>Methodology: Building the NSM-LDOCE Dictionary</a:t>
            </a:r>
            <a:endParaRPr lang="en-US" sz="2933" dirty="0"/>
          </a:p>
        </p:txBody>
      </p:sp>
      <p:sp>
        <p:nvSpPr>
          <p:cNvPr id="14" name="Text 8">
            <a:extLst>
              <a:ext uri="{FF2B5EF4-FFF2-40B4-BE49-F238E27FC236}">
                <a16:creationId xmlns:a16="http://schemas.microsoft.com/office/drawing/2014/main" id="{0CE8733C-B0A3-6173-7042-95442DE0B515}"/>
              </a:ext>
            </a:extLst>
          </p:cNvPr>
          <p:cNvSpPr/>
          <p:nvPr/>
        </p:nvSpPr>
        <p:spPr>
          <a:xfrm>
            <a:off x="365760" y="4013763"/>
            <a:ext cx="8503920" cy="274320"/>
          </a:xfrm>
          <a:prstGeom prst="rect">
            <a:avLst/>
          </a:prstGeom>
          <a:noFill/>
          <a:ln/>
        </p:spPr>
        <p:txBody>
          <a:bodyPr wrap="square" rtlCol="0" anchor="ctr"/>
          <a:lstStyle/>
          <a:p>
            <a:pPr marL="0" indent="0">
              <a:buNone/>
            </a:pPr>
            <a:r>
              <a:rPr lang="en-US" sz="2000" b="1" dirty="0">
                <a:solidFill>
                  <a:srgbClr val="0A6275"/>
                </a:solidFill>
                <a:latin typeface="Calibri" pitchFamily="34" charset="0"/>
                <a:ea typeface="Calibri" pitchFamily="34" charset="-122"/>
                <a:cs typeface="Calibri" pitchFamily="34" charset="-120"/>
              </a:rPr>
              <a:t>Example — "cup" (NSM-LDOCE vs. LDOCE):</a:t>
            </a:r>
            <a:endParaRPr lang="en-US" sz="2000" dirty="0"/>
          </a:p>
        </p:txBody>
      </p:sp>
      <p:sp>
        <p:nvSpPr>
          <p:cNvPr id="15" name="Shape 9">
            <a:extLst>
              <a:ext uri="{FF2B5EF4-FFF2-40B4-BE49-F238E27FC236}">
                <a16:creationId xmlns:a16="http://schemas.microsoft.com/office/drawing/2014/main" id="{888BC0B7-D2DD-BC83-6EFA-F38D614BDC0E}"/>
              </a:ext>
            </a:extLst>
          </p:cNvPr>
          <p:cNvSpPr/>
          <p:nvPr/>
        </p:nvSpPr>
        <p:spPr>
          <a:xfrm>
            <a:off x="3890011" y="4554593"/>
            <a:ext cx="5356862" cy="1986280"/>
          </a:xfrm>
          <a:prstGeom prst="rect">
            <a:avLst/>
          </a:prstGeom>
          <a:solidFill>
            <a:srgbClr val="1E1E2E"/>
          </a:solidFill>
          <a:ln w="12700">
            <a:solidFill>
              <a:srgbClr val="333355"/>
            </a:solidFill>
            <a:prstDash val="solid"/>
          </a:ln>
        </p:spPr>
        <p:txBody>
          <a:bodyPr/>
          <a:lstStyle/>
          <a:p>
            <a:endParaRPr lang="es-MX" sz="3200"/>
          </a:p>
        </p:txBody>
      </p:sp>
      <p:sp>
        <p:nvSpPr>
          <p:cNvPr id="16" name="Text 10">
            <a:extLst>
              <a:ext uri="{FF2B5EF4-FFF2-40B4-BE49-F238E27FC236}">
                <a16:creationId xmlns:a16="http://schemas.microsoft.com/office/drawing/2014/main" id="{53A0F6BD-8E1B-3DC2-14F6-4B9E3C83CE48}"/>
              </a:ext>
            </a:extLst>
          </p:cNvPr>
          <p:cNvSpPr/>
          <p:nvPr/>
        </p:nvSpPr>
        <p:spPr>
          <a:xfrm>
            <a:off x="4025263" y="4656453"/>
            <a:ext cx="5221609" cy="1782559"/>
          </a:xfrm>
          <a:prstGeom prst="rect">
            <a:avLst/>
          </a:prstGeom>
          <a:noFill/>
          <a:ln/>
        </p:spPr>
        <p:txBody>
          <a:bodyPr wrap="square" rtlCol="0" anchor="t"/>
          <a:lstStyle/>
          <a:p>
            <a:pPr marL="0" indent="0">
              <a:buNone/>
            </a:pPr>
            <a:r>
              <a:rPr lang="en-US" sz="1600" dirty="0">
                <a:solidFill>
                  <a:srgbClr val="7EC8E3"/>
                </a:solidFill>
                <a:latin typeface="Courier New" pitchFamily="34" charset="0"/>
                <a:ea typeface="Courier New" pitchFamily="34" charset="-122"/>
                <a:cs typeface="Courier New" pitchFamily="34" charset="-120"/>
              </a:rPr>
              <a:t>NSM-LDOCE:</a:t>
            </a:r>
            <a:endParaRPr lang="en-US" sz="1600" dirty="0"/>
          </a:p>
          <a:p>
            <a:pPr marL="0" indent="0">
              <a:buNone/>
            </a:pPr>
            <a:r>
              <a:rPr lang="en-US" sz="1600" dirty="0">
                <a:solidFill>
                  <a:srgbClr val="C9E8C9"/>
                </a:solidFill>
                <a:latin typeface="Courier New" pitchFamily="34" charset="0"/>
                <a:ea typeface="Courier New" pitchFamily="34" charset="-122"/>
                <a:cs typeface="Courier New" pitchFamily="34" charset="-120"/>
              </a:rPr>
              <a:t>SMALL THINGS PEOPLE make to contain hot liquid</a:t>
            </a:r>
            <a:r>
              <a:rPr lang="en-US" sz="1600" dirty="0"/>
              <a:t> </a:t>
            </a:r>
            <a:r>
              <a:rPr lang="en-US" sz="1600" dirty="0">
                <a:solidFill>
                  <a:srgbClr val="C9E8C9"/>
                </a:solidFill>
                <a:latin typeface="Courier New" pitchFamily="34" charset="0"/>
                <a:ea typeface="Courier New" pitchFamily="34" charset="-122"/>
                <a:cs typeface="Courier New" pitchFamily="34" charset="-120"/>
              </a:rPr>
              <a:t>THAT PEOPLE drink; ONE PERSON CAN use ONE hand</a:t>
            </a:r>
            <a:r>
              <a:rPr lang="en-US" sz="1600" dirty="0"/>
              <a:t> </a:t>
            </a:r>
            <a:r>
              <a:rPr lang="en-US" sz="1600" dirty="0">
                <a:solidFill>
                  <a:srgbClr val="C9E8C9"/>
                </a:solidFill>
                <a:latin typeface="Courier New" pitchFamily="34" charset="0"/>
                <a:ea typeface="Courier New" pitchFamily="34" charset="-122"/>
                <a:cs typeface="Courier New" pitchFamily="34" charset="-120"/>
              </a:rPr>
              <a:t>TO MOVE ONE OF THESE NEAR TO mouth and CAN</a:t>
            </a:r>
            <a:r>
              <a:rPr lang="en-US" sz="1600" dirty="0"/>
              <a:t>  </a:t>
            </a:r>
            <a:r>
              <a:rPr lang="en-US" sz="1600" dirty="0">
                <a:solidFill>
                  <a:srgbClr val="C9E8C9"/>
                </a:solidFill>
                <a:latin typeface="Courier New" pitchFamily="34" charset="0"/>
                <a:ea typeface="Courier New" pitchFamily="34" charset="-122"/>
                <a:cs typeface="Courier New" pitchFamily="34" charset="-120"/>
              </a:rPr>
              <a:t>drink ALL liquid THAT ONE OF THESE contain</a:t>
            </a:r>
            <a:endParaRPr lang="en-US" sz="1600" dirty="0"/>
          </a:p>
          <a:p>
            <a:pPr marL="0" indent="0">
              <a:buNone/>
            </a:pPr>
            <a:endParaRPr lang="en-US" sz="1400" dirty="0"/>
          </a:p>
        </p:txBody>
      </p:sp>
      <p:sp>
        <p:nvSpPr>
          <p:cNvPr id="17" name="Shape 11">
            <a:extLst>
              <a:ext uri="{FF2B5EF4-FFF2-40B4-BE49-F238E27FC236}">
                <a16:creationId xmlns:a16="http://schemas.microsoft.com/office/drawing/2014/main" id="{F37763C4-78FB-115C-CE54-33E699056F9C}"/>
              </a:ext>
            </a:extLst>
          </p:cNvPr>
          <p:cNvSpPr/>
          <p:nvPr/>
        </p:nvSpPr>
        <p:spPr>
          <a:xfrm>
            <a:off x="365760" y="4554593"/>
            <a:ext cx="3387090" cy="1986280"/>
          </a:xfrm>
          <a:prstGeom prst="rect">
            <a:avLst/>
          </a:prstGeom>
          <a:solidFill>
            <a:srgbClr val="1E1E2E"/>
          </a:solidFill>
          <a:ln w="12700">
            <a:solidFill>
              <a:srgbClr val="333355"/>
            </a:solidFill>
            <a:prstDash val="solid"/>
          </a:ln>
        </p:spPr>
        <p:txBody>
          <a:bodyPr/>
          <a:lstStyle/>
          <a:p>
            <a:endParaRPr lang="es-MX" sz="3200"/>
          </a:p>
        </p:txBody>
      </p:sp>
      <p:sp>
        <p:nvSpPr>
          <p:cNvPr id="18" name="Text 12">
            <a:extLst>
              <a:ext uri="{FF2B5EF4-FFF2-40B4-BE49-F238E27FC236}">
                <a16:creationId xmlns:a16="http://schemas.microsoft.com/office/drawing/2014/main" id="{6B7D4A51-E5FE-1AFF-7200-0B04A39C53B0}"/>
              </a:ext>
            </a:extLst>
          </p:cNvPr>
          <p:cNvSpPr/>
          <p:nvPr/>
        </p:nvSpPr>
        <p:spPr>
          <a:xfrm>
            <a:off x="502920" y="4646032"/>
            <a:ext cx="3145156" cy="1782559"/>
          </a:xfrm>
          <a:prstGeom prst="rect">
            <a:avLst/>
          </a:prstGeom>
          <a:noFill/>
          <a:ln/>
        </p:spPr>
        <p:txBody>
          <a:bodyPr wrap="square" rtlCol="0" anchor="t"/>
          <a:lstStyle/>
          <a:p>
            <a:pPr marL="0" indent="0">
              <a:buNone/>
            </a:pPr>
            <a:r>
              <a:rPr lang="en-US" sz="1600" dirty="0">
                <a:solidFill>
                  <a:srgbClr val="7EC8E3"/>
                </a:solidFill>
                <a:latin typeface="Courier New" pitchFamily="34" charset="0"/>
                <a:ea typeface="Courier New" pitchFamily="34" charset="-122"/>
                <a:cs typeface="Courier New" pitchFamily="34" charset="-120"/>
              </a:rPr>
              <a:t>LDOCE:</a:t>
            </a:r>
            <a:endParaRPr lang="en-US" sz="1600" dirty="0"/>
          </a:p>
          <a:p>
            <a:pPr marL="0" indent="0">
              <a:buNone/>
            </a:pPr>
            <a:r>
              <a:rPr lang="en-US" sz="1600" dirty="0">
                <a:solidFill>
                  <a:srgbClr val="C9E8C9"/>
                </a:solidFill>
                <a:latin typeface="Courier New" pitchFamily="34" charset="0"/>
                <a:ea typeface="Courier New" pitchFamily="34" charset="-122"/>
                <a:cs typeface="Courier New" pitchFamily="34" charset="-120"/>
              </a:rPr>
              <a:t>a small round container,</a:t>
            </a:r>
            <a:endParaRPr lang="en-US" sz="1600" dirty="0"/>
          </a:p>
          <a:p>
            <a:pPr marL="0" indent="0">
              <a:buNone/>
            </a:pPr>
            <a:r>
              <a:rPr lang="en-US" sz="1600" dirty="0">
                <a:solidFill>
                  <a:srgbClr val="C9E8C9"/>
                </a:solidFill>
                <a:latin typeface="Courier New" pitchFamily="34" charset="0"/>
                <a:ea typeface="Courier New" pitchFamily="34" charset="-122"/>
                <a:cs typeface="Courier New" pitchFamily="34" charset="-120"/>
              </a:rPr>
              <a:t>usu. with a handle, from</a:t>
            </a:r>
            <a:endParaRPr lang="en-US" sz="1600" dirty="0"/>
          </a:p>
          <a:p>
            <a:pPr marL="0" indent="0">
              <a:buNone/>
            </a:pPr>
            <a:r>
              <a:rPr lang="en-US" sz="1600" dirty="0">
                <a:solidFill>
                  <a:srgbClr val="C9E8C9"/>
                </a:solidFill>
                <a:latin typeface="Courier New" pitchFamily="34" charset="0"/>
                <a:ea typeface="Courier New" pitchFamily="34" charset="-122"/>
                <a:cs typeface="Courier New" pitchFamily="34" charset="-120"/>
              </a:rPr>
              <a:t>which liquids are drunk,</a:t>
            </a:r>
            <a:endParaRPr lang="en-US" sz="1600" dirty="0"/>
          </a:p>
          <a:p>
            <a:pPr marL="0" indent="0">
              <a:buNone/>
            </a:pPr>
            <a:r>
              <a:rPr lang="en-US" sz="1600" dirty="0">
                <a:solidFill>
                  <a:srgbClr val="C9E8C9"/>
                </a:solidFill>
                <a:latin typeface="Courier New" pitchFamily="34" charset="0"/>
                <a:ea typeface="Courier New" pitchFamily="34" charset="-122"/>
                <a:cs typeface="Courier New" pitchFamily="34" charset="-120"/>
              </a:rPr>
              <a:t>esp. hot liquids such as</a:t>
            </a:r>
            <a:endParaRPr lang="en-US" sz="1600" dirty="0"/>
          </a:p>
          <a:p>
            <a:pPr marL="0" indent="0">
              <a:buNone/>
            </a:pPr>
            <a:r>
              <a:rPr lang="en-US" sz="1600" dirty="0">
                <a:solidFill>
                  <a:srgbClr val="C9E8C9"/>
                </a:solidFill>
                <a:latin typeface="Courier New" pitchFamily="34" charset="0"/>
                <a:ea typeface="Courier New" pitchFamily="34" charset="-122"/>
                <a:cs typeface="Courier New" pitchFamily="34" charset="-120"/>
              </a:rPr>
              <a:t>tea or coffee</a:t>
            </a:r>
            <a:endParaRPr lang="en-US" sz="1600" dirty="0"/>
          </a:p>
          <a:p>
            <a:pPr marL="0" indent="0">
              <a:buNone/>
            </a:pPr>
            <a:endParaRPr lang="en-US" sz="1400" dirty="0"/>
          </a:p>
        </p:txBody>
      </p:sp>
      <p:sp>
        <p:nvSpPr>
          <p:cNvPr id="20" name="TextBox 19">
            <a:extLst>
              <a:ext uri="{FF2B5EF4-FFF2-40B4-BE49-F238E27FC236}">
                <a16:creationId xmlns:a16="http://schemas.microsoft.com/office/drawing/2014/main" id="{A8AD5254-9EE5-0CF5-36F1-3E00677248D1}"/>
              </a:ext>
            </a:extLst>
          </p:cNvPr>
          <p:cNvSpPr txBox="1"/>
          <p:nvPr/>
        </p:nvSpPr>
        <p:spPr>
          <a:xfrm>
            <a:off x="365760" y="1060001"/>
            <a:ext cx="11460480" cy="2862322"/>
          </a:xfrm>
          <a:prstGeom prst="rect">
            <a:avLst/>
          </a:prstGeom>
          <a:noFill/>
        </p:spPr>
        <p:txBody>
          <a:bodyPr wrap="square">
            <a:spAutoFit/>
          </a:bodyPr>
          <a:lstStyle/>
          <a:p>
            <a:pPr algn="just">
              <a:buNone/>
            </a:pPr>
            <a:r>
              <a:rPr lang="en-US" sz="1600" dirty="0"/>
              <a:t>2,352 headwords were taken from the LDOCE core defining vocabulary. A definition was written for each one using two types of words:</a:t>
            </a:r>
          </a:p>
          <a:p>
            <a:pPr algn="just">
              <a:buNone/>
            </a:pPr>
            <a:endParaRPr lang="en-US" sz="1600" dirty="0"/>
          </a:p>
          <a:p>
            <a:pPr marL="285750" indent="-285750" algn="just">
              <a:buFont typeface="Arial" panose="020B0604020202020204" pitchFamily="34" charset="0"/>
              <a:buChar char="•"/>
            </a:pPr>
            <a:r>
              <a:rPr lang="en-US" sz="1600" b="1" dirty="0"/>
              <a:t>NSM primitives (UPPERCASE)</a:t>
            </a:r>
            <a:r>
              <a:rPr lang="en-US" sz="1600" dirty="0"/>
              <a:t> — the 61 bedrock concepts that carry no definition. They appear directly in definitions as irreducible building blocks.</a:t>
            </a:r>
          </a:p>
          <a:p>
            <a:pPr marL="285750" indent="-285750" algn="just">
              <a:buFont typeface="Arial" panose="020B0604020202020204" pitchFamily="34" charset="0"/>
              <a:buChar char="•"/>
            </a:pPr>
            <a:r>
              <a:rPr lang="en-US" sz="1600" b="1" dirty="0"/>
              <a:t>Non-primitives (lowercase)</a:t>
            </a:r>
            <a:r>
              <a:rPr lang="en-US" sz="1600" dirty="0"/>
              <a:t> — words from the LDOCE core that are not NSM primitives. They are used in definitions but each one has its own NSM-LDOCE entry where it is defined using primitives. They are the middle layer — complex enough to need a definition, stable enough to build on.</a:t>
            </a:r>
          </a:p>
          <a:p>
            <a:pPr algn="just">
              <a:buNone/>
            </a:pPr>
            <a:endParaRPr lang="en-US" sz="1600" dirty="0"/>
          </a:p>
          <a:p>
            <a:pPr algn="just">
              <a:buNone/>
            </a:pPr>
            <a:r>
              <a:rPr lang="en-US" sz="1600" dirty="0"/>
              <a:t>Every batch of 50 definitions was checked by script for circular references. When a loop was detected, the definition was reworded. If rewriting could not break the loop, the word was added as a tentative new primitive.</a:t>
            </a:r>
          </a:p>
        </p:txBody>
      </p:sp>
      <p:cxnSp>
        <p:nvCxnSpPr>
          <p:cNvPr id="22" name="Straight Connector 21">
            <a:extLst>
              <a:ext uri="{FF2B5EF4-FFF2-40B4-BE49-F238E27FC236}">
                <a16:creationId xmlns:a16="http://schemas.microsoft.com/office/drawing/2014/main" id="{55AE30E7-CD6C-CC0B-7B77-F168454C9827}"/>
              </a:ext>
            </a:extLst>
          </p:cNvPr>
          <p:cNvCxnSpPr/>
          <p:nvPr/>
        </p:nvCxnSpPr>
        <p:spPr>
          <a:xfrm>
            <a:off x="9448800" y="3922323"/>
            <a:ext cx="0" cy="2754702"/>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8AF802CB-9F9C-CB90-246C-D07AAB00D133}"/>
              </a:ext>
            </a:extLst>
          </p:cNvPr>
          <p:cNvSpPr txBox="1"/>
          <p:nvPr/>
        </p:nvSpPr>
        <p:spPr>
          <a:xfrm>
            <a:off x="9500236" y="3916536"/>
            <a:ext cx="2527931" cy="2839239"/>
          </a:xfrm>
          <a:prstGeom prst="rect">
            <a:avLst/>
          </a:prstGeom>
          <a:noFill/>
        </p:spPr>
        <p:txBody>
          <a:bodyPr wrap="square">
            <a:spAutoFit/>
          </a:bodyPr>
          <a:lstStyle/>
          <a:p>
            <a:pPr>
              <a:buNone/>
            </a:pPr>
            <a:r>
              <a:rPr lang="en-US" sz="1050" dirty="0"/>
              <a:t>The LDOCE defining vocabulary was developed from the </a:t>
            </a:r>
            <a:r>
              <a:rPr lang="en-US" sz="1050" b="1" dirty="0"/>
              <a:t>General Service List</a:t>
            </a:r>
            <a:r>
              <a:rPr lang="en-US" sz="1050" dirty="0"/>
              <a:t> — a list of high-frequency English words and their most common meanings compiled by West (1953). </a:t>
            </a:r>
            <a:endParaRPr lang="en-US" sz="1050" b="1" dirty="0"/>
          </a:p>
          <a:p>
            <a:pPr>
              <a:buNone/>
            </a:pPr>
            <a:endParaRPr lang="en-US" sz="1050" b="1" dirty="0"/>
          </a:p>
          <a:p>
            <a:pPr marL="228600" indent="-228600">
              <a:buFont typeface="+mj-lt"/>
              <a:buAutoNum type="arabicPeriod"/>
            </a:pPr>
            <a:r>
              <a:rPr lang="en-US" sz="1050" b="1" dirty="0"/>
              <a:t>Frequency</a:t>
            </a:r>
            <a:r>
              <a:rPr lang="en-US" sz="1050" dirty="0"/>
              <a:t> — words that appear most commonly in everyday English use.</a:t>
            </a:r>
          </a:p>
          <a:p>
            <a:pPr marL="228600" indent="-228600">
              <a:buFont typeface="+mj-lt"/>
              <a:buAutoNum type="arabicPeriod"/>
            </a:pPr>
            <a:endParaRPr lang="en-US" sz="1050" dirty="0"/>
          </a:p>
          <a:p>
            <a:pPr marL="228600" indent="-228600">
              <a:buFont typeface="+mj-lt"/>
              <a:buAutoNum type="arabicPeriod"/>
            </a:pPr>
            <a:r>
              <a:rPr lang="en-US" sz="1050" b="1" dirty="0"/>
              <a:t>Sense restriction</a:t>
            </a:r>
            <a:r>
              <a:rPr lang="en-US" sz="1050" dirty="0"/>
              <a:t> — only the most common, central senses of each word were permitted. </a:t>
            </a:r>
          </a:p>
          <a:p>
            <a:pPr marL="228600" indent="-228600">
              <a:buFont typeface="+mj-lt"/>
              <a:buAutoNum type="arabicPeriod"/>
            </a:pPr>
            <a:endParaRPr lang="en-US" sz="1050" dirty="0"/>
          </a:p>
          <a:p>
            <a:pPr marL="228600" indent="-228600">
              <a:buFont typeface="+mj-lt"/>
              <a:buAutoNum type="arabicPeriod"/>
            </a:pPr>
            <a:r>
              <a:rPr lang="en-US" sz="1050" b="1" dirty="0"/>
              <a:t>Non-idiomatic use only</a:t>
            </a:r>
            <a:r>
              <a:rPr lang="en-US" sz="1050" dirty="0"/>
              <a:t> — fixed expressions and idioms were excluded.</a:t>
            </a:r>
          </a:p>
        </p:txBody>
      </p:sp>
    </p:spTree>
    <p:extLst>
      <p:ext uri="{BB962C8B-B14F-4D97-AF65-F5344CB8AC3E}">
        <p14:creationId xmlns:p14="http://schemas.microsoft.com/office/powerpoint/2010/main" val="3107741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8C755-78C7-C057-01F6-63DB6FE6A7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0956D1D-6683-682C-35A8-B5988EC82FB1}"/>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dirty="0"/>
          </a:p>
        </p:txBody>
      </p:sp>
      <p:sp>
        <p:nvSpPr>
          <p:cNvPr id="3" name="Text 1">
            <a:extLst>
              <a:ext uri="{FF2B5EF4-FFF2-40B4-BE49-F238E27FC236}">
                <a16:creationId xmlns:a16="http://schemas.microsoft.com/office/drawing/2014/main" id="{F0065CE5-36EB-B055-6003-F8334CB84960}"/>
              </a:ext>
            </a:extLst>
          </p:cNvPr>
          <p:cNvSpPr/>
          <p:nvPr/>
        </p:nvSpPr>
        <p:spPr>
          <a:xfrm>
            <a:off x="365760" y="0"/>
            <a:ext cx="11460480" cy="877824"/>
          </a:xfrm>
          <a:prstGeom prst="rect">
            <a:avLst/>
          </a:prstGeom>
          <a:noFill/>
          <a:ln/>
        </p:spPr>
        <p:txBody>
          <a:bodyPr wrap="square" rtlCol="0" anchor="ctr"/>
          <a:lstStyle/>
          <a:p>
            <a:r>
              <a:rPr lang="en-US" altLang="ja-JP" sz="2933" b="1" dirty="0">
                <a:solidFill>
                  <a:srgbClr val="FFFFFF"/>
                </a:solidFill>
                <a:latin typeface="Georgia" pitchFamily="34" charset="0"/>
                <a:ea typeface="Georgia" pitchFamily="34" charset="-122"/>
                <a:cs typeface="Georgia" pitchFamily="34" charset="-120"/>
              </a:rPr>
              <a:t>Evaluation</a:t>
            </a:r>
            <a:endParaRPr lang="en-US" sz="2933" dirty="0"/>
          </a:p>
        </p:txBody>
      </p:sp>
      <p:graphicFrame>
        <p:nvGraphicFramePr>
          <p:cNvPr id="4" name="Table 3">
            <a:extLst>
              <a:ext uri="{FF2B5EF4-FFF2-40B4-BE49-F238E27FC236}">
                <a16:creationId xmlns:a16="http://schemas.microsoft.com/office/drawing/2014/main" id="{59BF5397-0494-8519-B066-A871FE4DB5FA}"/>
              </a:ext>
            </a:extLst>
          </p:cNvPr>
          <p:cNvGraphicFramePr>
            <a:graphicFrameLocks noGrp="1"/>
          </p:cNvGraphicFramePr>
          <p:nvPr>
            <p:extLst>
              <p:ext uri="{D42A27DB-BD31-4B8C-83A1-F6EECF244321}">
                <p14:modId xmlns:p14="http://schemas.microsoft.com/office/powerpoint/2010/main" val="2882746910"/>
              </p:ext>
            </p:extLst>
          </p:nvPr>
        </p:nvGraphicFramePr>
        <p:xfrm>
          <a:off x="507205" y="3600450"/>
          <a:ext cx="10515600" cy="134112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4129070089"/>
                    </a:ext>
                  </a:extLst>
                </a:gridCol>
                <a:gridCol w="5257800">
                  <a:extLst>
                    <a:ext uri="{9D8B030D-6E8A-4147-A177-3AD203B41FA5}">
                      <a16:colId xmlns:a16="http://schemas.microsoft.com/office/drawing/2014/main" val="1607245060"/>
                    </a:ext>
                  </a:extLst>
                </a:gridCol>
              </a:tblGrid>
              <a:tr h="0">
                <a:tc>
                  <a:txBody>
                    <a:bodyPr/>
                    <a:lstStyle/>
                    <a:p>
                      <a:pPr>
                        <a:buNone/>
                      </a:pPr>
                      <a:r>
                        <a:rPr lang="es-MX" sz="1600" b="1" dirty="0" err="1">
                          <a:solidFill>
                            <a:schemeClr val="bg1"/>
                          </a:solidFill>
                        </a:rPr>
                        <a:t>Task</a:t>
                      </a:r>
                      <a:endParaRPr lang="es-MX" sz="1600" b="1" dirty="0">
                        <a:solidFill>
                          <a:schemeClr val="bg1"/>
                        </a:solidFill>
                      </a:endParaRPr>
                    </a:p>
                  </a:txBody>
                  <a:tcPr anchor="ctr">
                    <a:solidFill>
                      <a:schemeClr val="tx2"/>
                    </a:solidFill>
                  </a:tcPr>
                </a:tc>
                <a:tc>
                  <a:txBody>
                    <a:bodyPr/>
                    <a:lstStyle/>
                    <a:p>
                      <a:pPr>
                        <a:buNone/>
                      </a:pPr>
                      <a:r>
                        <a:rPr lang="es-MX" sz="1600" b="1" dirty="0">
                          <a:solidFill>
                            <a:schemeClr val="bg1"/>
                          </a:solidFill>
                        </a:rPr>
                        <a:t>Method</a:t>
                      </a:r>
                    </a:p>
                  </a:txBody>
                  <a:tcPr anchor="ctr">
                    <a:solidFill>
                      <a:schemeClr val="tx2"/>
                    </a:solidFill>
                  </a:tcPr>
                </a:tc>
                <a:extLst>
                  <a:ext uri="{0D108BD9-81ED-4DB2-BD59-A6C34878D82A}">
                    <a16:rowId xmlns:a16="http://schemas.microsoft.com/office/drawing/2014/main" val="451746502"/>
                  </a:ext>
                </a:extLst>
              </a:tr>
              <a:tr h="0">
                <a:tc>
                  <a:txBody>
                    <a:bodyPr/>
                    <a:lstStyle/>
                    <a:p>
                      <a:pPr>
                        <a:buNone/>
                      </a:pPr>
                      <a:r>
                        <a:rPr lang="es-MX" sz="1600" dirty="0"/>
                        <a:t>Fill in </a:t>
                      </a:r>
                      <a:r>
                        <a:rPr lang="es-MX" sz="1600" dirty="0" err="1"/>
                        <a:t>the</a:t>
                      </a:r>
                      <a:r>
                        <a:rPr lang="es-MX" sz="1600" dirty="0"/>
                        <a:t> </a:t>
                      </a:r>
                      <a:r>
                        <a:rPr lang="es-MX" sz="1600" dirty="0" err="1"/>
                        <a:t>blank</a:t>
                      </a:r>
                      <a:endParaRPr lang="es-MX" sz="1600" dirty="0"/>
                    </a:p>
                  </a:txBody>
                  <a:tcPr anchor="ctr"/>
                </a:tc>
                <a:tc>
                  <a:txBody>
                    <a:bodyPr/>
                    <a:lstStyle/>
                    <a:p>
                      <a:pPr>
                        <a:buNone/>
                      </a:pPr>
                      <a:r>
                        <a:rPr lang="en-US" sz="1600"/>
                        <a:t>No help — definition alone must convey the meaning</a:t>
                      </a:r>
                    </a:p>
                  </a:txBody>
                  <a:tcPr anchor="ctr"/>
                </a:tc>
                <a:extLst>
                  <a:ext uri="{0D108BD9-81ED-4DB2-BD59-A6C34878D82A}">
                    <a16:rowId xmlns:a16="http://schemas.microsoft.com/office/drawing/2014/main" val="1900976381"/>
                  </a:ext>
                </a:extLst>
              </a:tr>
              <a:tr h="0">
                <a:tc>
                  <a:txBody>
                    <a:bodyPr/>
                    <a:lstStyle/>
                    <a:p>
                      <a:pPr>
                        <a:buNone/>
                      </a:pPr>
                      <a:r>
                        <a:rPr lang="es-MX" sz="1600" dirty="0"/>
                        <a:t>Complete </a:t>
                      </a:r>
                      <a:r>
                        <a:rPr lang="es-MX" sz="1600" dirty="0" err="1"/>
                        <a:t>the</a:t>
                      </a:r>
                      <a:r>
                        <a:rPr lang="es-MX" sz="1600" dirty="0"/>
                        <a:t> </a:t>
                      </a:r>
                      <a:r>
                        <a:rPr lang="es-MX" sz="1600" dirty="0" err="1"/>
                        <a:t>word</a:t>
                      </a:r>
                      <a:endParaRPr lang="es-MX" sz="1600" dirty="0"/>
                    </a:p>
                  </a:txBody>
                  <a:tcPr anchor="ctr"/>
                </a:tc>
                <a:tc>
                  <a:txBody>
                    <a:bodyPr/>
                    <a:lstStyle/>
                    <a:p>
                      <a:pPr>
                        <a:buNone/>
                      </a:pPr>
                      <a:r>
                        <a:rPr lang="en-US" sz="1600" dirty="0"/>
                        <a:t>First letter of the headword given as a hint</a:t>
                      </a:r>
                    </a:p>
                  </a:txBody>
                  <a:tcPr anchor="ctr"/>
                </a:tc>
                <a:extLst>
                  <a:ext uri="{0D108BD9-81ED-4DB2-BD59-A6C34878D82A}">
                    <a16:rowId xmlns:a16="http://schemas.microsoft.com/office/drawing/2014/main" val="554880789"/>
                  </a:ext>
                </a:extLst>
              </a:tr>
              <a:tr h="0">
                <a:tc>
                  <a:txBody>
                    <a:bodyPr/>
                    <a:lstStyle/>
                    <a:p>
                      <a:pPr>
                        <a:buNone/>
                      </a:pPr>
                      <a:r>
                        <a:rPr lang="es-MX" sz="1600"/>
                        <a:t>Multiple choice</a:t>
                      </a:r>
                    </a:p>
                  </a:txBody>
                  <a:tcPr anchor="ctr"/>
                </a:tc>
                <a:tc>
                  <a:txBody>
                    <a:bodyPr/>
                    <a:lstStyle/>
                    <a:p>
                      <a:pPr>
                        <a:buNone/>
                      </a:pPr>
                      <a:r>
                        <a:rPr lang="en-US" sz="1600" dirty="0"/>
                        <a:t>Pick the headword from a list of 10 options</a:t>
                      </a:r>
                    </a:p>
                  </a:txBody>
                  <a:tcPr anchor="ctr"/>
                </a:tc>
                <a:extLst>
                  <a:ext uri="{0D108BD9-81ED-4DB2-BD59-A6C34878D82A}">
                    <a16:rowId xmlns:a16="http://schemas.microsoft.com/office/drawing/2014/main" val="1492589882"/>
                  </a:ext>
                </a:extLst>
              </a:tr>
            </a:tbl>
          </a:graphicData>
        </a:graphic>
      </p:graphicFrame>
      <p:sp>
        <p:nvSpPr>
          <p:cNvPr id="6" name="TextBox 5">
            <a:extLst>
              <a:ext uri="{FF2B5EF4-FFF2-40B4-BE49-F238E27FC236}">
                <a16:creationId xmlns:a16="http://schemas.microsoft.com/office/drawing/2014/main" id="{ECEA0494-5C1C-C4A3-29E6-DC43AEA3987B}"/>
              </a:ext>
            </a:extLst>
          </p:cNvPr>
          <p:cNvSpPr txBox="1"/>
          <p:nvPr/>
        </p:nvSpPr>
        <p:spPr>
          <a:xfrm>
            <a:off x="507205" y="1126689"/>
            <a:ext cx="11008519" cy="2616101"/>
          </a:xfrm>
          <a:prstGeom prst="rect">
            <a:avLst/>
          </a:prstGeom>
          <a:noFill/>
        </p:spPr>
        <p:txBody>
          <a:bodyPr wrap="square">
            <a:spAutoFit/>
          </a:bodyPr>
          <a:lstStyle/>
          <a:p>
            <a:pPr>
              <a:buNone/>
            </a:pPr>
            <a:r>
              <a:rPr lang="en-US" sz="1600" dirty="0"/>
              <a:t>To</a:t>
            </a:r>
            <a:r>
              <a:rPr lang="en-US" dirty="0"/>
              <a:t> </a:t>
            </a:r>
            <a:r>
              <a:rPr lang="en-US" sz="1600" dirty="0"/>
              <a:t>test whether NSM-LDOCE definitions conveyed meaning clearly enough to identify the word being defined, Bullock ran a headword identification experiment with 12 English-speaking students aged 14–18.</a:t>
            </a:r>
          </a:p>
          <a:p>
            <a:pPr>
              <a:buNone/>
            </a:pPr>
            <a:endParaRPr lang="en-US" sz="1600" dirty="0"/>
          </a:p>
          <a:p>
            <a:pPr>
              <a:buNone/>
            </a:pPr>
            <a:r>
              <a:rPr lang="en-US" sz="1600" b="1" dirty="0"/>
              <a:t>Three definition sources compared:</a:t>
            </a:r>
            <a:endParaRPr lang="en-US" sz="1600" dirty="0"/>
          </a:p>
          <a:p>
            <a:pPr marL="285750" indent="-285750">
              <a:buFont typeface="Arial" panose="020B0604020202020204" pitchFamily="34" charset="0"/>
              <a:buChar char="•"/>
            </a:pPr>
            <a:r>
              <a:rPr lang="en-US" sz="1600" dirty="0"/>
              <a:t>LNSM-LDOCE definitions</a:t>
            </a:r>
          </a:p>
          <a:p>
            <a:pPr marL="285750" indent="-285750">
              <a:buFont typeface="Arial" panose="020B0604020202020204" pitchFamily="34" charset="0"/>
              <a:buChar char="•"/>
            </a:pPr>
            <a:r>
              <a:rPr lang="en-US" sz="1600" dirty="0"/>
              <a:t>Standard LDOCE definitions</a:t>
            </a:r>
          </a:p>
          <a:p>
            <a:pPr marL="285750" indent="-285750">
              <a:buFont typeface="Arial" panose="020B0604020202020204" pitchFamily="34" charset="0"/>
              <a:buChar char="•"/>
            </a:pPr>
            <a:r>
              <a:rPr lang="en-US" sz="1600" dirty="0"/>
              <a:t>Full-length definitions from the NSM literature</a:t>
            </a:r>
          </a:p>
          <a:p>
            <a:pPr marL="285750" indent="-285750">
              <a:buFont typeface="Arial" panose="020B0604020202020204" pitchFamily="34" charset="0"/>
              <a:buChar char="•"/>
            </a:pPr>
            <a:endParaRPr lang="en-US" sz="1600" dirty="0"/>
          </a:p>
          <a:p>
            <a:r>
              <a:rPr lang="en-US" sz="1600" b="1" dirty="0"/>
              <a:t>Three tasks of increasing difficulty:</a:t>
            </a:r>
            <a:endParaRPr lang="en-US" sz="1600" dirty="0"/>
          </a:p>
          <a:p>
            <a:pPr>
              <a:buNone/>
            </a:pPr>
            <a:endParaRPr lang="en-US" sz="1600" b="1" dirty="0"/>
          </a:p>
        </p:txBody>
      </p:sp>
    </p:spTree>
    <p:extLst>
      <p:ext uri="{BB962C8B-B14F-4D97-AF65-F5344CB8AC3E}">
        <p14:creationId xmlns:p14="http://schemas.microsoft.com/office/powerpoint/2010/main" val="992705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57D7A-B2C0-9497-2169-39F8CE4FC0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745546D-4F98-5550-013F-47FDCAADB83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dirty="0"/>
          </a:p>
        </p:txBody>
      </p:sp>
      <p:sp>
        <p:nvSpPr>
          <p:cNvPr id="3" name="Text 1">
            <a:extLst>
              <a:ext uri="{FF2B5EF4-FFF2-40B4-BE49-F238E27FC236}">
                <a16:creationId xmlns:a16="http://schemas.microsoft.com/office/drawing/2014/main" id="{D1561A29-B62E-D638-6276-05E8C2632E7F}"/>
              </a:ext>
            </a:extLst>
          </p:cNvPr>
          <p:cNvSpPr/>
          <p:nvPr/>
        </p:nvSpPr>
        <p:spPr>
          <a:xfrm>
            <a:off x="365760" y="0"/>
            <a:ext cx="11460480" cy="877824"/>
          </a:xfrm>
          <a:prstGeom prst="rect">
            <a:avLst/>
          </a:prstGeom>
          <a:noFill/>
          <a:ln/>
        </p:spPr>
        <p:txBody>
          <a:bodyPr wrap="square" rtlCol="0" anchor="ctr"/>
          <a:lstStyle/>
          <a:p>
            <a:r>
              <a:rPr lang="en-US" altLang="ja-JP" sz="2933" b="1" dirty="0">
                <a:solidFill>
                  <a:srgbClr val="FFFFFF"/>
                </a:solidFill>
                <a:latin typeface="Georgia" pitchFamily="34" charset="0"/>
                <a:ea typeface="Georgia" pitchFamily="34" charset="-122"/>
                <a:cs typeface="Georgia" pitchFamily="34" charset="-120"/>
              </a:rPr>
              <a:t>Results</a:t>
            </a:r>
            <a:endParaRPr lang="en-US" sz="2933" dirty="0"/>
          </a:p>
        </p:txBody>
      </p:sp>
      <p:sp>
        <p:nvSpPr>
          <p:cNvPr id="6" name="TextBox 5">
            <a:extLst>
              <a:ext uri="{FF2B5EF4-FFF2-40B4-BE49-F238E27FC236}">
                <a16:creationId xmlns:a16="http://schemas.microsoft.com/office/drawing/2014/main" id="{BB65D256-42E1-B470-19F4-C58F1867B1F3}"/>
              </a:ext>
            </a:extLst>
          </p:cNvPr>
          <p:cNvSpPr txBox="1"/>
          <p:nvPr/>
        </p:nvSpPr>
        <p:spPr>
          <a:xfrm>
            <a:off x="365760" y="3857233"/>
            <a:ext cx="6331507" cy="2554545"/>
          </a:xfrm>
          <a:prstGeom prst="rect">
            <a:avLst/>
          </a:prstGeom>
          <a:noFill/>
        </p:spPr>
        <p:txBody>
          <a:bodyPr wrap="square">
            <a:spAutoFit/>
          </a:bodyPr>
          <a:lstStyle/>
          <a:p>
            <a:r>
              <a:rPr lang="en-US" sz="1600" b="1" dirty="0">
                <a:effectLst/>
              </a:rPr>
              <a:t>The gap comes from two fixable limitations:</a:t>
            </a:r>
          </a:p>
          <a:p>
            <a:endParaRPr lang="en-US" sz="1600" dirty="0">
              <a:effectLst/>
            </a:endParaRPr>
          </a:p>
          <a:p>
            <a:pPr marL="285750" indent="-285750">
              <a:buFont typeface="Arial" panose="020B0604020202020204" pitchFamily="34" charset="0"/>
              <a:buChar char="•"/>
            </a:pPr>
            <a:r>
              <a:rPr lang="en-US" sz="1600" b="1" dirty="0">
                <a:effectLst/>
              </a:rPr>
              <a:t>Fluency</a:t>
            </a:r>
            <a:r>
              <a:rPr lang="en-US" sz="1600" dirty="0">
                <a:effectLst/>
              </a:rPr>
              <a:t> - rigid grammatical rules make some definitions sound awkward, interfering with comprehension.</a:t>
            </a:r>
          </a:p>
          <a:p>
            <a:pPr marL="285750" indent="-285750">
              <a:buFont typeface="Arial" panose="020B0604020202020204" pitchFamily="34" charset="0"/>
              <a:buChar char="•"/>
            </a:pPr>
            <a:r>
              <a:rPr lang="en-US" sz="1600" b="1" dirty="0">
                <a:effectLst/>
              </a:rPr>
              <a:t>Precision</a:t>
            </a:r>
            <a:r>
              <a:rPr lang="en-US" sz="1600" dirty="0">
                <a:effectLst/>
              </a:rPr>
              <a:t> - the 100-word cap per definition sometimes leaves meanings too broad to pinpoint a single headword.</a:t>
            </a:r>
          </a:p>
          <a:p>
            <a:endParaRPr lang="en-US" sz="1600" dirty="0">
              <a:effectLst/>
            </a:endParaRPr>
          </a:p>
          <a:p>
            <a:r>
              <a:rPr lang="en-US" sz="1600" dirty="0">
                <a:effectLst/>
              </a:rPr>
              <a:t>Neither is a fundamental weakness of NSM. Both are design constraints that future development could improve.</a:t>
            </a:r>
          </a:p>
          <a:p>
            <a:pPr>
              <a:buNone/>
            </a:pPr>
            <a:endParaRPr lang="en-US" sz="1600" b="1" dirty="0"/>
          </a:p>
        </p:txBody>
      </p:sp>
      <p:pic>
        <p:nvPicPr>
          <p:cNvPr id="7" name="Picture 6">
            <a:extLst>
              <a:ext uri="{FF2B5EF4-FFF2-40B4-BE49-F238E27FC236}">
                <a16:creationId xmlns:a16="http://schemas.microsoft.com/office/drawing/2014/main" id="{E31892A4-D239-3DB5-0426-2BB84345F203}"/>
              </a:ext>
            </a:extLst>
          </p:cNvPr>
          <p:cNvPicPr>
            <a:picLocks noChangeAspect="1"/>
          </p:cNvPicPr>
          <p:nvPr/>
        </p:nvPicPr>
        <p:blipFill>
          <a:blip r:embed="rId3"/>
          <a:stretch>
            <a:fillRect/>
          </a:stretch>
        </p:blipFill>
        <p:spPr>
          <a:xfrm>
            <a:off x="450293" y="1602882"/>
            <a:ext cx="6331507" cy="1826118"/>
          </a:xfrm>
          <a:prstGeom prst="rect">
            <a:avLst/>
          </a:prstGeom>
        </p:spPr>
      </p:pic>
      <p:sp>
        <p:nvSpPr>
          <p:cNvPr id="9" name="TextBox 8">
            <a:extLst>
              <a:ext uri="{FF2B5EF4-FFF2-40B4-BE49-F238E27FC236}">
                <a16:creationId xmlns:a16="http://schemas.microsoft.com/office/drawing/2014/main" id="{38034DE9-9813-866A-F5C1-9430717B4BCF}"/>
              </a:ext>
            </a:extLst>
          </p:cNvPr>
          <p:cNvSpPr txBox="1"/>
          <p:nvPr/>
        </p:nvSpPr>
        <p:spPr>
          <a:xfrm>
            <a:off x="7298531" y="1456576"/>
            <a:ext cx="4662251" cy="5047536"/>
          </a:xfrm>
          <a:prstGeom prst="rect">
            <a:avLst/>
          </a:prstGeom>
          <a:noFill/>
        </p:spPr>
        <p:txBody>
          <a:bodyPr wrap="square">
            <a:spAutoFit/>
          </a:bodyPr>
          <a:lstStyle/>
          <a:p>
            <a:pPr>
              <a:buNone/>
            </a:pPr>
            <a:r>
              <a:rPr lang="en-US" sz="1400" b="1" dirty="0"/>
              <a:t>Token composition across all 2,352 definitions:</a:t>
            </a:r>
            <a:endParaRPr lang="en-US" sz="1400" dirty="0"/>
          </a:p>
          <a:p>
            <a:pPr marL="285750" indent="-285750">
              <a:buFont typeface="Arial" panose="020B0604020202020204" pitchFamily="34" charset="0"/>
              <a:buChar char="•"/>
            </a:pPr>
            <a:r>
              <a:rPr lang="en-US" sz="1400" dirty="0"/>
              <a:t>48,900 total word tokens used across all definitions. </a:t>
            </a:r>
          </a:p>
          <a:p>
            <a:pPr marL="285750" indent="-285750">
              <a:buFont typeface="Arial" panose="020B0604020202020204" pitchFamily="34" charset="0"/>
              <a:buChar char="•"/>
            </a:pPr>
            <a:r>
              <a:rPr lang="en-US" sz="1400" dirty="0"/>
              <a:t>34,300 (~70%) were NSM primitives. </a:t>
            </a:r>
          </a:p>
          <a:p>
            <a:pPr marL="285750" indent="-285750">
              <a:buFont typeface="Arial" panose="020B0604020202020204" pitchFamily="34" charset="0"/>
              <a:buChar char="•"/>
            </a:pPr>
            <a:r>
              <a:rPr lang="en-US" sz="1400" dirty="0"/>
              <a:t>14,600 (~30%) were non-primitives, drawn from only 947 distinct headwords.</a:t>
            </a:r>
          </a:p>
          <a:p>
            <a:pPr>
              <a:buNone/>
            </a:pPr>
            <a:endParaRPr lang="en-US" sz="1400" dirty="0"/>
          </a:p>
          <a:p>
            <a:pPr>
              <a:buNone/>
            </a:pPr>
            <a:r>
              <a:rPr lang="en-US" sz="1400" dirty="0"/>
              <a:t>This means 70% of the entire dictionary is written in pure primitive language (64 words) — the non-primitive words are reused constantly across many definitions.</a:t>
            </a:r>
          </a:p>
          <a:p>
            <a:pPr>
              <a:buNone/>
            </a:pPr>
            <a:endParaRPr lang="en-US" sz="1400" b="1" dirty="0"/>
          </a:p>
          <a:p>
            <a:pPr>
              <a:buNone/>
            </a:pPr>
            <a:r>
              <a:rPr lang="en-US" sz="1400" b="1" dirty="0"/>
              <a:t>Circularity check:</a:t>
            </a:r>
            <a:endParaRPr lang="en-US" sz="1400" dirty="0"/>
          </a:p>
          <a:p>
            <a:pPr>
              <a:buNone/>
            </a:pPr>
            <a:r>
              <a:rPr lang="en-US" sz="1400" dirty="0"/>
              <a:t>Only 17 fewer than expected. </a:t>
            </a:r>
          </a:p>
          <a:p>
            <a:pPr>
              <a:buNone/>
            </a:pPr>
            <a:endParaRPr lang="en-US" sz="1400" dirty="0"/>
          </a:p>
          <a:p>
            <a:pPr>
              <a:buNone/>
            </a:pPr>
            <a:r>
              <a:rPr lang="en-US" sz="1400" dirty="0"/>
              <a:t>The study was originally launched anticipating many more loops that would expose NSM weaknesses. Most of the 17 were resolved simply by rewording.</a:t>
            </a:r>
          </a:p>
          <a:p>
            <a:pPr>
              <a:buNone/>
            </a:pPr>
            <a:endParaRPr lang="en-US" sz="1400" dirty="0"/>
          </a:p>
          <a:p>
            <a:pPr>
              <a:buNone/>
            </a:pPr>
            <a:r>
              <a:rPr lang="en-US" sz="1400" dirty="0"/>
              <a:t>Only 3 could not be resolved by rewording and required adding a tentative new primitive: </a:t>
            </a:r>
            <a:r>
              <a:rPr lang="en-US" sz="1400" dirty="0" err="1"/>
              <a:t>colour</a:t>
            </a:r>
            <a:r>
              <a:rPr lang="en-US" sz="1400" dirty="0"/>
              <a:t>, number, and shape.</a:t>
            </a:r>
          </a:p>
          <a:p>
            <a:pPr>
              <a:buNone/>
            </a:pPr>
            <a:endParaRPr lang="en-US" sz="1400" dirty="0"/>
          </a:p>
          <a:p>
            <a:pPr>
              <a:buNone/>
            </a:pPr>
            <a:r>
              <a:rPr lang="en-US" sz="1400" i="1" dirty="0"/>
              <a:t>Note: these 3 tentative primitives did not make the official 2014 list of 65 NSM primes.</a:t>
            </a:r>
            <a:endParaRPr lang="en-US" sz="1400" dirty="0"/>
          </a:p>
        </p:txBody>
      </p:sp>
      <p:cxnSp>
        <p:nvCxnSpPr>
          <p:cNvPr id="11" name="Straight Connector 10">
            <a:extLst>
              <a:ext uri="{FF2B5EF4-FFF2-40B4-BE49-F238E27FC236}">
                <a16:creationId xmlns:a16="http://schemas.microsoft.com/office/drawing/2014/main" id="{DD87A42E-A6CB-D0DE-29B5-00719E643C8F}"/>
              </a:ext>
            </a:extLst>
          </p:cNvPr>
          <p:cNvCxnSpPr>
            <a:cxnSpLocks/>
          </p:cNvCxnSpPr>
          <p:nvPr/>
        </p:nvCxnSpPr>
        <p:spPr>
          <a:xfrm>
            <a:off x="6981825" y="1209675"/>
            <a:ext cx="0" cy="545782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3758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396</TotalTime>
  <Words>2004</Words>
  <Application>Microsoft Office PowerPoint</Application>
  <PresentationFormat>Widescreen</PresentationFormat>
  <Paragraphs>230</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 (Body)</vt:lpstr>
      <vt:lpstr>Aptos</vt:lpstr>
      <vt:lpstr>Aptos Display</vt: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8</cp:revision>
  <dcterms:created xsi:type="dcterms:W3CDTF">2026-05-18T22:27:35Z</dcterms:created>
  <dcterms:modified xsi:type="dcterms:W3CDTF">2026-05-19T05:03:44Z</dcterms:modified>
</cp:coreProperties>
</file>