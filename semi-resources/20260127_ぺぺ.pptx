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2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5650" autoAdjust="0"/>
  </p:normalViewPr>
  <p:slideViewPr>
    <p:cSldViewPr snapToGrid="0">
      <p:cViewPr varScale="1">
        <p:scale>
          <a:sx n="62" d="100"/>
          <a:sy n="62" d="100"/>
        </p:scale>
        <p:origin x="14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3B3A7-D69B-41F0-8DE1-1533CD2F6E40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3E22B-53DC-4759-B9CE-F4DF395E544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030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s-MX" dirty="0"/>
              <a:t>本日</a:t>
            </a:r>
            <a:r>
              <a:rPr lang="ja-JP" altLang="es-MX" dirty="0"/>
              <a:t>は、</a:t>
            </a:r>
            <a:r>
              <a:rPr lang="es-MX" b="1" dirty="0" err="1"/>
              <a:t>FastRAG</a:t>
            </a:r>
            <a:r>
              <a:rPr lang="es-MX" b="1" dirty="0"/>
              <a:t>: </a:t>
            </a:r>
            <a:r>
              <a:rPr lang="es-MX" b="1" dirty="0" err="1"/>
              <a:t>Retrieval-Augmented</a:t>
            </a:r>
            <a:r>
              <a:rPr lang="es-MX" b="1" dirty="0"/>
              <a:t> </a:t>
            </a:r>
            <a:r>
              <a:rPr lang="es-MX" b="1" dirty="0" err="1"/>
              <a:t>Generation</a:t>
            </a:r>
            <a:r>
              <a:rPr lang="es-MX" b="1" dirty="0"/>
              <a:t> </a:t>
            </a:r>
            <a:r>
              <a:rPr lang="es-MX" b="1" dirty="0" err="1"/>
              <a:t>for</a:t>
            </a:r>
            <a:r>
              <a:rPr lang="es-MX" b="1" dirty="0"/>
              <a:t> </a:t>
            </a:r>
            <a:r>
              <a:rPr lang="es-MX" b="1" dirty="0" err="1"/>
              <a:t>Semi-structured</a:t>
            </a:r>
            <a:r>
              <a:rPr lang="es-MX" b="1" dirty="0"/>
              <a:t> Data</a:t>
            </a:r>
            <a:r>
              <a:rPr lang="es-MX" dirty="0"/>
              <a:t> </a:t>
            </a:r>
            <a:r>
              <a:rPr lang="ja-JP" altLang="es-MX" dirty="0"/>
              <a:t>という</a:t>
            </a:r>
            <a:r>
              <a:rPr lang="zh-CN" altLang="es-MX" dirty="0"/>
              <a:t>論文</a:t>
            </a:r>
            <a:r>
              <a:rPr lang="ja-JP" altLang="es-MX" dirty="0"/>
              <a:t>について</a:t>
            </a:r>
            <a:r>
              <a:rPr lang="zh-CN" altLang="es-MX" dirty="0"/>
              <a:t>発表</a:t>
            </a:r>
            <a:r>
              <a:rPr lang="ja-JP" altLang="es-MX" dirty="0"/>
              <a:t>します。</a:t>
            </a:r>
            <a:endParaRPr lang="en-US" altLang="ja-JP" dirty="0"/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1543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まず、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について簡単に説明します。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Retrieval-Augmented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の略です。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には、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つの重要なステップがあります。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この段階で、文書やログ、データベースなどの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外部データから必要な情報を探します。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は、検索された情報を使って最終的な回答を作ります。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を分けることで、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はより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正確で、現実のデータに基づいた回答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ができます。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この方法は、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最新の情報が必要な場合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専門的な知識が必要な場合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正確で説明可能な回答が必要な場合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にとても有効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ゆうこう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7815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を単体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たんたい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で使う場合、いくつかの制約があります。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まず、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ハルシネーション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を起こすことがあります。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もっともらしいですが、正しくない答えを出すことがあります。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知識を更新できません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学習後の新しい情報を自動では反映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はんえい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できません。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さらに、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社内データや動的データ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例えば文書、ログ、設定ファイル、データベースに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直接アクセスできません。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これらの問題を解決するために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が使われます。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と外部データを接続することで、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正確性・信頼性・最新性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を向上させます。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741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ここまでで、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がなぜ重要かを説明しました。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しかし、多くの既存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システムには新たな問題があります。</a:t>
            </a:r>
            <a:endParaRPr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多くの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は、次の処理で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に強く依存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文書の解析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かいせき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知識やエンティティの抽出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ちゅうしゅつ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全データの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せいせい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データ更新のたびの再処理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さいしょり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このような設計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せっけい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たいりょう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頻繁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ひんぱん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に変化するデータ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高い技術的正確性が必要なデータに対して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スケールしません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この問題意識が、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の提案につながります。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786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これらの問題を踏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ふ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まえて、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著者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ちょしゃ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は重要な観察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かんさつ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と洞察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どうさつ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を示しています。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多くの実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み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運用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うんよう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の技術システムでは、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知識はすでに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暗黙的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あんもくてき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に構造化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こうぞうか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されています。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課題は、自然言語を理解することではありません。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課題は、ログや設定ファイルのような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反復的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はんぷくてき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な技術情報を整理すること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また、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フォーマットやルールを学習するのは得意ですが、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大量データを処理するには非常に高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コスト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そのため著者は、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にすべてのデータを読ませるのは非効率であり、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多くの処理は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コードで実行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じっこう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できる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結論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けつろん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づけています。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3901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現在、主に使われている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手法は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Vector-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RAG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技術データに対しては、それぞれに明確な限界がございます。それについて少し説明します。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8738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Vector-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を用いた意味的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いみてき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類似度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るいじど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検索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けんさく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を使います。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一般的な文章では、高い性能を発揮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はっき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しかし、技術データに対しては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いくつかの問題があります。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大規模データでは、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の生成コストが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非常に高くなります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また、技術文書やログでは、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正確なトークンや数値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すうち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が重要なため、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意味的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いみてき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類似度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るいじど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が機能しにくい場合があります。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さらに、データが頻繁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ひんぱん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に更新されると、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再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が必要になります。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検索結果が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非決定的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ひけっていてき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になる点も問題です。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結論として、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意味的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いみてき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類似度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るいじど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は運用上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うんようじょう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の正確性を保証しません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8300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次に、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について説明します。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には明確な利点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りてん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明示的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めいじてき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な構造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こうぞう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0"/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明確な関係表現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ひょうげん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しかし、著者は重要な問題点を指摘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の構築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こうちく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を使用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するため、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エンティティ抽出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ちゅうしゅつ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のコストが高くなります。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また、データ量が増えるほど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コストが比例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ひれい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して増加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ぞうか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そのため、大量のログデータに対しては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現実的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げんじつてき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ではありません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3289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最後に、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つまりキーワード検索について説明します。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著者は、キーワード検索が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今でも有効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であると述べています。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特に技術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ぎじゅつ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領域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りょういき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正確なトークン一致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が重要なため、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とても強力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きょうりょく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しかし、問題点もあります。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キーワード検索は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構造を持たない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関係性を表現できない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複雑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ふくざつ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な質問に弱いという欠点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けってん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そのため、キーワード検索だけでは十分ではありません。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5450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既存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きそん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手法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しゅほう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の分析を通して、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著者は明確な結論に到達します。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単一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たんいつ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の手法では不十分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必要なのは、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てい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コスト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高精度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こうせいど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スケーラブル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に依存しない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に全処理を任せない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システムです。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は、このギャップから生まれました。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既存手法の強みを活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かしつつ、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弱点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じゃくてん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を回避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かいひ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する設計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せっけい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になっています。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4137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次に、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の全体構成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つの主要なコンポーネント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から構成されています。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Extraction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生の技術データを構造化します。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エンティティや関係、元のテキストへの参照を保存します。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グラフ検索とテキスト検索を使って情報を取得します。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取得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しゅとく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した情報をもとに、最終的な回答を生成します。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すべての設計は、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の使用を最小化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さいしょうか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すること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を目的としています。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4822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次に、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Chunk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Sampling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について説明します。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これは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Extraction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の一部です。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データセット全体を処理するのではなく、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代表的なチャンクのみを選択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が見るのは、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全体データの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ごく一部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だけです。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目的は、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各チャンクの内容を理解することではなく、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データの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一般的な構造パターン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を学習することです。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これにより、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の呼び出し回数を最小化しつつ、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構造的カバレッジ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を維持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いじ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できます。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は「内容」ではなく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「形式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けいしき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を学習します。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0483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Chunk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Sampling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の次に、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を行います。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は、サンプルデータから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エンティティ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プロパティ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データ型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を推定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すいてい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その結果、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データ構造を表す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明示的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めいじてき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なスキーマ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を生成します。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ここで重要なのは、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このスキーマは 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完全ではない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という点です。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網羅性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もうらせい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よりも、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有用性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ゆうようせい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を重視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じゅうし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したスキーマになっています。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検索や推論に必要な情報だけを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取り出すことが目的です。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207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次に、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Script </a:t>
            </a: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について説明します。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この段階で、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データを直接処理しません。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の役割は、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コード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Parsing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ルール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を生成することです。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生成されたパーサには、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次のような特徴があります。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決定論的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けっていろんてき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である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を使用しない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ja-JP" alt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データセット全体を処理できる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この設計により、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データ処理の重い部分をコードに任せ、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は高いスケーラビリティを実現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じつげん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5065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次に、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について説明します。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種類の情報を保存します。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エンティティ 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データから抽出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ちゅうしゅつ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された具体的な対象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たいしょう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を表します。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関係 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エンティティ同士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どうし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のつながりを定義します。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プロパティ 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各エンティティの構造化された属性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ぞくせい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を保持します。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 元テキストへの参照 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は、行レベルで元データへのリンクを保存します。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この設計により、いくつかの重要な利点が得られます。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高いトレーサビリティ。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すべての構造化データは、元の位置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まで追跡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ついせき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できます。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デバッグが容易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ようい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正確な参照があるため、問題を直接ソース上で確認できます。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構造化クエリが可能になります。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エンティティや関係を使った精密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せいみつ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な検索が行えます。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そして、元データへの直接アクセス。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取得された結果は、常に原文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げんぶん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と結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むす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びついています。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において、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生データと検索・推論の間をつなぐ中核的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ちゅうかくてき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な役割を果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たします。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構造性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こうぞうせい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、透明性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とうめいせい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そして最終回答の信頼性を支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ささ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える基盤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きばん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となります。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172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次に、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Retrieval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について説明します。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つの補完的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ほかんてき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な手法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しゅほう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を使用します。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KG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Querying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この方法は高精度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こうせいど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構造ベースで動作し、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明確な質問に最適です。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を直接検索するため、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結果は決定論的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けっていろんてき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で、非常に的確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てきかく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つ目は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Text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キーワード検索を使い、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元テキストに直接アクセスします。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役割は、抽出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ちゅうしゅつ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も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れを補完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ほかん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することです。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もしグラフに含まれていない情報があっても、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生データから取得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しゅとく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できます。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つは連携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れんけい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して動作します。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KG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Querying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は正確性と構造性を提供し、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は網羅性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もうらせい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と柔軟性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じゅうなんせい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を担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にな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両者を組み合わせることで、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は信頼性の高い検索を実現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じつげん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しつつ、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への依存を最小限に抑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おさ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えます。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83610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まず、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検索がうまく動く例を見てみましょう。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ユーザーの質問は、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「どのファイアウォールがポート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をブロックしているか？」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には、すでに構造化された情報があります。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エンティティ。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エンティティ。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BLOCKS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という明確な関係。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概念的には、次のような形です。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(Firewall: FW1) ──[BLOCKS]──&gt; (Port: 22)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これにより、直接グラフクエリが書けます。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f:Firewall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)-[:BLOCKS]-&gt;(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p:Port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{number: 22})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f.name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なぜ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が有効なのでしょうか。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エンティティが明確。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関係も明確。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BLOCKS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質問が構造に完全にマッピングできます。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曖昧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あいまい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さはありません。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隠れた文脈もありません。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答えは、すでに構造化された形で存在しています。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641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次は、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検索が苦手な例です。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質問は、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「なぜ昨日、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SSH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トラフィックが突然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とつぜん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遮断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しゃだん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されたのか？」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ここでは、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だけでは不十分です。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理由は次の通りです。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「なぜ」は因果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いんが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関係を求めています。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「突然」は暗黙的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あんもくてき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な時間表現です。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「昨日」はエンティティとして存在しない可能性があります。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そして、本当の原因は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グラフではなくログ本文にあることが多いです。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には、次のような情報しかない場合があります。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(Firewall: FW1) ──[DROP]──&gt; (Port: 22)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これは「何が起きたか」は示します。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しかし「なぜ」は分かりません。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1859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ここで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Text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が登場します。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は元ログへの参照をたどります。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例えば：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[2024-11-12 02:13:45]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FW1: Rule 145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updated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maintenance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SSH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dropped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immediately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after rule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そして次のような検索を行います。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"SSH" AND "dropped" AND "rule update"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そこから得られる情報は、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原因：ルール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145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の更新。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タイミング：メンテナンス後。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そして暗黙的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あんもくてき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な因果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いんが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関係。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は「事象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じしょう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」を提供し、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は「理由」を補完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ほかん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両者を組み合わせることで、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全体のストーリーが再構築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さいこうちく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されます。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27758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最後に、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について説明します。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この段階で、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は検索を行いません。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わりに、すでに整理された入力だけを受け取ります。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わた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されるのは、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クエリの結果、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そしてテキスト検索で取得された断片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だんぺん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この情報だけを使って、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は最終的な回答を生成します。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これは意図的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いとてき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な設計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せっけい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はデータセット全体を見ません。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現在の質問に必要な情報だけを参照します。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検索と生成を分離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ぶんり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することで、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は次を実現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じつげん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トークン使用量の削減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さくげん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根拠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こんきょ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の明確化。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ハルシネーションの低減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ていげん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の役割は限定的で、制御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せいぎょ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されています。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データを探索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たんさく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しません。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生ログを解釈しません。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選別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せんべつ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された関連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かんれん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情報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じょうほう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を統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合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ごう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一貫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いっかん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した回答にまとめるだけです。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これで、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は完結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かんけつ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0872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最後に、評価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ひょうか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結果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けっか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を見てみましょう。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ここでは、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つのデータセットで比較しています。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Logs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Configurations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評価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ひょうか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指標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しひょう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処理時間、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そしてコストです。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まず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Logs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の場合。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3.9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 で完了しますが、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 かかります。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コストは、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0.91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ドル、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6.00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ドル 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Configurations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2.0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6.3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コストは、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1.10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ドル、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4.00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ドル 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ここから、いくつかの重要な点が分かります。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まずコスト。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は最大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倍安価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あんか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次に処理時間。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は最大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倍高速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こうそく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そして回答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かいとう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品質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ひんしつ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著者によれば、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両者はほぼ同等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どうとう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最後にスケーラビリティ。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は、ランタイムから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を除外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じょがい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することで、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大幅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おおはば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にスケール性能を向上させています。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重いデータ処理はコード側で決定論的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けっていろんてき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に行い、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は最後の回答生成にのみ使用されます。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これは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の設計思想を明確に示しています。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知能は前処理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まえしょり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スケールはコードに。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は軽量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けいりょう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8660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次に、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Limitations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Discussion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について説明します。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には、意図的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いとてき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なトレードオフがあります。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まず、決定論的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けっていろんてき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パーサへの依存です。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パーサが失敗すれば、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情報抽出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ちゅうしゅつ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も失敗します。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次に、ナラティブなテキストには向いていません。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自由形式の文章や主観的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しゅかんてき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な説明は、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構造化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に適合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てきごう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しません。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そして、プロパティの網羅性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もうらせい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は部分的です。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生成されるスキーマは完全ではなく、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検索と推論に必要な項目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こうもく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だけを対象にしています。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これらの制限は、設計上あらかじめ想定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そうてい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されています。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しかし、これは意図的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いとてき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な選択です。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ログや設定ファイルのような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技術ドメイン向けに最適化されています。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この領域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りょういき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では、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構造が存在し、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パターンが繰り返され、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決定論性が強みになります。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は汎用性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はんようせい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を追求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ついきゅう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する代わりに、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高速性、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コスト効率、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スケーラビリティ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を優先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ゆうせん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要点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ようてん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はシンプルです。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FastRAG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は完全性を犠牲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ぎせい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にして、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ja-JP" alt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実用的なスケール性能を実現しています。</a:t>
            </a:r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3E22B-53DC-4759-B9CE-F4DF395E544A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8314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E0AD-114B-73B9-B7B0-2C46DA409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1BD68-5846-5112-B02A-6055A911C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046BF-02C1-0C98-6C36-5877682C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747B-975E-F744-A769-4B0B363B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415D0-5F27-F770-0EBC-50048199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178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06B0-73B8-735B-10D6-49B91C3E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71EAA-0CEC-29E1-EBE1-F88828543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8C4A1-E8EC-9A51-9617-2B98D35A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410C3-0DA4-FA0B-A967-8C7999C4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268E5-7CDE-4CC0-9852-7CE7036F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841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2D01-49D3-C0E6-2837-8CCC955AC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B663-7E93-64FF-36DE-FA0551E7A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82975-BC85-8E1C-48A8-00449C615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8DD17-AAB3-8361-12D5-59A5D20C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F01A-B6C5-A8B0-1A2C-32689FFF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17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043E-58CA-C977-BD99-251C9504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C0F6A-C906-534F-7700-EFF8424F4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7FEE8-77CC-A35A-3CFD-184A975E9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1ECDF-11EA-1C03-1B81-33602BBE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96D55-4F0E-332B-5B3E-6FEDF709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90C33-F230-D680-89E8-2E4C5F3C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468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6C7D-3B35-8223-0936-DA347FFA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B24FC-D459-632F-858E-9B09BA951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17ABF-A92D-0E0A-B6E4-365AF18A8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25513-D021-80B3-D1E6-1649ACB49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81F07-6881-C2A9-7DFF-4F4B29968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43ABC2-82E0-44B5-CBFC-EA63F5F6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31441-9E85-E2B0-1BE1-219BA5B1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EB6C8-6732-C6ED-AA66-3B170932D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917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6B39-A7EA-8C6E-168C-992B3991E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C7567-3A67-0F14-4BFB-44951FD7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C4D63-0A5D-C433-407D-7C4256D2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90D8C-CD9A-8F26-49B0-0E962447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601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06CE-D3DA-62F8-CA45-7CFDE0BA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C4A0E-87B8-C7FB-6B29-17110C1F8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F5D95-77FE-6231-78F7-5E61E08C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449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A186-9AE5-AA3D-5EB3-25314B0C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9016-2864-288A-6EAF-42BD1AA59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9EBEFB-635D-F91D-7B7A-59F9EB3C8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E6502-B3F8-0D51-E283-F881E5A3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D6D02-91DF-73D5-53B7-9906B547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34778-72B6-D637-AA45-B2DF5758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802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6631-A4FF-5327-9094-FF6B618E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2A74D-D5FF-7D5B-8EDB-E9C216510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6E746-2929-0C70-ECB5-EC4F22983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5A8EB-484B-71C6-487C-5689D2CC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E355C-ED0E-1614-401D-3FA08B84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B3473-DC56-0417-BDA4-78810C1F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165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7180-F69B-55EE-CFC8-C1AD8B611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43CD7-148D-B950-46AF-BCED44DDB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E388-587C-7605-C9FE-AB6A7A180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2391E-B12A-FFE0-821B-E6014FA9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45A9-1CE8-9121-5F5E-8309180F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0346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DF2313-4928-55FB-3BDD-27E37160C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608F8-43F4-1C03-6375-EF78C3962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5B527-71CE-82B2-330F-50DE3780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0BEE3-4555-CA8B-58F0-9A74ECA0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BF37E-EA62-2E25-92E9-024C5D6A3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481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84958-D65B-78B9-8C04-E5411A0C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BBE12-55AA-67AE-10B6-1A633E8A5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3852A-D091-1F9B-C132-8848E4E05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7806B-7806-47D0-8748-0D310AA98C7F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7C79B-30B3-3A14-1C15-EEF3060B2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C136E-D6A6-2ED6-6C5F-82ADDB4AD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BD3E5-F385-495D-9311-03B999C52E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072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4C9A-BFDE-4F8C-D72A-7AE0845336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400" dirty="0" err="1"/>
              <a:t>FastRAG</a:t>
            </a:r>
            <a:r>
              <a:rPr lang="en-US" sz="4400" dirty="0"/>
              <a:t>: Retrieval Augmented Generation for Semi-structured Data</a:t>
            </a:r>
            <a:endParaRPr lang="es-MX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9E391-AEFE-9D0B-7133-5DD4D27D4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57680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ja-JP" altLang="es-MX" dirty="0"/>
              <a:t>情報経営システム工学３年</a:t>
            </a:r>
            <a:endParaRPr lang="es-MX" altLang="ja-JP" dirty="0"/>
          </a:p>
          <a:p>
            <a:pPr algn="l"/>
            <a:r>
              <a:rPr lang="ja-JP" altLang="es-MX" dirty="0"/>
              <a:t>ロペスチャパホセ</a:t>
            </a:r>
            <a:endParaRPr lang="es-MX" altLang="ja-JP" dirty="0"/>
          </a:p>
          <a:p>
            <a:pPr algn="l"/>
            <a:endParaRPr lang="es-MX" dirty="0"/>
          </a:p>
          <a:p>
            <a:pPr algn="r"/>
            <a:r>
              <a:rPr lang="ja-JP" altLang="es-MX" sz="1600" dirty="0"/>
              <a:t>２０２６年１月２７日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75839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14DE-7A1F-F255-72B9-A27637DD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RAG</a:t>
            </a:r>
            <a:r>
              <a:rPr lang="ja-JP" altLang="es-MX" dirty="0"/>
              <a:t>とは</a:t>
            </a:r>
            <a:r>
              <a:rPr lang="zh-CN" altLang="es-MX" dirty="0"/>
              <a:t>何</a:t>
            </a:r>
            <a:r>
              <a:rPr lang="ja-JP" altLang="es-MX" dirty="0"/>
              <a:t>か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72D2F-32AF-701D-6F34-D02E2478C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altLang="ja-JP" dirty="0" err="1"/>
              <a:t>Retrieval-Augmented</a:t>
            </a:r>
            <a:r>
              <a:rPr lang="es-MX" altLang="ja-JP" dirty="0"/>
              <a:t> </a:t>
            </a:r>
            <a:r>
              <a:rPr lang="es-MX" altLang="ja-JP" dirty="0" err="1"/>
              <a:t>Generation</a:t>
            </a:r>
            <a:r>
              <a:rPr lang="ja-JP" altLang="es-MX" dirty="0"/>
              <a:t>（</a:t>
            </a:r>
            <a:r>
              <a:rPr lang="es-MX" altLang="ja-JP" dirty="0"/>
              <a:t>RAG</a:t>
            </a:r>
            <a:r>
              <a:rPr lang="ja-JP" altLang="es-MX" dirty="0"/>
              <a:t>）とは、</a:t>
            </a:r>
          </a:p>
          <a:p>
            <a:pPr lvl="1"/>
            <a:r>
              <a:rPr lang="es-MX" altLang="ja-JP" b="1" dirty="0" err="1"/>
              <a:t>Retrieval</a:t>
            </a:r>
            <a:r>
              <a:rPr lang="ja-JP" altLang="es-MX" b="1" dirty="0"/>
              <a:t>（検索）</a:t>
            </a:r>
            <a:br>
              <a:rPr lang="ja-JP" altLang="es-MX" dirty="0"/>
            </a:br>
            <a:r>
              <a:rPr lang="ja-JP" altLang="es-MX" dirty="0"/>
              <a:t>外部データから関連情報を取得する</a:t>
            </a:r>
          </a:p>
          <a:p>
            <a:pPr lvl="1"/>
            <a:r>
              <a:rPr lang="es-MX" altLang="ja-JP" b="1" dirty="0" err="1"/>
              <a:t>Generation</a:t>
            </a:r>
            <a:r>
              <a:rPr lang="ja-JP" altLang="es-MX" b="1" dirty="0"/>
              <a:t>（生成）</a:t>
            </a:r>
            <a:br>
              <a:rPr lang="ja-JP" altLang="es-MX" dirty="0"/>
            </a:br>
            <a:r>
              <a:rPr lang="ja-JP" altLang="es-MX" dirty="0"/>
              <a:t>取得した情報をもとに</a:t>
            </a:r>
            <a:r>
              <a:rPr lang="es-MX" altLang="ja-JP" dirty="0"/>
              <a:t>LLM</a:t>
            </a:r>
            <a:r>
              <a:rPr lang="ja-JP" altLang="es-MX" dirty="0"/>
              <a:t>が回答を生成する</a:t>
            </a:r>
          </a:p>
          <a:p>
            <a:pPr marL="0" indent="0">
              <a:buNone/>
            </a:pPr>
            <a:endParaRPr lang="es-MX" altLang="ja-JP" dirty="0"/>
          </a:p>
          <a:p>
            <a:pPr marL="0" indent="0">
              <a:buNone/>
            </a:pPr>
            <a:r>
              <a:rPr lang="ja-JP" altLang="es-MX" dirty="0"/>
              <a:t> 目的：</a:t>
            </a:r>
          </a:p>
          <a:p>
            <a:pPr marL="0" indent="0">
              <a:buNone/>
            </a:pPr>
            <a:r>
              <a:rPr lang="es-MX" altLang="ja-JP" dirty="0"/>
              <a:t>LLM</a:t>
            </a:r>
            <a:r>
              <a:rPr lang="ja-JP" altLang="es-MX" dirty="0"/>
              <a:t>の回答を</a:t>
            </a:r>
            <a:r>
              <a:rPr lang="ja-JP" altLang="es-MX" b="1" dirty="0"/>
              <a:t>外部知識に基づいたもの</a:t>
            </a:r>
            <a:r>
              <a:rPr lang="ja-JP" altLang="es-MX" dirty="0"/>
              <a:t>にすること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0632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F0ACF-0DA1-BA33-76CC-2B84DB68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s-MX" dirty="0"/>
              <a:t>なぜ</a:t>
            </a:r>
            <a:r>
              <a:rPr lang="es-MX" altLang="ja-JP" dirty="0"/>
              <a:t>RAG</a:t>
            </a:r>
            <a:r>
              <a:rPr lang="ja-JP" altLang="es-MX" dirty="0"/>
              <a:t>が必要か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08C56-EF83-C65D-2404-EC4FE9354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altLang="ja-JP" dirty="0"/>
              <a:t>LLM</a:t>
            </a:r>
            <a:r>
              <a:rPr lang="ja-JP" altLang="es-MX" dirty="0"/>
              <a:t>単体には次のような制約がある：</a:t>
            </a:r>
          </a:p>
          <a:p>
            <a:pPr lvl="1"/>
            <a:r>
              <a:rPr lang="ja-JP" altLang="es-MX" dirty="0"/>
              <a:t>ハルシネーションの発生</a:t>
            </a:r>
          </a:p>
          <a:p>
            <a:pPr lvl="1"/>
            <a:r>
              <a:rPr lang="ja-JP" altLang="es-MX" dirty="0"/>
              <a:t>知識の更新ができない</a:t>
            </a:r>
          </a:p>
          <a:p>
            <a:pPr lvl="1"/>
            <a:r>
              <a:rPr lang="ja-JP" altLang="es-MX" dirty="0"/>
              <a:t>社内データや動的データにアクセスできない</a:t>
            </a:r>
          </a:p>
          <a:p>
            <a:pPr marL="0" indent="0">
              <a:buNone/>
            </a:pPr>
            <a:endParaRPr lang="es-MX" altLang="ja-JP" dirty="0"/>
          </a:p>
          <a:p>
            <a:pPr marL="0" indent="0">
              <a:buNone/>
            </a:pPr>
            <a:r>
              <a:rPr lang="es-MX" altLang="ja-JP" dirty="0"/>
              <a:t>RAG</a:t>
            </a:r>
            <a:r>
              <a:rPr lang="ja-JP" altLang="es-MX" dirty="0"/>
              <a:t>はこれらを解決するために：</a:t>
            </a:r>
          </a:p>
          <a:p>
            <a:pPr lvl="1"/>
            <a:r>
              <a:rPr lang="ja-JP" altLang="es-MX" dirty="0"/>
              <a:t>文書・ログ・設定ファイル・</a:t>
            </a:r>
            <a:r>
              <a:rPr lang="es-MX" altLang="ja-JP" dirty="0"/>
              <a:t>DB</a:t>
            </a:r>
            <a:r>
              <a:rPr lang="ja-JP" altLang="es-MX" dirty="0"/>
              <a:t>と</a:t>
            </a:r>
            <a:r>
              <a:rPr lang="es-MX" altLang="ja-JP" dirty="0"/>
              <a:t>LLM</a:t>
            </a:r>
            <a:r>
              <a:rPr lang="ja-JP" altLang="es-MX" dirty="0"/>
              <a:t>を接続</a:t>
            </a:r>
          </a:p>
          <a:p>
            <a:pPr lvl="1"/>
            <a:r>
              <a:rPr lang="ja-JP" altLang="es-MX" b="1" dirty="0"/>
              <a:t>正確性・信頼性・最新性</a:t>
            </a:r>
            <a:r>
              <a:rPr lang="ja-JP" altLang="es-MX" dirty="0"/>
              <a:t>を向上させる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2412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0A6A1-7BAE-47EE-7103-4FB88D353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s-MX" dirty="0"/>
              <a:t>既存</a:t>
            </a:r>
            <a:r>
              <a:rPr lang="es-MX" altLang="ja-JP" dirty="0"/>
              <a:t>RAG</a:t>
            </a:r>
            <a:r>
              <a:rPr lang="ja-JP" altLang="es-MX" dirty="0"/>
              <a:t>の問題点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35FBE-981A-E6C7-1175-660F4649A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s-MX" dirty="0"/>
              <a:t>多くの</a:t>
            </a:r>
            <a:r>
              <a:rPr lang="es-MX" altLang="ja-JP" dirty="0"/>
              <a:t>RAG</a:t>
            </a:r>
            <a:r>
              <a:rPr lang="ja-JP" altLang="es-MX" dirty="0"/>
              <a:t>システムは</a:t>
            </a:r>
            <a:r>
              <a:rPr lang="es-MX" altLang="ja-JP" dirty="0"/>
              <a:t>LLM</a:t>
            </a:r>
            <a:r>
              <a:rPr lang="ja-JP" altLang="es-MX" dirty="0"/>
              <a:t>に強く依存している：</a:t>
            </a:r>
          </a:p>
          <a:p>
            <a:pPr lvl="1"/>
            <a:r>
              <a:rPr lang="ja-JP" altLang="es-MX" dirty="0"/>
              <a:t>文書の解析</a:t>
            </a:r>
          </a:p>
          <a:p>
            <a:pPr lvl="1"/>
            <a:r>
              <a:rPr lang="ja-JP" altLang="es-MX" dirty="0"/>
              <a:t>知識・エンティティの抽出</a:t>
            </a:r>
          </a:p>
          <a:p>
            <a:pPr lvl="1"/>
            <a:r>
              <a:rPr lang="ja-JP" altLang="es-MX" dirty="0"/>
              <a:t>全データの</a:t>
            </a:r>
            <a:r>
              <a:rPr lang="es-MX" altLang="ja-JP" dirty="0" err="1"/>
              <a:t>Embedding</a:t>
            </a:r>
            <a:r>
              <a:rPr lang="ja-JP" altLang="es-MX" dirty="0"/>
              <a:t>生成</a:t>
            </a:r>
          </a:p>
          <a:p>
            <a:pPr lvl="1"/>
            <a:r>
              <a:rPr lang="ja-JP" altLang="es-MX" dirty="0"/>
              <a:t>データ更新のたびに再処理</a:t>
            </a:r>
          </a:p>
          <a:p>
            <a:pPr marL="0" indent="0">
              <a:buNone/>
            </a:pPr>
            <a:r>
              <a:rPr lang="ja-JP" altLang="es-MX" dirty="0"/>
              <a:t> </a:t>
            </a:r>
            <a:endParaRPr lang="es-MX" altLang="ja-JP" dirty="0"/>
          </a:p>
          <a:p>
            <a:pPr marL="0" indent="0">
              <a:buNone/>
            </a:pPr>
            <a:r>
              <a:rPr lang="ja-JP" altLang="es-MX" dirty="0"/>
              <a:t>次のようなデータではスケールしない：</a:t>
            </a:r>
          </a:p>
          <a:p>
            <a:pPr lvl="1"/>
            <a:r>
              <a:rPr lang="ja-JP" altLang="es-MX" dirty="0"/>
              <a:t>大量データ</a:t>
            </a:r>
            <a:endParaRPr lang="es-MX" altLang="ja-JP" dirty="0"/>
          </a:p>
          <a:p>
            <a:pPr lvl="1"/>
            <a:r>
              <a:rPr lang="ja-JP" altLang="es-MX" dirty="0"/>
              <a:t>頻繁に変化するデータ</a:t>
            </a:r>
          </a:p>
          <a:p>
            <a:pPr lvl="1"/>
            <a:r>
              <a:rPr lang="ja-JP" altLang="es-MX" dirty="0"/>
              <a:t>高い技術的正確性が必要なデータ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838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C7CA-5113-3FCB-0455-43BCD310E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s-MX" dirty="0"/>
              <a:t>著者の観察と主要な洞察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8C067-0783-B125-FEBD-998DFB801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s-MX" dirty="0"/>
              <a:t>多くの実運用の技術システムでは：</a:t>
            </a:r>
          </a:p>
          <a:p>
            <a:pPr lvl="1"/>
            <a:r>
              <a:rPr lang="ja-JP" altLang="es-MX" dirty="0"/>
              <a:t>知識はすでに</a:t>
            </a:r>
            <a:r>
              <a:rPr lang="ja-JP" altLang="es-MX" b="1" dirty="0"/>
              <a:t>暗黙的に構造化</a:t>
            </a:r>
            <a:r>
              <a:rPr lang="ja-JP" altLang="es-MX" dirty="0"/>
              <a:t>されている</a:t>
            </a:r>
          </a:p>
          <a:p>
            <a:pPr lvl="1"/>
            <a:r>
              <a:rPr lang="ja-JP" altLang="es-MX" dirty="0"/>
              <a:t>課題は</a:t>
            </a:r>
            <a:r>
              <a:rPr lang="ja-JP" altLang="es-MX" b="1" dirty="0"/>
              <a:t>自然言語の理解</a:t>
            </a:r>
            <a:r>
              <a:rPr lang="ja-JP" altLang="es-MX" dirty="0"/>
              <a:t>ではない</a:t>
            </a:r>
          </a:p>
          <a:p>
            <a:pPr lvl="1"/>
            <a:r>
              <a:rPr lang="ja-JP" altLang="es-MX" dirty="0"/>
              <a:t>課題は</a:t>
            </a:r>
            <a:r>
              <a:rPr lang="ja-JP" altLang="es-MX" b="1" dirty="0"/>
              <a:t>反復的な技術情報の整理</a:t>
            </a:r>
            <a:r>
              <a:rPr lang="ja-JP" altLang="es-MX" dirty="0"/>
              <a:t>である</a:t>
            </a:r>
            <a:endParaRPr lang="es-MX" altLang="ja-JP" dirty="0"/>
          </a:p>
          <a:p>
            <a:pPr lvl="1"/>
            <a:endParaRPr lang="es-MX" altLang="ja-JP" dirty="0"/>
          </a:p>
          <a:p>
            <a:pPr marL="0" indent="0">
              <a:buNone/>
            </a:pPr>
            <a:r>
              <a:rPr lang="es-MX" altLang="ja-JP" b="1" dirty="0"/>
              <a:t>	LLM</a:t>
            </a:r>
            <a:r>
              <a:rPr lang="ja-JP" altLang="es-MX" b="1" dirty="0"/>
              <a:t>はフォーマットやルールを学習するのは得意であるが、</a:t>
            </a:r>
            <a:br>
              <a:rPr lang="ja-JP" altLang="es-MX" b="1" dirty="0"/>
            </a:br>
            <a:r>
              <a:rPr lang="es-MX" altLang="ja-JP" b="1" dirty="0"/>
              <a:t>	</a:t>
            </a:r>
            <a:r>
              <a:rPr lang="ja-JP" altLang="es-MX" b="1" dirty="0"/>
              <a:t>大量データの処理には非常に高いコストがかかる。</a:t>
            </a:r>
            <a:endParaRPr lang="ja-JP" altLang="es-MX" dirty="0"/>
          </a:p>
          <a:p>
            <a:endParaRPr lang="es-MX" altLang="ja-JP" b="1" dirty="0"/>
          </a:p>
          <a:p>
            <a:pPr marL="0" indent="0">
              <a:buNone/>
            </a:pPr>
            <a:r>
              <a:rPr lang="ja-JP" altLang="es-MX" b="1" dirty="0"/>
              <a:t>著者の結論：</a:t>
            </a:r>
            <a:endParaRPr lang="ja-JP" altLang="es-MX" dirty="0"/>
          </a:p>
          <a:p>
            <a:pPr lvl="1"/>
            <a:r>
              <a:rPr lang="es-MX" altLang="ja-JP" dirty="0"/>
              <a:t>LLM</a:t>
            </a:r>
            <a:r>
              <a:rPr lang="ja-JP" altLang="es-MX" dirty="0"/>
              <a:t>にすべてのデータを読ませるのは</a:t>
            </a:r>
            <a:r>
              <a:rPr lang="ja-JP" altLang="es-MX" b="1" dirty="0"/>
              <a:t>非効率的</a:t>
            </a:r>
            <a:endParaRPr lang="ja-JP" altLang="es-MX" dirty="0"/>
          </a:p>
          <a:p>
            <a:pPr lvl="1"/>
            <a:r>
              <a:rPr lang="ja-JP" altLang="es-MX" dirty="0"/>
              <a:t>多くの処理は</a:t>
            </a:r>
            <a:r>
              <a:rPr lang="ja-JP" altLang="es-MX" b="1" dirty="0"/>
              <a:t>コードによって実行可能</a:t>
            </a:r>
            <a:r>
              <a:rPr lang="ja-JP" altLang="es-MX" dirty="0"/>
              <a:t>である</a:t>
            </a:r>
          </a:p>
          <a:p>
            <a:pPr lvl="1"/>
            <a:endParaRPr lang="ja-JP" altLang="es-MX" dirty="0"/>
          </a:p>
          <a:p>
            <a:endParaRPr lang="es-MX" dirty="0"/>
          </a:p>
        </p:txBody>
      </p:sp>
      <p:sp>
        <p:nvSpPr>
          <p:cNvPr id="4" name="Minus Sign 3">
            <a:extLst>
              <a:ext uri="{FF2B5EF4-FFF2-40B4-BE49-F238E27FC236}">
                <a16:creationId xmlns:a16="http://schemas.microsoft.com/office/drawing/2014/main" id="{6F17262E-E8C3-443C-3BE0-3B4F353F129E}"/>
              </a:ext>
            </a:extLst>
          </p:cNvPr>
          <p:cNvSpPr/>
          <p:nvPr/>
        </p:nvSpPr>
        <p:spPr>
          <a:xfrm rot="5400000">
            <a:off x="1189990" y="3743535"/>
            <a:ext cx="820420" cy="396240"/>
          </a:xfrm>
          <a:prstGeom prst="mathMinu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965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B37A3-5F3A-14C3-F718-ADB01D02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s-MX" dirty="0"/>
              <a:t>既存</a:t>
            </a:r>
            <a:r>
              <a:rPr lang="es-MX" dirty="0"/>
              <a:t>RAG</a:t>
            </a:r>
            <a:r>
              <a:rPr lang="zh-CN" altLang="es-MX" dirty="0"/>
              <a:t>手法</a:t>
            </a:r>
            <a:r>
              <a:rPr lang="ja-JP" altLang="es-MX" dirty="0"/>
              <a:t>とその</a:t>
            </a:r>
            <a:r>
              <a:rPr lang="zh-CN" altLang="es-MX" dirty="0"/>
              <a:t>限界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EF3E-8F0B-5890-6144-C36CA3AFF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s-MX" dirty="0"/>
              <a:t>現在主</a:t>
            </a:r>
            <a:r>
              <a:rPr lang="ja-JP" altLang="es-MX" dirty="0"/>
              <a:t>に</a:t>
            </a:r>
            <a:r>
              <a:rPr lang="zh-CN" altLang="es-MX" dirty="0"/>
              <a:t>使</a:t>
            </a:r>
            <a:r>
              <a:rPr lang="ja-JP" altLang="es-MX" dirty="0"/>
              <a:t>われている</a:t>
            </a:r>
            <a:r>
              <a:rPr lang="es-MX" dirty="0"/>
              <a:t>RAG</a:t>
            </a:r>
            <a:r>
              <a:rPr lang="zh-CN" altLang="es-MX" dirty="0"/>
              <a:t>手法：</a:t>
            </a:r>
          </a:p>
          <a:p>
            <a:pPr lvl="1"/>
            <a:r>
              <a:rPr lang="es-MX" b="1" dirty="0"/>
              <a:t>Vector-</a:t>
            </a:r>
            <a:r>
              <a:rPr lang="es-MX" b="1" dirty="0" err="1"/>
              <a:t>based</a:t>
            </a:r>
            <a:r>
              <a:rPr lang="es-MX" b="1" dirty="0"/>
              <a:t> RAG</a:t>
            </a:r>
            <a:endParaRPr lang="es-MX" dirty="0"/>
          </a:p>
          <a:p>
            <a:pPr lvl="1"/>
            <a:r>
              <a:rPr lang="es-MX" b="1" dirty="0" err="1"/>
              <a:t>GraphRAG（Knowledge</a:t>
            </a:r>
            <a:r>
              <a:rPr lang="es-MX" b="1" dirty="0"/>
              <a:t> </a:t>
            </a:r>
            <a:r>
              <a:rPr lang="es-MX" b="1" dirty="0" err="1"/>
              <a:t>Graph</a:t>
            </a:r>
            <a:r>
              <a:rPr lang="es-MX" b="1" dirty="0"/>
              <a:t> RAG）</a:t>
            </a:r>
            <a:endParaRPr lang="es-MX" dirty="0"/>
          </a:p>
          <a:p>
            <a:pPr lvl="1"/>
            <a:r>
              <a:rPr lang="es-MX" b="1" dirty="0"/>
              <a:t>Text-</a:t>
            </a:r>
            <a:r>
              <a:rPr lang="es-MX" b="1" dirty="0" err="1"/>
              <a:t>based</a:t>
            </a:r>
            <a:r>
              <a:rPr lang="es-MX" b="1" dirty="0"/>
              <a:t> </a:t>
            </a:r>
            <a:r>
              <a:rPr lang="es-MX" b="1" dirty="0" err="1"/>
              <a:t>Retrieval（Keyword</a:t>
            </a:r>
            <a:r>
              <a:rPr lang="es-MX" b="1" dirty="0"/>
              <a:t> </a:t>
            </a:r>
            <a:r>
              <a:rPr lang="es-MX" b="1" dirty="0" err="1"/>
              <a:t>Search</a:t>
            </a:r>
            <a:r>
              <a:rPr lang="es-MX" b="1" dirty="0"/>
              <a:t>）</a:t>
            </a:r>
          </a:p>
          <a:p>
            <a:pPr lvl="1"/>
            <a:endParaRPr lang="es-MX" b="1" dirty="0"/>
          </a:p>
          <a:p>
            <a:pPr lvl="1"/>
            <a:r>
              <a:rPr lang="ja-JP" altLang="es-MX" dirty="0"/>
              <a:t>技術データに対しては、それぞれに明確な限界がある。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212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D206-007F-B079-C78F-1E4050A8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ja-JP" dirty="0"/>
              <a:t>Vector-</a:t>
            </a:r>
            <a:r>
              <a:rPr lang="es-MX" altLang="ja-JP" dirty="0" err="1"/>
              <a:t>based</a:t>
            </a:r>
            <a:r>
              <a:rPr lang="es-MX" altLang="ja-JP" dirty="0"/>
              <a:t> RAG </a:t>
            </a:r>
            <a:r>
              <a:rPr lang="ja-JP" altLang="es-MX" dirty="0"/>
              <a:t>の限界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1B2AA-8ABC-B43A-50D3-1B9D644B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ja-JP" altLang="es-MX" b="1" dirty="0"/>
              <a:t>概要</a:t>
            </a:r>
            <a:endParaRPr lang="ja-JP" altLang="es-MX" dirty="0"/>
          </a:p>
          <a:p>
            <a:pPr lvl="1"/>
            <a:r>
              <a:rPr lang="es-MX" altLang="ja-JP" dirty="0" err="1"/>
              <a:t>Embedding</a:t>
            </a:r>
            <a:r>
              <a:rPr lang="ja-JP" altLang="es-MX" dirty="0"/>
              <a:t>を用いた</a:t>
            </a:r>
            <a:r>
              <a:rPr lang="ja-JP" altLang="es-MX" b="1" dirty="0"/>
              <a:t>意味的類似度検索</a:t>
            </a:r>
            <a:endParaRPr lang="ja-JP" altLang="es-MX" dirty="0"/>
          </a:p>
          <a:p>
            <a:pPr lvl="1"/>
            <a:r>
              <a:rPr lang="ja-JP" altLang="es-MX" dirty="0"/>
              <a:t>一般文書では高い性能</a:t>
            </a:r>
            <a:endParaRPr lang="es-MX" altLang="ja-JP" dirty="0"/>
          </a:p>
          <a:p>
            <a:pPr lvl="1"/>
            <a:endParaRPr lang="ja-JP" altLang="es-MX" dirty="0"/>
          </a:p>
          <a:p>
            <a:r>
              <a:rPr lang="ja-JP" altLang="es-MX" b="1" dirty="0"/>
              <a:t>問題点</a:t>
            </a:r>
            <a:endParaRPr lang="es-MX" altLang="ja-JP" b="1" dirty="0"/>
          </a:p>
          <a:p>
            <a:pPr lvl="1"/>
            <a:r>
              <a:rPr lang="ja-JP" altLang="es-MX" dirty="0"/>
              <a:t>大規模データでは</a:t>
            </a:r>
            <a:r>
              <a:rPr lang="es-MX" altLang="ja-JP" b="1" dirty="0" err="1"/>
              <a:t>Embedding</a:t>
            </a:r>
            <a:r>
              <a:rPr lang="ja-JP" altLang="es-MX" b="1" dirty="0"/>
              <a:t>コストが非常に高い</a:t>
            </a:r>
            <a:endParaRPr lang="ja-JP" altLang="es-MX" dirty="0"/>
          </a:p>
          <a:p>
            <a:pPr lvl="1"/>
            <a:r>
              <a:rPr lang="ja-JP" altLang="es-MX" dirty="0"/>
              <a:t>技術文書・ログでは意味類似が機能しにくい</a:t>
            </a:r>
          </a:p>
          <a:p>
            <a:pPr lvl="1"/>
            <a:r>
              <a:rPr lang="ja-JP" altLang="es-MX" dirty="0"/>
              <a:t>頻繁な更新に弱い（再</a:t>
            </a:r>
            <a:r>
              <a:rPr lang="es-MX" altLang="ja-JP" dirty="0" err="1"/>
              <a:t>Embedding</a:t>
            </a:r>
            <a:r>
              <a:rPr lang="ja-JP" altLang="es-MX" dirty="0"/>
              <a:t>が必要）</a:t>
            </a:r>
          </a:p>
          <a:p>
            <a:pPr lvl="1"/>
            <a:r>
              <a:rPr lang="ja-JP" altLang="es-MX" dirty="0"/>
              <a:t>検索結果が</a:t>
            </a:r>
            <a:r>
              <a:rPr lang="ja-JP" altLang="es-MX" b="1" dirty="0"/>
              <a:t>非決定的</a:t>
            </a:r>
            <a:endParaRPr lang="es-MX" altLang="ja-JP" b="1" dirty="0"/>
          </a:p>
          <a:p>
            <a:pPr lvl="1"/>
            <a:endParaRPr lang="ja-JP" altLang="es-MX" dirty="0"/>
          </a:p>
          <a:p>
            <a:r>
              <a:rPr lang="ja-JP" altLang="es-MX" dirty="0"/>
              <a:t>結論：</a:t>
            </a:r>
            <a:br>
              <a:rPr lang="ja-JP" altLang="es-MX" dirty="0"/>
            </a:br>
            <a:r>
              <a:rPr lang="es-MX" altLang="ja-JP" b="1" dirty="0" err="1"/>
              <a:t>Semantic</a:t>
            </a:r>
            <a:r>
              <a:rPr lang="es-MX" altLang="ja-JP" b="1" dirty="0"/>
              <a:t> </a:t>
            </a:r>
            <a:r>
              <a:rPr lang="es-MX" altLang="ja-JP" b="1" dirty="0" err="1"/>
              <a:t>similarity</a:t>
            </a:r>
            <a:r>
              <a:rPr lang="es-MX" altLang="ja-JP" b="1" dirty="0"/>
              <a:t> ≠ </a:t>
            </a:r>
            <a:r>
              <a:rPr lang="ja-JP" altLang="es-MX" b="1" dirty="0"/>
              <a:t>運用上の正確性</a:t>
            </a:r>
            <a:endParaRPr lang="ja-JP" alt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98843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E690-4F7C-8681-DCA5-548D71A7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ja-JP" dirty="0" err="1"/>
              <a:t>GraphRAG</a:t>
            </a:r>
            <a:r>
              <a:rPr lang="es-MX" altLang="ja-JP" dirty="0"/>
              <a:t> / </a:t>
            </a:r>
            <a:r>
              <a:rPr lang="es-MX" altLang="ja-JP" dirty="0" err="1"/>
              <a:t>Knowledge</a:t>
            </a:r>
            <a:r>
              <a:rPr lang="es-MX" altLang="ja-JP" dirty="0"/>
              <a:t> </a:t>
            </a:r>
            <a:r>
              <a:rPr lang="es-MX" altLang="ja-JP" dirty="0" err="1"/>
              <a:t>Graph</a:t>
            </a:r>
            <a:r>
              <a:rPr lang="es-MX" altLang="ja-JP" dirty="0"/>
              <a:t> RAG </a:t>
            </a:r>
            <a:r>
              <a:rPr lang="ja-JP" altLang="es-MX" dirty="0"/>
              <a:t>の限界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00FA2-800B-DB0D-359F-2449DC20D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s-MX" b="1" dirty="0"/>
              <a:t>利点</a:t>
            </a:r>
            <a:endParaRPr lang="ja-JP" altLang="es-MX" dirty="0"/>
          </a:p>
          <a:p>
            <a:pPr lvl="1"/>
            <a:r>
              <a:rPr lang="ja-JP" altLang="es-MX" dirty="0"/>
              <a:t>明示的な構造</a:t>
            </a:r>
          </a:p>
          <a:p>
            <a:pPr lvl="1"/>
            <a:r>
              <a:rPr lang="ja-JP" altLang="es-MX" dirty="0"/>
              <a:t>明確な関係表現</a:t>
            </a:r>
          </a:p>
          <a:p>
            <a:pPr lvl="1"/>
            <a:r>
              <a:rPr lang="es-MX" altLang="ja-JP" dirty="0" err="1"/>
              <a:t>Multi-hop</a:t>
            </a:r>
            <a:r>
              <a:rPr lang="es-MX" altLang="ja-JP" dirty="0"/>
              <a:t> </a:t>
            </a:r>
            <a:r>
              <a:rPr lang="es-MX" altLang="ja-JP" dirty="0" err="1"/>
              <a:t>reasoning</a:t>
            </a:r>
            <a:r>
              <a:rPr lang="es-MX" altLang="ja-JP" dirty="0"/>
              <a:t> </a:t>
            </a:r>
            <a:r>
              <a:rPr lang="ja-JP" altLang="es-MX" dirty="0"/>
              <a:t>が可能</a:t>
            </a:r>
            <a:endParaRPr lang="es-MX" altLang="ja-JP" dirty="0"/>
          </a:p>
          <a:p>
            <a:pPr lvl="1"/>
            <a:endParaRPr lang="ja-JP" altLang="es-MX" dirty="0"/>
          </a:p>
          <a:p>
            <a:r>
              <a:rPr lang="ja-JP" altLang="es-MX" b="1" dirty="0"/>
              <a:t>問題点</a:t>
            </a:r>
            <a:endParaRPr lang="ja-JP" altLang="es-MX" dirty="0"/>
          </a:p>
          <a:p>
            <a:pPr lvl="1"/>
            <a:r>
              <a:rPr lang="es-MX" altLang="ja-JP" dirty="0"/>
              <a:t>KG</a:t>
            </a:r>
            <a:r>
              <a:rPr lang="ja-JP" altLang="es-MX" dirty="0"/>
              <a:t>構築に</a:t>
            </a:r>
            <a:r>
              <a:rPr lang="es-MX" altLang="ja-JP" dirty="0"/>
              <a:t>LLM</a:t>
            </a:r>
            <a:r>
              <a:rPr lang="ja-JP" altLang="es-MX" dirty="0"/>
              <a:t>を使用</a:t>
            </a:r>
          </a:p>
          <a:p>
            <a:pPr lvl="1"/>
            <a:r>
              <a:rPr lang="ja-JP" altLang="es-MX" dirty="0"/>
              <a:t>エンティティ抽出が高コスト</a:t>
            </a:r>
          </a:p>
          <a:p>
            <a:pPr lvl="1"/>
            <a:r>
              <a:rPr lang="ja-JP" altLang="es-MX" dirty="0"/>
              <a:t>データ量に比例してコストが増加</a:t>
            </a:r>
          </a:p>
          <a:p>
            <a:pPr lvl="1"/>
            <a:r>
              <a:rPr lang="ja-JP" altLang="es-MX" dirty="0"/>
              <a:t>大量ログには</a:t>
            </a:r>
            <a:r>
              <a:rPr lang="ja-JP" altLang="es-MX" b="1" dirty="0"/>
              <a:t>非現実的</a:t>
            </a:r>
            <a:endParaRPr lang="es-MX" altLang="ja-JP" b="1" dirty="0"/>
          </a:p>
          <a:p>
            <a:pPr lvl="1"/>
            <a:endParaRPr lang="ja-JP" altLang="es-MX" dirty="0"/>
          </a:p>
          <a:p>
            <a:r>
              <a:rPr lang="ja-JP" altLang="es-MX" dirty="0"/>
              <a:t> 著者の動機：</a:t>
            </a:r>
            <a:endParaRPr lang="es-MX" altLang="ja-JP" dirty="0"/>
          </a:p>
          <a:p>
            <a:pPr lvl="1"/>
            <a:r>
              <a:rPr lang="es-MX" altLang="ja-JP" b="1" dirty="0"/>
              <a:t>KG</a:t>
            </a:r>
            <a:r>
              <a:rPr lang="ja-JP" altLang="es-MX" b="1" dirty="0"/>
              <a:t>は有用だが、</a:t>
            </a:r>
            <a:r>
              <a:rPr lang="es-MX" altLang="ja-JP" b="1" dirty="0"/>
              <a:t>LLM</a:t>
            </a:r>
            <a:r>
              <a:rPr lang="ja-JP" altLang="es-MX" b="1" dirty="0"/>
              <a:t>で構築するとスケールしない</a:t>
            </a:r>
            <a:endParaRPr lang="ja-JP" alt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7438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9F9B-03DC-3FD2-2082-6A3728D2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ja-JP" dirty="0"/>
              <a:t>Text-</a:t>
            </a:r>
            <a:r>
              <a:rPr lang="es-MX" altLang="ja-JP" dirty="0" err="1"/>
              <a:t>based</a:t>
            </a:r>
            <a:r>
              <a:rPr lang="es-MX" altLang="ja-JP" dirty="0"/>
              <a:t> </a:t>
            </a:r>
            <a:r>
              <a:rPr lang="es-MX" altLang="ja-JP" dirty="0" err="1"/>
              <a:t>Retrieval</a:t>
            </a:r>
            <a:r>
              <a:rPr lang="es-MX" altLang="ja-JP" dirty="0"/>
              <a:t> </a:t>
            </a:r>
            <a:r>
              <a:rPr lang="ja-JP" altLang="es-MX" dirty="0"/>
              <a:t>の限界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0201-B30C-AEC2-D027-C0A118D0C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s-MX" b="1" dirty="0"/>
              <a:t>観察</a:t>
            </a:r>
            <a:endParaRPr lang="ja-JP" altLang="es-MX" dirty="0"/>
          </a:p>
          <a:p>
            <a:pPr lvl="1"/>
            <a:r>
              <a:rPr lang="es-MX" altLang="ja-JP" dirty="0" err="1"/>
              <a:t>Keyword</a:t>
            </a:r>
            <a:r>
              <a:rPr lang="es-MX" altLang="ja-JP" dirty="0"/>
              <a:t> </a:t>
            </a:r>
            <a:r>
              <a:rPr lang="es-MX" altLang="ja-JP" dirty="0" err="1"/>
              <a:t>search</a:t>
            </a:r>
            <a:r>
              <a:rPr lang="es-MX" altLang="ja-JP" dirty="0"/>
              <a:t> </a:t>
            </a:r>
            <a:r>
              <a:rPr lang="ja-JP" altLang="es-MX" dirty="0"/>
              <a:t>は今も有効</a:t>
            </a:r>
          </a:p>
          <a:p>
            <a:pPr lvl="1"/>
            <a:r>
              <a:rPr lang="ja-JP" altLang="es-MX" dirty="0"/>
              <a:t>技術領域では特に強力</a:t>
            </a:r>
          </a:p>
          <a:p>
            <a:pPr lvl="1"/>
            <a:r>
              <a:rPr lang="ja-JP" altLang="es-MX" dirty="0"/>
              <a:t>正確なトークン一致が重要</a:t>
            </a:r>
            <a:endParaRPr lang="es-MX" altLang="ja-JP" dirty="0"/>
          </a:p>
          <a:p>
            <a:pPr lvl="1"/>
            <a:endParaRPr lang="ja-JP" altLang="es-MX" dirty="0"/>
          </a:p>
          <a:p>
            <a:r>
              <a:rPr lang="ja-JP" altLang="es-MX" b="1" dirty="0"/>
              <a:t>しかし</a:t>
            </a:r>
            <a:endParaRPr lang="ja-JP" altLang="es-MX" dirty="0"/>
          </a:p>
          <a:p>
            <a:pPr lvl="1"/>
            <a:r>
              <a:rPr lang="ja-JP" altLang="es-MX" dirty="0"/>
              <a:t>構造を持たない</a:t>
            </a:r>
          </a:p>
          <a:p>
            <a:pPr lvl="1"/>
            <a:r>
              <a:rPr lang="ja-JP" altLang="es-MX" dirty="0"/>
              <a:t>関係性を表現できない</a:t>
            </a:r>
          </a:p>
          <a:p>
            <a:pPr lvl="1"/>
            <a:r>
              <a:rPr lang="ja-JP" altLang="es-MX" dirty="0"/>
              <a:t>複雑な質問に弱い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828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4CE7-350F-4DD8-3EB2-B92964BB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s-MX" dirty="0"/>
              <a:t>著者の結論と動機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D5F66-02AE-F3D3-0F35-47F61DDAD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s-MX" dirty="0"/>
              <a:t>著者の結論：</a:t>
            </a:r>
          </a:p>
          <a:p>
            <a:pPr lvl="1"/>
            <a:r>
              <a:rPr lang="ja-JP" altLang="es-MX" dirty="0"/>
              <a:t>単一手法では不十分</a:t>
            </a:r>
            <a:endParaRPr lang="es-MX" altLang="ja-JP" dirty="0"/>
          </a:p>
          <a:p>
            <a:pPr lvl="1"/>
            <a:endParaRPr lang="ja-JP" altLang="es-MX" dirty="0"/>
          </a:p>
          <a:p>
            <a:r>
              <a:rPr lang="ja-JP" altLang="es-MX" dirty="0"/>
              <a:t>必要なのは：</a:t>
            </a:r>
          </a:p>
          <a:p>
            <a:pPr lvl="1"/>
            <a:r>
              <a:rPr lang="ja-JP" altLang="es-MX" dirty="0"/>
              <a:t>低コスト</a:t>
            </a:r>
          </a:p>
          <a:p>
            <a:pPr lvl="1"/>
            <a:r>
              <a:rPr lang="ja-JP" altLang="es-MX" dirty="0"/>
              <a:t>高精度</a:t>
            </a:r>
          </a:p>
          <a:p>
            <a:pPr lvl="1"/>
            <a:r>
              <a:rPr lang="ja-JP" altLang="es-MX" dirty="0"/>
              <a:t>スケーラブル</a:t>
            </a:r>
          </a:p>
          <a:p>
            <a:pPr lvl="1"/>
            <a:r>
              <a:rPr lang="es-MX" altLang="ja-JP" dirty="0" err="1"/>
              <a:t>Embedding</a:t>
            </a:r>
            <a:r>
              <a:rPr lang="ja-JP" altLang="es-MX" dirty="0"/>
              <a:t>に依存しない</a:t>
            </a:r>
          </a:p>
          <a:p>
            <a:pPr lvl="1"/>
            <a:r>
              <a:rPr lang="es-MX" altLang="ja-JP" dirty="0"/>
              <a:t>LLM</a:t>
            </a:r>
            <a:r>
              <a:rPr lang="ja-JP" altLang="es-MX" dirty="0"/>
              <a:t>に全処理を任せない</a:t>
            </a:r>
            <a:endParaRPr lang="es-MX" altLang="ja-JP" dirty="0"/>
          </a:p>
          <a:p>
            <a:pPr lvl="1"/>
            <a:endParaRPr lang="ja-JP" altLang="es-MX" dirty="0"/>
          </a:p>
          <a:p>
            <a:r>
              <a:rPr lang="ja-JP" altLang="es-MX" dirty="0"/>
              <a:t> </a:t>
            </a:r>
            <a:r>
              <a:rPr lang="es-MX" altLang="ja-JP" b="1" dirty="0" err="1"/>
              <a:t>FastRAG</a:t>
            </a:r>
            <a:r>
              <a:rPr lang="ja-JP" altLang="es-MX" b="1" dirty="0"/>
              <a:t>はこのギャップから生まれた</a:t>
            </a:r>
            <a:endParaRPr lang="ja-JP" alt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3772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A9C5-2E28-46F9-63FF-A7277B46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FastRAG</a:t>
            </a:r>
            <a:r>
              <a:rPr lang="ja-JP" altLang="es-MX" dirty="0"/>
              <a:t>の</a:t>
            </a:r>
            <a:r>
              <a:rPr lang="zh-CN" altLang="es-MX" dirty="0"/>
              <a:t>全体構成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8DAB4-E060-C733-8C54-4FEA51400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FastRAG</a:t>
            </a:r>
            <a:r>
              <a:rPr lang="ja-JP" altLang="es-MX" dirty="0"/>
              <a:t>は、</a:t>
            </a:r>
            <a:r>
              <a:rPr lang="zh-CN" altLang="es-MX" dirty="0"/>
              <a:t>以下</a:t>
            </a:r>
            <a:r>
              <a:rPr lang="ja-JP" altLang="es-MX" dirty="0"/>
              <a:t>の</a:t>
            </a:r>
            <a:r>
              <a:rPr lang="es-MX" altLang="ja-JP" dirty="0"/>
              <a:t>4</a:t>
            </a:r>
            <a:r>
              <a:rPr lang="ja-JP" altLang="es-MX" dirty="0"/>
              <a:t>つの</a:t>
            </a:r>
            <a:r>
              <a:rPr lang="zh-CN" altLang="es-MX" dirty="0"/>
              <a:t>主要</a:t>
            </a:r>
            <a:r>
              <a:rPr lang="ja-JP" altLang="es-MX" dirty="0"/>
              <a:t>コンポーネントから</a:t>
            </a:r>
            <a:r>
              <a:rPr lang="zh-CN" altLang="es-MX" dirty="0"/>
              <a:t>構成</a:t>
            </a:r>
            <a:r>
              <a:rPr lang="ja-JP" altLang="es-MX" dirty="0"/>
              <a:t>される：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b="1" dirty="0" err="1"/>
              <a:t>Information</a:t>
            </a:r>
            <a:r>
              <a:rPr lang="es-MX" b="1" dirty="0"/>
              <a:t> </a:t>
            </a:r>
            <a:r>
              <a:rPr lang="es-MX" b="1" dirty="0" err="1"/>
              <a:t>Extraction</a:t>
            </a:r>
            <a:endParaRPr lang="es-MX" dirty="0"/>
          </a:p>
          <a:p>
            <a:pPr marL="914400" lvl="1" indent="-457200">
              <a:buFont typeface="+mj-lt"/>
              <a:buAutoNum type="arabicPeriod"/>
            </a:pPr>
            <a:r>
              <a:rPr lang="es-MX" b="1" dirty="0" err="1"/>
              <a:t>Knowledge</a:t>
            </a:r>
            <a:r>
              <a:rPr lang="es-MX" b="1" dirty="0"/>
              <a:t> </a:t>
            </a:r>
            <a:r>
              <a:rPr lang="es-MX" b="1" dirty="0" err="1"/>
              <a:t>Graph</a:t>
            </a:r>
            <a:endParaRPr lang="es-MX" dirty="0"/>
          </a:p>
          <a:p>
            <a:pPr marL="914400" lvl="1" indent="-457200">
              <a:buFont typeface="+mj-lt"/>
              <a:buAutoNum type="arabicPeriod"/>
            </a:pPr>
            <a:r>
              <a:rPr lang="es-MX" b="1" dirty="0" err="1"/>
              <a:t>Information</a:t>
            </a:r>
            <a:r>
              <a:rPr lang="es-MX" b="1" dirty="0"/>
              <a:t> </a:t>
            </a:r>
            <a:r>
              <a:rPr lang="es-MX" b="1" dirty="0" err="1"/>
              <a:t>Retrieval</a:t>
            </a:r>
            <a:endParaRPr lang="es-MX" dirty="0"/>
          </a:p>
          <a:p>
            <a:pPr marL="914400" lvl="1" indent="-457200">
              <a:buFont typeface="+mj-lt"/>
              <a:buAutoNum type="arabicPeriod"/>
            </a:pPr>
            <a:r>
              <a:rPr lang="es-MX" b="1" dirty="0"/>
              <a:t>LLM </a:t>
            </a:r>
            <a:r>
              <a:rPr lang="es-MX" b="1" dirty="0" err="1"/>
              <a:t>Answer</a:t>
            </a:r>
            <a:r>
              <a:rPr lang="es-MX" b="1" dirty="0"/>
              <a:t> </a:t>
            </a:r>
            <a:r>
              <a:rPr lang="es-MX" b="1" dirty="0" err="1"/>
              <a:t>Generation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</a:t>
            </a:r>
            <a:r>
              <a:rPr lang="ja-JP" altLang="es-MX" dirty="0"/>
              <a:t>すべての</a:t>
            </a:r>
            <a:r>
              <a:rPr lang="zh-CN" altLang="es-MX" dirty="0"/>
              <a:t>設計</a:t>
            </a:r>
            <a:r>
              <a:rPr lang="ja-JP" altLang="es-MX" dirty="0"/>
              <a:t>は </a:t>
            </a:r>
            <a:r>
              <a:rPr lang="es-MX" b="1" dirty="0"/>
              <a:t>LLM</a:t>
            </a:r>
            <a:r>
              <a:rPr lang="ja-JP" altLang="es-MX" b="1" dirty="0"/>
              <a:t>の</a:t>
            </a:r>
            <a:r>
              <a:rPr lang="zh-CN" altLang="es-MX" b="1" dirty="0"/>
              <a:t>使用</a:t>
            </a:r>
            <a:r>
              <a:rPr lang="ja-JP" altLang="es-MX" b="1" dirty="0"/>
              <a:t>を</a:t>
            </a:r>
            <a:r>
              <a:rPr lang="zh-CN" altLang="es-MX" b="1" dirty="0"/>
              <a:t>最小化</a:t>
            </a:r>
            <a:r>
              <a:rPr lang="ja-JP" altLang="es-MX" dirty="0"/>
              <a:t>することを</a:t>
            </a:r>
            <a:r>
              <a:rPr lang="zh-CN" altLang="es-MX" dirty="0"/>
              <a:t>目的</a:t>
            </a:r>
            <a:r>
              <a:rPr lang="ja-JP" altLang="es-MX" dirty="0"/>
              <a:t>としている。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51535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51E4-51FC-9B58-5ED5-B9714663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 </a:t>
            </a:r>
            <a:r>
              <a:rPr lang="es-MX" dirty="0" err="1"/>
              <a:t>Information</a:t>
            </a:r>
            <a:r>
              <a:rPr lang="es-MX" dirty="0"/>
              <a:t> </a:t>
            </a:r>
            <a:r>
              <a:rPr lang="es-MX" dirty="0" err="1"/>
              <a:t>Extraction</a:t>
            </a:r>
            <a:r>
              <a:rPr lang="es-MX" dirty="0"/>
              <a:t> - </a:t>
            </a:r>
            <a:r>
              <a:rPr lang="es-MX" altLang="ja-JP" b="1" dirty="0" err="1"/>
              <a:t>Chunk</a:t>
            </a:r>
            <a:r>
              <a:rPr lang="es-MX" altLang="ja-JP" b="1" dirty="0"/>
              <a:t> </a:t>
            </a:r>
            <a:r>
              <a:rPr lang="es-MX" altLang="ja-JP" b="1" dirty="0" err="1"/>
              <a:t>Sampling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2319B-063A-F47B-FA16-5A72C20FA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ja-JP" altLang="es-MX" dirty="0"/>
              <a:t>データセットから </a:t>
            </a:r>
            <a:r>
              <a:rPr lang="ja-JP" altLang="es-MX" b="1" dirty="0"/>
              <a:t>代表的なチャンクのみを選択</a:t>
            </a:r>
            <a:endParaRPr lang="ja-JP" altLang="es-MX" dirty="0"/>
          </a:p>
          <a:p>
            <a:r>
              <a:rPr lang="es-MX" altLang="ja-JP" dirty="0"/>
              <a:t>LLM</a:t>
            </a:r>
            <a:r>
              <a:rPr lang="ja-JP" altLang="es-MX" dirty="0"/>
              <a:t>が見るのは </a:t>
            </a:r>
            <a:r>
              <a:rPr lang="ja-JP" altLang="es-MX" b="1" dirty="0"/>
              <a:t>全体のごく一部</a:t>
            </a:r>
            <a:endParaRPr lang="ja-JP" altLang="es-MX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s-MX" dirty="0"/>
              <a:t>目的：</a:t>
            </a:r>
          </a:p>
          <a:p>
            <a:pPr lvl="1"/>
            <a:r>
              <a:rPr lang="ja-JP" altLang="es-MX" dirty="0"/>
              <a:t>一般的な構造パターンを学習</a:t>
            </a:r>
          </a:p>
          <a:p>
            <a:pPr lvl="1"/>
            <a:r>
              <a:rPr lang="es-MX" altLang="ja-JP" dirty="0"/>
              <a:t>LLM</a:t>
            </a:r>
            <a:r>
              <a:rPr lang="ja-JP" altLang="es-MX" dirty="0"/>
              <a:t>呼び出し回数を最小化</a:t>
            </a:r>
          </a:p>
          <a:p>
            <a:pPr lvl="1"/>
            <a:r>
              <a:rPr lang="ja-JP" altLang="es-MX" dirty="0"/>
              <a:t>構造的カバレッジを維持</a:t>
            </a:r>
          </a:p>
          <a:p>
            <a:endParaRPr lang="en-US" altLang="ja-JP" dirty="0"/>
          </a:p>
          <a:p>
            <a:r>
              <a:rPr lang="ja-JP" altLang="es-MX" dirty="0"/>
              <a:t> </a:t>
            </a:r>
            <a:r>
              <a:rPr lang="es-MX" altLang="ja-JP" dirty="0"/>
              <a:t>LLM</a:t>
            </a:r>
            <a:r>
              <a:rPr lang="ja-JP" altLang="es-MX" dirty="0"/>
              <a:t>は「内容」ではなく「形式」を学習する。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81616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3B39-42B7-C2DC-1857-F6363636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7A7C-B788-EDCA-184A-B699EE32A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 </a:t>
            </a:r>
            <a:r>
              <a:rPr lang="es-MX" dirty="0" err="1"/>
              <a:t>Information</a:t>
            </a:r>
            <a:r>
              <a:rPr lang="es-MX" dirty="0"/>
              <a:t> </a:t>
            </a:r>
            <a:r>
              <a:rPr lang="es-MX" dirty="0" err="1"/>
              <a:t>Extraction</a:t>
            </a:r>
            <a:r>
              <a:rPr lang="es-MX" dirty="0"/>
              <a:t> - </a:t>
            </a:r>
            <a:r>
              <a:rPr lang="es-MX" altLang="ja-JP" b="1" dirty="0" err="1"/>
              <a:t>Schema</a:t>
            </a:r>
            <a:r>
              <a:rPr lang="es-MX" altLang="ja-JP" b="1" dirty="0"/>
              <a:t> </a:t>
            </a:r>
            <a:r>
              <a:rPr lang="es-MX" altLang="ja-JP" b="1" dirty="0" err="1"/>
              <a:t>Learning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B90AF-C499-84A1-6AEB-441407202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0450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s-MX" altLang="ja-JP" sz="3200" b="1" dirty="0"/>
          </a:p>
          <a:p>
            <a:pPr marL="0" indent="0">
              <a:buNone/>
            </a:pPr>
            <a:r>
              <a:rPr lang="es-MX" altLang="ja-JP" sz="3200" dirty="0"/>
              <a:t>LLM</a:t>
            </a:r>
            <a:r>
              <a:rPr lang="ja-JP" altLang="es-MX" sz="3200" dirty="0"/>
              <a:t>が学習する内容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ja-JP" altLang="es-MX" sz="2800" dirty="0"/>
              <a:t>サンプルから以下を推定：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ja-JP" altLang="es-MX" sz="2800" dirty="0"/>
              <a:t>エンティティ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ja-JP" altLang="es-MX" sz="2800" dirty="0"/>
              <a:t>プロパティ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ja-JP" altLang="es-MX" sz="2800" dirty="0"/>
              <a:t>データ型</a:t>
            </a:r>
            <a:endParaRPr lang="en-US" altLang="ja-JP" sz="2800" dirty="0"/>
          </a:p>
          <a:p>
            <a:pPr marL="457200" lvl="1" indent="0">
              <a:buNone/>
            </a:pPr>
            <a:endParaRPr lang="ja-JP" altLang="es-MX" sz="2800" dirty="0"/>
          </a:p>
          <a:p>
            <a:pPr marL="0" indent="0">
              <a:buNone/>
            </a:pPr>
            <a:r>
              <a:rPr lang="ja-JP" altLang="es-MX" sz="3200" dirty="0"/>
              <a:t>結果：</a:t>
            </a:r>
          </a:p>
          <a:p>
            <a:pPr lvl="1"/>
            <a:r>
              <a:rPr lang="ja-JP" altLang="es-MX" sz="2800" b="1" dirty="0"/>
              <a:t>明示的なスキーマ</a:t>
            </a:r>
            <a:r>
              <a:rPr lang="ja-JP" altLang="es-MX" sz="2800" dirty="0"/>
              <a:t>を生成</a:t>
            </a:r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s-MX" sz="3200" dirty="0"/>
              <a:t> 重要な点：</a:t>
            </a:r>
          </a:p>
          <a:p>
            <a:pPr lvl="1"/>
            <a:r>
              <a:rPr lang="ja-JP" altLang="es-MX" sz="2800" dirty="0"/>
              <a:t>スキーマは </a:t>
            </a:r>
            <a:r>
              <a:rPr lang="ja-JP" altLang="es-MX" sz="2800" b="1" dirty="0"/>
              <a:t>完全ではない</a:t>
            </a:r>
            <a:endParaRPr lang="ja-JP" altLang="es-MX" sz="2800" dirty="0"/>
          </a:p>
          <a:p>
            <a:pPr lvl="1"/>
            <a:r>
              <a:rPr lang="ja-JP" altLang="es-MX" sz="2800" b="1" dirty="0"/>
              <a:t>有用性を重視</a:t>
            </a:r>
            <a:r>
              <a:rPr lang="ja-JP" altLang="es-MX" sz="2800" dirty="0"/>
              <a:t>し、網羅性は求めない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27066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8D76-6D8E-4969-59ED-C5AC9CC3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7327-388A-8E5F-63CF-CEDF8053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 </a:t>
            </a:r>
            <a:r>
              <a:rPr lang="es-MX" dirty="0" err="1"/>
              <a:t>Information</a:t>
            </a:r>
            <a:r>
              <a:rPr lang="es-MX" dirty="0"/>
              <a:t> </a:t>
            </a:r>
            <a:r>
              <a:rPr lang="es-MX" dirty="0" err="1"/>
              <a:t>Extraction</a:t>
            </a:r>
            <a:r>
              <a:rPr lang="es-MX" dirty="0"/>
              <a:t> - </a:t>
            </a:r>
            <a:r>
              <a:rPr lang="es-MX" altLang="ja-JP" b="1" dirty="0"/>
              <a:t>Script </a:t>
            </a:r>
            <a:r>
              <a:rPr lang="es-MX" altLang="ja-JP" b="1" dirty="0" err="1"/>
              <a:t>Learning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16604-ACEE-1FDE-52C8-03C23BECA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933"/>
            <a:ext cx="10515600" cy="4602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altLang="ja-JP" b="1" dirty="0"/>
              <a:t>LLM</a:t>
            </a:r>
            <a:r>
              <a:rPr lang="ja-JP" altLang="es-MX" b="1" dirty="0"/>
              <a:t>の役割</a:t>
            </a:r>
          </a:p>
          <a:p>
            <a:pPr lvl="1"/>
            <a:r>
              <a:rPr lang="es-MX" altLang="ja-JP" sz="2800" dirty="0"/>
              <a:t>Python</a:t>
            </a:r>
            <a:r>
              <a:rPr lang="ja-JP" altLang="es-MX" sz="2800" dirty="0"/>
              <a:t>コードを生成</a:t>
            </a:r>
          </a:p>
          <a:p>
            <a:pPr lvl="1"/>
            <a:r>
              <a:rPr lang="es-MX" altLang="ja-JP" sz="2800" dirty="0" err="1"/>
              <a:t>Parsing</a:t>
            </a:r>
            <a:r>
              <a:rPr lang="ja-JP" altLang="es-MX" sz="2800" dirty="0"/>
              <a:t>ルールを生成</a:t>
            </a:r>
            <a:endParaRPr lang="en-US" altLang="ja-JP" sz="2800" dirty="0"/>
          </a:p>
          <a:p>
            <a:pPr lvl="1"/>
            <a:endParaRPr lang="ja-JP" altLang="es-MX" sz="2800" dirty="0"/>
          </a:p>
          <a:p>
            <a:pPr marL="0" indent="0">
              <a:buNone/>
            </a:pPr>
            <a:r>
              <a:rPr lang="ja-JP" altLang="es-MX" b="1" dirty="0"/>
              <a:t>パーサの特性</a:t>
            </a:r>
          </a:p>
          <a:p>
            <a:pPr lvl="1"/>
            <a:r>
              <a:rPr lang="ja-JP" altLang="es-MX" sz="2800" dirty="0"/>
              <a:t>決定論的</a:t>
            </a:r>
          </a:p>
          <a:p>
            <a:pPr lvl="1"/>
            <a:r>
              <a:rPr lang="es-MX" altLang="ja-JP" sz="2800" dirty="0"/>
              <a:t>LLM</a:t>
            </a:r>
            <a:r>
              <a:rPr lang="ja-JP" altLang="es-MX" sz="2800" dirty="0"/>
              <a:t>を使用しない</a:t>
            </a:r>
          </a:p>
          <a:p>
            <a:pPr lvl="1"/>
            <a:r>
              <a:rPr lang="ja-JP" altLang="es-MX" sz="2800" dirty="0"/>
              <a:t>データセット全体を処理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97884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A845E-6567-92CF-0CF2-2EEB86809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619B-7430-4D68-AE4F-539F8DDE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Knowledge Graph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232B5-017D-5FB7-67D9-6B57C7436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altLang="ja-JP" b="1" dirty="0" err="1"/>
              <a:t>Knowledge</a:t>
            </a:r>
            <a:r>
              <a:rPr lang="es-MX" altLang="ja-JP" b="1" dirty="0"/>
              <a:t> </a:t>
            </a:r>
            <a:r>
              <a:rPr lang="es-MX" altLang="ja-JP" b="1" dirty="0" err="1"/>
              <a:t>Graph</a:t>
            </a:r>
            <a:r>
              <a:rPr lang="es-MX" altLang="ja-JP" b="1" dirty="0"/>
              <a:t> </a:t>
            </a:r>
            <a:r>
              <a:rPr lang="ja-JP" altLang="es-MX" b="1" dirty="0"/>
              <a:t>に含まれる情報</a:t>
            </a:r>
          </a:p>
          <a:p>
            <a:pPr lvl="1"/>
            <a:r>
              <a:rPr lang="ja-JP" altLang="es-MX" dirty="0"/>
              <a:t>エンティティ</a:t>
            </a:r>
          </a:p>
          <a:p>
            <a:pPr lvl="1"/>
            <a:r>
              <a:rPr lang="ja-JP" altLang="es-MX" dirty="0"/>
              <a:t>関係</a:t>
            </a:r>
          </a:p>
          <a:p>
            <a:pPr lvl="1"/>
            <a:r>
              <a:rPr lang="ja-JP" altLang="es-MX" dirty="0"/>
              <a:t>プロパティ</a:t>
            </a:r>
          </a:p>
          <a:p>
            <a:pPr lvl="1"/>
            <a:r>
              <a:rPr lang="ja-JP" altLang="es-MX" dirty="0"/>
              <a:t>元テキストへの参照（行レベル）</a:t>
            </a:r>
            <a:endParaRPr lang="en-US" altLang="ja-JP" dirty="0"/>
          </a:p>
          <a:p>
            <a:pPr lvl="1"/>
            <a:endParaRPr lang="ja-JP" altLang="es-MX" dirty="0"/>
          </a:p>
          <a:p>
            <a:pPr marL="0" indent="0">
              <a:buNone/>
            </a:pPr>
            <a:r>
              <a:rPr lang="ja-JP" altLang="es-MX" b="1" dirty="0"/>
              <a:t>利点</a:t>
            </a:r>
          </a:p>
          <a:p>
            <a:pPr lvl="1"/>
            <a:r>
              <a:rPr lang="ja-JP" altLang="es-MX" dirty="0"/>
              <a:t>高いトレーサビリティ</a:t>
            </a:r>
          </a:p>
          <a:p>
            <a:pPr lvl="1"/>
            <a:r>
              <a:rPr lang="ja-JP" altLang="es-MX" dirty="0"/>
              <a:t>デバッグが容易</a:t>
            </a:r>
          </a:p>
          <a:p>
            <a:pPr lvl="1"/>
            <a:r>
              <a:rPr lang="ja-JP" altLang="es-MX" dirty="0"/>
              <a:t>構造化クエリが可能</a:t>
            </a:r>
          </a:p>
          <a:p>
            <a:pPr lvl="1"/>
            <a:r>
              <a:rPr lang="ja-JP" altLang="es-MX" dirty="0"/>
              <a:t>元データへの直接参照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55330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16F3-DEFE-3C61-E0B1-8EF58E61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Information Retrieval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57A34-57BF-7DA5-9459-201697CE8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altLang="ja-JP" b="1" dirty="0"/>
              <a:t>2</a:t>
            </a:r>
            <a:r>
              <a:rPr lang="ja-JP" altLang="es-MX" b="1" dirty="0"/>
              <a:t>つの補完的手法：</a:t>
            </a:r>
          </a:p>
          <a:p>
            <a:pPr marL="0" indent="0">
              <a:buNone/>
            </a:pPr>
            <a:r>
              <a:rPr lang="ja-JP" altLang="es-MX" b="1" dirty="0"/>
              <a:t>➞ </a:t>
            </a:r>
            <a:r>
              <a:rPr lang="es-MX" altLang="ja-JP" b="1" dirty="0"/>
              <a:t>KG </a:t>
            </a:r>
            <a:r>
              <a:rPr lang="es-MX" altLang="ja-JP" b="1" dirty="0" err="1"/>
              <a:t>Querying</a:t>
            </a:r>
            <a:endParaRPr lang="ja-JP" altLang="es-MX" dirty="0"/>
          </a:p>
          <a:p>
            <a:pPr lvl="1"/>
            <a:r>
              <a:rPr lang="ja-JP" altLang="es-MX" dirty="0"/>
              <a:t>高精度</a:t>
            </a:r>
          </a:p>
          <a:p>
            <a:pPr lvl="1"/>
            <a:r>
              <a:rPr lang="ja-JP" altLang="es-MX" dirty="0"/>
              <a:t>構造ベース</a:t>
            </a:r>
          </a:p>
          <a:p>
            <a:pPr lvl="1"/>
            <a:r>
              <a:rPr lang="ja-JP" altLang="es-MX" dirty="0"/>
              <a:t>明確な質問に最適</a:t>
            </a:r>
            <a:endParaRPr lang="es-MX" altLang="ja-JP" dirty="0"/>
          </a:p>
          <a:p>
            <a:pPr marL="457200" lvl="1" indent="0">
              <a:buNone/>
            </a:pPr>
            <a:endParaRPr lang="ja-JP" altLang="es-MX" dirty="0"/>
          </a:p>
          <a:p>
            <a:pPr marL="0" indent="0">
              <a:buNone/>
            </a:pPr>
            <a:r>
              <a:rPr lang="ja-JP" altLang="es-MX" b="1" dirty="0"/>
              <a:t>➞ </a:t>
            </a:r>
            <a:r>
              <a:rPr lang="es-MX" altLang="ja-JP" b="1" dirty="0"/>
              <a:t>Text </a:t>
            </a:r>
            <a:r>
              <a:rPr lang="es-MX" altLang="ja-JP" b="1" dirty="0" err="1"/>
              <a:t>Search</a:t>
            </a:r>
            <a:endParaRPr lang="ja-JP" altLang="es-MX" dirty="0"/>
          </a:p>
          <a:p>
            <a:pPr lvl="1"/>
            <a:r>
              <a:rPr lang="ja-JP" altLang="es-MX" dirty="0"/>
              <a:t>キーワード検索</a:t>
            </a:r>
          </a:p>
          <a:p>
            <a:pPr lvl="1"/>
            <a:r>
              <a:rPr lang="ja-JP" altLang="es-MX" dirty="0"/>
              <a:t>元テキストに直接アクセス</a:t>
            </a:r>
          </a:p>
          <a:p>
            <a:pPr lvl="1"/>
            <a:r>
              <a:rPr lang="ja-JP" altLang="es-MX" dirty="0"/>
              <a:t>抽出漏れを補完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98922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B66F-D718-A74D-6BE4-C7993861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ja-JP" dirty="0"/>
              <a:t>KG</a:t>
            </a:r>
            <a:r>
              <a:rPr lang="ja-JP" altLang="es-MX" dirty="0"/>
              <a:t>検索がうまく動く例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5927A-37D7-B262-3FD9-EE5667AF1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zh-CN" altLang="es-MX" b="1" dirty="0"/>
              <a:t>質問（</a:t>
            </a:r>
            <a:r>
              <a:rPr lang="es-MX" b="1" dirty="0" err="1"/>
              <a:t>User</a:t>
            </a:r>
            <a:r>
              <a:rPr lang="es-MX" b="1" dirty="0"/>
              <a:t> </a:t>
            </a:r>
            <a:r>
              <a:rPr lang="es-MX" b="1" dirty="0" err="1"/>
              <a:t>Query</a:t>
            </a:r>
            <a:r>
              <a:rPr lang="es-MX" b="1" dirty="0"/>
              <a:t>）</a:t>
            </a:r>
          </a:p>
          <a:p>
            <a:pPr marL="0" indent="0" algn="ctr">
              <a:buNone/>
            </a:pPr>
            <a:r>
              <a:rPr lang="es-MX" b="1" dirty="0"/>
              <a:t>「</a:t>
            </a:r>
            <a:r>
              <a:rPr lang="ja-JP" altLang="es-MX" b="1" dirty="0"/>
              <a:t>どのファイアウォールがポート</a:t>
            </a:r>
            <a:r>
              <a:rPr lang="es-MX" altLang="ja-JP" b="1" dirty="0"/>
              <a:t>22</a:t>
            </a:r>
            <a:r>
              <a:rPr lang="ja-JP" altLang="es-MX" b="1" dirty="0"/>
              <a:t>をブロックしているか？」</a:t>
            </a:r>
            <a:endParaRPr lang="ja-JP" altLang="es-MX" dirty="0"/>
          </a:p>
          <a:p>
            <a:endParaRPr lang="es-MX" b="1" dirty="0"/>
          </a:p>
          <a:p>
            <a:pPr marL="0" indent="0">
              <a:buNone/>
            </a:pPr>
            <a:r>
              <a:rPr lang="es-MX" b="1" dirty="0" err="1"/>
              <a:t>Knowledge</a:t>
            </a:r>
            <a:r>
              <a:rPr lang="es-MX" b="1" dirty="0"/>
              <a:t> </a:t>
            </a:r>
            <a:r>
              <a:rPr lang="es-MX" b="1" dirty="0" err="1"/>
              <a:t>Graph</a:t>
            </a:r>
            <a:r>
              <a:rPr lang="es-MX" b="1" dirty="0"/>
              <a:t>（</a:t>
            </a:r>
            <a:r>
              <a:rPr lang="zh-CN" altLang="es-MX" b="1" dirty="0"/>
              <a:t>例）</a:t>
            </a:r>
          </a:p>
          <a:p>
            <a:pPr marL="0" indent="0" algn="ctr">
              <a:buNone/>
            </a:pPr>
            <a:r>
              <a:rPr lang="es-MX" altLang="zh-CN" dirty="0"/>
              <a:t>(</a:t>
            </a:r>
            <a:r>
              <a:rPr lang="es-MX" dirty="0"/>
              <a:t>Firewall: FW1) ──[BLOCKS]──&gt; (Port: 22)</a:t>
            </a:r>
          </a:p>
          <a:p>
            <a:pPr marL="0" indent="0">
              <a:buNone/>
            </a:pPr>
            <a:endParaRPr lang="es-MX" b="1" dirty="0"/>
          </a:p>
          <a:p>
            <a:pPr marL="0" indent="0">
              <a:buNone/>
            </a:pPr>
            <a:r>
              <a:rPr lang="es-MX" b="1" dirty="0"/>
              <a:t>KG</a:t>
            </a:r>
            <a:r>
              <a:rPr lang="ja-JP" altLang="es-MX" b="1" dirty="0"/>
              <a:t>クエリ（</a:t>
            </a:r>
            <a:r>
              <a:rPr lang="zh-CN" altLang="es-MX" b="1" dirty="0"/>
              <a:t>概念）</a:t>
            </a:r>
            <a:endParaRPr lang="es-MX" altLang="zh-CN" b="1" dirty="0"/>
          </a:p>
          <a:p>
            <a:pPr marL="0" indent="0" algn="ctr">
              <a:buNone/>
            </a:pPr>
            <a:r>
              <a:rPr lang="es-MX" dirty="0"/>
              <a:t>MATCH (</a:t>
            </a:r>
            <a:r>
              <a:rPr lang="es-MX" dirty="0" err="1"/>
              <a:t>f:Firewall</a:t>
            </a:r>
            <a:r>
              <a:rPr lang="es-MX" dirty="0"/>
              <a:t>)-[:BLOCKS]-&gt;(</a:t>
            </a:r>
            <a:r>
              <a:rPr lang="es-MX" dirty="0" err="1"/>
              <a:t>p:Port</a:t>
            </a:r>
            <a:r>
              <a:rPr lang="es-MX" dirty="0"/>
              <a:t> {</a:t>
            </a:r>
            <a:r>
              <a:rPr lang="es-MX" dirty="0" err="1"/>
              <a:t>number</a:t>
            </a:r>
            <a:r>
              <a:rPr lang="es-MX" dirty="0"/>
              <a:t>: 22})</a:t>
            </a:r>
          </a:p>
          <a:p>
            <a:pPr marL="0" indent="0">
              <a:buNone/>
            </a:pPr>
            <a:r>
              <a:rPr lang="es-MX" dirty="0"/>
              <a:t>                                             RETURN f.name</a:t>
            </a:r>
          </a:p>
          <a:p>
            <a:pPr marL="0" indent="0">
              <a:buNone/>
            </a:pPr>
            <a:endParaRPr lang="es-MX" altLang="ja-JP" b="1" dirty="0"/>
          </a:p>
          <a:p>
            <a:pPr marL="0" indent="0">
              <a:buNone/>
            </a:pPr>
            <a:r>
              <a:rPr lang="ja-JP" altLang="es-MX" b="1" dirty="0"/>
              <a:t>なぜ</a:t>
            </a:r>
            <a:r>
              <a:rPr lang="es-MX" b="1" dirty="0"/>
              <a:t>KG</a:t>
            </a:r>
            <a:r>
              <a:rPr lang="ja-JP" altLang="es-MX" b="1" dirty="0"/>
              <a:t>が</a:t>
            </a:r>
            <a:r>
              <a:rPr lang="zh-CN" altLang="es-MX" b="1" dirty="0"/>
              <a:t>有効</a:t>
            </a:r>
            <a:r>
              <a:rPr lang="ja-JP" altLang="es-MX" b="1" dirty="0"/>
              <a:t>か</a:t>
            </a:r>
          </a:p>
          <a:p>
            <a:pPr lvl="1"/>
            <a:r>
              <a:rPr lang="ja-JP" altLang="es-MX" dirty="0"/>
              <a:t>エンティティが</a:t>
            </a:r>
            <a:r>
              <a:rPr lang="zh-CN" altLang="es-MX" dirty="0"/>
              <a:t>明確（</a:t>
            </a:r>
            <a:r>
              <a:rPr lang="es-MX" dirty="0"/>
              <a:t>Firewall, Port）</a:t>
            </a:r>
          </a:p>
          <a:p>
            <a:pPr lvl="1"/>
            <a:r>
              <a:rPr lang="zh-CN" altLang="es-MX" dirty="0"/>
              <a:t>関係</a:t>
            </a:r>
            <a:r>
              <a:rPr lang="ja-JP" altLang="es-MX" dirty="0"/>
              <a:t>が</a:t>
            </a:r>
            <a:r>
              <a:rPr lang="zh-CN" altLang="es-MX" dirty="0"/>
              <a:t>明確（</a:t>
            </a:r>
            <a:r>
              <a:rPr lang="es-MX" dirty="0"/>
              <a:t>BLOCKS）</a:t>
            </a:r>
          </a:p>
          <a:p>
            <a:pPr lvl="1"/>
            <a:r>
              <a:rPr lang="zh-CN" altLang="es-MX" dirty="0"/>
              <a:t>構造</a:t>
            </a:r>
            <a:r>
              <a:rPr lang="ja-JP" altLang="es-MX" dirty="0"/>
              <a:t>に</a:t>
            </a:r>
            <a:r>
              <a:rPr lang="zh-CN" altLang="es-MX" dirty="0"/>
              <a:t>完全</a:t>
            </a:r>
            <a:r>
              <a:rPr lang="ja-JP" altLang="es-MX" dirty="0"/>
              <a:t>にマッピングできる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25588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3893-232E-70CD-E032-DB922F99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ja-JP" dirty="0"/>
              <a:t>KG</a:t>
            </a:r>
            <a:r>
              <a:rPr lang="ja-JP" altLang="es-MX" dirty="0"/>
              <a:t>検索が失敗する例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9D69-C3DF-8A09-812C-34DFB496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ja-JP" altLang="es-MX" b="1" dirty="0"/>
              <a:t>質問</a:t>
            </a:r>
            <a:endParaRPr lang="es-MX" altLang="ja-JP" b="1" dirty="0"/>
          </a:p>
          <a:p>
            <a:pPr marL="0" indent="0" algn="ctr">
              <a:buNone/>
            </a:pPr>
            <a:r>
              <a:rPr lang="ja-JP" altLang="es-MX" b="1" dirty="0"/>
              <a:t>「なぜ昨日、</a:t>
            </a:r>
            <a:r>
              <a:rPr lang="es-MX" altLang="ja-JP" b="1" dirty="0"/>
              <a:t>SSH</a:t>
            </a:r>
            <a:r>
              <a:rPr lang="ja-JP" altLang="es-MX" b="1" dirty="0"/>
              <a:t>トラフィックが突然遮断されたのか？」</a:t>
            </a:r>
            <a:endParaRPr lang="ja-JP" altLang="es-MX" dirty="0"/>
          </a:p>
          <a:p>
            <a:pPr marL="0" indent="0">
              <a:buNone/>
            </a:pPr>
            <a:endParaRPr lang="es-MX" altLang="ja-JP" b="1" dirty="0"/>
          </a:p>
          <a:p>
            <a:pPr marL="0" indent="0">
              <a:buNone/>
            </a:pPr>
            <a:r>
              <a:rPr lang="es-MX" altLang="ja-JP" b="1" dirty="0"/>
              <a:t>KG</a:t>
            </a:r>
            <a:r>
              <a:rPr lang="ja-JP" altLang="es-MX" b="1" dirty="0"/>
              <a:t>が苦手な理由</a:t>
            </a:r>
          </a:p>
          <a:p>
            <a:pPr lvl="1"/>
            <a:r>
              <a:rPr lang="ja-JP" altLang="es-MX" dirty="0"/>
              <a:t>「なぜ」＝関係として表現できない</a:t>
            </a:r>
          </a:p>
          <a:p>
            <a:pPr lvl="1"/>
            <a:r>
              <a:rPr lang="ja-JP" altLang="es-MX" dirty="0"/>
              <a:t>「突然」＝暗黙的・時間的表現</a:t>
            </a:r>
          </a:p>
          <a:p>
            <a:pPr lvl="1"/>
            <a:r>
              <a:rPr lang="ja-JP" altLang="es-MX" dirty="0"/>
              <a:t>「昨日」＝エンティティとして存在しない可能性</a:t>
            </a:r>
            <a:endParaRPr lang="es-MX" altLang="ja-JP" dirty="0"/>
          </a:p>
          <a:p>
            <a:pPr lvl="1"/>
            <a:r>
              <a:rPr lang="ja-JP" altLang="es-MX" dirty="0"/>
              <a:t>原因が構造ではなく</a:t>
            </a:r>
            <a:r>
              <a:rPr lang="ja-JP" altLang="es-MX" b="1" dirty="0"/>
              <a:t>ログ本文</a:t>
            </a:r>
            <a:r>
              <a:rPr lang="ja-JP" altLang="es-MX" dirty="0"/>
              <a:t>にある</a:t>
            </a:r>
          </a:p>
          <a:p>
            <a:pPr marL="0" indent="0">
              <a:buNone/>
            </a:pPr>
            <a:endParaRPr lang="es-MX" altLang="ja-JP" b="1" dirty="0"/>
          </a:p>
          <a:p>
            <a:pPr marL="0" indent="0">
              <a:buNone/>
            </a:pPr>
            <a:r>
              <a:rPr lang="es-MX" altLang="ja-JP" b="1" dirty="0"/>
              <a:t>KG</a:t>
            </a:r>
            <a:r>
              <a:rPr lang="ja-JP" altLang="es-MX" b="1" dirty="0"/>
              <a:t>にある情報</a:t>
            </a:r>
          </a:p>
          <a:p>
            <a:pPr marL="0" indent="0" algn="ctr">
              <a:buNone/>
            </a:pPr>
            <a:r>
              <a:rPr lang="es-MX" altLang="ja-JP" dirty="0"/>
              <a:t>(Firewall: FW1) ──[DROP]──&gt; (Port: 22)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72716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45790-959A-D983-3FF9-E8E2F3C0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Text </a:t>
            </a:r>
            <a:r>
              <a:rPr lang="es-MX" dirty="0" err="1"/>
              <a:t>Search</a:t>
            </a:r>
            <a:r>
              <a:rPr lang="es-MX" dirty="0"/>
              <a:t> </a:t>
            </a:r>
            <a:r>
              <a:rPr lang="ja-JP" altLang="es-MX" dirty="0"/>
              <a:t>が</a:t>
            </a:r>
            <a:r>
              <a:rPr lang="zh-CN" altLang="es-MX" dirty="0"/>
              <a:t>補完</a:t>
            </a:r>
            <a:r>
              <a:rPr lang="ja-JP" altLang="es-MX" dirty="0"/>
              <a:t>する</a:t>
            </a:r>
            <a:r>
              <a:rPr lang="zh-CN" altLang="es-MX" dirty="0"/>
              <a:t>役割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057F1-94A2-AD66-1A95-BF953D986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ja-JP" altLang="es-MX" b="1" dirty="0"/>
              <a:t>ログ（</a:t>
            </a:r>
            <a:r>
              <a:rPr lang="es-MX" b="1" dirty="0"/>
              <a:t>KG</a:t>
            </a:r>
            <a:r>
              <a:rPr lang="zh-CN" altLang="es-MX" b="1" dirty="0"/>
              <a:t>内</a:t>
            </a:r>
            <a:r>
              <a:rPr lang="ja-JP" altLang="es-MX" b="1" dirty="0"/>
              <a:t>に</a:t>
            </a:r>
            <a:r>
              <a:rPr lang="zh-CN" altLang="es-MX" b="1" dirty="0"/>
              <a:t>保存</a:t>
            </a:r>
            <a:r>
              <a:rPr lang="ja-JP" altLang="es-MX" b="1" dirty="0"/>
              <a:t>されたテキスト</a:t>
            </a:r>
            <a:r>
              <a:rPr lang="zh-CN" altLang="es-MX" b="1" dirty="0"/>
              <a:t>参照）</a:t>
            </a:r>
          </a:p>
          <a:p>
            <a:pPr marL="1828800" lvl="4" indent="0">
              <a:lnSpc>
                <a:spcPct val="120000"/>
              </a:lnSpc>
              <a:buNone/>
            </a:pPr>
            <a:r>
              <a:rPr lang="es-MX" altLang="zh-CN" sz="2800" dirty="0"/>
              <a:t>[2024-11-12 02:13:45]</a:t>
            </a:r>
          </a:p>
          <a:p>
            <a:pPr marL="1828800" lvl="4" indent="0">
              <a:buNone/>
            </a:pPr>
            <a:r>
              <a:rPr lang="es-MX" sz="2800" dirty="0"/>
              <a:t>FW1: Rule 145 </a:t>
            </a:r>
            <a:r>
              <a:rPr lang="es-MX" sz="2800" dirty="0" err="1"/>
              <a:t>updated</a:t>
            </a:r>
            <a:r>
              <a:rPr lang="es-MX" sz="2800" dirty="0"/>
              <a:t> </a:t>
            </a:r>
            <a:r>
              <a:rPr lang="es-MX" sz="2800" dirty="0" err="1"/>
              <a:t>during</a:t>
            </a:r>
            <a:r>
              <a:rPr lang="es-MX" sz="2800" dirty="0"/>
              <a:t> </a:t>
            </a:r>
            <a:r>
              <a:rPr lang="es-MX" sz="2800" dirty="0" err="1"/>
              <a:t>maintenance</a:t>
            </a:r>
            <a:r>
              <a:rPr lang="es-MX" sz="2800" dirty="0"/>
              <a:t> </a:t>
            </a:r>
            <a:r>
              <a:rPr lang="es-MX" sz="2800" dirty="0" err="1"/>
              <a:t>window</a:t>
            </a:r>
            <a:r>
              <a:rPr lang="es-MX" sz="2800" dirty="0"/>
              <a:t>.</a:t>
            </a:r>
          </a:p>
          <a:p>
            <a:pPr marL="1828800" lvl="4" indent="0">
              <a:buNone/>
            </a:pPr>
            <a:r>
              <a:rPr lang="es-MX" sz="2800" dirty="0"/>
              <a:t>SSH </a:t>
            </a:r>
            <a:r>
              <a:rPr lang="es-MX" sz="2800" dirty="0" err="1"/>
              <a:t>traffic</a:t>
            </a:r>
            <a:r>
              <a:rPr lang="es-MX" sz="2800" dirty="0"/>
              <a:t> </a:t>
            </a:r>
            <a:r>
              <a:rPr lang="es-MX" sz="2800" dirty="0" err="1"/>
              <a:t>dropped</a:t>
            </a:r>
            <a:r>
              <a:rPr lang="es-MX" sz="2800" dirty="0"/>
              <a:t> </a:t>
            </a:r>
            <a:r>
              <a:rPr lang="es-MX" sz="2800" dirty="0" err="1"/>
              <a:t>immediately</a:t>
            </a:r>
            <a:r>
              <a:rPr lang="es-MX" sz="2800" dirty="0"/>
              <a:t> after rule </a:t>
            </a:r>
            <a:r>
              <a:rPr lang="es-MX" sz="2400" dirty="0" err="1"/>
              <a:t>update</a:t>
            </a:r>
            <a:r>
              <a:rPr lang="es-MX" sz="2400" dirty="0"/>
              <a:t>.</a:t>
            </a:r>
          </a:p>
          <a:p>
            <a:pPr marL="0" indent="0">
              <a:buNone/>
            </a:pPr>
            <a:endParaRPr lang="es-MX" altLang="ja-JP" sz="2400" b="1" dirty="0"/>
          </a:p>
          <a:p>
            <a:pPr marL="0" indent="0">
              <a:buNone/>
            </a:pPr>
            <a:r>
              <a:rPr lang="ja-JP" altLang="es-MX" b="1" dirty="0"/>
              <a:t>テキスト</a:t>
            </a:r>
            <a:r>
              <a:rPr lang="zh-CN" altLang="es-MX" b="1" dirty="0"/>
              <a:t>検索（概念）</a:t>
            </a:r>
            <a:endParaRPr lang="es-MX" altLang="zh-CN" b="1" dirty="0"/>
          </a:p>
          <a:p>
            <a:pPr marL="0" indent="0">
              <a:buNone/>
            </a:pPr>
            <a:r>
              <a:rPr lang="es-MX" altLang="zh-CN" dirty="0"/>
              <a:t>		"</a:t>
            </a:r>
            <a:r>
              <a:rPr lang="es-MX" dirty="0"/>
              <a:t>SSH" AND "</a:t>
            </a:r>
            <a:r>
              <a:rPr lang="es-MX" dirty="0" err="1"/>
              <a:t>dropped</a:t>
            </a:r>
            <a:r>
              <a:rPr lang="es-MX" dirty="0"/>
              <a:t>" AND "rule </a:t>
            </a:r>
            <a:r>
              <a:rPr lang="es-MX" dirty="0" err="1"/>
              <a:t>update</a:t>
            </a:r>
            <a:r>
              <a:rPr lang="es-MX" dirty="0"/>
              <a:t>"</a:t>
            </a:r>
          </a:p>
          <a:p>
            <a:pPr marL="0" indent="0">
              <a:buNone/>
            </a:pPr>
            <a:endParaRPr lang="es-MX" altLang="zh-CN" b="1" dirty="0"/>
          </a:p>
          <a:p>
            <a:pPr marL="0" indent="0">
              <a:buNone/>
            </a:pPr>
            <a:r>
              <a:rPr lang="zh-CN" altLang="es-MX" b="1" dirty="0"/>
              <a:t>得</a:t>
            </a:r>
            <a:r>
              <a:rPr lang="ja-JP" altLang="es-MX" b="1" dirty="0"/>
              <a:t>られる</a:t>
            </a:r>
            <a:r>
              <a:rPr lang="zh-CN" altLang="es-MX" b="1" dirty="0"/>
              <a:t>情報</a:t>
            </a:r>
          </a:p>
          <a:p>
            <a:pPr lvl="1"/>
            <a:r>
              <a:rPr lang="zh-CN" altLang="es-MX" sz="3000" dirty="0"/>
              <a:t>原因（</a:t>
            </a:r>
            <a:r>
              <a:rPr lang="ja-JP" altLang="es-MX" sz="3000" dirty="0"/>
              <a:t>ルール</a:t>
            </a:r>
            <a:r>
              <a:rPr lang="es-MX" altLang="ja-JP" sz="3000" dirty="0"/>
              <a:t>145</a:t>
            </a:r>
            <a:r>
              <a:rPr lang="ja-JP" altLang="es-MX" sz="3000" dirty="0"/>
              <a:t>の</a:t>
            </a:r>
            <a:r>
              <a:rPr lang="zh-CN" altLang="es-MX" sz="3000" dirty="0"/>
              <a:t>更新）</a:t>
            </a:r>
          </a:p>
          <a:p>
            <a:pPr lvl="1"/>
            <a:r>
              <a:rPr lang="ja-JP" altLang="es-MX" sz="3000" dirty="0"/>
              <a:t>タイミング（メンテナンス</a:t>
            </a:r>
            <a:r>
              <a:rPr lang="zh-CN" altLang="es-MX" sz="3000" dirty="0"/>
              <a:t>後）</a:t>
            </a:r>
          </a:p>
          <a:p>
            <a:pPr lvl="1"/>
            <a:r>
              <a:rPr lang="zh-CN" altLang="es-MX" sz="3000" dirty="0"/>
              <a:t>暗黙的</a:t>
            </a:r>
            <a:r>
              <a:rPr lang="ja-JP" altLang="es-MX" sz="3000" dirty="0"/>
              <a:t>な</a:t>
            </a:r>
            <a:r>
              <a:rPr lang="zh-CN" altLang="es-MX" sz="3000" dirty="0"/>
              <a:t>因果関係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7468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5FC8-3AD1-C812-48AC-C6FD13C8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4. </a:t>
            </a:r>
            <a:r>
              <a:rPr lang="es-MX" dirty="0" err="1"/>
              <a:t>Answer</a:t>
            </a:r>
            <a:r>
              <a:rPr lang="es-MX" dirty="0"/>
              <a:t> </a:t>
            </a:r>
            <a:r>
              <a:rPr lang="es-MX" dirty="0" err="1"/>
              <a:t>Generation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CAAB7-BA9F-FFE2-CF99-A34135C17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s-MX" dirty="0"/>
              <a:t>→ </a:t>
            </a:r>
            <a:r>
              <a:rPr lang="es-MX" altLang="ja-JP" dirty="0"/>
              <a:t>LLM</a:t>
            </a:r>
            <a:r>
              <a:rPr lang="ja-JP" altLang="es-MX" dirty="0"/>
              <a:t>への入力：</a:t>
            </a:r>
          </a:p>
          <a:p>
            <a:pPr lvl="1"/>
            <a:r>
              <a:rPr lang="es-MX" altLang="ja-JP" dirty="0"/>
              <a:t>KG</a:t>
            </a:r>
            <a:r>
              <a:rPr lang="ja-JP" altLang="es-MX" dirty="0"/>
              <a:t>クエリの結果</a:t>
            </a:r>
          </a:p>
          <a:p>
            <a:pPr lvl="1"/>
            <a:r>
              <a:rPr lang="ja-JP" altLang="es-MX" dirty="0"/>
              <a:t>検索されたテキスト断片</a:t>
            </a:r>
            <a:endParaRPr lang="es-MX" altLang="ja-JP" dirty="0"/>
          </a:p>
          <a:p>
            <a:pPr lvl="1"/>
            <a:endParaRPr lang="ja-JP" altLang="es-MX" dirty="0"/>
          </a:p>
          <a:p>
            <a:pPr marL="0" indent="0">
              <a:buNone/>
            </a:pPr>
            <a:r>
              <a:rPr lang="ja-JP" altLang="es-MX" dirty="0"/>
              <a:t>← </a:t>
            </a:r>
            <a:r>
              <a:rPr lang="es-MX" altLang="ja-JP" dirty="0"/>
              <a:t>LLM</a:t>
            </a:r>
            <a:r>
              <a:rPr lang="ja-JP" altLang="es-MX" dirty="0"/>
              <a:t>の出力：</a:t>
            </a:r>
          </a:p>
          <a:p>
            <a:pPr lvl="1"/>
            <a:r>
              <a:rPr lang="ja-JP" altLang="es-MX" dirty="0"/>
              <a:t>最終的な回答生成</a:t>
            </a:r>
          </a:p>
          <a:p>
            <a:pPr marL="0" indent="0">
              <a:buNone/>
            </a:pPr>
            <a:endParaRPr lang="es-MX" altLang="ja-JP" dirty="0"/>
          </a:p>
          <a:p>
            <a:pPr marL="0" indent="0">
              <a:buNone/>
            </a:pPr>
            <a:r>
              <a:rPr lang="ja-JP" altLang="es-MX" dirty="0"/>
              <a:t> 重要：</a:t>
            </a:r>
          </a:p>
          <a:p>
            <a:pPr lvl="1"/>
            <a:r>
              <a:rPr lang="es-MX" altLang="ja-JP" dirty="0"/>
              <a:t>LLM</a:t>
            </a:r>
            <a:r>
              <a:rPr lang="ja-JP" altLang="es-MX" dirty="0"/>
              <a:t>は </a:t>
            </a:r>
            <a:r>
              <a:rPr lang="ja-JP" altLang="es-MX" b="1" dirty="0"/>
              <a:t>データセット全体を見ない</a:t>
            </a:r>
            <a:endParaRPr lang="ja-JP" altLang="es-MX" dirty="0"/>
          </a:p>
          <a:p>
            <a:pPr lvl="1"/>
            <a:r>
              <a:rPr lang="ja-JP" altLang="es-MX" dirty="0"/>
              <a:t>必要な情報のみを参照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20065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AF43-637D-C8B0-B936-FAC01A785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Evaluation</a:t>
            </a:r>
            <a:endParaRPr lang="es-MX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54F012-9601-CF19-EB2A-844D53514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242" y="1543314"/>
            <a:ext cx="7367516" cy="2474913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29D415E0-D0AE-2450-41A5-82BCCAE4DB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1332" y="4177457"/>
            <a:ext cx="75268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コスト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：FastRAG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は最大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6倍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安価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処理時間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：FastRAG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は最大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10倍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高速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回答品質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：著者によれば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同等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スケーラビリティ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をランタイムから除外することで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FastRAG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が優位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063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C7E0-B713-1B73-CCF2-D0331948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Limitations</a:t>
            </a:r>
            <a:r>
              <a:rPr lang="es-MX" dirty="0"/>
              <a:t> &amp; </a:t>
            </a:r>
            <a:r>
              <a:rPr lang="es-MX" dirty="0" err="1"/>
              <a:t>Discussion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5C8A-71A5-94FD-B238-4178E8E70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4985351"/>
          </a:xfrm>
        </p:spPr>
        <p:txBody>
          <a:bodyPr>
            <a:normAutofit lnSpcReduction="10000"/>
          </a:bodyPr>
          <a:lstStyle/>
          <a:p>
            <a:r>
              <a:rPr lang="es-MX" altLang="ja-JP" sz="2600" b="1" dirty="0" err="1"/>
              <a:t>Limitations</a:t>
            </a:r>
            <a:endParaRPr lang="es-MX" altLang="ja-JP" sz="2600" b="1" dirty="0"/>
          </a:p>
          <a:p>
            <a:pPr lvl="1"/>
            <a:r>
              <a:rPr lang="ja-JP" altLang="es-MX" sz="2200" dirty="0"/>
              <a:t>決定論的パーサへの依存</a:t>
            </a:r>
          </a:p>
          <a:p>
            <a:pPr lvl="1"/>
            <a:r>
              <a:rPr lang="ja-JP" altLang="es-MX" sz="2200" dirty="0"/>
              <a:t>ナラティブ／自由形式テキストには不向き</a:t>
            </a:r>
          </a:p>
          <a:p>
            <a:pPr lvl="1"/>
            <a:r>
              <a:rPr lang="ja-JP" altLang="es-MX" sz="2200" dirty="0"/>
              <a:t>プロパティの網羅性は部分的</a:t>
            </a:r>
            <a:br>
              <a:rPr lang="ja-JP" altLang="es-MX" sz="2200" dirty="0"/>
            </a:br>
            <a:endParaRPr lang="ja-JP" altLang="es-MX" sz="2200" dirty="0"/>
          </a:p>
          <a:p>
            <a:r>
              <a:rPr lang="es-MX" altLang="ja-JP" sz="2600" b="1" dirty="0" err="1"/>
              <a:t>Design</a:t>
            </a:r>
            <a:r>
              <a:rPr lang="es-MX" altLang="ja-JP" sz="2600" b="1" dirty="0"/>
              <a:t> </a:t>
            </a:r>
            <a:r>
              <a:rPr lang="es-MX" altLang="ja-JP" sz="2600" b="1" dirty="0" err="1"/>
              <a:t>Trade-offs</a:t>
            </a:r>
            <a:endParaRPr lang="es-MX" altLang="ja-JP" sz="2600" b="1" dirty="0"/>
          </a:p>
          <a:p>
            <a:pPr lvl="1"/>
            <a:r>
              <a:rPr lang="ja-JP" altLang="es-MX" sz="2200" dirty="0"/>
              <a:t>これらの制限は意図的</a:t>
            </a:r>
          </a:p>
          <a:p>
            <a:pPr lvl="1"/>
            <a:r>
              <a:rPr lang="ja-JP" altLang="es-MX" sz="2200" dirty="0"/>
              <a:t>技術ドメイン（ログ・設定）向けに最適化</a:t>
            </a:r>
          </a:p>
          <a:p>
            <a:pPr lvl="1"/>
            <a:r>
              <a:rPr lang="ja-JP" altLang="es-MX" sz="2200" dirty="0"/>
              <a:t>構造と反復パターンを前提とした設計</a:t>
            </a:r>
            <a:br>
              <a:rPr lang="ja-JP" altLang="es-MX" sz="2200" dirty="0"/>
            </a:br>
            <a:endParaRPr lang="ja-JP" altLang="es-MX" sz="2200" dirty="0"/>
          </a:p>
          <a:p>
            <a:r>
              <a:rPr lang="es-MX" altLang="ja-JP" sz="2600" b="1" dirty="0" err="1"/>
              <a:t>Priority</a:t>
            </a:r>
            <a:endParaRPr lang="es-MX" altLang="ja-JP" sz="2600" b="1" dirty="0"/>
          </a:p>
          <a:p>
            <a:pPr lvl="1"/>
            <a:r>
              <a:rPr lang="ja-JP" altLang="es-MX" sz="2200" dirty="0"/>
              <a:t>高速性</a:t>
            </a:r>
          </a:p>
          <a:p>
            <a:pPr lvl="1"/>
            <a:r>
              <a:rPr lang="ja-JP" altLang="es-MX" sz="2200" dirty="0"/>
              <a:t>コスト効率</a:t>
            </a:r>
          </a:p>
          <a:p>
            <a:pPr lvl="1"/>
            <a:r>
              <a:rPr lang="ja-JP" altLang="es-MX" sz="2200" dirty="0"/>
              <a:t>スケーラビリティ</a:t>
            </a:r>
          </a:p>
          <a:p>
            <a:pPr marL="0" indent="0">
              <a:buNone/>
            </a:pPr>
            <a:endParaRPr lang="ja-JP" altLang="es-MX" dirty="0"/>
          </a:p>
          <a:p>
            <a:endParaRPr lang="es-MX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19550-9F85-AEF4-6C9C-B3CDEDF30567}"/>
              </a:ext>
            </a:extLst>
          </p:cNvPr>
          <p:cNvSpPr txBox="1"/>
          <p:nvPr/>
        </p:nvSpPr>
        <p:spPr>
          <a:xfrm>
            <a:off x="5186749" y="5205363"/>
            <a:ext cx="64368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altLang="ja-JP" sz="2000" b="1" dirty="0"/>
              <a:t>Key </a:t>
            </a:r>
            <a:r>
              <a:rPr lang="es-MX" altLang="ja-JP" sz="2000" b="1" dirty="0" err="1"/>
              <a:t>Takeaway</a:t>
            </a:r>
            <a:endParaRPr lang="es-MX" altLang="ja-JP" sz="2000" b="1" dirty="0"/>
          </a:p>
          <a:p>
            <a:pPr lvl="1"/>
            <a:r>
              <a:rPr lang="ja-JP" altLang="es-MX" sz="2000" dirty="0"/>
              <a:t>➞　</a:t>
            </a:r>
            <a:r>
              <a:rPr lang="es-MX" altLang="ja-JP" sz="2000" dirty="0" err="1"/>
              <a:t>FastRAG</a:t>
            </a:r>
            <a:r>
              <a:rPr lang="ja-JP" altLang="es-MX" sz="2000" dirty="0"/>
              <a:t>は汎用性よりも実用性を重視し、</a:t>
            </a:r>
            <a:br>
              <a:rPr lang="ja-JP" altLang="es-MX" sz="2000" dirty="0"/>
            </a:br>
            <a:r>
              <a:rPr lang="es-MX" altLang="ja-JP" sz="2000" dirty="0"/>
              <a:t>	</a:t>
            </a:r>
            <a:r>
              <a:rPr lang="ja-JP" altLang="es-MX" sz="2000" dirty="0"/>
              <a:t>完全性を犠牲にしてスケール性能を実現する。</a:t>
            </a:r>
          </a:p>
        </p:txBody>
      </p:sp>
    </p:spTree>
    <p:extLst>
      <p:ext uri="{BB962C8B-B14F-4D97-AF65-F5344CB8AC3E}">
        <p14:creationId xmlns:p14="http://schemas.microsoft.com/office/powerpoint/2010/main" val="234205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JAP1">
      <a:majorFont>
        <a:latin typeface="Aptos Display"/>
        <a:ea typeface="Noto Sans JP"/>
        <a:cs typeface=""/>
      </a:majorFont>
      <a:minorFont>
        <a:latin typeface="Aptos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4686</Words>
  <Application>Microsoft Office PowerPoint</Application>
  <PresentationFormat>Widescreen</PresentationFormat>
  <Paragraphs>578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Office Theme</vt:lpstr>
      <vt:lpstr>FastRAG: Retrieval Augmented Generation for Semi-structured Data</vt:lpstr>
      <vt:lpstr>RAGとは何か</vt:lpstr>
      <vt:lpstr>なぜRAGが必要か</vt:lpstr>
      <vt:lpstr>既存RAGの問題点</vt:lpstr>
      <vt:lpstr>著者の観察と主要な洞察</vt:lpstr>
      <vt:lpstr>既存RAG手法とその限界</vt:lpstr>
      <vt:lpstr>Vector-based RAG の限界</vt:lpstr>
      <vt:lpstr>GraphRAG / Knowledge Graph RAG の限界</vt:lpstr>
      <vt:lpstr>Text-based Retrieval の限界</vt:lpstr>
      <vt:lpstr>著者の結論と動機</vt:lpstr>
      <vt:lpstr>FastRAGの全体構成</vt:lpstr>
      <vt:lpstr>1. Information Extraction - Chunk Sampling</vt:lpstr>
      <vt:lpstr>1. Information Extraction - Schema Learning</vt:lpstr>
      <vt:lpstr>1. Information Extraction - Script Learning</vt:lpstr>
      <vt:lpstr>2. Knowledge Graph</vt:lpstr>
      <vt:lpstr>3. Information Retrieval</vt:lpstr>
      <vt:lpstr>KG検索がうまく動く例</vt:lpstr>
      <vt:lpstr>KG検索が失敗する例</vt:lpstr>
      <vt:lpstr>Text Search が補完する役割</vt:lpstr>
      <vt:lpstr>4. Answer Generation</vt:lpstr>
      <vt:lpstr>Evaluation</vt:lpstr>
      <vt:lpstr>Limitations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Lopez Chapa</dc:creator>
  <cp:lastModifiedBy>Jose Lopez Chapa</cp:lastModifiedBy>
  <cp:revision>3</cp:revision>
  <dcterms:created xsi:type="dcterms:W3CDTF">2026-01-26T18:37:11Z</dcterms:created>
  <dcterms:modified xsi:type="dcterms:W3CDTF">2026-01-27T00:56:43Z</dcterms:modified>
</cp:coreProperties>
</file>